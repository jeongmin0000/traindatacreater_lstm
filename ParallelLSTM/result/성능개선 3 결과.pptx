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406" r:id="rId3"/>
    <p:sldId id="451" r:id="rId4"/>
    <p:sldId id="506" r:id="rId5"/>
    <p:sldId id="430" r:id="rId6"/>
    <p:sldId id="447" r:id="rId7"/>
    <p:sldId id="432" r:id="rId8"/>
    <p:sldId id="493" r:id="rId9"/>
    <p:sldId id="494" r:id="rId10"/>
    <p:sldId id="495" r:id="rId11"/>
    <p:sldId id="496" r:id="rId12"/>
    <p:sldId id="497" r:id="rId13"/>
    <p:sldId id="498" r:id="rId14"/>
    <p:sldId id="481" r:id="rId15"/>
    <p:sldId id="490" r:id="rId16"/>
    <p:sldId id="491" r:id="rId17"/>
    <p:sldId id="505" r:id="rId18"/>
    <p:sldId id="445" r:id="rId19"/>
    <p:sldId id="479" r:id="rId20"/>
    <p:sldId id="48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561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8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2213282"/>
            <a:ext cx="4588584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>
                <a:latin typeface="+mj-ea"/>
                <a:ea typeface="+mj-ea"/>
              </a:rPr>
              <a:t>궁내교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수위 예측 </a:t>
            </a:r>
            <a:r>
              <a:rPr lang="en-US" altLang="ko-KR" sz="4400" b="1" dirty="0">
                <a:latin typeface="+mj-ea"/>
                <a:ea typeface="+mj-ea"/>
              </a:rPr>
              <a:t>AI</a:t>
            </a: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성능 개선 결과 </a:t>
            </a:r>
            <a:r>
              <a:rPr lang="en-US" altLang="ko-KR" sz="4400" b="1" dirty="0">
                <a:latin typeface="+mj-ea"/>
                <a:ea typeface="+mj-ea"/>
              </a:rPr>
              <a:t>3</a:t>
            </a:r>
          </a:p>
          <a:p>
            <a:pPr algn="ctr"/>
            <a:r>
              <a:rPr lang="en-US" altLang="ko-KR" sz="2000" b="1" dirty="0">
                <a:latin typeface="+mj-ea"/>
                <a:ea typeface="+mj-ea"/>
              </a:rPr>
              <a:t>( </a:t>
            </a:r>
            <a:r>
              <a:rPr lang="ko-KR" altLang="en-US" sz="2000" b="1" dirty="0">
                <a:latin typeface="+mj-ea"/>
                <a:ea typeface="+mj-ea"/>
              </a:rPr>
              <a:t>시계열</a:t>
            </a:r>
            <a:r>
              <a:rPr lang="en-US" altLang="ko-KR" sz="2000" b="1" dirty="0">
                <a:latin typeface="+mj-ea"/>
                <a:ea typeface="+mj-ea"/>
              </a:rPr>
              <a:t> )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1632479" y="3105834"/>
            <a:ext cx="89270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latin typeface="+mj-ea"/>
              </a:rPr>
              <a:t>※ </a:t>
            </a:r>
            <a:r>
              <a:rPr lang="ko-KR" altLang="en-US" sz="3600" b="1" dirty="0">
                <a:latin typeface="+mj-ea"/>
              </a:rPr>
              <a:t>강우 이벤트 전부 학습으로 사용</a:t>
            </a:r>
            <a:endParaRPr lang="en-US" altLang="ko-KR" sz="36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33728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57C67BA-B213-4D78-9FE6-DF21AEB555D8}"/>
              </a:ext>
            </a:extLst>
          </p:cNvPr>
          <p:cNvSpPr txBox="1"/>
          <p:nvPr/>
        </p:nvSpPr>
        <p:spPr>
          <a:xfrm>
            <a:off x="377504" y="623270"/>
            <a:ext cx="45839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+mj-ea"/>
              </a:rPr>
              <a:t>MIET</a:t>
            </a:r>
            <a:r>
              <a:rPr lang="ko-KR" altLang="en-US" sz="2400" b="1" dirty="0">
                <a:latin typeface="+mj-ea"/>
              </a:rPr>
              <a:t> </a:t>
            </a:r>
            <a:r>
              <a:rPr lang="ko-KR" altLang="en-US" sz="2400" dirty="0">
                <a:latin typeface="+mj-ea"/>
                <a:ea typeface="+mj-ea"/>
              </a:rPr>
              <a:t>학습 데이터 기본 설정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EEA5D01-22F3-4984-8E02-DD8FCAC01A2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100665" y="3057763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0F34946-E3D3-42D3-9474-97847E9700A7}"/>
              </a:ext>
            </a:extLst>
          </p:cNvPr>
          <p:cNvSpPr txBox="1"/>
          <p:nvPr/>
        </p:nvSpPr>
        <p:spPr>
          <a:xfrm>
            <a:off x="1024464" y="2429537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홍수통제소 </a:t>
            </a:r>
            <a:r>
              <a:rPr lang="en-US" altLang="ko-KR" dirty="0"/>
              <a:t>API </a:t>
            </a:r>
            <a:r>
              <a:rPr lang="ko-KR" altLang="en-US" dirty="0"/>
              <a:t>호출 → </a:t>
            </a:r>
            <a:r>
              <a:rPr lang="en-US" altLang="ko-KR" dirty="0"/>
              <a:t>MIET</a:t>
            </a:r>
            <a:r>
              <a:rPr lang="ko-KR" altLang="en-US" dirty="0"/>
              <a:t> 활용 강우 이벤트 추출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DBF372-14B3-481F-A0BC-69E398337249}"/>
              </a:ext>
            </a:extLst>
          </p:cNvPr>
          <p:cNvSpPr txBox="1"/>
          <p:nvPr/>
        </p:nvSpPr>
        <p:spPr>
          <a:xfrm>
            <a:off x="296333" y="5514607"/>
            <a:ext cx="11582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학습 </a:t>
            </a:r>
            <a:r>
              <a:rPr lang="en-US" altLang="ko-KR" dirty="0"/>
              <a:t>: </a:t>
            </a:r>
            <a:r>
              <a:rPr lang="ko-KR" altLang="en-US" dirty="0"/>
              <a:t>총 </a:t>
            </a:r>
            <a:r>
              <a:rPr lang="en-US" altLang="ko-KR" dirty="0"/>
              <a:t>1420</a:t>
            </a:r>
            <a:r>
              <a:rPr lang="ko-KR" altLang="en-US" dirty="0"/>
              <a:t>개 中 </a:t>
            </a:r>
            <a:r>
              <a:rPr lang="en-US" altLang="ko-KR" dirty="0"/>
              <a:t>1412</a:t>
            </a:r>
            <a:r>
              <a:rPr lang="ko-KR" altLang="en-US" dirty="0"/>
              <a:t>개 데이터 파일 학습데이터로 사용 </a:t>
            </a:r>
            <a:r>
              <a:rPr lang="en-US" altLang="ko-KR" dirty="0"/>
              <a:t>( </a:t>
            </a:r>
            <a:r>
              <a:rPr lang="ko-KR" altLang="en-US" dirty="0"/>
              <a:t>결측 데이터 </a:t>
            </a:r>
            <a:r>
              <a:rPr lang="en-US" altLang="ko-KR" dirty="0"/>
              <a:t>5</a:t>
            </a:r>
            <a:r>
              <a:rPr lang="ko-KR" altLang="en-US" dirty="0"/>
              <a:t>개 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 </a:t>
            </a:r>
            <a:br>
              <a:rPr lang="en-US" altLang="ko-KR" dirty="0"/>
            </a:br>
            <a:r>
              <a:rPr lang="ko-KR" altLang="en-US" dirty="0"/>
              <a:t>검증 </a:t>
            </a:r>
            <a:r>
              <a:rPr lang="en-US" altLang="ko-KR" dirty="0"/>
              <a:t>: </a:t>
            </a:r>
            <a:r>
              <a:rPr lang="ko-KR" altLang="en-US" dirty="0"/>
              <a:t>학습 데이터에서 제외한 </a:t>
            </a:r>
            <a:r>
              <a:rPr lang="en-US" altLang="ko-KR" dirty="0"/>
              <a:t>3</a:t>
            </a:r>
            <a:r>
              <a:rPr lang="ko-KR" altLang="en-US" dirty="0"/>
              <a:t>개 데이터 사용 </a:t>
            </a:r>
            <a:r>
              <a:rPr lang="en-US" altLang="ko-KR" dirty="0"/>
              <a:t>++ </a:t>
            </a:r>
            <a:r>
              <a:rPr lang="ko-KR" altLang="en-US" dirty="0"/>
              <a:t>학습에서 검증에 사용된 </a:t>
            </a:r>
            <a:r>
              <a:rPr lang="en-US" altLang="ko-KR" dirty="0"/>
              <a:t>3</a:t>
            </a:r>
            <a:r>
              <a:rPr lang="ko-KR" altLang="en-US" dirty="0"/>
              <a:t>개 데이터 사용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62C255-B71B-4358-85C6-3A69718E3F9E}"/>
              </a:ext>
            </a:extLst>
          </p:cNvPr>
          <p:cNvSpPr txBox="1"/>
          <p:nvPr/>
        </p:nvSpPr>
        <p:spPr>
          <a:xfrm>
            <a:off x="9273647" y="8715"/>
            <a:ext cx="2918354" cy="18900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관심 수위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 err="1">
                <a:latin typeface="+mn-ea"/>
              </a:rPr>
              <a:t>궁내교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( 2 )  </a:t>
            </a:r>
            <a:r>
              <a:rPr lang="ko-KR" altLang="en-US" sz="1000" b="1" dirty="0" err="1">
                <a:latin typeface="+mn-ea"/>
              </a:rPr>
              <a:t>대곡교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smoothing : </a:t>
            </a:r>
            <a:r>
              <a:rPr lang="ko-KR" altLang="en-US" sz="10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궁내교</a:t>
            </a:r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 </a:t>
            </a: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( 1 ) </a:t>
            </a:r>
            <a:r>
              <a:rPr lang="ko-KR" altLang="en-US" sz="10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대곡교</a:t>
            </a:r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 </a:t>
            </a: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( 2 )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learning_rate</a:t>
            </a:r>
            <a:r>
              <a:rPr lang="en-US" altLang="ko-KR" sz="10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Loss_function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=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Seq_length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=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36 ( 6</a:t>
            </a:r>
            <a:r>
              <a:rPr lang="ko-KR" altLang="en-US" sz="1000" b="1" dirty="0">
                <a:latin typeface="+mn-ea"/>
              </a:rPr>
              <a:t>시간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Num_of_layer</a:t>
            </a:r>
            <a:r>
              <a:rPr lang="en-US" altLang="ko-KR" sz="1000" b="1" dirty="0">
                <a:latin typeface="+mn-ea"/>
              </a:rPr>
              <a:t> = 12 (</a:t>
            </a:r>
            <a:r>
              <a:rPr lang="ko-KR" altLang="en-US" sz="1000" b="1" dirty="0">
                <a:latin typeface="+mn-ea"/>
              </a:rPr>
              <a:t> 각 </a:t>
            </a:r>
            <a:r>
              <a:rPr lang="en-US" altLang="ko-KR" sz="1000" b="1" dirty="0">
                <a:latin typeface="+mn-ea"/>
              </a:rPr>
              <a:t>LSTM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3</a:t>
            </a:r>
            <a:r>
              <a:rPr lang="ko-KR" altLang="en-US" sz="1000" b="1" dirty="0">
                <a:latin typeface="+mn-ea"/>
              </a:rPr>
              <a:t>개 처리 </a:t>
            </a:r>
            <a:r>
              <a:rPr lang="en-US" altLang="ko-KR" sz="1000" b="1" dirty="0">
                <a:latin typeface="+mn-ea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980726-13BD-49FF-9214-F8FACC8DDA8F}"/>
              </a:ext>
            </a:extLst>
          </p:cNvPr>
          <p:cNvSpPr txBox="1"/>
          <p:nvPr/>
        </p:nvSpPr>
        <p:spPr>
          <a:xfrm>
            <a:off x="8291514" y="4958486"/>
            <a:ext cx="2918354" cy="966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학습 </a:t>
            </a:r>
            <a:r>
              <a:rPr lang="en-US" altLang="ko-KR" sz="1000" b="1" dirty="0">
                <a:latin typeface="+mn-ea"/>
              </a:rPr>
              <a:t>: ~ 2022 68</a:t>
            </a:r>
            <a:r>
              <a:rPr lang="ko-KR" altLang="en-US" sz="1000" b="1" dirty="0">
                <a:latin typeface="+mn-ea"/>
              </a:rPr>
              <a:t>번 </a:t>
            </a:r>
            <a:r>
              <a:rPr lang="en-US" altLang="ko-KR" sz="1000" b="1" dirty="0">
                <a:latin typeface="+mn-ea"/>
              </a:rPr>
              <a:t>( 988</a:t>
            </a:r>
            <a:r>
              <a:rPr lang="ko-KR" altLang="en-US" sz="1000" b="1" dirty="0">
                <a:latin typeface="+mn-ea"/>
              </a:rPr>
              <a:t>개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: ~ 2024 96</a:t>
            </a:r>
            <a:r>
              <a:rPr lang="ko-KR" altLang="en-US" sz="1000" b="1" dirty="0">
                <a:latin typeface="+mn-ea"/>
              </a:rPr>
              <a:t>번 </a:t>
            </a:r>
            <a:r>
              <a:rPr lang="en-US" altLang="ko-KR" sz="1000" b="1" dirty="0">
                <a:latin typeface="+mn-ea"/>
              </a:rPr>
              <a:t>( 282</a:t>
            </a:r>
            <a:r>
              <a:rPr lang="ko-KR" altLang="en-US" sz="1000" b="1" dirty="0">
                <a:latin typeface="+mn-ea"/>
              </a:rPr>
              <a:t>개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테스트 </a:t>
            </a:r>
            <a:r>
              <a:rPr lang="en-US" altLang="ko-KR" sz="1000" b="1" dirty="0">
                <a:latin typeface="+mn-ea"/>
              </a:rPr>
              <a:t>: ~ 2025 109</a:t>
            </a:r>
            <a:r>
              <a:rPr lang="ko-KR" altLang="en-US" sz="1000" b="1" dirty="0">
                <a:latin typeface="+mn-ea"/>
              </a:rPr>
              <a:t>번 </a:t>
            </a:r>
            <a:r>
              <a:rPr lang="en-US" altLang="ko-KR" sz="1000" b="1" dirty="0">
                <a:latin typeface="+mn-ea"/>
              </a:rPr>
              <a:t>( 142</a:t>
            </a:r>
            <a:r>
              <a:rPr lang="ko-KR" altLang="en-US" sz="1000" b="1" dirty="0">
                <a:latin typeface="+mn-ea"/>
              </a:rPr>
              <a:t>개 </a:t>
            </a:r>
            <a:r>
              <a:rPr lang="en-US" altLang="ko-KR" sz="1000" b="1" dirty="0">
                <a:latin typeface="+mn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2065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A62C255-B71B-4358-85C6-3A69718E3F9E}"/>
              </a:ext>
            </a:extLst>
          </p:cNvPr>
          <p:cNvSpPr txBox="1"/>
          <p:nvPr/>
        </p:nvSpPr>
        <p:spPr>
          <a:xfrm>
            <a:off x="9273647" y="8715"/>
            <a:ext cx="2918354" cy="18900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관심 수위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 err="1">
                <a:latin typeface="+mn-ea"/>
              </a:rPr>
              <a:t>궁내교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( 2 )  </a:t>
            </a:r>
            <a:r>
              <a:rPr lang="ko-KR" altLang="en-US" sz="1000" b="1" dirty="0" err="1">
                <a:latin typeface="+mn-ea"/>
              </a:rPr>
              <a:t>대곡교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smoothing : </a:t>
            </a:r>
            <a:r>
              <a:rPr lang="ko-KR" altLang="en-US" sz="10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궁내교</a:t>
            </a:r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 </a:t>
            </a: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( 1 ) </a:t>
            </a:r>
            <a:r>
              <a:rPr lang="ko-KR" altLang="en-US" sz="10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대곡교</a:t>
            </a:r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 </a:t>
            </a: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( 2 )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learning_rate</a:t>
            </a:r>
            <a:r>
              <a:rPr lang="en-US" altLang="ko-KR" sz="10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Loss_function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=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Seq_length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=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36 ( 6</a:t>
            </a:r>
            <a:r>
              <a:rPr lang="ko-KR" altLang="en-US" sz="1000" b="1" dirty="0">
                <a:latin typeface="+mn-ea"/>
              </a:rPr>
              <a:t>시간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Num_of_layer</a:t>
            </a:r>
            <a:r>
              <a:rPr lang="en-US" altLang="ko-KR" sz="1000" b="1" dirty="0">
                <a:latin typeface="+mn-ea"/>
              </a:rPr>
              <a:t> = 12 (</a:t>
            </a:r>
            <a:r>
              <a:rPr lang="ko-KR" altLang="en-US" sz="1000" b="1" dirty="0">
                <a:latin typeface="+mn-ea"/>
              </a:rPr>
              <a:t> 각 </a:t>
            </a:r>
            <a:r>
              <a:rPr lang="en-US" altLang="ko-KR" sz="1000" b="1" dirty="0">
                <a:latin typeface="+mn-ea"/>
              </a:rPr>
              <a:t>LSTM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3</a:t>
            </a:r>
            <a:r>
              <a:rPr lang="ko-KR" altLang="en-US" sz="1000" b="1" dirty="0">
                <a:latin typeface="+mn-ea"/>
              </a:rPr>
              <a:t>개 처리 </a:t>
            </a:r>
            <a:r>
              <a:rPr lang="en-US" altLang="ko-KR" sz="1000" b="1" dirty="0">
                <a:latin typeface="+mn-ea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C7F894-318F-4FD3-823D-C45A52E30BAF}"/>
              </a:ext>
            </a:extLst>
          </p:cNvPr>
          <p:cNvSpPr txBox="1"/>
          <p:nvPr/>
        </p:nvSpPr>
        <p:spPr>
          <a:xfrm>
            <a:off x="-605366" y="3136612"/>
            <a:ext cx="134027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en-US" altLang="ko-KR" sz="32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747509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3105834"/>
            <a:ext cx="7575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1. </a:t>
            </a:r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num_of_layer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=18</a:t>
            </a:r>
            <a:r>
              <a:rPr lang="ko-KR" altLang="en-US" sz="3600" b="1" dirty="0">
                <a:solidFill>
                  <a:schemeClr val="accent5"/>
                </a:solidFill>
                <a:latin typeface="+mj-ea"/>
              </a:rPr>
              <a:t> </a:t>
            </a:r>
            <a:endParaRPr lang="en-US" altLang="ko-KR" sz="3600" b="1" dirty="0">
              <a:solidFill>
                <a:schemeClr val="accent5"/>
              </a:solidFill>
              <a:latin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1C21A-07E7-426D-AC1B-76C99BA95C6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/dg)_l18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840938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377505" y="623270"/>
            <a:ext cx="28942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=18 </a:t>
            </a:r>
            <a:r>
              <a:rPr lang="ko-KR" altLang="en-US" sz="2400" dirty="0">
                <a:latin typeface="+mj-ea"/>
                <a:ea typeface="+mj-ea"/>
              </a:rPr>
              <a:t>학습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궁내교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1806823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(23111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0.0254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0.968928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0.970272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22.160994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989200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(6282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0.0385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0.0421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0.942801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0.951583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4.037687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6677268"/>
              </p:ext>
            </p:extLst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(5472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0.0453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0.0528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0.0625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0.890020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0.919186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5.456180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536" y="3740036"/>
            <a:ext cx="5386707" cy="17955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</p:spTree>
    <p:extLst>
      <p:ext uri="{BB962C8B-B14F-4D97-AF65-F5344CB8AC3E}">
        <p14:creationId xmlns:p14="http://schemas.microsoft.com/office/powerpoint/2010/main" val="2857762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369185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-0.2437545822983267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0.04935018567626799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0.18286159541871813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0.22214901682489616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0.8500162646896093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0.04197159430678016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0.14689570089181267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0.2048697008021932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0.8895288897883276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0.011082707267791009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0.08337979230615827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0.1052744378649965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0.7838021043271743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0.015242402057216858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0.0962281313869688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0.1234601233484596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887" y="4338524"/>
            <a:ext cx="3035115" cy="160775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2019" y="4338731"/>
            <a:ext cx="3059566" cy="160595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99" y="1970948"/>
            <a:ext cx="2993660" cy="158524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1977329"/>
            <a:ext cx="2977423" cy="159749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DB25FE2-FB8B-4DFF-B0F9-07A68FD42E46}"/>
              </a:ext>
            </a:extLst>
          </p:cNvPr>
          <p:cNvSpPr txBox="1"/>
          <p:nvPr/>
        </p:nvSpPr>
        <p:spPr>
          <a:xfrm>
            <a:off x="377505" y="623270"/>
            <a:ext cx="31192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=18 </a:t>
            </a:r>
            <a:r>
              <a:rPr lang="ko-KR" altLang="en-US" sz="2400" dirty="0">
                <a:latin typeface="+mj-ea"/>
                <a:ea typeface="+mj-ea"/>
              </a:rPr>
              <a:t>예측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궁내교</a:t>
            </a:r>
            <a:endParaRPr lang="ko-KR" altLang="en-US" sz="24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359754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3105834"/>
            <a:ext cx="75755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1-1. </a:t>
            </a:r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num_of_layer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=18</a:t>
            </a:r>
          </a:p>
          <a:p>
            <a:pPr algn="ctr"/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+ MAE</a:t>
            </a:r>
            <a:r>
              <a:rPr lang="ko-KR" altLang="en-US" sz="3600" b="1" dirty="0">
                <a:solidFill>
                  <a:schemeClr val="accent5"/>
                </a:solidFill>
                <a:latin typeface="+mj-ea"/>
              </a:rPr>
              <a:t> </a:t>
            </a:r>
            <a:endParaRPr lang="en-US" altLang="ko-KR" sz="3600" b="1" dirty="0">
              <a:solidFill>
                <a:schemeClr val="accent5"/>
              </a:solidFill>
              <a:latin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1C21A-07E7-426D-AC1B-76C99BA95C6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/dg)_mae_l18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902456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377504" y="623270"/>
            <a:ext cx="31022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=18</a:t>
            </a:r>
          </a:p>
          <a:p>
            <a:r>
              <a:rPr lang="en-US" altLang="ko-KR" sz="2400" dirty="0" err="1">
                <a:latin typeface="+mj-ea"/>
              </a:rPr>
              <a:t>loss_function</a:t>
            </a:r>
            <a:r>
              <a:rPr lang="en-US" altLang="ko-KR" sz="2400" dirty="0">
                <a:latin typeface="+mj-ea"/>
              </a:rPr>
              <a:t> = MAE</a:t>
            </a:r>
          </a:p>
          <a:p>
            <a:r>
              <a:rPr lang="en-US" altLang="ko-KR" sz="2400" dirty="0">
                <a:latin typeface="+mj-ea"/>
              </a:rPr>
              <a:t> </a:t>
            </a:r>
            <a:r>
              <a:rPr lang="ko-KR" altLang="en-US" sz="2400" dirty="0">
                <a:latin typeface="+mj-ea"/>
                <a:ea typeface="+mj-ea"/>
              </a:rPr>
              <a:t>학습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궁내교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7573241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(23111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0.0206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0.0197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0.978130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0.980108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12.456093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3906404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(6282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0.0378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0.0424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0.0551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0.940861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0.952862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3.006159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8233974"/>
              </p:ext>
            </p:extLst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(5472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0.0453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0.0538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0.884159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0.915125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4.980753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536" y="3742842"/>
            <a:ext cx="5386707" cy="178995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</p:spTree>
    <p:extLst>
      <p:ext uri="{BB962C8B-B14F-4D97-AF65-F5344CB8AC3E}">
        <p14:creationId xmlns:p14="http://schemas.microsoft.com/office/powerpoint/2010/main" val="3485348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4226972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0.7886506277757681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0.00838600388716136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0.07876580847634213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0.09157512701143995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0.6794901382392365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0.0896917913219421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0.2132765921619203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0.29948587833475904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0.8537863174988561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0.014668481547809194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0.09608093248473272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0.12111350687602598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0.7326166026610431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0.01885108656114091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0.09745151480038959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0.13729925914272412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887" y="4348846"/>
            <a:ext cx="3035115" cy="158711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416" y="4338731"/>
            <a:ext cx="3010771" cy="160595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99" y="1974700"/>
            <a:ext cx="2993660" cy="1577739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1982819"/>
            <a:ext cx="2977423" cy="158650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DB25FE2-FB8B-4DFF-B0F9-07A68FD42E46}"/>
              </a:ext>
            </a:extLst>
          </p:cNvPr>
          <p:cNvSpPr txBox="1"/>
          <p:nvPr/>
        </p:nvSpPr>
        <p:spPr>
          <a:xfrm>
            <a:off x="377505" y="623270"/>
            <a:ext cx="31192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=18</a:t>
            </a:r>
          </a:p>
          <a:p>
            <a:r>
              <a:rPr lang="en-US" altLang="ko-KR" sz="2400" dirty="0" err="1">
                <a:latin typeface="+mj-ea"/>
              </a:rPr>
              <a:t>loss_function</a:t>
            </a:r>
            <a:r>
              <a:rPr lang="en-US" altLang="ko-KR" sz="2400" dirty="0">
                <a:latin typeface="+mj-ea"/>
              </a:rPr>
              <a:t> = MAE</a:t>
            </a:r>
          </a:p>
          <a:p>
            <a:r>
              <a:rPr lang="en-US" altLang="ko-KR" sz="2400" dirty="0">
                <a:latin typeface="+mj-ea"/>
              </a:rPr>
              <a:t> </a:t>
            </a:r>
            <a:r>
              <a:rPr lang="ko-KR" altLang="en-US" sz="2400" dirty="0">
                <a:latin typeface="+mj-ea"/>
                <a:ea typeface="+mj-ea"/>
              </a:rPr>
              <a:t>예측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궁내교</a:t>
            </a:r>
            <a:endParaRPr lang="ko-KR" altLang="en-US" sz="24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8663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3105834"/>
            <a:ext cx="7575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2. </a:t>
            </a:r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num_of_layer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= 36</a:t>
            </a:r>
            <a:r>
              <a:rPr lang="ko-KR" altLang="en-US" sz="3600" b="1" dirty="0">
                <a:solidFill>
                  <a:schemeClr val="accent5"/>
                </a:solidFill>
                <a:latin typeface="+mj-ea"/>
              </a:rPr>
              <a:t> </a:t>
            </a:r>
            <a:endParaRPr lang="en-US" altLang="ko-KR" sz="3600" b="1" dirty="0">
              <a:solidFill>
                <a:schemeClr val="accent5"/>
              </a:solidFill>
              <a:latin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1C21A-07E7-426D-AC1B-76C99BA95C6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/dg)_l36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97784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377505" y="623270"/>
            <a:ext cx="28942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=36 </a:t>
            </a:r>
            <a:r>
              <a:rPr lang="ko-KR" altLang="en-US" sz="2400" dirty="0">
                <a:latin typeface="+mj-ea"/>
                <a:ea typeface="+mj-ea"/>
              </a:rPr>
              <a:t>학습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궁내교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297027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(23111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0.0269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0.0388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0.966277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0.970299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1.513945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163485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(6822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0.0378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0.0409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0.0521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0.947172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0.956457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1.215834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037485"/>
              </p:ext>
            </p:extLst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(5472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0.0407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0.0468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0.0569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0.908998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0.930175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2.279257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536" y="3744702"/>
            <a:ext cx="5386707" cy="178623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</p:spTree>
    <p:extLst>
      <p:ext uri="{BB962C8B-B14F-4D97-AF65-F5344CB8AC3E}">
        <p14:creationId xmlns:p14="http://schemas.microsoft.com/office/powerpoint/2010/main" val="33229979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4389926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0.5154125887431622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0.01922765074578906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0.11833648959795633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0.13866380474294315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0.7651658869889291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0.06571620649596127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0.19366505410936144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0.2563517241915125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0.7987440252756075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0.020190446619850436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0.10343127078480188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0.14209309138677514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0.9320650485021252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0.004789555611749123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0.05961067683166928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0.06920661537562087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887" y="4348092"/>
            <a:ext cx="3035115" cy="158861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1143" y="4338731"/>
            <a:ext cx="3021318" cy="160595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99" y="1976417"/>
            <a:ext cx="2993660" cy="1574305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1996935"/>
            <a:ext cx="2977423" cy="155827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DB25FE2-FB8B-4DFF-B0F9-07A68FD42E46}"/>
              </a:ext>
            </a:extLst>
          </p:cNvPr>
          <p:cNvSpPr txBox="1"/>
          <p:nvPr/>
        </p:nvSpPr>
        <p:spPr>
          <a:xfrm>
            <a:off x="377505" y="623270"/>
            <a:ext cx="31192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=36 </a:t>
            </a:r>
            <a:r>
              <a:rPr lang="ko-KR" altLang="en-US" sz="2400" dirty="0">
                <a:latin typeface="+mj-ea"/>
                <a:ea typeface="+mj-ea"/>
              </a:rPr>
              <a:t>예측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궁내교</a:t>
            </a:r>
            <a:endParaRPr lang="ko-KR" altLang="en-US" sz="24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231724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2551837"/>
            <a:ext cx="75755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Loss_function</a:t>
            </a:r>
            <a:r>
              <a:rPr lang="ko-KR" altLang="en-US" sz="36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=</a:t>
            </a:r>
            <a:r>
              <a:rPr lang="ko-KR" altLang="en-US" sz="36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MAE</a:t>
            </a:r>
          </a:p>
          <a:p>
            <a:pPr algn="ctr"/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Learning_rate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= 0.0005</a:t>
            </a:r>
          </a:p>
          <a:p>
            <a:pPr algn="ctr"/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num_of_layer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= 18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E2FB6D-985B-4AD8-8997-F41A7D1BCBEB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/dg)_l18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72019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377505" y="623270"/>
            <a:ext cx="33986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 18</a:t>
            </a:r>
          </a:p>
          <a:p>
            <a:r>
              <a:rPr lang="ko-KR" altLang="en-US" sz="2400" dirty="0">
                <a:latin typeface="+mj-ea"/>
                <a:ea typeface="+mj-ea"/>
              </a:rPr>
              <a:t>학습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궁내교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151515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(23111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0.0206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0.0197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0.978130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0.980108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12.456093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4845209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(6828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0.0378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0.0424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0.0551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0.940861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0.952862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3.006159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879166"/>
              </p:ext>
            </p:extLst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(5472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0.0453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0.0538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0.884159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0.915125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4.980753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151" y="3747356"/>
            <a:ext cx="5287475" cy="178092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</p:spTree>
    <p:extLst>
      <p:ext uri="{BB962C8B-B14F-4D97-AF65-F5344CB8AC3E}">
        <p14:creationId xmlns:p14="http://schemas.microsoft.com/office/powerpoint/2010/main" val="2310787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3287900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0.7886506277757681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0.00838600388716136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0.07876580847634213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0.09157512701143995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0.6794901382392365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0.0896917913219421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0.2132765921619203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0.29948587833475904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0.8537863174988561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0.014668481547809194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0.09608093248473272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0.12111350687602598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0.7326166026610431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0.01885108656114091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0.09745151480038959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0.13729925914272412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268" y="4346496"/>
            <a:ext cx="3036353" cy="1591813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143" y="4332287"/>
            <a:ext cx="3087318" cy="161884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950" y="1977153"/>
            <a:ext cx="2990558" cy="157283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5827" y="1988533"/>
            <a:ext cx="3015518" cy="157508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DB25FE2-FB8B-4DFF-B0F9-07A68FD42E46}"/>
              </a:ext>
            </a:extLst>
          </p:cNvPr>
          <p:cNvSpPr txBox="1"/>
          <p:nvPr/>
        </p:nvSpPr>
        <p:spPr>
          <a:xfrm>
            <a:off x="377505" y="623270"/>
            <a:ext cx="36949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 18 </a:t>
            </a:r>
          </a:p>
          <a:p>
            <a:r>
              <a:rPr lang="ko-KR" altLang="en-US" sz="2400" dirty="0">
                <a:latin typeface="+mj-ea"/>
              </a:rPr>
              <a:t>예측 코드 </a:t>
            </a:r>
            <a:r>
              <a:rPr lang="en-US" altLang="ko-KR" sz="2400" dirty="0">
                <a:latin typeface="+mj-ea"/>
              </a:rPr>
              <a:t>- </a:t>
            </a:r>
            <a:r>
              <a:rPr lang="ko-KR" altLang="en-US" sz="2400" dirty="0" err="1">
                <a:latin typeface="+mj-ea"/>
              </a:rPr>
              <a:t>궁내교</a:t>
            </a:r>
            <a:r>
              <a:rPr lang="en-US" altLang="ko-KR" sz="2400" dirty="0">
                <a:latin typeface="+mj-ea"/>
                <a:ea typeface="+mj-ea"/>
              </a:rPr>
              <a:t> </a:t>
            </a:r>
            <a:endParaRPr lang="ko-KR" altLang="en-US" sz="24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02934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A62C255-B71B-4358-85C6-3A69718E3F9E}"/>
              </a:ext>
            </a:extLst>
          </p:cNvPr>
          <p:cNvSpPr txBox="1"/>
          <p:nvPr/>
        </p:nvSpPr>
        <p:spPr>
          <a:xfrm>
            <a:off x="9273647" y="8715"/>
            <a:ext cx="2918354" cy="18900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관심 수위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 err="1">
                <a:latin typeface="+mn-ea"/>
              </a:rPr>
              <a:t>궁내교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( 2 )  </a:t>
            </a:r>
            <a:r>
              <a:rPr lang="ko-KR" altLang="en-US" sz="1000" b="1" dirty="0" err="1">
                <a:latin typeface="+mn-ea"/>
              </a:rPr>
              <a:t>대곡교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smoothing : </a:t>
            </a:r>
            <a:r>
              <a:rPr lang="ko-KR" altLang="en-US" sz="10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궁내교</a:t>
            </a:r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 </a:t>
            </a: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( 1 ) </a:t>
            </a:r>
            <a:r>
              <a:rPr lang="ko-KR" altLang="en-US" sz="10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대곡교</a:t>
            </a:r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 </a:t>
            </a: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( 2 )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learning_rate</a:t>
            </a:r>
            <a:r>
              <a:rPr lang="en-US" altLang="ko-KR" sz="10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Loss_function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=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Seq_length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=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36 ( 6</a:t>
            </a:r>
            <a:r>
              <a:rPr lang="ko-KR" altLang="en-US" sz="1000" b="1" dirty="0">
                <a:latin typeface="+mn-ea"/>
              </a:rPr>
              <a:t>시간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 err="1">
                <a:latin typeface="+mn-ea"/>
              </a:rPr>
              <a:t>Num_of_layer</a:t>
            </a:r>
            <a:r>
              <a:rPr lang="en-US" altLang="ko-KR" sz="1000" b="1" dirty="0">
                <a:latin typeface="+mn-ea"/>
              </a:rPr>
              <a:t> = 12 (</a:t>
            </a:r>
            <a:r>
              <a:rPr lang="ko-KR" altLang="en-US" sz="1000" b="1" dirty="0">
                <a:latin typeface="+mn-ea"/>
              </a:rPr>
              <a:t> 각 </a:t>
            </a:r>
            <a:r>
              <a:rPr lang="en-US" altLang="ko-KR" sz="1000" b="1" dirty="0">
                <a:latin typeface="+mn-ea"/>
              </a:rPr>
              <a:t>LSTM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3</a:t>
            </a:r>
            <a:r>
              <a:rPr lang="ko-KR" altLang="en-US" sz="1000" b="1" dirty="0">
                <a:latin typeface="+mn-ea"/>
              </a:rPr>
              <a:t>개 처리 </a:t>
            </a:r>
            <a:r>
              <a:rPr lang="en-US" altLang="ko-KR" sz="1000" b="1" dirty="0">
                <a:latin typeface="+mn-ea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C7F894-318F-4FD3-823D-C45A52E30BAF}"/>
              </a:ext>
            </a:extLst>
          </p:cNvPr>
          <p:cNvSpPr txBox="1"/>
          <p:nvPr/>
        </p:nvSpPr>
        <p:spPr>
          <a:xfrm>
            <a:off x="-605366" y="3136612"/>
            <a:ext cx="134027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 err="1">
                <a:solidFill>
                  <a:srgbClr val="FF0000"/>
                </a:solidFill>
                <a:latin typeface="+mj-ea"/>
                <a:ea typeface="+mj-ea"/>
              </a:rPr>
              <a:t>대곡교</a:t>
            </a:r>
            <a:endParaRPr lang="en-US" altLang="ko-KR" sz="32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5222736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2308225" y="3105834"/>
            <a:ext cx="7575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0. </a:t>
            </a:r>
            <a:r>
              <a:rPr lang="en-US" altLang="ko-KR" sz="3600" b="1" dirty="0" err="1">
                <a:solidFill>
                  <a:schemeClr val="accent5"/>
                </a:solidFill>
                <a:latin typeface="+mj-ea"/>
              </a:rPr>
              <a:t>num_of_layer</a:t>
            </a:r>
            <a:r>
              <a:rPr lang="en-US" altLang="ko-KR" sz="3600" b="1" dirty="0">
                <a:solidFill>
                  <a:schemeClr val="accent5"/>
                </a:solidFill>
                <a:latin typeface="+mj-ea"/>
              </a:rPr>
              <a:t> =12</a:t>
            </a:r>
            <a:r>
              <a:rPr lang="ko-KR" altLang="en-US" sz="3600" b="1" dirty="0">
                <a:solidFill>
                  <a:schemeClr val="accent5"/>
                </a:solidFill>
                <a:latin typeface="+mj-ea"/>
              </a:rPr>
              <a:t> </a:t>
            </a:r>
            <a:endParaRPr lang="en-US" altLang="ko-KR" sz="3600" b="1" dirty="0">
              <a:solidFill>
                <a:schemeClr val="accent5"/>
              </a:solidFill>
              <a:latin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1C21A-07E7-426D-AC1B-76C99BA95C6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/dg)_l12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7795881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377505" y="623270"/>
            <a:ext cx="28942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=12 </a:t>
            </a:r>
            <a:r>
              <a:rPr lang="ko-KR" altLang="en-US" sz="2400" dirty="0">
                <a:latin typeface="+mj-ea"/>
                <a:ea typeface="+mj-ea"/>
              </a:rPr>
              <a:t>학습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대곡교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(23111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0.0348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0.0167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0.0545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0.977872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0.981024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1.489537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(6282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0.0314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0.0141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0.0533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0.970796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0.973404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0.382375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(5472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0.0297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0.0136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0.0621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0.945628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0.946119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5.689971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755" y="3745533"/>
            <a:ext cx="5348269" cy="178457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</p:spTree>
    <p:extLst>
      <p:ext uri="{BB962C8B-B14F-4D97-AF65-F5344CB8AC3E}">
        <p14:creationId xmlns:p14="http://schemas.microsoft.com/office/powerpoint/2010/main" val="14929287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0.6571355333013245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0.04801457060069652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0.19200435611936775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0.21912227317344196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0.7198263671371292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0.2550023667304158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0.3688772605525123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0.5049775903249726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0.9231141326275117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0.03550482569334603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0.14576794703801474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0.18842724243947856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0.8274971285050222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0.059875573660618985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0.213871206442515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0.24469485826355034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869" y="4351440"/>
            <a:ext cx="3029151" cy="158192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7167" y="4344367"/>
            <a:ext cx="3029270" cy="159468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5689" y="1973037"/>
            <a:ext cx="2985079" cy="1581066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393" y="2006316"/>
            <a:ext cx="2942386" cy="1539515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DB25FE2-FB8B-4DFF-B0F9-07A68FD42E46}"/>
              </a:ext>
            </a:extLst>
          </p:cNvPr>
          <p:cNvSpPr txBox="1"/>
          <p:nvPr/>
        </p:nvSpPr>
        <p:spPr>
          <a:xfrm>
            <a:off x="377505" y="623270"/>
            <a:ext cx="31192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latin typeface="+mj-ea"/>
              </a:rPr>
              <a:t>num_of_layer</a:t>
            </a:r>
            <a:r>
              <a:rPr lang="en-US" altLang="ko-KR" sz="2400" dirty="0">
                <a:latin typeface="+mj-ea"/>
              </a:rPr>
              <a:t> =12 </a:t>
            </a:r>
            <a:r>
              <a:rPr lang="ko-KR" altLang="en-US" sz="2400" dirty="0">
                <a:latin typeface="+mj-ea"/>
                <a:ea typeface="+mj-ea"/>
              </a:rPr>
              <a:t>예측 코드 </a:t>
            </a:r>
            <a:r>
              <a:rPr lang="en-US" altLang="ko-KR" sz="2400" dirty="0">
                <a:latin typeface="+mj-ea"/>
                <a:ea typeface="+mj-ea"/>
              </a:rPr>
              <a:t>- </a:t>
            </a:r>
            <a:r>
              <a:rPr lang="ko-KR" altLang="en-US" sz="2400" dirty="0" err="1">
                <a:latin typeface="+mj-ea"/>
                <a:ea typeface="+mj-ea"/>
              </a:rPr>
              <a:t>대곡교</a:t>
            </a:r>
            <a:endParaRPr lang="ko-KR" altLang="en-US" sz="24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20040040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4154</TotalTime>
  <Words>1287</Words>
  <Application>Microsoft Office PowerPoint</Application>
  <PresentationFormat>와이드스크린</PresentationFormat>
  <Paragraphs>457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6" baseType="lpstr">
      <vt:lpstr>맑은 고딕</vt:lpstr>
      <vt:lpstr>Arial</vt:lpstr>
      <vt:lpstr>Calibri</vt:lpstr>
      <vt:lpstr>Calibri Light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498</cp:revision>
  <dcterms:created xsi:type="dcterms:W3CDTF">2025-11-18T00:02:37Z</dcterms:created>
  <dcterms:modified xsi:type="dcterms:W3CDTF">2025-12-31T05:23:02Z</dcterms:modified>
</cp:coreProperties>
</file>