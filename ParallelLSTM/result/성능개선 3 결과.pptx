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406" r:id="rId3"/>
    <p:sldId id="513" r:id="rId4"/>
    <p:sldId id="533" r:id="rId5"/>
    <p:sldId id="514" r:id="rId6"/>
    <p:sldId id="528" r:id="rId7"/>
    <p:sldId id="532" r:id="rId8"/>
    <p:sldId id="518" r:id="rId9"/>
    <p:sldId id="529" r:id="rId10"/>
    <p:sldId id="531" r:id="rId11"/>
    <p:sldId id="53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213282"/>
            <a:ext cx="4588584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>
                <a:latin typeface="+mj-ea"/>
                <a:ea typeface="+mj-ea"/>
              </a:rPr>
              <a:t>궁내교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수위 예측 </a:t>
            </a:r>
            <a:r>
              <a:rPr lang="en-US" altLang="ko-KR" sz="4400" b="1" dirty="0">
                <a:latin typeface="+mj-ea"/>
                <a:ea typeface="+mj-ea"/>
              </a:rPr>
              <a:t>AI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성능 개선 결과 </a:t>
            </a:r>
            <a:r>
              <a:rPr lang="en-US" altLang="ko-KR" sz="4400" b="1" dirty="0">
                <a:latin typeface="+mj-ea"/>
                <a:ea typeface="+mj-ea"/>
              </a:rPr>
              <a:t>3</a:t>
            </a:r>
          </a:p>
          <a:p>
            <a:pPr algn="ctr"/>
            <a:r>
              <a:rPr lang="en-US" altLang="ko-KR" sz="2000" b="1" dirty="0">
                <a:latin typeface="+mj-ea"/>
                <a:ea typeface="+mj-ea"/>
              </a:rPr>
              <a:t>( </a:t>
            </a:r>
            <a:r>
              <a:rPr lang="ko-KR" altLang="en-US" sz="2000" b="1" dirty="0">
                <a:latin typeface="+mj-ea"/>
                <a:ea typeface="+mj-ea"/>
              </a:rPr>
              <a:t>시계열</a:t>
            </a:r>
            <a:r>
              <a:rPr lang="en-US" altLang="ko-KR" sz="2000" b="1" dirty="0">
                <a:latin typeface="+mj-ea"/>
                <a:ea typeface="+mj-ea"/>
              </a:rPr>
              <a:t> )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CFCE6-C3D3-4B96-9F52-BA607F1A8468}"/>
              </a:ext>
            </a:extLst>
          </p:cNvPr>
          <p:cNvSpPr txBox="1"/>
          <p:nvPr/>
        </p:nvSpPr>
        <p:spPr>
          <a:xfrm>
            <a:off x="1632479" y="3105834"/>
            <a:ext cx="8927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latin typeface="+mj-ea"/>
              </a:rPr>
              <a:t>※ </a:t>
            </a:r>
            <a:r>
              <a:rPr lang="ko-KR" altLang="en-US" sz="3600" b="1" dirty="0">
                <a:latin typeface="+mj-ea"/>
              </a:rPr>
              <a:t>강우 이벤트 전부 학습으로 사용</a:t>
            </a:r>
            <a:endParaRPr lang="en-US" altLang="ko-KR" sz="36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3728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1412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검증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~ 2022 68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96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0.0003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/ MAPE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36</a:t>
            </a:r>
            <a:r>
              <a:rPr lang="en-US" altLang="ko-KR" sz="900" b="1" dirty="0">
                <a:latin typeface="+mn-ea"/>
              </a:rPr>
              <a:t>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/ 48 / 60 / 72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6 / 12 (</a:t>
            </a:r>
            <a:r>
              <a:rPr lang="ko-KR" altLang="en-US" sz="900" b="1" dirty="0">
                <a:latin typeface="+mn-ea"/>
              </a:rPr>
              <a:t> 각 </a:t>
            </a:r>
            <a:r>
              <a:rPr lang="en-US" altLang="ko-KR" sz="900" b="1" dirty="0">
                <a:latin typeface="+mn-ea"/>
              </a:rPr>
              <a:t>LSTM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</a:t>
            </a:r>
            <a:r>
              <a:rPr lang="ko-KR" altLang="en-US" sz="900" b="1" dirty="0">
                <a:latin typeface="+mn-ea"/>
              </a:rPr>
              <a:t>개 처리 </a:t>
            </a:r>
            <a:r>
              <a:rPr lang="en-US" altLang="ko-KR" sz="900" b="1" dirty="0">
                <a:latin typeface="+mn-ea"/>
              </a:rPr>
              <a:t>) / 18 / 36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영향 없는 관측소 및 컬럼 제외 </a:t>
            </a:r>
            <a:r>
              <a:rPr lang="en-US" altLang="ko-KR" sz="900" b="1" dirty="0">
                <a:latin typeface="+mn-ea"/>
              </a:rPr>
              <a:t>/ </a:t>
            </a:r>
            <a:r>
              <a:rPr lang="ko-KR" altLang="en-US" sz="900" b="1" dirty="0">
                <a:solidFill>
                  <a:srgbClr val="FF0000"/>
                </a:solidFill>
                <a:latin typeface="+mn-ea"/>
              </a:rPr>
              <a:t>전체 강우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0.968928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0.970272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22.160994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0.951583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4.037687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0.890020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0.919186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5.456180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036"/>
            <a:ext cx="5386707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8689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-0.2437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57CE8F-56A8-4A0F-BD3D-532182644401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569F-333D-4E55-9225-B270626AB230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61470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4196056-BB79-4D14-ADCA-8FFA99577FD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0.4649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0.6025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0.3919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0.6014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0.3159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0.6523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6E2E844-091A-49B4-BC3E-70A0595B2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38524"/>
            <a:ext cx="3029151" cy="1607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374747-68DC-496A-AAC9-C882AE574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38731"/>
            <a:ext cx="3029270" cy="16059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E2FA94E-7B17-466B-AE68-69E95BD9B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0948"/>
            <a:ext cx="2985079" cy="158524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4A99877-9487-4654-9C42-C141505104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2006316"/>
            <a:ext cx="2977423" cy="1539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05B2C0-8EF7-41B4-AB3C-BCDEAD98637D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ED07FF-6B14-4DE1-9C4D-D0EE8E2A5B5B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757C12-A4C2-411D-B087-B8C397EC2824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9C68C5-F4E2-4FCB-B716-E0A7EFE9114F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65536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0.978130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0.980108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12.456093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(6828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0.940861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0.952862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3.006159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0.884159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0.915125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4.980753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51" y="3747356"/>
            <a:ext cx="5287475" cy="17809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66FFFB-35A1-4714-8205-C2DFD2D79A22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 , </a:t>
            </a:r>
            <a:r>
              <a:rPr lang="en-US" altLang="ko-KR" sz="2000" b="1" dirty="0" err="1">
                <a:latin typeface="+mj-ea"/>
                <a:ea typeface="+mj-ea"/>
              </a:rPr>
              <a:t>loss_function</a:t>
            </a:r>
            <a:r>
              <a:rPr lang="en-US" altLang="ko-KR" sz="2000" b="1" dirty="0">
                <a:latin typeface="+mj-ea"/>
                <a:ea typeface="+mj-ea"/>
              </a:rPr>
              <a:t> = MAE, </a:t>
            </a:r>
            <a:r>
              <a:rPr lang="en-US" altLang="ko-KR" sz="2000" b="1" dirty="0" err="1">
                <a:latin typeface="+mj-ea"/>
                <a:ea typeface="+mj-ea"/>
              </a:rPr>
              <a:t>learning_rate</a:t>
            </a:r>
            <a:r>
              <a:rPr lang="en-US" altLang="ko-KR" sz="2000" b="1" dirty="0">
                <a:latin typeface="+mj-ea"/>
                <a:ea typeface="+mj-ea"/>
              </a:rPr>
              <a:t> = 0.0005  </a:t>
            </a:r>
          </a:p>
          <a:p>
            <a:r>
              <a:rPr lang="en-US" altLang="ko-KR" sz="2000" b="1" dirty="0">
                <a:latin typeface="+mj-ea"/>
                <a:ea typeface="+mj-ea"/>
              </a:rPr>
              <a:t> </a:t>
            </a:r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88834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0.6794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0.2994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0.1211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0.7326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48846"/>
            <a:ext cx="3035115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8731"/>
            <a:ext cx="3010771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4700"/>
            <a:ext cx="2993660" cy="157773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82819"/>
            <a:ext cx="2977423" cy="158650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 , </a:t>
            </a:r>
            <a:r>
              <a:rPr lang="en-US" altLang="ko-KR" sz="2000" b="1" dirty="0" err="1">
                <a:latin typeface="+mj-ea"/>
                <a:ea typeface="+mj-ea"/>
              </a:rPr>
              <a:t>loss_function</a:t>
            </a:r>
            <a:r>
              <a:rPr lang="en-US" altLang="ko-KR" sz="2000" b="1" dirty="0">
                <a:latin typeface="+mj-ea"/>
                <a:ea typeface="+mj-ea"/>
              </a:rPr>
              <a:t> = MAE, </a:t>
            </a:r>
            <a:r>
              <a:rPr lang="en-US" altLang="ko-KR" sz="2000" b="1" dirty="0" err="1">
                <a:latin typeface="+mj-ea"/>
                <a:ea typeface="+mj-ea"/>
              </a:rPr>
              <a:t>learning_rate</a:t>
            </a:r>
            <a:r>
              <a:rPr lang="en-US" altLang="ko-KR" sz="2000" b="1" dirty="0">
                <a:latin typeface="+mj-ea"/>
                <a:ea typeface="+mj-ea"/>
              </a:rPr>
              <a:t> = 0.0005  </a:t>
            </a:r>
          </a:p>
          <a:p>
            <a:r>
              <a:rPr lang="en-US" altLang="ko-KR" sz="2000" b="1" dirty="0">
                <a:latin typeface="+mj-ea"/>
                <a:ea typeface="+mj-ea"/>
              </a:rPr>
              <a:t> </a:t>
            </a:r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0AE9EB-4B3D-47EF-A246-E84AE30EFF1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25499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0.5988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0.2370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0.6995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0.2734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0.5229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0.2164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0.6443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0.2827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2368"/>
            <a:ext cx="3029716" cy="160006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43" y="4331287"/>
            <a:ext cx="3087318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74868"/>
            <a:ext cx="299055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90718"/>
            <a:ext cx="3015518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015204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(23111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0.977872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0.981024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1.489537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(6282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0.0314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0.0141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0.970796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0.973404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0.382375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(5472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0.945628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0.946119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5.689971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" y="3745533"/>
            <a:ext cx="5348269" cy="17845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566FBF-B356-4538-8C95-858CC0641B7F}"/>
              </a:ext>
            </a:extLst>
          </p:cNvPr>
          <p:cNvSpPr txBox="1"/>
          <p:nvPr/>
        </p:nvSpPr>
        <p:spPr>
          <a:xfrm>
            <a:off x="622385" y="850612"/>
            <a:ext cx="79500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=12</a:t>
            </a:r>
            <a:r>
              <a:rPr lang="en-US" altLang="ko-KR" sz="2000" b="1" dirty="0">
                <a:latin typeface="+mj-ea"/>
              </a:rPr>
              <a:t>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</a:t>
            </a:r>
            <a:r>
              <a:rPr lang="en-US" altLang="ko-KR" sz="2000" b="1" dirty="0">
                <a:latin typeface="+mj-ea"/>
                <a:ea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6337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0.6571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0.2550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0.3688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0.5049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0.1884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51440"/>
            <a:ext cx="3029151" cy="15819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44367"/>
            <a:ext cx="3029270" cy="15946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3037"/>
            <a:ext cx="2985079" cy="158106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393" y="2006316"/>
            <a:ext cx="2942386" cy="153951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79500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=12</a:t>
            </a:r>
            <a:r>
              <a:rPr lang="en-US" altLang="ko-KR" sz="2000" b="1" dirty="0">
                <a:latin typeface="+mj-ea"/>
              </a:rPr>
              <a:t>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</a:t>
            </a:r>
            <a:r>
              <a:rPr lang="en-US" altLang="ko-KR" sz="2000" b="1" dirty="0">
                <a:latin typeface="+mj-ea"/>
                <a:ea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CD3017-5D02-4C97-93DF-026F01EDE69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/dg)_l12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73421220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4158</TotalTime>
  <Words>1052</Words>
  <Application>Microsoft Office PowerPoint</Application>
  <PresentationFormat>와이드스크린</PresentationFormat>
  <Paragraphs>345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499</cp:revision>
  <dcterms:created xsi:type="dcterms:W3CDTF">2025-11-18T00:02:37Z</dcterms:created>
  <dcterms:modified xsi:type="dcterms:W3CDTF">2026-01-09T01:13:58Z</dcterms:modified>
</cp:coreProperties>
</file>