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406" r:id="rId3"/>
    <p:sldId id="513" r:id="rId4"/>
    <p:sldId id="533" r:id="rId5"/>
    <p:sldId id="514" r:id="rId6"/>
    <p:sldId id="528" r:id="rId7"/>
    <p:sldId id="532" r:id="rId8"/>
    <p:sldId id="518" r:id="rId9"/>
    <p:sldId id="529" r:id="rId10"/>
    <p:sldId id="531" r:id="rId11"/>
    <p:sldId id="53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213282"/>
            <a:ext cx="4588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>
                <a:latin typeface="+mj-ea"/>
                <a:ea typeface="+mj-ea"/>
              </a:rPr>
              <a:t>궁내교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성능 개선 결과 </a:t>
            </a:r>
            <a:r>
              <a:rPr lang="en-US" altLang="ko-KR" sz="4400" b="1" dirty="0">
                <a:latin typeface="+mj-ea"/>
                <a:ea typeface="+mj-ea"/>
              </a:rPr>
              <a:t>3</a:t>
            </a:r>
          </a:p>
          <a:p>
            <a:pPr algn="ctr"/>
            <a:r>
              <a:rPr lang="en-US" altLang="ko-KR" sz="2000" b="1" dirty="0">
                <a:latin typeface="+mj-ea"/>
                <a:ea typeface="+mj-ea"/>
              </a:rPr>
              <a:t>( </a:t>
            </a:r>
            <a:r>
              <a:rPr lang="ko-KR" altLang="en-US" sz="2000" b="1" dirty="0">
                <a:latin typeface="+mj-ea"/>
                <a:ea typeface="+mj-ea"/>
              </a:rPr>
              <a:t>시계열</a:t>
            </a:r>
            <a:r>
              <a:rPr lang="en-US" altLang="ko-KR" sz="2000" b="1" dirty="0">
                <a:latin typeface="+mj-ea"/>
                <a:ea typeface="+mj-ea"/>
              </a:rPr>
              <a:t> )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1632479" y="3105834"/>
            <a:ext cx="8927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</a:rPr>
              <a:t>※ </a:t>
            </a:r>
            <a:r>
              <a:rPr lang="ko-KR" altLang="en-US" sz="3600" b="1" dirty="0">
                <a:latin typeface="+mj-ea"/>
              </a:rPr>
              <a:t>강우 이벤트 전부 학습으로 사용</a:t>
            </a:r>
            <a:endParaRPr lang="en-US" altLang="ko-KR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728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5655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1420</a:t>
            </a:r>
            <a:r>
              <a:rPr lang="ko-KR" altLang="en-US" sz="1600" dirty="0"/>
              <a:t>개 中 </a:t>
            </a:r>
            <a:r>
              <a:rPr lang="en-US" altLang="ko-KR" sz="1600" dirty="0"/>
              <a:t>1412</a:t>
            </a:r>
            <a:r>
              <a:rPr lang="ko-KR" altLang="en-US" sz="1600" dirty="0"/>
              <a:t>개 데이터 파일 학습에 사용 </a:t>
            </a:r>
            <a:r>
              <a:rPr lang="en-US" altLang="ko-KR" sz="1600" dirty="0"/>
              <a:t>( </a:t>
            </a:r>
            <a:r>
              <a:rPr lang="ko-KR" altLang="en-US" sz="1600" dirty="0"/>
              <a:t>결측 </a:t>
            </a:r>
            <a:r>
              <a:rPr lang="en-US" altLang="ko-KR" sz="1600" dirty="0"/>
              <a:t>5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검증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3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~ 2022 68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( 988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~ 2024 96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( 282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~ 2025 109</a:t>
            </a:r>
            <a:r>
              <a:rPr lang="ko-KR" altLang="en-US" sz="900" b="1" dirty="0">
                <a:latin typeface="+mn-ea"/>
              </a:rPr>
              <a:t>번 </a:t>
            </a:r>
            <a:r>
              <a:rPr lang="en-US" altLang="ko-KR" sz="900" b="1" dirty="0">
                <a:latin typeface="+mn-ea"/>
              </a:rPr>
              <a:t>( 142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754534" y="126666"/>
            <a:ext cx="3310468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 / 0.0003 /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 / MAE / MAPE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solidFill>
                  <a:srgbClr val="FF0000"/>
                </a:solidFill>
                <a:latin typeface="+mn-ea"/>
              </a:rPr>
              <a:t>36</a:t>
            </a:r>
            <a:r>
              <a:rPr lang="en-US" altLang="ko-KR" sz="900" b="1" dirty="0">
                <a:latin typeface="+mn-ea"/>
              </a:rPr>
              <a:t>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/ 48 / 60 / 72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6 / 12 (</a:t>
            </a:r>
            <a:r>
              <a:rPr lang="ko-KR" altLang="en-US" sz="900" b="1" dirty="0">
                <a:latin typeface="+mn-ea"/>
              </a:rPr>
              <a:t> 각 </a:t>
            </a:r>
            <a:r>
              <a:rPr lang="en-US" altLang="ko-KR" sz="900" b="1" dirty="0">
                <a:latin typeface="+mn-ea"/>
              </a:rPr>
              <a:t>LSTM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</a:t>
            </a:r>
            <a:r>
              <a:rPr lang="ko-KR" altLang="en-US" sz="900" b="1" dirty="0">
                <a:latin typeface="+mn-ea"/>
              </a:rPr>
              <a:t>개 처리 </a:t>
            </a:r>
            <a:r>
              <a:rPr lang="en-US" altLang="ko-KR" sz="900" b="1" dirty="0">
                <a:latin typeface="+mn-ea"/>
              </a:rPr>
              <a:t>) / 18 / 36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영향 없는 관측소 및 컬럼 제외 </a:t>
            </a:r>
            <a:r>
              <a:rPr lang="en-US" altLang="ko-KR" sz="900" b="1" dirty="0">
                <a:latin typeface="+mn-ea"/>
              </a:rPr>
              <a:t>/ </a:t>
            </a:r>
            <a:r>
              <a:rPr lang="ko-KR" altLang="en-US" sz="900" b="1" dirty="0">
                <a:solidFill>
                  <a:srgbClr val="FF0000"/>
                </a:solidFill>
                <a:latin typeface="+mn-ea"/>
              </a:rPr>
              <a:t>전체 강우</a:t>
            </a:r>
            <a:endParaRPr lang="en-US" altLang="ko-KR" sz="9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0.968928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0.970272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22.160994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0.942801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4.037687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0.890020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0.919186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5.456180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40036"/>
            <a:ext cx="5386707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689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-0.2437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0.0493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0.1828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0.8500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0.2048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0.0833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0.1052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8524"/>
            <a:ext cx="3035115" cy="16077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38731"/>
            <a:ext cx="3059566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0948"/>
            <a:ext cx="2993660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77329"/>
            <a:ext cx="2977423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57CE8F-56A8-4A0F-BD3D-532182644401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0569F-333D-4E55-9225-B270626AB230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6147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4196056-BB79-4D14-ADCA-8FFA99577FD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0.4649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0.2530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0.6025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0.3617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0.3919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0.6014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0.3159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0.6523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0.1206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0.3473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7914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=18,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6E2E844-091A-49B4-BC3E-70A0595B2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38524"/>
            <a:ext cx="3029151" cy="16077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374747-68DC-496A-AAC9-C882AE574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38731"/>
            <a:ext cx="3029270" cy="16059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2FA94E-7B17-466B-AE68-69E95BD9B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0948"/>
            <a:ext cx="2985079" cy="15852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4A99877-9487-4654-9C42-C141505104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2006316"/>
            <a:ext cx="2977423" cy="15395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A05B2C0-8EF7-41B4-AB3C-BCDEAD98637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D07FF-6B14-4DE1-9C4D-D0EE8E2A5B5B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57C12-A4C2-411D-B087-B8C397EC282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9C68C5-F4E2-4FCB-B716-E0A7EFE9114F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65536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0.978130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0.980108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12.456093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0.940861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0.952862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3.006159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0.884159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4.980753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51" y="3747356"/>
            <a:ext cx="5287475" cy="1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66FFFB-35A1-4714-8205-C2DFD2D79A22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 , </a:t>
            </a:r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MAE, </a:t>
            </a:r>
            <a:r>
              <a:rPr lang="en-US" altLang="ko-KR" sz="2000" b="1" dirty="0" err="1">
                <a:latin typeface="+mj-ea"/>
                <a:ea typeface="+mj-ea"/>
              </a:rPr>
              <a:t>learning_rate</a:t>
            </a:r>
            <a:r>
              <a:rPr lang="en-US" altLang="ko-KR" sz="2000" b="1" dirty="0">
                <a:latin typeface="+mj-ea"/>
                <a:ea typeface="+mj-ea"/>
              </a:rPr>
              <a:t> = 0.0005  </a:t>
            </a:r>
          </a:p>
          <a:p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8883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0.07876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0.6794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0.0896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0.2994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0.0960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0.1211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0.7326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8846"/>
            <a:ext cx="3035115" cy="158711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416" y="4338731"/>
            <a:ext cx="3010771" cy="16059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4700"/>
            <a:ext cx="2993660" cy="157773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82819"/>
            <a:ext cx="2977423" cy="158650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=18 , </a:t>
            </a:r>
            <a:r>
              <a:rPr lang="en-US" altLang="ko-KR" sz="2000" b="1" dirty="0" err="1">
                <a:latin typeface="+mj-ea"/>
                <a:ea typeface="+mj-ea"/>
              </a:rPr>
              <a:t>loss_function</a:t>
            </a:r>
            <a:r>
              <a:rPr lang="en-US" altLang="ko-KR" sz="2000" b="1" dirty="0">
                <a:latin typeface="+mj-ea"/>
                <a:ea typeface="+mj-ea"/>
              </a:rPr>
              <a:t> = MAE, </a:t>
            </a:r>
            <a:r>
              <a:rPr lang="en-US" altLang="ko-KR" sz="2000" b="1" dirty="0" err="1">
                <a:latin typeface="+mj-ea"/>
                <a:ea typeface="+mj-ea"/>
              </a:rPr>
              <a:t>learning_rate</a:t>
            </a:r>
            <a:r>
              <a:rPr lang="en-US" altLang="ko-KR" sz="2000" b="1" dirty="0">
                <a:latin typeface="+mj-ea"/>
                <a:ea typeface="+mj-ea"/>
              </a:rPr>
              <a:t> = 0.0005  </a:t>
            </a:r>
          </a:p>
          <a:p>
            <a:r>
              <a:rPr lang="en-US" altLang="ko-KR" sz="2000" b="1" dirty="0">
                <a:latin typeface="+mj-ea"/>
                <a:ea typeface="+mj-ea"/>
              </a:rPr>
              <a:t> </a:t>
            </a:r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0AE9EB-4B3D-47EF-A246-E84AE30EFF18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2549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65A6128-F671-488A-B725-D8FE81F5CE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0.5988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0.6995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0.2734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0.4393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0.5229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0.1692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0.6443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0.2827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</a:rPr>
              <a:t>num_of_layer</a:t>
            </a:r>
            <a:r>
              <a:rPr lang="en-US" altLang="ko-KR" sz="2000" b="1" dirty="0">
                <a:latin typeface="+mj-ea"/>
              </a:rPr>
              <a:t> =18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MAE,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0.0005 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15C8347-4427-434D-B5DF-732CAF98B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586" y="4342368"/>
            <a:ext cx="3029716" cy="160006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C322E94-D588-407C-BC30-BFC818A89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1287"/>
            <a:ext cx="3087318" cy="16208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AB98D6-4D7B-4475-ADE8-0249AD610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50" y="1974868"/>
            <a:ext cx="2990558" cy="15774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CE8EA7-DB91-45CD-B0B7-895B2582E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827" y="1990718"/>
            <a:ext cx="3015518" cy="15707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65CAC3-189B-4520-92AF-759C40170BE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0984A-6BC1-4FDC-8121-95FCFE0B9A94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40992-293D-49CE-BB2D-0A090D788F4A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5E3A12-5140-46EE-91C9-23AA19E0DB22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1520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(23111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0.977872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0.981024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1.489537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(6282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0.970796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0.973404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0.382375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(5472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0.945628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0.946119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5.689971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55" y="3745533"/>
            <a:ext cx="5348269" cy="1784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566FBF-B356-4538-8C95-858CC0641B7F}"/>
              </a:ext>
            </a:extLst>
          </p:cNvPr>
          <p:cNvSpPr txBox="1"/>
          <p:nvPr/>
        </p:nvSpPr>
        <p:spPr>
          <a:xfrm>
            <a:off x="622385" y="850612"/>
            <a:ext cx="7950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=12</a:t>
            </a:r>
            <a:r>
              <a:rPr lang="en-US" altLang="ko-KR" sz="2000" b="1" dirty="0">
                <a:latin typeface="+mj-ea"/>
              </a:rPr>
              <a:t>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633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0.6571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0.1920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0.7198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0.2550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0.3688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0.5049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0.1884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9" y="4351440"/>
            <a:ext cx="3029151" cy="15819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167" y="4344367"/>
            <a:ext cx="3029270" cy="159468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689" y="1973037"/>
            <a:ext cx="2985079" cy="158106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393" y="2006316"/>
            <a:ext cx="2942386" cy="15395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7950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err="1">
                <a:latin typeface="+mj-ea"/>
                <a:ea typeface="+mj-ea"/>
              </a:rPr>
              <a:t>num_of_layer</a:t>
            </a:r>
            <a:r>
              <a:rPr lang="en-US" altLang="ko-KR" sz="2000" b="1" dirty="0">
                <a:latin typeface="+mj-ea"/>
                <a:ea typeface="+mj-ea"/>
              </a:rPr>
              <a:t> =12</a:t>
            </a:r>
            <a:r>
              <a:rPr lang="en-US" altLang="ko-KR" sz="2000" b="1" dirty="0">
                <a:latin typeface="+mj-ea"/>
              </a:rPr>
              <a:t> , </a:t>
            </a:r>
            <a:r>
              <a:rPr lang="en-US" altLang="ko-KR" sz="2000" b="1" dirty="0" err="1">
                <a:latin typeface="+mj-ea"/>
              </a:rPr>
              <a:t>loss_function</a:t>
            </a:r>
            <a:r>
              <a:rPr lang="en-US" altLang="ko-KR" sz="2000" b="1" dirty="0">
                <a:latin typeface="+mj-ea"/>
              </a:rPr>
              <a:t> = MSE, </a:t>
            </a:r>
            <a:r>
              <a:rPr lang="en-US" altLang="ko-KR" sz="2000" b="1" dirty="0" err="1">
                <a:latin typeface="+mj-ea"/>
              </a:rPr>
              <a:t>learning_rate</a:t>
            </a:r>
            <a:r>
              <a:rPr lang="en-US" altLang="ko-KR" sz="2000" b="1" dirty="0">
                <a:latin typeface="+mj-ea"/>
              </a:rPr>
              <a:t> = 0.0001</a:t>
            </a:r>
            <a:r>
              <a:rPr lang="en-US" altLang="ko-KR" sz="2000" b="1" dirty="0">
                <a:latin typeface="+mj-ea"/>
                <a:ea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CD3017-5D02-4C97-93DF-026F01EDE69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/dg)_l12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3421220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4158</TotalTime>
  <Words>1054</Words>
  <Application>Microsoft Office PowerPoint</Application>
  <PresentationFormat>와이드스크린</PresentationFormat>
  <Paragraphs>345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501</cp:revision>
  <dcterms:created xsi:type="dcterms:W3CDTF">2025-11-18T00:02:37Z</dcterms:created>
  <dcterms:modified xsi:type="dcterms:W3CDTF">2026-01-14T00:21:27Z</dcterms:modified>
</cp:coreProperties>
</file>