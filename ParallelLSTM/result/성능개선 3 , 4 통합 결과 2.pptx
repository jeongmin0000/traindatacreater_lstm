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60" r:id="rId2"/>
    <p:sldId id="510" r:id="rId3"/>
    <p:sldId id="513" r:id="rId4"/>
    <p:sldId id="630" r:id="rId5"/>
    <p:sldId id="631" r:id="rId6"/>
    <p:sldId id="632" r:id="rId7"/>
    <p:sldId id="633" r:id="rId8"/>
    <p:sldId id="634" r:id="rId9"/>
    <p:sldId id="635" r:id="rId10"/>
    <p:sldId id="636" r:id="rId11"/>
    <p:sldId id="637" r:id="rId12"/>
    <p:sldId id="566" r:id="rId13"/>
    <p:sldId id="567" r:id="rId14"/>
    <p:sldId id="626" r:id="rId15"/>
    <p:sldId id="627" r:id="rId16"/>
    <p:sldId id="628" r:id="rId17"/>
    <p:sldId id="629" r:id="rId18"/>
    <p:sldId id="592" r:id="rId19"/>
    <p:sldId id="593" r:id="rId20"/>
    <p:sldId id="595" r:id="rId21"/>
    <p:sldId id="615" r:id="rId22"/>
    <p:sldId id="616" r:id="rId23"/>
    <p:sldId id="617" r:id="rId24"/>
    <p:sldId id="618" r:id="rId25"/>
    <p:sldId id="619" r:id="rId26"/>
    <p:sldId id="620" r:id="rId27"/>
    <p:sldId id="621" r:id="rId28"/>
    <p:sldId id="614" r:id="rId29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2DE63D5-997A-4646-A377-4702673A728D}" styleName="밝은 스타일 2 - 강조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FECB4D8-DB02-4DC6-A0A2-4F2EBAE1DC90}" styleName="보통 스타일 1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0505E3EF-67EA-436B-97B2-0124C06EBD24}" styleName="보통 스타일 4 - 강조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561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82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4530"/>
            <a:ext cx="9144000" cy="2387600"/>
          </a:xfrm>
        </p:spPr>
        <p:txBody>
          <a:bodyPr anchor="b">
            <a:normAutofit/>
          </a:bodyPr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 algn="ctr">
              <a:buNone/>
              <a:defRPr sz="28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10354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097031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12423"/>
            <a:ext cx="10515600" cy="2851208"/>
          </a:xfrm>
        </p:spPr>
        <p:txBody>
          <a:bodyPr anchor="b">
            <a:normAutofit/>
          </a:bodyPr>
          <a:lstStyle>
            <a:lvl1pPr>
              <a:defRPr sz="60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52633"/>
            <a:ext cx="10515600" cy="1500187"/>
          </a:xfrm>
        </p:spPr>
        <p:txBody>
          <a:bodyPr anchor="t">
            <a:normAutofit/>
          </a:bodyPr>
          <a:lstStyle>
            <a:lvl1pPr marL="0" indent="0"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70693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45127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8800"/>
            <a:ext cx="5181600" cy="4351337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90867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681850"/>
            <a:ext cx="5156200" cy="825699"/>
          </a:xfrm>
        </p:spPr>
        <p:txBody>
          <a:bodyPr anchor="b">
            <a:normAutofit/>
          </a:bodyPr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45127" y="2507550"/>
            <a:ext cx="5156200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851"/>
            <a:ext cx="5181601" cy="825698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7550"/>
            <a:ext cx="5181601" cy="3680525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7138768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6" name="Title 5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45005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48245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197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399"/>
            <a:ext cx="3931920" cy="3810001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6671093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41248" y="457200"/>
            <a:ext cx="3931920" cy="1600200"/>
          </a:xfrm>
        </p:spPr>
        <p:txBody>
          <a:bodyPr anchor="b">
            <a:normAutofit/>
          </a:bodyPr>
          <a:lstStyle>
            <a:lvl1pPr>
              <a:defRPr sz="3200" b="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1600" y="990600"/>
            <a:ext cx="6172200" cy="4876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41248" y="2057400"/>
            <a:ext cx="3931920" cy="3810000"/>
          </a:xfrm>
        </p:spPr>
        <p:txBody>
          <a:bodyPr>
            <a:normAutofit/>
          </a:bodyPr>
          <a:lstStyle>
            <a:lvl1pPr marL="0" indent="0">
              <a:lnSpc>
                <a:spcPct val="90000"/>
              </a:lnSpc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36044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82803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0362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0362"/>
            <a:ext cx="7734300" cy="5811837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84097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45127" y="365760"/>
            <a:ext cx="10515600" cy="132556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45127" y="1828800"/>
            <a:ext cx="10515600" cy="435133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B72759B8-7332-44BD-B1FF-13450B6DA7DC}" type="datetimeFigureOut">
              <a:rPr lang="ko-KR" altLang="en-US" smtClean="0"/>
              <a:t>2026-01-16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7527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09A0CAA-93EE-490C-9794-119BBE47DCA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687531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Wingdings 2" pitchFamily="18" charset="2"/>
        <a:buChar char="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Wingdings 2" pitchFamily="18" charset="2"/>
        <a:buChar char="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11.png"/><Relationship Id="rId7" Type="http://schemas.openxmlformats.org/officeDocument/2006/relationships/image" Target="../media/image15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12.png"/><Relationship Id="rId9" Type="http://schemas.openxmlformats.org/officeDocument/2006/relationships/image" Target="../media/image17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20.png"/><Relationship Id="rId7" Type="http://schemas.openxmlformats.org/officeDocument/2006/relationships/image" Target="../media/image24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21.png"/><Relationship Id="rId9" Type="http://schemas.openxmlformats.org/officeDocument/2006/relationships/image" Target="../media/image26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30.png"/><Relationship Id="rId9" Type="http://schemas.openxmlformats.org/officeDocument/2006/relationships/image" Target="../media/image35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38.png"/><Relationship Id="rId7" Type="http://schemas.openxmlformats.org/officeDocument/2006/relationships/image" Target="../media/image6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9.png"/><Relationship Id="rId9" Type="http://schemas.openxmlformats.org/officeDocument/2006/relationships/image" Target="../media/image8.pn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41.png"/><Relationship Id="rId7" Type="http://schemas.openxmlformats.org/officeDocument/2006/relationships/image" Target="../media/image15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42.png"/><Relationship Id="rId9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44.png"/><Relationship Id="rId7" Type="http://schemas.openxmlformats.org/officeDocument/2006/relationships/image" Target="../media/image2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45.png"/><Relationship Id="rId9" Type="http://schemas.openxmlformats.org/officeDocument/2006/relationships/image" Target="../media/image26.png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47.png"/><Relationship Id="rId7" Type="http://schemas.openxmlformats.org/officeDocument/2006/relationships/image" Target="../media/image33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48.png"/><Relationship Id="rId9" Type="http://schemas.openxmlformats.org/officeDocument/2006/relationships/image" Target="../media/image35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50.png"/><Relationship Id="rId7" Type="http://schemas.openxmlformats.org/officeDocument/2006/relationships/image" Target="../media/image6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51.png"/><Relationship Id="rId9" Type="http://schemas.openxmlformats.org/officeDocument/2006/relationships/image" Target="../media/image8.png"/></Relationships>
</file>

<file path=ppt/slides/_rels/slide1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53.png"/><Relationship Id="rId7" Type="http://schemas.openxmlformats.org/officeDocument/2006/relationships/image" Target="../media/image15.png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54.png"/><Relationship Id="rId9" Type="http://schemas.openxmlformats.org/officeDocument/2006/relationships/image" Target="../media/image17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56.png"/><Relationship Id="rId7" Type="http://schemas.openxmlformats.org/officeDocument/2006/relationships/image" Target="../media/image24.png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57.png"/><Relationship Id="rId9" Type="http://schemas.openxmlformats.org/officeDocument/2006/relationships/image" Target="../media/image26.png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59.png"/><Relationship Id="rId7" Type="http://schemas.openxmlformats.org/officeDocument/2006/relationships/image" Target="../media/image33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60.png"/><Relationship Id="rId9" Type="http://schemas.openxmlformats.org/officeDocument/2006/relationships/image" Target="../media/image35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62.png"/><Relationship Id="rId7" Type="http://schemas.openxmlformats.org/officeDocument/2006/relationships/image" Target="../media/image6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63.png"/><Relationship Id="rId9" Type="http://schemas.openxmlformats.org/officeDocument/2006/relationships/image" Target="../media/image8.png"/></Relationships>
</file>

<file path=ppt/slides/_rels/slide2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65.png"/><Relationship Id="rId7" Type="http://schemas.openxmlformats.org/officeDocument/2006/relationships/image" Target="../media/image15.png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4.png"/><Relationship Id="rId5" Type="http://schemas.openxmlformats.org/officeDocument/2006/relationships/image" Target="../media/image13.png"/><Relationship Id="rId10" Type="http://schemas.openxmlformats.org/officeDocument/2006/relationships/image" Target="../media/image18.png"/><Relationship Id="rId4" Type="http://schemas.openxmlformats.org/officeDocument/2006/relationships/image" Target="../media/image66.png"/><Relationship Id="rId9" Type="http://schemas.openxmlformats.org/officeDocument/2006/relationships/image" Target="../media/image17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68.png"/><Relationship Id="rId7" Type="http://schemas.openxmlformats.org/officeDocument/2006/relationships/image" Target="../media/image24.png"/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69.png"/><Relationship Id="rId9" Type="http://schemas.openxmlformats.org/officeDocument/2006/relationships/image" Target="../media/image26.png"/></Relationships>
</file>

<file path=ppt/slides/_rels/slide23.xml.rels><?xml version="1.0" encoding="UTF-8" standalone="yes"?>
<Relationships xmlns="http://schemas.openxmlformats.org/package/2006/relationships"><Relationship Id="rId8" Type="http://schemas.openxmlformats.org/officeDocument/2006/relationships/image" Target="../media/image34.png"/><Relationship Id="rId3" Type="http://schemas.openxmlformats.org/officeDocument/2006/relationships/image" Target="../media/image71.png"/><Relationship Id="rId7" Type="http://schemas.openxmlformats.org/officeDocument/2006/relationships/image" Target="../media/image33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10" Type="http://schemas.openxmlformats.org/officeDocument/2006/relationships/image" Target="../media/image36.png"/><Relationship Id="rId4" Type="http://schemas.openxmlformats.org/officeDocument/2006/relationships/image" Target="../media/image72.png"/><Relationship Id="rId9" Type="http://schemas.openxmlformats.org/officeDocument/2006/relationships/image" Target="../media/image35.png"/></Relationships>
</file>

<file path=ppt/slides/_rels/slide24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74.png"/><Relationship Id="rId7" Type="http://schemas.openxmlformats.org/officeDocument/2006/relationships/image" Target="../media/image76.png"/><Relationship Id="rId2" Type="http://schemas.openxmlformats.org/officeDocument/2006/relationships/image" Target="../media/image7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75.png"/><Relationship Id="rId9" Type="http://schemas.openxmlformats.org/officeDocument/2006/relationships/image" Target="../media/image8.png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6.png"/><Relationship Id="rId3" Type="http://schemas.openxmlformats.org/officeDocument/2006/relationships/image" Target="../media/image78.png"/><Relationship Id="rId7" Type="http://schemas.openxmlformats.org/officeDocument/2006/relationships/image" Target="../media/image15.png"/><Relationship Id="rId2" Type="http://schemas.openxmlformats.org/officeDocument/2006/relationships/image" Target="../media/image77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1.png"/><Relationship Id="rId5" Type="http://schemas.openxmlformats.org/officeDocument/2006/relationships/image" Target="../media/image80.png"/><Relationship Id="rId10" Type="http://schemas.openxmlformats.org/officeDocument/2006/relationships/image" Target="../media/image18.png"/><Relationship Id="rId4" Type="http://schemas.openxmlformats.org/officeDocument/2006/relationships/image" Target="../media/image79.png"/><Relationship Id="rId9" Type="http://schemas.openxmlformats.org/officeDocument/2006/relationships/image" Target="../media/image17.png"/></Relationships>
</file>

<file path=ppt/slides/_rels/slide26.xml.rels><?xml version="1.0" encoding="UTF-8" standalone="yes"?>
<Relationships xmlns="http://schemas.openxmlformats.org/package/2006/relationships"><Relationship Id="rId8" Type="http://schemas.openxmlformats.org/officeDocument/2006/relationships/image" Target="../media/image25.png"/><Relationship Id="rId3" Type="http://schemas.openxmlformats.org/officeDocument/2006/relationships/image" Target="../media/image83.png"/><Relationship Id="rId7" Type="http://schemas.openxmlformats.org/officeDocument/2006/relationships/image" Target="../media/image24.png"/><Relationship Id="rId2" Type="http://schemas.openxmlformats.org/officeDocument/2006/relationships/image" Target="../media/image82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22.png"/><Relationship Id="rId10" Type="http://schemas.openxmlformats.org/officeDocument/2006/relationships/image" Target="../media/image27.png"/><Relationship Id="rId4" Type="http://schemas.openxmlformats.org/officeDocument/2006/relationships/image" Target="../media/image84.png"/><Relationship Id="rId9" Type="http://schemas.openxmlformats.org/officeDocument/2006/relationships/image" Target="../media/image26.png"/></Relationships>
</file>

<file path=ppt/slides/_rels/slide27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36.png"/><Relationship Id="rId3" Type="http://schemas.openxmlformats.org/officeDocument/2006/relationships/image" Target="../media/image87.png"/><Relationship Id="rId7" Type="http://schemas.openxmlformats.org/officeDocument/2006/relationships/image" Target="../media/image89.png"/><Relationship Id="rId12" Type="http://schemas.openxmlformats.org/officeDocument/2006/relationships/image" Target="../media/image35.png"/><Relationship Id="rId2" Type="http://schemas.openxmlformats.org/officeDocument/2006/relationships/image" Target="../media/image86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11" Type="http://schemas.openxmlformats.org/officeDocument/2006/relationships/image" Target="../media/image34.png"/><Relationship Id="rId5" Type="http://schemas.openxmlformats.org/officeDocument/2006/relationships/image" Target="../media/image31.png"/><Relationship Id="rId10" Type="http://schemas.openxmlformats.org/officeDocument/2006/relationships/image" Target="../media/image9.png"/><Relationship Id="rId4" Type="http://schemas.openxmlformats.org/officeDocument/2006/relationships/image" Target="../media/image88.png"/><Relationship Id="rId9" Type="http://schemas.openxmlformats.org/officeDocument/2006/relationships/image" Target="../media/image8.png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747520" y="3044279"/>
            <a:ext cx="6696959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4400" b="1" dirty="0">
                <a:latin typeface="+mj-ea"/>
                <a:ea typeface="+mj-ea"/>
              </a:rPr>
              <a:t>AI </a:t>
            </a:r>
            <a:r>
              <a:rPr lang="ko-KR" altLang="en-US" sz="4400" b="1" dirty="0">
                <a:latin typeface="+mj-ea"/>
                <a:ea typeface="+mj-ea"/>
              </a:rPr>
              <a:t>모델 성능 개선 결과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69121544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801708" y="3044279"/>
            <a:ext cx="4588584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전체 강우</a:t>
            </a:r>
            <a:endParaRPr lang="ko-KR" altLang="en-US" sz="20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22217633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08367899"/>
              </p:ext>
            </p:extLst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565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5286E06-873F-4900-8D69-44EA679B3BA9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~ 2022 68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( 988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~ 2024 96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( 282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~ 2025 109</a:t>
            </a:r>
            <a:r>
              <a:rPr lang="ko-KR" altLang="en-US" sz="900" b="1" dirty="0">
                <a:latin typeface="+mn-ea"/>
              </a:rPr>
              <a:t>번 </a:t>
            </a:r>
            <a:r>
              <a:rPr lang="en-US" altLang="ko-KR" sz="900" b="1" dirty="0">
                <a:latin typeface="+mn-ea"/>
              </a:rPr>
              <a:t>( 142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754534" y="126666"/>
            <a:ext cx="3310468" cy="1987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 / 0.0005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 / MAE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  <a:endParaRPr lang="en-US" altLang="ko-KR" sz="900" b="1" dirty="0">
              <a:solidFill>
                <a:srgbClr val="FF0000"/>
              </a:solidFill>
              <a:latin typeface="+mn-ea"/>
            </a:endParaRPr>
          </a:p>
        </p:txBody>
      </p:sp>
    </p:spTree>
    <p:extLst>
      <p:ext uri="{BB962C8B-B14F-4D97-AF65-F5344CB8AC3E}">
        <p14:creationId xmlns:p14="http://schemas.microsoft.com/office/powerpoint/2010/main" val="327193232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21093"/>
            <a:ext cx="2133361" cy="110438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4710"/>
            <a:ext cx="2141376" cy="11229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9358"/>
            <a:ext cx="2141986" cy="112231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1046885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>
                          <a:solidFill>
                            <a:schemeClr val="bg1"/>
                          </a:solidFill>
                        </a:rPr>
                        <a:t> 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0.8683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0.1275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0.1668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0.3297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0.0265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0.1630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0.5756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0.1187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0.2465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0.3446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92637B23-33F0-4C0C-ACBB-17A58C6E60A1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A7F4627-EDEA-46CB-8A5B-FC67941957FD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/dg)_all</a:t>
            </a:r>
            <a:r>
              <a:rPr lang="en-US" altLang="ko-KR" sz="1050" dirty="0">
                <a:latin typeface="+mj-ea"/>
              </a:rPr>
              <a:t>_mse2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0473888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16138"/>
            <a:ext cx="2143724" cy="111428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0332"/>
            <a:ext cx="2138738" cy="111169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72831"/>
            <a:ext cx="2113749" cy="109536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85992357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0.2076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0.0738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0.2107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0.2717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0.7675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0.1527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0.7360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0.1032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0.1364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0337B4C-6B6B-431F-A663-8B5D5F7D8983}"/>
              </a:ext>
            </a:extLst>
          </p:cNvPr>
          <p:cNvSpPr txBox="1"/>
          <p:nvPr/>
        </p:nvSpPr>
        <p:spPr>
          <a:xfrm>
            <a:off x="622385" y="850612"/>
            <a:ext cx="7899634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  <a:p>
            <a:endParaRPr lang="ko-KR" altLang="en-US" sz="1000" b="1" dirty="0"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F302012-C902-495D-A495-6CC2AA25796D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/dg)_all</a:t>
            </a:r>
            <a:r>
              <a:rPr lang="en-US" altLang="ko-KR" sz="1050" dirty="0">
                <a:latin typeface="+mj-ea"/>
              </a:rPr>
              <a:t>_mse2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81825001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5520"/>
            <a:ext cx="2144214" cy="1115525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060" y="1401342"/>
            <a:ext cx="2113672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65611"/>
            <a:ext cx="2111715" cy="110980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9823678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0.7919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0.1269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0.2599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0.3563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0.8045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0.1654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0.7375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0.2388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0.3465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0.4887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7CDE0ED5-16E5-46F6-8A85-FDDC9E573873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516ED79-8B32-436F-8336-DCB0C92A7F1C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/dg)_all</a:t>
            </a:r>
            <a:r>
              <a:rPr lang="en-US" altLang="ko-KR" sz="1050" dirty="0">
                <a:latin typeface="+mj-ea"/>
              </a:rPr>
              <a:t>_mse2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819971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9930"/>
            <a:ext cx="2114397" cy="1106703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8748"/>
            <a:ext cx="2121773" cy="111486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70736"/>
            <a:ext cx="2117745" cy="1099556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337579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>
                          <a:solidFill>
                            <a:schemeClr val="bg1"/>
                          </a:solidFill>
                        </a:rPr>
                        <a:t> 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 </a:t>
                      </a:r>
                      <a:r>
                        <a:rPr lang="en-US" altLang="ko-KR" sz="1400" dirty="0"/>
                        <a:t>-0.2098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0.0646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0.1757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0.2542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0.9101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0.0414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0.1337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0.2036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0.7751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0.2405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/>
                        <a:t>0.2793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F0B0513-0B17-42F1-9B05-4EF232A736A2}"/>
              </a:ext>
            </a:extLst>
          </p:cNvPr>
          <p:cNvSpPr txBox="1"/>
          <p:nvPr/>
        </p:nvSpPr>
        <p:spPr>
          <a:xfrm>
            <a:off x="622385" y="850612"/>
            <a:ext cx="79147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  <a:ea typeface="+mj-ea"/>
              </a:rPr>
              <a:t>num_of_layer</a:t>
            </a:r>
            <a:r>
              <a:rPr lang="en-US" altLang="ko-KR" sz="2000" b="1" dirty="0">
                <a:latin typeface="+mj-ea"/>
                <a:ea typeface="+mj-ea"/>
              </a:rPr>
              <a:t> =18,</a:t>
            </a:r>
            <a:r>
              <a:rPr lang="en-US" altLang="ko-KR" sz="2000" b="1" dirty="0">
                <a:latin typeface="+mj-ea"/>
              </a:rPr>
              <a:t>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MSE,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0.0001 </a:t>
            </a:r>
            <a:endParaRPr lang="en-US" altLang="ko-KR" sz="2000" b="1" dirty="0">
              <a:latin typeface="+mj-ea"/>
              <a:ea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BF12331-170F-4874-8F72-E05209BB9029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/dg)_all</a:t>
            </a:r>
            <a:r>
              <a:rPr lang="en-US" altLang="ko-KR" sz="1050" dirty="0">
                <a:latin typeface="+mj-ea"/>
              </a:rPr>
              <a:t>_mse2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5828515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573" y="5416706"/>
            <a:ext cx="2133361" cy="1113154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208" y="1394710"/>
            <a:ext cx="2141376" cy="112294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7242"/>
            <a:ext cx="2141986" cy="110654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A18A818F-FB79-4D07-98E9-039F2C0D52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493177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b="0" dirty="0">
                          <a:solidFill>
                            <a:schemeClr val="bg1"/>
                          </a:solidFill>
                        </a:rPr>
                        <a:t> 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0.7709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0.0484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0.1609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0.2200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0.0782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0.0365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0.1403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0.1912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</a:t>
                      </a:r>
                      <a:r>
                        <a:rPr lang="en-US" altLang="ko-KR" sz="1400" dirty="0"/>
                        <a:t>0.8151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0.0517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0.1750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0.2274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85DECBFE-A628-4FF9-BB34-CC58F4A3CA4C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D52E92C-2EA8-4542-A9BC-E70D5EABA94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8E56AF3D-BEE7-4A8C-86A1-1FDAA662FE5C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_all_mae2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78642627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392" y="5416718"/>
            <a:ext cx="2143724" cy="111313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5877"/>
            <a:ext cx="2138738" cy="112060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6265" y="3369054"/>
            <a:ext cx="2113749" cy="110292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89B2F13-C65A-4689-AB5A-9BDA5B69D1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12704481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-0.2207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0.1137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0.2756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0.3372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0.7481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0.0252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0.1589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0.7988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0.1013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0.1191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22DD9CD-23CD-4CA1-8557-7B66A43B33A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23C94D9-52C5-4F93-81E6-39AEA60623C5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5BF69BEB-7F56-417E-B944-41BF0F816377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_all_mae2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168482420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5475"/>
            <a:ext cx="2144214" cy="111561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783" y="1401342"/>
            <a:ext cx="2130225" cy="1109678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282" y="3370634"/>
            <a:ext cx="2111715" cy="1099760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648E4F0D-FE03-455C-8A58-DB5ECB8E56A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612747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0.9074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0.1741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0.2376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0.0705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0.1301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0.2575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0.3607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0.5522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0.4075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0.5005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0.6383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AE2ABDC9-785B-4DE9-AF1E-BFD94D319A4D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4AB12A09-7264-423B-B384-CDFA6203BEAA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FF2578D4-1F99-4345-8731-2C31D75217A3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_all_mae2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327095618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055" y="5418253"/>
            <a:ext cx="2114397" cy="111005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405847"/>
            <a:ext cx="2121773" cy="1100669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9637"/>
            <a:ext cx="2117745" cy="110175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07D75C2B-9F83-4910-9ED7-CF818E7E2CA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109221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0.4791</a:t>
                      </a:r>
                      <a:endParaRPr lang="en-US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0.0278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0.1245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0.1667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0.0747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0.2058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0.6156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0.1334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0.2823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0.3652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C720FE3-FD05-4DF5-91BA-759929D77468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EB6060B-DB89-4809-A9CB-B709612F408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2000" b="1" dirty="0" err="1">
                <a:latin typeface="+mj-ea"/>
              </a:rPr>
              <a:t>num_of_layer</a:t>
            </a:r>
            <a:r>
              <a:rPr lang="en-US" altLang="ko-KR" sz="2000" b="1" dirty="0">
                <a:latin typeface="+mj-ea"/>
              </a:rPr>
              <a:t> =18 , </a:t>
            </a:r>
            <a:r>
              <a:rPr lang="en-US" altLang="ko-KR" sz="2000" b="1" dirty="0" err="1">
                <a:latin typeface="+mj-ea"/>
              </a:rPr>
              <a:t>loss_function</a:t>
            </a:r>
            <a:r>
              <a:rPr lang="en-US" altLang="ko-KR" sz="2000" b="1" dirty="0">
                <a:latin typeface="+mj-ea"/>
              </a:rPr>
              <a:t> = MAE, </a:t>
            </a:r>
            <a:r>
              <a:rPr lang="en-US" altLang="ko-KR" sz="2000" b="1" dirty="0" err="1">
                <a:latin typeface="+mj-ea"/>
              </a:rPr>
              <a:t>learning_rate</a:t>
            </a:r>
            <a:r>
              <a:rPr lang="en-US" altLang="ko-KR" sz="2000" b="1" dirty="0">
                <a:latin typeface="+mj-ea"/>
              </a:rPr>
              <a:t> = 0.0005 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5049263-2BBB-408D-8FA2-4B66E88AFBEA}"/>
              </a:ext>
            </a:extLst>
          </p:cNvPr>
          <p:cNvSpPr txBox="1"/>
          <p:nvPr/>
        </p:nvSpPr>
        <p:spPr>
          <a:xfrm>
            <a:off x="9270999" y="169583"/>
            <a:ext cx="2717801" cy="3702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</a:t>
            </a:r>
            <a:r>
              <a:rPr lang="en-US" altLang="ko-KR" sz="1050" dirty="0">
                <a:latin typeface="+mj-ea"/>
              </a:rPr>
              <a:t>_all_mae2</a:t>
            </a:r>
            <a:endParaRPr lang="ko-KR" altLang="en-US" sz="1050" dirty="0"/>
          </a:p>
        </p:txBody>
      </p:sp>
    </p:spTree>
    <p:extLst>
      <p:ext uri="{BB962C8B-B14F-4D97-AF65-F5344CB8AC3E}">
        <p14:creationId xmlns:p14="http://schemas.microsoft.com/office/powerpoint/2010/main" val="230189163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2273387" y="3044279"/>
            <a:ext cx="764522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누적 강우 </a:t>
            </a:r>
            <a:r>
              <a:rPr lang="en-US" altLang="ko-KR" sz="4400" b="1" dirty="0">
                <a:latin typeface="+mj-ea"/>
                <a:ea typeface="+mj-ea"/>
              </a:rPr>
              <a:t>110mm </a:t>
            </a:r>
            <a:r>
              <a:rPr lang="ko-KR" altLang="en-US" sz="4400" b="1" dirty="0">
                <a:latin typeface="+mj-ea"/>
                <a:ea typeface="+mj-ea"/>
              </a:rPr>
              <a:t>이상 </a:t>
            </a:r>
            <a:r>
              <a:rPr lang="en-US" altLang="ko-KR" sz="4400" b="1" dirty="0">
                <a:latin typeface="+mj-ea"/>
                <a:ea typeface="+mj-ea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60150674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파일 단위 누적 강우 </a:t>
            </a:r>
            <a:r>
              <a:rPr lang="en-US" altLang="ko-KR" sz="1600" dirty="0"/>
              <a:t>110mm </a:t>
            </a:r>
            <a:r>
              <a:rPr lang="ko-KR" altLang="en-US" sz="1600" dirty="0"/>
              <a:t>이상 추출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627533" y="126666"/>
            <a:ext cx="3437469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MSE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 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35C7D1CE-FB5B-4F7E-8396-2212B4056010}"/>
              </a:ext>
            </a:extLst>
          </p:cNvPr>
          <p:cNvSpPr/>
          <p:nvPr/>
        </p:nvSpPr>
        <p:spPr>
          <a:xfrm>
            <a:off x="3564468" y="553189"/>
            <a:ext cx="4483920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dirty="0"/>
              <a:t>같은 연도</a:t>
            </a:r>
            <a:r>
              <a:rPr lang="en-US" altLang="ko-KR" dirty="0"/>
              <a:t>·</a:t>
            </a:r>
            <a:r>
              <a:rPr lang="ko-KR" altLang="en-US" dirty="0"/>
              <a:t>다른 강우 패턴 대응 가능성 검증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8F59E89-9E3A-4B74-BE11-F7E27F33F266}"/>
              </a:ext>
            </a:extLst>
          </p:cNvPr>
          <p:cNvSpPr txBox="1"/>
          <p:nvPr/>
        </p:nvSpPr>
        <p:spPr>
          <a:xfrm>
            <a:off x="8754532" y="5346340"/>
            <a:ext cx="3437469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2024 ( 7</a:t>
            </a:r>
            <a:r>
              <a:rPr lang="ko-KR" altLang="en-US" sz="900" b="1" dirty="0">
                <a:latin typeface="+mn-ea"/>
              </a:rPr>
              <a:t>개 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2022 (35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, 2022 (66.67</a:t>
            </a:r>
            <a:r>
              <a:rPr lang="ko-KR" altLang="en-US" sz="900" b="1" dirty="0">
                <a:latin typeface="+mn-ea"/>
              </a:rPr>
              <a:t>번이벤트</a:t>
            </a:r>
            <a:r>
              <a:rPr lang="en-US" altLang="ko-KR" sz="900" b="1" dirty="0">
                <a:latin typeface="+mn-ea"/>
              </a:rPr>
              <a:t>) ( 2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>
                <a:latin typeface="+mn-ea"/>
              </a:rPr>
              <a:t>예측에 사용할 이벤트 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8932829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071" y="5412380"/>
            <a:ext cx="2124366" cy="112180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4618"/>
            <a:ext cx="2152473" cy="112312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1687"/>
            <a:ext cx="2141986" cy="1117654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B0A1C485-D69C-494B-B9BD-6079DEB98109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91DF0F8-18F4-42EB-9FB6-E43BC3ACF291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794749A-8B69-43FB-B67B-AC7E3EF4A68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474426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0.8833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0.0246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0.1029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0.1570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-0.6422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0.0651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0.2198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0.2552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0.8109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0.2300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008EFE15-F86F-496A-9C30-DF570E10338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7510809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3294"/>
            <a:ext cx="2144214" cy="1119978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400911"/>
            <a:ext cx="2138738" cy="111054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137" y="3363880"/>
            <a:ext cx="2138005" cy="111326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A5E0AD17-C689-4B92-AFB6-3BFEE70CE1DE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9B3E724-5280-4C13-A67F-E6F684D955F8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A9EFF83D-DF2F-48FB-872C-50CD69E21A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6141429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0.1947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0.07504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0.2080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0.8348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0.0165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0.1287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0.0105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0.0787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0.1027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5D16DBE5-60DF-495B-8CD1-DB4AC2767765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400166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6548" y="5413903"/>
            <a:ext cx="2135411" cy="111876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1865" y="1399943"/>
            <a:ext cx="2132061" cy="1112475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7542" y="3367478"/>
            <a:ext cx="2111195" cy="1106073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9956F2D9-606A-4C46-9140-3BFFBB7A6F9D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2BDDDDE8-C316-421E-8FCB-A7A0748355B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C9908A9E-1547-4AC0-90D2-BBED1B9B6C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1825403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0.7379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0.1599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0.2994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0.3998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pt-BR" altLang="ko-KR" sz="1400" dirty="0">
                          <a:solidFill>
                            <a:srgbClr val="FF0000"/>
                          </a:solidFill>
                        </a:rPr>
                        <a:t>-3.5192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0.6328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0.6450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0.7955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0.7074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0.2662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0.4364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0.5160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EB951DF1-AA77-4303-BD7F-1A5C511C0AD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19772551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2304" y="5417443"/>
            <a:ext cx="2123900" cy="1111677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09" y="1398226"/>
            <a:ext cx="2121773" cy="11159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4267" y="3366390"/>
            <a:ext cx="2117745" cy="110824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173C90A3-7465-4DB4-879E-A29359910C19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누적 강우 </a:t>
            </a:r>
            <a:r>
              <a:rPr lang="en-US" altLang="ko-KR" sz="2000" b="1" dirty="0">
                <a:latin typeface="+mj-ea"/>
              </a:rPr>
              <a:t>110mm </a:t>
            </a:r>
            <a:r>
              <a:rPr lang="ko-KR" altLang="en-US" sz="2000" b="1" dirty="0">
                <a:latin typeface="+mj-ea"/>
              </a:rPr>
              <a:t>이상 </a:t>
            </a:r>
            <a:r>
              <a:rPr lang="en-US" altLang="ko-KR" sz="2000" b="1" dirty="0">
                <a:latin typeface="+mj-ea"/>
              </a:rPr>
              <a:t>5 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72750E6-0AE3-4197-816C-716BC541E9FC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/dg)_110_5_2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33" name="표 32">
            <a:extLst>
              <a:ext uri="{FF2B5EF4-FFF2-40B4-BE49-F238E27FC236}">
                <a16:creationId xmlns:a16="http://schemas.microsoft.com/office/drawing/2014/main" id="{A5F688B0-A841-47A1-95BF-5226AAE27F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41683252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0.4113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0.0314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0.1504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0.1773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0.8380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0.0747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0.2026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0.5959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0.1402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0.3123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0.3745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4" name="직사각형 33">
            <a:extLst>
              <a:ext uri="{FF2B5EF4-FFF2-40B4-BE49-F238E27FC236}">
                <a16:creationId xmlns:a16="http://schemas.microsoft.com/office/drawing/2014/main" id="{C91F68A4-0BD1-49A6-BBCF-DBBE93A7C28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37052969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3378243" y="3044279"/>
            <a:ext cx="5435513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4400" b="1" dirty="0">
                <a:latin typeface="+mj-ea"/>
                <a:ea typeface="+mj-ea"/>
              </a:rPr>
              <a:t>관심 수위 이상</a:t>
            </a:r>
            <a:endParaRPr lang="en-US" altLang="ko-KR" sz="4400" b="1" dirty="0">
              <a:latin typeface="+mj-ea"/>
              <a:ea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065346047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622386" y="850612"/>
            <a:ext cx="3238414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3200" b="1" dirty="0">
                <a:latin typeface="+mj-ea"/>
                <a:ea typeface="+mj-ea"/>
              </a:rPr>
              <a:t>학습데이터</a:t>
            </a:r>
            <a:endParaRPr lang="ko-KR" altLang="en-US" sz="1200" b="1" dirty="0">
              <a:latin typeface="+mj-ea"/>
              <a:ea typeface="+mj-ea"/>
            </a:endParaRP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65E694D8-56B9-4A6D-921B-5623FCBBA9CE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1210731" y="3219528"/>
          <a:ext cx="9692641" cy="741680"/>
        </p:xfrm>
        <a:graphic>
          <a:graphicData uri="http://schemas.openxmlformats.org/drawingml/2006/table">
            <a:tbl>
              <a:tblPr firstRow="1" bandRow="1">
                <a:tableStyleId>{0505E3EF-67EA-436B-97B2-0124C06EBD24}</a:tableStyleId>
              </a:tblPr>
              <a:tblGrid>
                <a:gridCol w="1056005">
                  <a:extLst>
                    <a:ext uri="{9D8B030D-6E8A-4147-A177-3AD203B41FA5}">
                      <a16:colId xmlns:a16="http://schemas.microsoft.com/office/drawing/2014/main" val="3873650469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3203644757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3471233348"/>
                    </a:ext>
                  </a:extLst>
                </a:gridCol>
                <a:gridCol w="776605">
                  <a:extLst>
                    <a:ext uri="{9D8B030D-6E8A-4147-A177-3AD203B41FA5}">
                      <a16:colId xmlns:a16="http://schemas.microsoft.com/office/drawing/2014/main" val="2131695425"/>
                    </a:ext>
                  </a:extLst>
                </a:gridCol>
                <a:gridCol w="573405">
                  <a:extLst>
                    <a:ext uri="{9D8B030D-6E8A-4147-A177-3AD203B41FA5}">
                      <a16:colId xmlns:a16="http://schemas.microsoft.com/office/drawing/2014/main" val="1735956904"/>
                    </a:ext>
                  </a:extLst>
                </a:gridCol>
                <a:gridCol w="675005">
                  <a:extLst>
                    <a:ext uri="{9D8B030D-6E8A-4147-A177-3AD203B41FA5}">
                      <a16:colId xmlns:a16="http://schemas.microsoft.com/office/drawing/2014/main" val="229180621"/>
                    </a:ext>
                  </a:extLst>
                </a:gridCol>
                <a:gridCol w="1081405">
                  <a:extLst>
                    <a:ext uri="{9D8B030D-6E8A-4147-A177-3AD203B41FA5}">
                      <a16:colId xmlns:a16="http://schemas.microsoft.com/office/drawing/2014/main" val="331921004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4048918556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522523455"/>
                    </a:ext>
                  </a:extLst>
                </a:gridCol>
                <a:gridCol w="759143">
                  <a:extLst>
                    <a:ext uri="{9D8B030D-6E8A-4147-A177-3AD203B41FA5}">
                      <a16:colId xmlns:a16="http://schemas.microsoft.com/office/drawing/2014/main" val="2162001719"/>
                    </a:ext>
                  </a:extLst>
                </a:gridCol>
                <a:gridCol w="694055">
                  <a:extLst>
                    <a:ext uri="{9D8B030D-6E8A-4147-A177-3AD203B41FA5}">
                      <a16:colId xmlns:a16="http://schemas.microsoft.com/office/drawing/2014/main" val="3386356491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4099286348"/>
                    </a:ext>
                  </a:extLst>
                </a:gridCol>
                <a:gridCol w="636905">
                  <a:extLst>
                    <a:ext uri="{9D8B030D-6E8A-4147-A177-3AD203B41FA5}">
                      <a16:colId xmlns:a16="http://schemas.microsoft.com/office/drawing/2014/main" val="210818177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time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성남북초교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광주시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남한산초교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대장동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구미초교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/>
                        <a:t>한국학중앙연구원</a:t>
                      </a:r>
                      <a:r>
                        <a:rPr lang="en-US" altLang="ko-KR" sz="800" dirty="0"/>
                        <a:t>)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성남시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)_WL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/>
                        <a:t>서울시</a:t>
                      </a:r>
                      <a:endParaRPr lang="en-US" altLang="ko-KR" sz="800" dirty="0"/>
                    </a:p>
                    <a:p>
                      <a:pPr latinLnBrk="1"/>
                      <a:r>
                        <a:rPr lang="en-US" altLang="ko-KR" sz="800" dirty="0"/>
                        <a:t>(</a:t>
                      </a:r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)_Q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대곡교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800" dirty="0" err="1"/>
                        <a:t>궁내교</a:t>
                      </a:r>
                      <a:r>
                        <a:rPr lang="en-US" altLang="ko-KR" sz="800" dirty="0"/>
                        <a:t>_</a:t>
                      </a:r>
                      <a:r>
                        <a:rPr lang="en-US" altLang="ko-KR" sz="800" dirty="0" err="1"/>
                        <a:t>Ti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8921770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2014-07-24 15:30:00</a:t>
                      </a:r>
                    </a:p>
                    <a:p>
                      <a:pPr latinLnBrk="1"/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kumimoji="0" lang="en-US" altLang="ko-KR" sz="800" b="0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Calibri"/>
                          <a:ea typeface="맑은 고딕" panose="020B0503020000020004" pitchFamily="50" charset="-127"/>
                          <a:cs typeface="+mn-cs"/>
                        </a:rPr>
                        <a:t>1.12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5.11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2.17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40.56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800" dirty="0"/>
                        <a:t>0.0</a:t>
                      </a:r>
                      <a:endParaRPr lang="ko-KR" altLang="en-US" sz="8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74084008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53AAD899-9E1E-4F1D-9D67-D7818219E8D5}"/>
              </a:ext>
            </a:extLst>
          </p:cNvPr>
          <p:cNvSpPr txBox="1"/>
          <p:nvPr/>
        </p:nvSpPr>
        <p:spPr>
          <a:xfrm>
            <a:off x="1109130" y="2513161"/>
            <a:ext cx="8949270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600" dirty="0"/>
              <a:t>홍수통제소 </a:t>
            </a:r>
            <a:r>
              <a:rPr lang="en-US" altLang="ko-KR" sz="1600" dirty="0"/>
              <a:t>API </a:t>
            </a:r>
            <a:r>
              <a:rPr lang="ko-KR" altLang="en-US" sz="1600" dirty="0"/>
              <a:t>호출 → </a:t>
            </a:r>
            <a:r>
              <a:rPr lang="en-US" altLang="ko-KR" sz="1600" dirty="0"/>
              <a:t>MIET</a:t>
            </a:r>
            <a:r>
              <a:rPr lang="ko-KR" altLang="en-US" sz="1600" dirty="0"/>
              <a:t> 활용 강우 이벤트 추출 →</a:t>
            </a:r>
            <a:r>
              <a:rPr lang="en-US" altLang="ko-KR" sz="1600" dirty="0"/>
              <a:t> </a:t>
            </a:r>
            <a:r>
              <a:rPr lang="ko-KR" altLang="en-US" sz="1600" dirty="0"/>
              <a:t>관심 수위 이상 추출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A11B2DE-AE9B-4325-9947-5E17F10D700A}"/>
              </a:ext>
            </a:extLst>
          </p:cNvPr>
          <p:cNvSpPr txBox="1"/>
          <p:nvPr/>
        </p:nvSpPr>
        <p:spPr>
          <a:xfrm>
            <a:off x="8466667" y="126666"/>
            <a:ext cx="3598335" cy="22642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관심 수위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 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( 3.8 )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>
                <a:latin typeface="+mn-ea"/>
              </a:rPr>
              <a:t>smoothing 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( 2 )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그래프 스케일 고정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 err="1">
                <a:latin typeface="+mn-ea"/>
              </a:rPr>
              <a:t>궁내교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( 0.7 - 3 ) </a:t>
            </a:r>
            <a:r>
              <a:rPr lang="ko-KR" altLang="en-US" sz="900" b="1" dirty="0" err="1">
                <a:latin typeface="+mn-ea"/>
              </a:rPr>
              <a:t>대곡교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( 1.5 – 5.5 )</a:t>
            </a:r>
          </a:p>
          <a:p>
            <a:pPr>
              <a:lnSpc>
                <a:spcPct val="200000"/>
              </a:lnSpc>
            </a:pPr>
            <a:r>
              <a:rPr lang="en-US" altLang="ko-KR" sz="900" b="1" dirty="0">
                <a:latin typeface="+mn-ea"/>
              </a:rPr>
              <a:t>--------------------------------------------------------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learning_rate</a:t>
            </a:r>
            <a:r>
              <a:rPr lang="en-US" altLang="ko-KR" sz="900" b="1" dirty="0">
                <a:latin typeface="+mn-ea"/>
              </a:rPr>
              <a:t> = 0.0005 / 0.0001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Loss_function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MAE / Huber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Seq_length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=</a:t>
            </a:r>
            <a:r>
              <a:rPr lang="ko-KR" altLang="en-US" sz="900" b="1" dirty="0">
                <a:latin typeface="+mn-ea"/>
              </a:rPr>
              <a:t> </a:t>
            </a:r>
            <a:r>
              <a:rPr lang="en-US" altLang="ko-KR" sz="900" b="1" dirty="0">
                <a:latin typeface="+mn-ea"/>
              </a:rPr>
              <a:t>36 ( 6</a:t>
            </a:r>
            <a:r>
              <a:rPr lang="ko-KR" altLang="en-US" sz="900" b="1" dirty="0">
                <a:latin typeface="+mn-ea"/>
              </a:rPr>
              <a:t>시간 </a:t>
            </a:r>
            <a:r>
              <a:rPr lang="en-US" altLang="ko-KR" sz="900" b="1" dirty="0">
                <a:latin typeface="+mn-ea"/>
              </a:rPr>
              <a:t>) 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en-US" altLang="ko-KR" sz="900" b="1" dirty="0" err="1">
                <a:latin typeface="+mn-ea"/>
              </a:rPr>
              <a:t>Num_of_layer</a:t>
            </a:r>
            <a:r>
              <a:rPr lang="en-US" altLang="ko-KR" sz="900" b="1" dirty="0">
                <a:latin typeface="+mn-ea"/>
              </a:rPr>
              <a:t> = 18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FC100F3-ED1F-49DA-B381-6803B0D85026}"/>
              </a:ext>
            </a:extLst>
          </p:cNvPr>
          <p:cNvSpPr txBox="1"/>
          <p:nvPr/>
        </p:nvSpPr>
        <p:spPr>
          <a:xfrm>
            <a:off x="9273646" y="5102419"/>
            <a:ext cx="2918354" cy="8792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학습 </a:t>
            </a:r>
            <a:r>
              <a:rPr lang="en-US" altLang="ko-KR" sz="900" b="1" dirty="0">
                <a:latin typeface="+mn-ea"/>
              </a:rPr>
              <a:t>: 2014 ~ 20230629 ( 45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검증 </a:t>
            </a:r>
            <a:r>
              <a:rPr lang="en-US" altLang="ko-KR" sz="900" b="1" dirty="0">
                <a:latin typeface="+mn-ea"/>
              </a:rPr>
              <a:t>: 20230713 ~ 250813 ( 13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  <a:p>
            <a:pPr marL="171450" indent="-171450"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ko-KR" altLang="en-US" sz="900" b="1" dirty="0">
                <a:latin typeface="+mn-ea"/>
              </a:rPr>
              <a:t>테스트 </a:t>
            </a:r>
            <a:r>
              <a:rPr lang="en-US" altLang="ko-KR" sz="900" b="1" dirty="0">
                <a:latin typeface="+mn-ea"/>
              </a:rPr>
              <a:t>: </a:t>
            </a:r>
            <a:r>
              <a:rPr lang="ko-KR" altLang="en-US" sz="900" b="1" dirty="0">
                <a:latin typeface="+mn-ea"/>
              </a:rPr>
              <a:t>예측에 사용할 이벤트  </a:t>
            </a:r>
            <a:r>
              <a:rPr lang="en-US" altLang="ko-KR" sz="900" b="1" dirty="0">
                <a:latin typeface="+mn-ea"/>
              </a:rPr>
              <a:t>( 6</a:t>
            </a:r>
            <a:r>
              <a:rPr lang="ko-KR" altLang="en-US" sz="900" b="1" dirty="0">
                <a:latin typeface="+mn-ea"/>
              </a:rPr>
              <a:t>개 </a:t>
            </a:r>
            <a:r>
              <a:rPr lang="en-US" altLang="ko-KR" sz="900" b="1" dirty="0">
                <a:latin typeface="+mn-ea"/>
              </a:rPr>
              <a:t>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C30120D-1EA3-4B16-B7F1-3102E7DFBB50}"/>
              </a:ext>
            </a:extLst>
          </p:cNvPr>
          <p:cNvSpPr txBox="1"/>
          <p:nvPr/>
        </p:nvSpPr>
        <p:spPr>
          <a:xfrm>
            <a:off x="8362102" y="2353052"/>
            <a:ext cx="3392596" cy="3293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200000"/>
              </a:lnSpc>
            </a:pPr>
            <a:r>
              <a:rPr lang="en-US" altLang="ko-KR" sz="900" dirty="0"/>
              <a:t>( Huber : </a:t>
            </a:r>
            <a:r>
              <a:rPr lang="ko-KR" altLang="en-US" sz="900" dirty="0"/>
              <a:t>작은 오차는 </a:t>
            </a:r>
            <a:r>
              <a:rPr lang="en-US" altLang="ko-KR" sz="900" dirty="0"/>
              <a:t>MSE </a:t>
            </a:r>
            <a:r>
              <a:rPr lang="ko-KR" altLang="en-US" sz="900" dirty="0"/>
              <a:t>처럼 </a:t>
            </a:r>
            <a:r>
              <a:rPr lang="en-US" altLang="ko-KR" sz="900" dirty="0"/>
              <a:t>, </a:t>
            </a:r>
            <a:r>
              <a:rPr lang="ko-KR" altLang="en-US" sz="900" dirty="0"/>
              <a:t>큰 오차는 </a:t>
            </a:r>
            <a:r>
              <a:rPr lang="en-US" altLang="ko-KR" sz="900" dirty="0"/>
              <a:t>MAE</a:t>
            </a:r>
            <a:r>
              <a:rPr lang="ko-KR" altLang="en-US" sz="900" dirty="0"/>
              <a:t>처럼 </a:t>
            </a:r>
            <a:r>
              <a:rPr lang="en-US" altLang="ko-KR" sz="900" dirty="0"/>
              <a:t>)</a:t>
            </a:r>
            <a:endParaRPr lang="ko-KR" altLang="en-US" sz="900" dirty="0">
              <a:latin typeface="+mj-ea"/>
            </a:endParaRPr>
          </a:p>
        </p:txBody>
      </p:sp>
    </p:spTree>
    <p:extLst>
      <p:ext uri="{BB962C8B-B14F-4D97-AF65-F5344CB8AC3E}">
        <p14:creationId xmlns:p14="http://schemas.microsoft.com/office/powerpoint/2010/main" val="367794148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07728"/>
            <a:ext cx="2144214" cy="1131111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1660" y="1390626"/>
            <a:ext cx="2152473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559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4959"/>
            <a:ext cx="2141986" cy="1131111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11890FCD-7F1C-40BA-877E-5D1CB415E2A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85870945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0.9656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0.0072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0.0558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0.0852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0.4201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0.0230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0.1139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0.1516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0.8622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0.0385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0.1486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0.1963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D6A239CC-29FD-402E-AB65-80B9957BB64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4648144"/>
            <a:ext cx="4475270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</p:spTree>
    <p:extLst>
      <p:ext uri="{BB962C8B-B14F-4D97-AF65-F5344CB8AC3E}">
        <p14:creationId xmlns:p14="http://schemas.microsoft.com/office/powerpoint/2010/main" val="171598205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09145"/>
            <a:ext cx="2144214" cy="1128276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0626"/>
            <a:ext cx="2138738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61947"/>
            <a:ext cx="2141986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638495"/>
            <a:ext cx="4431036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29" y="2638010"/>
            <a:ext cx="4437903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73097" y="4648144"/>
            <a:ext cx="4431036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66D007-40CB-4A99-9BD5-148C6AD72A8D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16FC70AA-621D-45C7-B870-B7798F92F9BB}"/>
              </a:ext>
            </a:extLst>
          </p:cNvPr>
          <p:cNvGraphicFramePr>
            <a:graphicFrameLocks noGrp="1"/>
          </p:cNvGraphicFramePr>
          <p:nvPr>
            <p:extLst/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-0.0236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0.0953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0.2271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0.3088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0.7947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0.0205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0.1435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0.5087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0.1446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0.1861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E4546E68-B407-4408-A032-3C22F54627A7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41646275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0958"/>
            <a:ext cx="2144214" cy="112465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5983"/>
            <a:ext cx="2138738" cy="1120396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866" y="3361947"/>
            <a:ext cx="2136548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638495"/>
            <a:ext cx="4470400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2638010"/>
            <a:ext cx="4470400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4499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66D007-40CB-4A99-9BD5-148C6AD72A8D}"/>
              </a:ext>
            </a:extLst>
          </p:cNvPr>
          <p:cNvSpPr txBox="1"/>
          <p:nvPr/>
        </p:nvSpPr>
        <p:spPr>
          <a:xfrm>
            <a:off x="622385" y="850612"/>
            <a:ext cx="51180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1" name="표 20">
            <a:extLst>
              <a:ext uri="{FF2B5EF4-FFF2-40B4-BE49-F238E27FC236}">
                <a16:creationId xmlns:a16="http://schemas.microsoft.com/office/drawing/2014/main" id="{F8F2FBEC-50BF-4570-998F-D90BE2D6F3B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463719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0.8748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0.0763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0.1754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0.2763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0.5503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0.0629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0.2047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0.2509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0.8659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0.1219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0.2258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0.3492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3" name="직사각형 22">
            <a:extLst>
              <a:ext uri="{FF2B5EF4-FFF2-40B4-BE49-F238E27FC236}">
                <a16:creationId xmlns:a16="http://schemas.microsoft.com/office/drawing/2014/main" id="{316BB209-D42B-4205-A92B-13B3682981C6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110640428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4986"/>
            <a:ext cx="2144214" cy="111659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7573"/>
            <a:ext cx="2138738" cy="1117217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381" y="3364197"/>
            <a:ext cx="2123518" cy="11126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C73E8161-D5E7-4DD8-B31B-C6601D0D70F1}"/>
              </a:ext>
            </a:extLst>
          </p:cNvPr>
          <p:cNvSpPr txBox="1"/>
          <p:nvPr/>
        </p:nvSpPr>
        <p:spPr>
          <a:xfrm>
            <a:off x="9279466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/dg)_wl18_3_2</a:t>
            </a:r>
            <a:endParaRPr lang="ko-KR" altLang="en-US" sz="1050" dirty="0">
              <a:latin typeface="+mj-ea"/>
            </a:endParaRPr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8" y="638495"/>
            <a:ext cx="447039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70399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6" y="4626987"/>
            <a:ext cx="4470399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166D007-40CB-4A99-9BD5-148C6AD72A8D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MAE + 0.0005</a:t>
            </a: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graphicFrame>
        <p:nvGraphicFramePr>
          <p:cNvPr id="24" name="표 23">
            <a:extLst>
              <a:ext uri="{FF2B5EF4-FFF2-40B4-BE49-F238E27FC236}">
                <a16:creationId xmlns:a16="http://schemas.microsoft.com/office/drawing/2014/main" id="{1BC530EF-5555-4E5B-88E5-3AB1471F5A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564950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-2.5735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0.1908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0.3305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0.4368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0.9470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0.0244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0.1098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0.1563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0.8781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0.0423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0.1589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0.2056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6" name="직사각형 25">
            <a:extLst>
              <a:ext uri="{FF2B5EF4-FFF2-40B4-BE49-F238E27FC236}">
                <a16:creationId xmlns:a16="http://schemas.microsoft.com/office/drawing/2014/main" id="{2B919E0F-22C5-4758-9679-DFC54705442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</p:spTree>
    <p:extLst>
      <p:ext uri="{BB962C8B-B14F-4D97-AF65-F5344CB8AC3E}">
        <p14:creationId xmlns:p14="http://schemas.microsoft.com/office/powerpoint/2010/main" val="29121278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5415033"/>
            <a:ext cx="2144214" cy="1116500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7776" y="1390626"/>
            <a:ext cx="2140239" cy="1131111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6014CA3B-0B84-4DCC-BCA8-4F45FEE3555F}"/>
              </a:ext>
            </a:extLst>
          </p:cNvPr>
          <p:cNvSpPr txBox="1"/>
          <p:nvPr/>
        </p:nvSpPr>
        <p:spPr>
          <a:xfrm>
            <a:off x="622385" y="850612"/>
            <a:ext cx="5592148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</a:rPr>
              <a:t>예측 코드 </a:t>
            </a:r>
            <a:r>
              <a:rPr lang="en-US" altLang="ko-KR" sz="2000" b="1" dirty="0">
                <a:latin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</a:rPr>
              <a:t>1</a:t>
            </a:r>
            <a:endParaRPr lang="ko-KR" altLang="en-US" sz="2000" b="1" dirty="0">
              <a:solidFill>
                <a:srgbClr val="FF0000"/>
              </a:solidFill>
              <a:latin typeface="+mj-ea"/>
            </a:endParaRPr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2147" y="3357185"/>
            <a:ext cx="2141986" cy="112665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638495"/>
            <a:ext cx="4468718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3" y="2638010"/>
            <a:ext cx="446871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33732" y="4648144"/>
            <a:ext cx="4468717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5C9FE234-C56E-46FE-8AF6-E623016959A2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6" name="표 25">
            <a:extLst>
              <a:ext uri="{FF2B5EF4-FFF2-40B4-BE49-F238E27FC236}">
                <a16:creationId xmlns:a16="http://schemas.microsoft.com/office/drawing/2014/main" id="{8D561D03-87A3-4C82-9658-157F38B1053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19846324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0.9840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0.0033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0.0461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0.0580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0.6755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0.0128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0.0875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0.1134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0.8475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0.0426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0.1638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0.2065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7" name="직사각형 26">
            <a:extLst>
              <a:ext uri="{FF2B5EF4-FFF2-40B4-BE49-F238E27FC236}">
                <a16:creationId xmlns:a16="http://schemas.microsoft.com/office/drawing/2014/main" id="{D8399E11-0E4A-4099-99DB-3342A9B87CD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0" name="그림 39">
            <a:extLst>
              <a:ext uri="{FF2B5EF4-FFF2-40B4-BE49-F238E27FC236}">
                <a16:creationId xmlns:a16="http://schemas.microsoft.com/office/drawing/2014/main" id="{23753A1C-52BC-4C73-90AF-B45DE9CF601F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</p:spPr>
      </p:pic>
      <p:pic>
        <p:nvPicPr>
          <p:cNvPr id="41" name="그림 40">
            <a:extLst>
              <a:ext uri="{FF2B5EF4-FFF2-40B4-BE49-F238E27FC236}">
                <a16:creationId xmlns:a16="http://schemas.microsoft.com/office/drawing/2014/main" id="{A4F6B4C7-898F-4BAD-97B4-69803FF78ED8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8D2B7323-20F0-4314-9A8A-29951EC7080D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1092405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7032" y="5413047"/>
            <a:ext cx="2134444" cy="1120472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7" y="1399264"/>
            <a:ext cx="2138738" cy="111383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1078" y="3364091"/>
            <a:ext cx="2124124" cy="1112847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638495"/>
            <a:ext cx="4431035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2638010"/>
            <a:ext cx="4431036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66230" y="4648144"/>
            <a:ext cx="4431036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DF70E481-046E-4B98-82EF-B0D0ED759E57}"/>
              </a:ext>
            </a:extLst>
          </p:cNvPr>
          <p:cNvSpPr txBox="1"/>
          <p:nvPr/>
        </p:nvSpPr>
        <p:spPr>
          <a:xfrm>
            <a:off x="622385" y="850612"/>
            <a:ext cx="8352282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</a:t>
            </a:r>
            <a:r>
              <a:rPr lang="en-US" altLang="ko-KR" sz="2000" dirty="0">
                <a:latin typeface="+mj-ea"/>
              </a:rPr>
              <a:t>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rgbClr val="FF0000"/>
                </a:solidFill>
                <a:latin typeface="+mj-ea"/>
                <a:ea typeface="+mj-ea"/>
              </a:rPr>
              <a:t>궁내교</a:t>
            </a:r>
            <a:r>
              <a:rPr lang="ko-KR" altLang="en-US" sz="2000" b="1" dirty="0">
                <a:solidFill>
                  <a:srgbClr val="FF0000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rgbClr val="FF0000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rgbClr val="FF0000"/>
              </a:solidFill>
              <a:latin typeface="+mj-ea"/>
              <a:ea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520FD2CC-37E5-4142-8319-5EB445310AEE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graphicFrame>
        <p:nvGraphicFramePr>
          <p:cNvPr id="28" name="표 27">
            <a:extLst>
              <a:ext uri="{FF2B5EF4-FFF2-40B4-BE49-F238E27FC236}">
                <a16:creationId xmlns:a16="http://schemas.microsoft.com/office/drawing/2014/main" id="{D9D5A683-7D0B-47E4-BD1C-B937527C7B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3569327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궁내교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-0.0611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0.0988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0.2236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0.3144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0.4804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0.0521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0.1773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0.2283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0.4931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0.0357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0.1572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0.1890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33" name="직사각형 32">
            <a:extLst>
              <a:ext uri="{FF2B5EF4-FFF2-40B4-BE49-F238E27FC236}">
                <a16:creationId xmlns:a16="http://schemas.microsoft.com/office/drawing/2014/main" id="{7E823A61-94CA-4EA3-A7A0-7BB3248FD102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3" name="그림 42">
            <a:extLst>
              <a:ext uri="{FF2B5EF4-FFF2-40B4-BE49-F238E27FC236}">
                <a16:creationId xmlns:a16="http://schemas.microsoft.com/office/drawing/2014/main" id="{58F65DA0-4EA8-40BF-9D12-4DD3D9DDC59C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5140"/>
            <a:ext cx="2105544" cy="109427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4" name="그림 43">
            <a:extLst>
              <a:ext uri="{FF2B5EF4-FFF2-40B4-BE49-F238E27FC236}">
                <a16:creationId xmlns:a16="http://schemas.microsoft.com/office/drawing/2014/main" id="{9F78EEE0-55D4-445F-B4E5-B2A52E1489BA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5927"/>
            <a:ext cx="2103138" cy="1086475"/>
          </a:xfrm>
          <a:prstGeom prst="rect">
            <a:avLst/>
          </a:prstGeom>
        </p:spPr>
      </p:pic>
      <p:pic>
        <p:nvPicPr>
          <p:cNvPr id="45" name="그림 44">
            <a:extLst>
              <a:ext uri="{FF2B5EF4-FFF2-40B4-BE49-F238E27FC236}">
                <a16:creationId xmlns:a16="http://schemas.microsoft.com/office/drawing/2014/main" id="{8BB3FB78-AEC1-440D-B727-8A714DBA34EC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4932"/>
            <a:ext cx="2105029" cy="10940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3644808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4579" y="5411703"/>
            <a:ext cx="2139350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58528" y="1396991"/>
            <a:ext cx="2138736" cy="1118380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testdata_230711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3788" y="3361947"/>
            <a:ext cx="2118703" cy="1117135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220712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638495"/>
            <a:ext cx="4470399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3" y="2638010"/>
            <a:ext cx="4470398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22092" y="4626987"/>
            <a:ext cx="4470399" cy="689782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200802</a:t>
            </a:r>
            <a:endParaRPr lang="ko-KR" altLang="en-US" sz="1000" dirty="0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1365472D-B23E-48E1-AD68-7714330415E7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A8387AB-FE52-4C83-A7B2-B3DBB02C00B0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1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FC38916C-0BFF-4A20-B514-C2C5CEC71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473259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testdata_200802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0.8583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0.0864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0.1800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0.2939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testdata_220712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0.9114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0.0123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0.0931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0.1113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testdata_230711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0.8354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0.1497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0.2952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0.3870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B560F6D5-68FA-4067-8B3B-14788F3865B4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5" name="그림 44">
            <a:extLst>
              <a:ext uri="{FF2B5EF4-FFF2-40B4-BE49-F238E27FC236}">
                <a16:creationId xmlns:a16="http://schemas.microsoft.com/office/drawing/2014/main" id="{69ABB3DE-CA85-4681-9807-C54C13F2831E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92908"/>
            <a:ext cx="2105544" cy="1098734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6" name="그림 45">
            <a:extLst>
              <a:ext uri="{FF2B5EF4-FFF2-40B4-BE49-F238E27FC236}">
                <a16:creationId xmlns:a16="http://schemas.microsoft.com/office/drawing/2014/main" id="{B0D0F7A6-9609-4F28-8D11-917336280506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0425"/>
            <a:ext cx="2103138" cy="1097479"/>
          </a:xfrm>
          <a:prstGeom prst="rect">
            <a:avLst/>
          </a:prstGeom>
        </p:spPr>
      </p:pic>
      <p:pic>
        <p:nvPicPr>
          <p:cNvPr id="47" name="그림 46">
            <a:extLst>
              <a:ext uri="{FF2B5EF4-FFF2-40B4-BE49-F238E27FC236}">
                <a16:creationId xmlns:a16="http://schemas.microsoft.com/office/drawing/2014/main" id="{B61517F7-592B-47D7-B9D4-C91594A6340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12748"/>
            <a:ext cx="2105029" cy="10983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709622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" name="그림 29">
            <a:extLst>
              <a:ext uri="{FF2B5EF4-FFF2-40B4-BE49-F238E27FC236}">
                <a16:creationId xmlns:a16="http://schemas.microsoft.com/office/drawing/2014/main" id="{34B44F8C-A4EF-4214-B85D-838A2A05AD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69441" y="5411703"/>
            <a:ext cx="2129625" cy="1123159"/>
          </a:xfrm>
          <a:prstGeom prst="rect">
            <a:avLst/>
          </a:prstGeom>
        </p:spPr>
      </p:pic>
      <p:pic>
        <p:nvPicPr>
          <p:cNvPr id="31" name="그림 30">
            <a:extLst>
              <a:ext uri="{FF2B5EF4-FFF2-40B4-BE49-F238E27FC236}">
                <a16:creationId xmlns:a16="http://schemas.microsoft.com/office/drawing/2014/main" id="{D1DF17EE-4843-4A32-BDAC-03BBE1594C6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70707" y="1395920"/>
            <a:ext cx="2114377" cy="1120523"/>
          </a:xfrm>
          <a:prstGeom prst="rect">
            <a:avLst/>
          </a:prstGeom>
        </p:spPr>
      </p:pic>
      <p:sp>
        <p:nvSpPr>
          <p:cNvPr id="36" name="TextBox 35">
            <a:extLst>
              <a:ext uri="{FF2B5EF4-FFF2-40B4-BE49-F238E27FC236}">
                <a16:creationId xmlns:a16="http://schemas.microsoft.com/office/drawing/2014/main" id="{9CD4B0EC-3B8B-4308-B662-5880CA2DCDE8}"/>
              </a:ext>
            </a:extLst>
          </p:cNvPr>
          <p:cNvSpPr txBox="1"/>
          <p:nvPr/>
        </p:nvSpPr>
        <p:spPr>
          <a:xfrm>
            <a:off x="5887447" y="5407728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/>
              <a:t>testdata_250814</a:t>
            </a:r>
            <a:endParaRPr lang="ko-KR" altLang="en-US" sz="1000" dirty="0"/>
          </a:p>
        </p:txBody>
      </p:sp>
      <p:pic>
        <p:nvPicPr>
          <p:cNvPr id="18" name="그림 17">
            <a:extLst>
              <a:ext uri="{FF2B5EF4-FFF2-40B4-BE49-F238E27FC236}">
                <a16:creationId xmlns:a16="http://schemas.microsoft.com/office/drawing/2014/main" id="{285344DC-409F-402A-8744-0CDDEEB21D4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93050" y="3369170"/>
            <a:ext cx="2080179" cy="1102688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E4BBF56-F2C7-44DC-B70F-E0F75AC7E4D2}"/>
              </a:ext>
            </a:extLst>
          </p:cNvPr>
          <p:cNvSpPr txBox="1"/>
          <p:nvPr/>
        </p:nvSpPr>
        <p:spPr>
          <a:xfrm>
            <a:off x="5887447" y="3429000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250716</a:t>
            </a:r>
            <a:endParaRPr lang="ko-KR" altLang="en-US" sz="1000" dirty="0"/>
          </a:p>
        </p:txBody>
      </p:sp>
      <p:pic>
        <p:nvPicPr>
          <p:cNvPr id="25" name="그림 24">
            <a:extLst>
              <a:ext uri="{FF2B5EF4-FFF2-40B4-BE49-F238E27FC236}">
                <a16:creationId xmlns:a16="http://schemas.microsoft.com/office/drawing/2014/main" id="{A856132F-CBFF-4D9E-8989-4CB996C9FA0D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638495"/>
            <a:ext cx="4453671" cy="681074"/>
          </a:xfrm>
          <a:prstGeom prst="rect">
            <a:avLst/>
          </a:prstGeom>
        </p:spPr>
      </p:pic>
      <p:pic>
        <p:nvPicPr>
          <p:cNvPr id="29" name="그림 28">
            <a:extLst>
              <a:ext uri="{FF2B5EF4-FFF2-40B4-BE49-F238E27FC236}">
                <a16:creationId xmlns:a16="http://schemas.microsoft.com/office/drawing/2014/main" id="{F0A24E53-BC5F-406A-B389-C934D6A4391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2638010"/>
            <a:ext cx="4453671" cy="691693"/>
          </a:xfrm>
          <a:prstGeom prst="rect">
            <a:avLst/>
          </a:prstGeom>
        </p:spPr>
      </p:pic>
      <p:pic>
        <p:nvPicPr>
          <p:cNvPr id="32" name="그림 31">
            <a:extLst>
              <a:ext uri="{FF2B5EF4-FFF2-40B4-BE49-F238E27FC236}">
                <a16:creationId xmlns:a16="http://schemas.microsoft.com/office/drawing/2014/main" id="{C9502D35-AD74-4DC1-A9D3-A38E8588E734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419557" y="4626987"/>
            <a:ext cx="4453672" cy="689782"/>
          </a:xfrm>
          <a:prstGeom prst="rect">
            <a:avLst/>
          </a:prstGeom>
        </p:spPr>
      </p:pic>
      <p:pic>
        <p:nvPicPr>
          <p:cNvPr id="54" name="그림 53">
            <a:extLst>
              <a:ext uri="{FF2B5EF4-FFF2-40B4-BE49-F238E27FC236}">
                <a16:creationId xmlns:a16="http://schemas.microsoft.com/office/drawing/2014/main" id="{E587D4D1-B5AD-4F84-A9EC-ACF0F37209F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070"/>
            <a:ext cx="2105544" cy="1108411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55" name="그림 54">
            <a:extLst>
              <a:ext uri="{FF2B5EF4-FFF2-40B4-BE49-F238E27FC236}">
                <a16:creationId xmlns:a16="http://schemas.microsoft.com/office/drawing/2014/main" id="{92EB87C0-99F4-4D4D-BA7D-BBD8C5BA250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54959"/>
            <a:ext cx="2103138" cy="1108411"/>
          </a:xfrm>
          <a:prstGeom prst="rect">
            <a:avLst/>
          </a:prstGeom>
        </p:spPr>
      </p:pic>
      <p:pic>
        <p:nvPicPr>
          <p:cNvPr id="56" name="그림 55">
            <a:extLst>
              <a:ext uri="{FF2B5EF4-FFF2-40B4-BE49-F238E27FC236}">
                <a16:creationId xmlns:a16="http://schemas.microsoft.com/office/drawing/2014/main" id="{6A32BC7D-501C-44A7-96AA-6D8ABAFFB164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28"/>
            <a:ext cx="2105029" cy="1108411"/>
          </a:xfrm>
          <a:prstGeom prst="rect">
            <a:avLst/>
          </a:prstGeom>
        </p:spPr>
      </p:pic>
      <p:sp>
        <p:nvSpPr>
          <p:cNvPr id="62" name="TextBox 61">
            <a:extLst>
              <a:ext uri="{FF2B5EF4-FFF2-40B4-BE49-F238E27FC236}">
                <a16:creationId xmlns:a16="http://schemas.microsoft.com/office/drawing/2014/main" id="{6C1E4860-907C-40B9-ACCB-A777CCFC435E}"/>
              </a:ext>
            </a:extLst>
          </p:cNvPr>
          <p:cNvSpPr txBox="1"/>
          <p:nvPr/>
        </p:nvSpPr>
        <p:spPr>
          <a:xfrm>
            <a:off x="5887447" y="1319569"/>
            <a:ext cx="1175686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latinLnBrk="1"/>
            <a:r>
              <a:rPr lang="en-US" altLang="ko-KR" sz="1000" dirty="0" err="1"/>
              <a:t>testdata</a:t>
            </a:r>
            <a:r>
              <a:rPr lang="en-US" altLang="ko-KR" sz="1000" dirty="0"/>
              <a:t>_ 240723</a:t>
            </a:r>
            <a:endParaRPr lang="ko-KR" altLang="en-US" sz="1000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60006E6-4DC9-4D6B-A0F4-982942755965}"/>
              </a:ext>
            </a:extLst>
          </p:cNvPr>
          <p:cNvSpPr txBox="1"/>
          <p:nvPr/>
        </p:nvSpPr>
        <p:spPr>
          <a:xfrm>
            <a:off x="9270999" y="169583"/>
            <a:ext cx="2717801" cy="3689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>
              <a:lnSpc>
                <a:spcPct val="200000"/>
              </a:lnSpc>
            </a:pPr>
            <a:r>
              <a:rPr lang="en-US" altLang="ko-KR" sz="1050" dirty="0"/>
              <a:t>* model_(</a:t>
            </a:r>
            <a:r>
              <a:rPr lang="en-US" altLang="ko-KR" sz="1050" dirty="0" err="1"/>
              <a:t>gn</a:t>
            </a:r>
            <a:r>
              <a:rPr lang="en-US" altLang="ko-KR" sz="1050" dirty="0"/>
              <a:t>/dg)_huber2</a:t>
            </a:r>
            <a:endParaRPr lang="ko-KR" altLang="en-US" sz="1050" dirty="0">
              <a:latin typeface="+mj-ea"/>
            </a:endParaRP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CFAB4AB1-D0CB-489C-8F65-9813869AC487}"/>
              </a:ext>
            </a:extLst>
          </p:cNvPr>
          <p:cNvSpPr txBox="1"/>
          <p:nvPr/>
        </p:nvSpPr>
        <p:spPr>
          <a:xfrm>
            <a:off x="622385" y="850612"/>
            <a:ext cx="8140615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</a:rPr>
              <a:t>관심 수위 이상 </a:t>
            </a:r>
            <a:r>
              <a:rPr lang="en-US" altLang="ko-KR" sz="2000" b="1" dirty="0">
                <a:latin typeface="+mj-ea"/>
              </a:rPr>
              <a:t>+ </a:t>
            </a:r>
            <a:r>
              <a:rPr lang="en-US" altLang="ko-KR" sz="2000" b="1" dirty="0">
                <a:latin typeface="+mn-ea"/>
              </a:rPr>
              <a:t>Huber + 0.0001</a:t>
            </a:r>
            <a:endParaRPr lang="en-US" altLang="ko-KR" sz="2000" b="1" dirty="0">
              <a:latin typeface="+mj-ea"/>
            </a:endParaRPr>
          </a:p>
          <a:p>
            <a:r>
              <a:rPr lang="ko-KR" altLang="en-US" sz="2000" b="1" dirty="0">
                <a:latin typeface="+mj-ea"/>
                <a:ea typeface="+mj-ea"/>
              </a:rPr>
              <a:t>예측 코드 </a:t>
            </a:r>
            <a:r>
              <a:rPr lang="en-US" altLang="ko-KR" sz="2000" b="1" dirty="0">
                <a:latin typeface="+mj-ea"/>
                <a:ea typeface="+mj-ea"/>
              </a:rPr>
              <a:t>– </a:t>
            </a:r>
            <a:r>
              <a:rPr lang="ko-KR" altLang="en-US" sz="2000" b="1" dirty="0" err="1">
                <a:solidFill>
                  <a:schemeClr val="accent5"/>
                </a:solidFill>
                <a:latin typeface="+mj-ea"/>
                <a:ea typeface="+mj-ea"/>
              </a:rPr>
              <a:t>대곡교</a:t>
            </a:r>
            <a:r>
              <a:rPr lang="ko-KR" altLang="en-US" sz="2000" b="1" dirty="0">
                <a:solidFill>
                  <a:schemeClr val="accent5"/>
                </a:solidFill>
                <a:latin typeface="+mj-ea"/>
                <a:ea typeface="+mj-ea"/>
              </a:rPr>
              <a:t> </a:t>
            </a:r>
            <a:r>
              <a:rPr lang="en-US" altLang="ko-KR" sz="2000" b="1" dirty="0">
                <a:solidFill>
                  <a:schemeClr val="accent5"/>
                </a:solidFill>
                <a:latin typeface="+mj-ea"/>
                <a:ea typeface="+mj-ea"/>
              </a:rPr>
              <a:t>2</a:t>
            </a:r>
            <a:endParaRPr lang="ko-KR" altLang="en-US" sz="2000" b="1" dirty="0">
              <a:solidFill>
                <a:schemeClr val="accent5"/>
              </a:solidFill>
              <a:latin typeface="+mj-ea"/>
              <a:ea typeface="+mj-ea"/>
            </a:endParaRPr>
          </a:p>
        </p:txBody>
      </p:sp>
      <p:graphicFrame>
        <p:nvGraphicFramePr>
          <p:cNvPr id="27" name="표 26">
            <a:extLst>
              <a:ext uri="{FF2B5EF4-FFF2-40B4-BE49-F238E27FC236}">
                <a16:creationId xmlns:a16="http://schemas.microsoft.com/office/drawing/2014/main" id="{49367729-6572-4303-8483-24437287B63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69468836"/>
              </p:ext>
            </p:extLst>
          </p:nvPr>
        </p:nvGraphicFramePr>
        <p:xfrm>
          <a:off x="800836" y="2499373"/>
          <a:ext cx="4328033" cy="3205480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1449578">
                  <a:extLst>
                    <a:ext uri="{9D8B030D-6E8A-4147-A177-3AD203B41FA5}">
                      <a16:colId xmlns:a16="http://schemas.microsoft.com/office/drawing/2014/main" val="2562803118"/>
                    </a:ext>
                  </a:extLst>
                </a:gridCol>
                <a:gridCol w="2878455">
                  <a:extLst>
                    <a:ext uri="{9D8B030D-6E8A-4147-A177-3AD203B41FA5}">
                      <a16:colId xmlns:a16="http://schemas.microsoft.com/office/drawing/2014/main" val="18477594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 latinLnBrk="1"/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/>
                        <a:t>대곡교</a:t>
                      </a:r>
                      <a:endParaRPr lang="ko-KR" altLang="en-US" sz="1400" b="0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892646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testdata_240723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-0.3854</a:t>
                      </a:r>
                    </a:p>
                    <a:p>
                      <a:pPr algn="ctr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0.0739</a:t>
                      </a:r>
                    </a:p>
                    <a:p>
                      <a:pPr algn="ctr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0.1788</a:t>
                      </a:r>
                    </a:p>
                    <a:p>
                      <a:pPr algn="ctr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0.2720</a:t>
                      </a:r>
                      <a:endParaRPr lang="pt-BR" altLang="ko-KR" sz="1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084690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testdata_250716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/>
                        <a:t>0.9566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0.0200</a:t>
                      </a:r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0.1153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0.1414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17434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/>
                        <a:t>testdata_250814</a:t>
                      </a:r>
                      <a:endParaRPr lang="ko-KR" altLang="en-US" sz="14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pt-BR" altLang="ko-KR" sz="1400" dirty="0"/>
                        <a:t>r2 : 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</a:rPr>
                        <a:t>0.7191</a:t>
                      </a:r>
                      <a:endParaRPr lang="pt-BR" altLang="ko-KR" sz="1400" dirty="0">
                        <a:solidFill>
                          <a:srgbClr val="FF0000"/>
                        </a:solidFill>
                      </a:endParaRPr>
                    </a:p>
                    <a:p>
                      <a:pPr algn="ctr" latinLnBrk="1"/>
                      <a:r>
                        <a:rPr lang="pt-BR" altLang="ko-KR" sz="1400" dirty="0"/>
                        <a:t>mse : </a:t>
                      </a:r>
                      <a:r>
                        <a:rPr lang="en-US" altLang="ko-KR" sz="1400" dirty="0"/>
                        <a:t>0.0974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mae : </a:t>
                      </a:r>
                      <a:r>
                        <a:rPr lang="en-US" altLang="ko-KR" sz="1400" dirty="0"/>
                        <a:t>0.2343</a:t>
                      </a:r>
                      <a:endParaRPr lang="pt-BR" altLang="ko-KR" sz="1400" dirty="0"/>
                    </a:p>
                    <a:p>
                      <a:pPr algn="ctr" latinLnBrk="1"/>
                      <a:r>
                        <a:rPr lang="pt-BR" altLang="ko-KR" sz="1400" dirty="0"/>
                        <a:t>rmse : </a:t>
                      </a:r>
                      <a:r>
                        <a:rPr lang="en-US" altLang="ko-KR" sz="1400" dirty="0"/>
                        <a:t>0.3122</a:t>
                      </a:r>
                      <a:endParaRPr lang="ko-KR" altLang="en-US" sz="1400" b="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78607517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996F11D0-7D12-42A1-BB2E-042E0567CC40}"/>
              </a:ext>
            </a:extLst>
          </p:cNvPr>
          <p:cNvSpPr/>
          <p:nvPr/>
        </p:nvSpPr>
        <p:spPr>
          <a:xfrm>
            <a:off x="2241494" y="2499373"/>
            <a:ext cx="2887375" cy="320548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400"/>
          </a:p>
        </p:txBody>
      </p:sp>
      <p:pic>
        <p:nvPicPr>
          <p:cNvPr id="41" name="그림 40">
            <a:extLst>
              <a:ext uri="{FF2B5EF4-FFF2-40B4-BE49-F238E27FC236}">
                <a16:creationId xmlns:a16="http://schemas.microsoft.com/office/drawing/2014/main" id="{C9444A97-0014-4E52-96D5-B6D91F4AA8F4}"/>
              </a:ext>
            </a:extLst>
          </p:cNvPr>
          <p:cNvPicPr>
            <a:picLocks noChangeAspect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83587" y="1388994"/>
            <a:ext cx="2105544" cy="1106563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42" name="그림 41">
            <a:extLst>
              <a:ext uri="{FF2B5EF4-FFF2-40B4-BE49-F238E27FC236}">
                <a16:creationId xmlns:a16="http://schemas.microsoft.com/office/drawing/2014/main" id="{34A34667-D2C6-41BE-A6F2-E927AEDAB6C2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2753" y="3362087"/>
            <a:ext cx="2103138" cy="1094155"/>
          </a:xfrm>
          <a:prstGeom prst="rect">
            <a:avLst/>
          </a:prstGeom>
        </p:spPr>
      </p:pic>
      <p:pic>
        <p:nvPicPr>
          <p:cNvPr id="43" name="그림 42">
            <a:extLst>
              <a:ext uri="{FF2B5EF4-FFF2-40B4-BE49-F238E27FC236}">
                <a16:creationId xmlns:a16="http://schemas.microsoft.com/office/drawing/2014/main" id="{64ED9013-2921-4D6D-927D-4E4015FB4857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08987" y="5407748"/>
            <a:ext cx="2105029" cy="11083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9582902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6C450E-78D8-4916-AA72-7CF5D3B171E9}"/>
              </a:ext>
            </a:extLst>
          </p:cNvPr>
          <p:cNvSpPr txBox="1"/>
          <p:nvPr/>
        </p:nvSpPr>
        <p:spPr>
          <a:xfrm>
            <a:off x="1659466" y="3429000"/>
            <a:ext cx="8873067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2400" b="1" dirty="0">
                <a:latin typeface="+mj-ea"/>
                <a:ea typeface="+mj-ea"/>
              </a:rPr>
              <a:t>예측에 사용할 데이터를</a:t>
            </a:r>
            <a:endParaRPr lang="en-US" altLang="ko-KR" sz="2400" b="1" dirty="0">
              <a:latin typeface="+mj-ea"/>
              <a:ea typeface="+mj-ea"/>
            </a:endParaRPr>
          </a:p>
          <a:p>
            <a:pPr algn="ctr"/>
            <a:r>
              <a:rPr lang="ko-KR" altLang="en-US" sz="2400" b="1" dirty="0">
                <a:latin typeface="+mj-ea"/>
                <a:ea typeface="+mj-ea"/>
              </a:rPr>
              <a:t>학습시에 테스트이벤트로 사용하는 것은 좋지 못한 성능</a:t>
            </a:r>
            <a:endParaRPr lang="en-US" altLang="ko-KR" sz="2400" b="1" dirty="0">
              <a:latin typeface="+mj-ea"/>
              <a:ea typeface="+mj-ea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9004107-1014-4670-BE64-5E401CFE49A5}"/>
              </a:ext>
            </a:extLst>
          </p:cNvPr>
          <p:cNvSpPr txBox="1"/>
          <p:nvPr/>
        </p:nvSpPr>
        <p:spPr>
          <a:xfrm>
            <a:off x="622385" y="850612"/>
            <a:ext cx="835228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2000" b="1" dirty="0">
                <a:latin typeface="+mj-ea"/>
                <a:ea typeface="+mj-ea"/>
              </a:rPr>
              <a:t>결과</a:t>
            </a:r>
          </a:p>
        </p:txBody>
      </p:sp>
    </p:spTree>
    <p:extLst>
      <p:ext uri="{BB962C8B-B14F-4D97-AF65-F5344CB8AC3E}">
        <p14:creationId xmlns:p14="http://schemas.microsoft.com/office/powerpoint/2010/main" val="1194267777"/>
      </p:ext>
    </p:extLst>
  </p:cSld>
  <p:clrMapOvr>
    <a:masterClrMapping/>
  </p:clrMapOvr>
</p:sld>
</file>

<file path=ppt/theme/theme1.xml><?xml version="1.0" encoding="utf-8"?>
<a:theme xmlns:a="http://schemas.openxmlformats.org/drawingml/2006/main" name="HDOfficeLightV0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</a:ln>
        <a:ln w="12700" cap="flat" cmpd="sng" algn="ctr">
          <a:solidFill>
            <a:schemeClr val="phClr"/>
          </a:solidFill>
          <a:prstDash val="solid"/>
        </a:ln>
        <a:ln w="190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6126</TotalTime>
  <Words>2177</Words>
  <Application>Microsoft Office PowerPoint</Application>
  <PresentationFormat>와이드스크린</PresentationFormat>
  <Paragraphs>598</Paragraphs>
  <Slides>28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28</vt:i4>
      </vt:variant>
    </vt:vector>
  </HeadingPairs>
  <TitlesOfParts>
    <vt:vector size="34" baseType="lpstr">
      <vt:lpstr>맑은 고딕</vt:lpstr>
      <vt:lpstr>Arial</vt:lpstr>
      <vt:lpstr>Calibri</vt:lpstr>
      <vt:lpstr>Calibri Light</vt:lpstr>
      <vt:lpstr>Wingdings 2</vt:lpstr>
      <vt:lpstr>HDOfficeLightV0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magpie</dc:creator>
  <cp:lastModifiedBy>magpie</cp:lastModifiedBy>
  <cp:revision>760</cp:revision>
  <dcterms:created xsi:type="dcterms:W3CDTF">2025-11-18T00:02:37Z</dcterms:created>
  <dcterms:modified xsi:type="dcterms:W3CDTF">2026-01-16T06:53:55Z</dcterms:modified>
</cp:coreProperties>
</file>