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663" r:id="rId3"/>
    <p:sldId id="664" r:id="rId4"/>
    <p:sldId id="666" r:id="rId5"/>
    <p:sldId id="724" r:id="rId6"/>
    <p:sldId id="725" r:id="rId7"/>
    <p:sldId id="756" r:id="rId8"/>
    <p:sldId id="592" r:id="rId9"/>
    <p:sldId id="593" r:id="rId10"/>
    <p:sldId id="643" r:id="rId11"/>
    <p:sldId id="721" r:id="rId12"/>
    <p:sldId id="723" r:id="rId13"/>
    <p:sldId id="748" r:id="rId14"/>
    <p:sldId id="703" r:id="rId15"/>
    <p:sldId id="710" r:id="rId16"/>
    <p:sldId id="711" r:id="rId17"/>
    <p:sldId id="735" r:id="rId18"/>
    <p:sldId id="737" r:id="rId19"/>
    <p:sldId id="738" r:id="rId20"/>
    <p:sldId id="739" r:id="rId21"/>
    <p:sldId id="740" r:id="rId22"/>
    <p:sldId id="741" r:id="rId23"/>
    <p:sldId id="757" r:id="rId24"/>
    <p:sldId id="758" r:id="rId25"/>
    <p:sldId id="759" r:id="rId26"/>
    <p:sldId id="685" r:id="rId27"/>
    <p:sldId id="690" r:id="rId28"/>
    <p:sldId id="718" r:id="rId29"/>
    <p:sldId id="719" r:id="rId30"/>
    <p:sldId id="720" r:id="rId31"/>
    <p:sldId id="755" r:id="rId32"/>
    <p:sldId id="680" r:id="rId33"/>
    <p:sldId id="681" r:id="rId34"/>
    <p:sldId id="682" r:id="rId35"/>
    <p:sldId id="726" r:id="rId36"/>
    <p:sldId id="754" r:id="rId37"/>
    <p:sldId id="669" r:id="rId38"/>
    <p:sldId id="670" r:id="rId39"/>
    <p:sldId id="671" r:id="rId40"/>
    <p:sldId id="727" r:id="rId41"/>
    <p:sldId id="728" r:id="rId42"/>
    <p:sldId id="753" r:id="rId43"/>
    <p:sldId id="674" r:id="rId44"/>
    <p:sldId id="679" r:id="rId45"/>
    <p:sldId id="676" r:id="rId46"/>
    <p:sldId id="729" r:id="rId47"/>
    <p:sldId id="730" r:id="rId48"/>
    <p:sldId id="752" r:id="rId49"/>
    <p:sldId id="744" r:id="rId50"/>
    <p:sldId id="747" r:id="rId51"/>
    <p:sldId id="745" r:id="rId52"/>
    <p:sldId id="751" r:id="rId53"/>
    <p:sldId id="691" r:id="rId54"/>
    <p:sldId id="692" r:id="rId55"/>
    <p:sldId id="693" r:id="rId56"/>
    <p:sldId id="731" r:id="rId57"/>
    <p:sldId id="732" r:id="rId58"/>
    <p:sldId id="749" r:id="rId59"/>
    <p:sldId id="697" r:id="rId60"/>
    <p:sldId id="733" r:id="rId61"/>
    <p:sldId id="734" r:id="rId62"/>
    <p:sldId id="750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6336" autoAdjust="0"/>
  </p:normalViewPr>
  <p:slideViewPr>
    <p:cSldViewPr snapToGrid="0">
      <p:cViewPr varScale="1">
        <p:scale>
          <a:sx n="113" d="100"/>
          <a:sy n="113" d="100"/>
        </p:scale>
        <p:origin x="4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3.png"/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12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1.png"/><Relationship Id="rId5" Type="http://schemas.openxmlformats.org/officeDocument/2006/relationships/image" Target="../media/image38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49.png"/><Relationship Id="rId3" Type="http://schemas.openxmlformats.org/officeDocument/2006/relationships/image" Target="../media/image15.png"/><Relationship Id="rId7" Type="http://schemas.openxmlformats.org/officeDocument/2006/relationships/image" Target="../media/image46.png"/><Relationship Id="rId12" Type="http://schemas.openxmlformats.org/officeDocument/2006/relationships/image" Target="../media/image4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54.png"/><Relationship Id="rId5" Type="http://schemas.openxmlformats.org/officeDocument/2006/relationships/image" Target="../media/image51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151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12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5" Type="http://schemas.openxmlformats.org/officeDocument/2006/relationships/image" Target="../media/image143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3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12" Type="http://schemas.openxmlformats.org/officeDocument/2006/relationships/image" Target="../media/image162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5" Type="http://schemas.openxmlformats.org/officeDocument/2006/relationships/image" Target="../media/image155.png"/><Relationship Id="rId10" Type="http://schemas.openxmlformats.org/officeDocument/2006/relationships/image" Target="../media/image160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12" Type="http://schemas.openxmlformats.org/officeDocument/2006/relationships/image" Target="../media/image1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67.png"/><Relationship Id="rId5" Type="http://schemas.openxmlformats.org/officeDocument/2006/relationships/image" Target="../media/image8.png"/><Relationship Id="rId10" Type="http://schemas.openxmlformats.org/officeDocument/2006/relationships/image" Target="../media/image166.png"/><Relationship Id="rId4" Type="http://schemas.openxmlformats.org/officeDocument/2006/relationships/image" Target="../media/image4.png"/><Relationship Id="rId9" Type="http://schemas.openxmlformats.org/officeDocument/2006/relationships/image" Target="../media/image16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12" Type="http://schemas.openxmlformats.org/officeDocument/2006/relationships/image" Target="../media/image17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73.png"/><Relationship Id="rId5" Type="http://schemas.openxmlformats.org/officeDocument/2006/relationships/image" Target="../media/image20.png"/><Relationship Id="rId10" Type="http://schemas.openxmlformats.org/officeDocument/2006/relationships/image" Target="../media/image172.png"/><Relationship Id="rId4" Type="http://schemas.openxmlformats.org/officeDocument/2006/relationships/image" Target="../media/image16.png"/><Relationship Id="rId9" Type="http://schemas.openxmlformats.org/officeDocument/2006/relationships/image" Target="../media/image17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81.png"/><Relationship Id="rId3" Type="http://schemas.openxmlformats.org/officeDocument/2006/relationships/image" Target="../media/image176.png"/><Relationship Id="rId7" Type="http://schemas.openxmlformats.org/officeDocument/2006/relationships/image" Target="../media/image178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180.png"/><Relationship Id="rId5" Type="http://schemas.openxmlformats.org/officeDocument/2006/relationships/image" Target="../media/image177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17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7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12" Type="http://schemas.openxmlformats.org/officeDocument/2006/relationships/image" Target="../media/image18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85.png"/><Relationship Id="rId5" Type="http://schemas.openxmlformats.org/officeDocument/2006/relationships/image" Target="../media/image8.png"/><Relationship Id="rId10" Type="http://schemas.openxmlformats.org/officeDocument/2006/relationships/image" Target="../media/image184.png"/><Relationship Id="rId4" Type="http://schemas.openxmlformats.org/officeDocument/2006/relationships/image" Target="../media/image4.png"/><Relationship Id="rId9" Type="http://schemas.openxmlformats.org/officeDocument/2006/relationships/image" Target="../media/image18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6.png"/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12" Type="http://schemas.openxmlformats.org/officeDocument/2006/relationships/image" Target="../media/image34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1" Type="http://schemas.openxmlformats.org/officeDocument/2006/relationships/image" Target="../media/image32.png"/><Relationship Id="rId5" Type="http://schemas.openxmlformats.org/officeDocument/2006/relationships/image" Target="../media/image191.png"/><Relationship Id="rId10" Type="http://schemas.openxmlformats.org/officeDocument/2006/relationships/image" Target="../media/image30.png"/><Relationship Id="rId4" Type="http://schemas.openxmlformats.org/officeDocument/2006/relationships/image" Target="../media/image190.png"/><Relationship Id="rId9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99.png"/><Relationship Id="rId3" Type="http://schemas.openxmlformats.org/officeDocument/2006/relationships/image" Target="../media/image3.png"/><Relationship Id="rId7" Type="http://schemas.openxmlformats.org/officeDocument/2006/relationships/image" Target="../media/image196.png"/><Relationship Id="rId12" Type="http://schemas.openxmlformats.org/officeDocument/2006/relationships/image" Target="../media/image19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5.png"/><Relationship Id="rId11" Type="http://schemas.openxmlformats.org/officeDocument/2006/relationships/image" Target="../media/image197.png"/><Relationship Id="rId5" Type="http://schemas.openxmlformats.org/officeDocument/2006/relationships/image" Target="../media/image194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05.png"/><Relationship Id="rId3" Type="http://schemas.openxmlformats.org/officeDocument/2006/relationships/image" Target="../media/image15.png"/><Relationship Id="rId7" Type="http://schemas.openxmlformats.org/officeDocument/2006/relationships/image" Target="../media/image202.png"/><Relationship Id="rId12" Type="http://schemas.openxmlformats.org/officeDocument/2006/relationships/image" Target="../media/image20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1" Type="http://schemas.openxmlformats.org/officeDocument/2006/relationships/image" Target="../media/image203.png"/><Relationship Id="rId5" Type="http://schemas.openxmlformats.org/officeDocument/2006/relationships/image" Target="../media/image200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image" Target="../media/image26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211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8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210.png"/><Relationship Id="rId4" Type="http://schemas.openxmlformats.org/officeDocument/2006/relationships/image" Target="../media/image207.png"/><Relationship Id="rId9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17.png"/><Relationship Id="rId3" Type="http://schemas.openxmlformats.org/officeDocument/2006/relationships/image" Target="../media/image3.png"/><Relationship Id="rId7" Type="http://schemas.openxmlformats.org/officeDocument/2006/relationships/image" Target="../media/image214.png"/><Relationship Id="rId12" Type="http://schemas.openxmlformats.org/officeDocument/2006/relationships/image" Target="../media/image2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3.png"/><Relationship Id="rId11" Type="http://schemas.openxmlformats.org/officeDocument/2006/relationships/image" Target="../media/image215.png"/><Relationship Id="rId5" Type="http://schemas.openxmlformats.org/officeDocument/2006/relationships/image" Target="../media/image212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23.png"/><Relationship Id="rId3" Type="http://schemas.openxmlformats.org/officeDocument/2006/relationships/image" Target="../media/image15.png"/><Relationship Id="rId7" Type="http://schemas.openxmlformats.org/officeDocument/2006/relationships/image" Target="../media/image220.png"/><Relationship Id="rId12" Type="http://schemas.openxmlformats.org/officeDocument/2006/relationships/image" Target="../media/image2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9.png"/><Relationship Id="rId11" Type="http://schemas.openxmlformats.org/officeDocument/2006/relationships/image" Target="../media/image221.png"/><Relationship Id="rId5" Type="http://schemas.openxmlformats.org/officeDocument/2006/relationships/image" Target="../media/image218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6.png"/><Relationship Id="rId3" Type="http://schemas.openxmlformats.org/officeDocument/2006/relationships/image" Target="../media/image225.png"/><Relationship Id="rId7" Type="http://schemas.openxmlformats.org/officeDocument/2006/relationships/image" Target="../media/image229.png"/><Relationship Id="rId12" Type="http://schemas.openxmlformats.org/officeDocument/2006/relationships/image" Target="../media/image34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8.png"/><Relationship Id="rId11" Type="http://schemas.openxmlformats.org/officeDocument/2006/relationships/image" Target="../media/image32.png"/><Relationship Id="rId5" Type="http://schemas.openxmlformats.org/officeDocument/2006/relationships/image" Target="../media/image227.png"/><Relationship Id="rId10" Type="http://schemas.openxmlformats.org/officeDocument/2006/relationships/image" Target="../media/image30.png"/><Relationship Id="rId4" Type="http://schemas.openxmlformats.org/officeDocument/2006/relationships/image" Target="../media/image226.png"/><Relationship Id="rId9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.png"/><Relationship Id="rId3" Type="http://schemas.openxmlformats.org/officeDocument/2006/relationships/image" Target="../media/image231.png"/><Relationship Id="rId7" Type="http://schemas.openxmlformats.org/officeDocument/2006/relationships/image" Target="../media/image235.png"/><Relationship Id="rId12" Type="http://schemas.openxmlformats.org/officeDocument/2006/relationships/image" Target="../media/image1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4.png"/><Relationship Id="rId11" Type="http://schemas.openxmlformats.org/officeDocument/2006/relationships/image" Target="../media/image9.png"/><Relationship Id="rId5" Type="http://schemas.openxmlformats.org/officeDocument/2006/relationships/image" Target="../media/image233.png"/><Relationship Id="rId10" Type="http://schemas.openxmlformats.org/officeDocument/2006/relationships/image" Target="../media/image8.png"/><Relationship Id="rId4" Type="http://schemas.openxmlformats.org/officeDocument/2006/relationships/image" Target="../media/image232.png"/><Relationship Id="rId9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2.png"/><Relationship Id="rId3" Type="http://schemas.openxmlformats.org/officeDocument/2006/relationships/image" Target="../media/image237.png"/><Relationship Id="rId7" Type="http://schemas.openxmlformats.org/officeDocument/2006/relationships/image" Target="../media/image241.png"/><Relationship Id="rId12" Type="http://schemas.openxmlformats.org/officeDocument/2006/relationships/image" Target="../media/image21.png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0.png"/><Relationship Id="rId11" Type="http://schemas.openxmlformats.org/officeDocument/2006/relationships/image" Target="../media/image20.png"/><Relationship Id="rId5" Type="http://schemas.openxmlformats.org/officeDocument/2006/relationships/image" Target="../media/image239.png"/><Relationship Id="rId10" Type="http://schemas.openxmlformats.org/officeDocument/2006/relationships/image" Target="../media/image16.png"/><Relationship Id="rId4" Type="http://schemas.openxmlformats.org/officeDocument/2006/relationships/image" Target="../media/image238.png"/><Relationship Id="rId9" Type="http://schemas.openxmlformats.org/officeDocument/2006/relationships/image" Target="../media/image1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47.png"/><Relationship Id="rId3" Type="http://schemas.openxmlformats.org/officeDocument/2006/relationships/image" Target="../media/image242.png"/><Relationship Id="rId7" Type="http://schemas.openxmlformats.org/officeDocument/2006/relationships/image" Target="../media/image244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246.png"/><Relationship Id="rId5" Type="http://schemas.openxmlformats.org/officeDocument/2006/relationships/image" Target="../media/image243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245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53.png"/><Relationship Id="rId3" Type="http://schemas.openxmlformats.org/officeDocument/2006/relationships/image" Target="../media/image3.png"/><Relationship Id="rId7" Type="http://schemas.openxmlformats.org/officeDocument/2006/relationships/image" Target="../media/image250.png"/><Relationship Id="rId12" Type="http://schemas.openxmlformats.org/officeDocument/2006/relationships/image" Target="../media/image2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9.png"/><Relationship Id="rId11" Type="http://schemas.openxmlformats.org/officeDocument/2006/relationships/image" Target="../media/image251.png"/><Relationship Id="rId5" Type="http://schemas.openxmlformats.org/officeDocument/2006/relationships/image" Target="../media/image248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9.png"/><Relationship Id="rId3" Type="http://schemas.openxmlformats.org/officeDocument/2006/relationships/image" Target="../media/image15.png"/><Relationship Id="rId7" Type="http://schemas.openxmlformats.org/officeDocument/2006/relationships/image" Target="../media/image256.png"/><Relationship Id="rId12" Type="http://schemas.openxmlformats.org/officeDocument/2006/relationships/image" Target="../media/image25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5.png"/><Relationship Id="rId11" Type="http://schemas.openxmlformats.org/officeDocument/2006/relationships/image" Target="../media/image257.png"/><Relationship Id="rId5" Type="http://schemas.openxmlformats.org/officeDocument/2006/relationships/image" Target="../media/image254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6.png"/><Relationship Id="rId3" Type="http://schemas.openxmlformats.org/officeDocument/2006/relationships/image" Target="../media/image261.png"/><Relationship Id="rId7" Type="http://schemas.openxmlformats.org/officeDocument/2006/relationships/image" Target="../media/image265.png"/><Relationship Id="rId12" Type="http://schemas.openxmlformats.org/officeDocument/2006/relationships/image" Target="../media/image34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4.png"/><Relationship Id="rId11" Type="http://schemas.openxmlformats.org/officeDocument/2006/relationships/image" Target="../media/image32.png"/><Relationship Id="rId5" Type="http://schemas.openxmlformats.org/officeDocument/2006/relationships/image" Target="../media/image263.png"/><Relationship Id="rId10" Type="http://schemas.openxmlformats.org/officeDocument/2006/relationships/image" Target="../media/image30.png"/><Relationship Id="rId4" Type="http://schemas.openxmlformats.org/officeDocument/2006/relationships/image" Target="../media/image262.png"/><Relationship Id="rId9" Type="http://schemas.openxmlformats.org/officeDocument/2006/relationships/image" Target="../media/image2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71.png"/><Relationship Id="rId3" Type="http://schemas.openxmlformats.org/officeDocument/2006/relationships/image" Target="../media/image3.png"/><Relationship Id="rId7" Type="http://schemas.openxmlformats.org/officeDocument/2006/relationships/image" Target="../media/image268.png"/><Relationship Id="rId12" Type="http://schemas.openxmlformats.org/officeDocument/2006/relationships/image" Target="../media/image2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7.png"/><Relationship Id="rId11" Type="http://schemas.openxmlformats.org/officeDocument/2006/relationships/image" Target="../media/image269.png"/><Relationship Id="rId5" Type="http://schemas.openxmlformats.org/officeDocument/2006/relationships/image" Target="../media/image26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77.png"/><Relationship Id="rId3" Type="http://schemas.openxmlformats.org/officeDocument/2006/relationships/image" Target="../media/image15.png"/><Relationship Id="rId7" Type="http://schemas.openxmlformats.org/officeDocument/2006/relationships/image" Target="../media/image274.png"/><Relationship Id="rId12" Type="http://schemas.openxmlformats.org/officeDocument/2006/relationships/image" Target="../media/image27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3.png"/><Relationship Id="rId11" Type="http://schemas.openxmlformats.org/officeDocument/2006/relationships/image" Target="../media/image275.png"/><Relationship Id="rId5" Type="http://schemas.openxmlformats.org/officeDocument/2006/relationships/image" Target="../media/image272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6.png"/><Relationship Id="rId3" Type="http://schemas.openxmlformats.org/officeDocument/2006/relationships/image" Target="../media/image279.png"/><Relationship Id="rId7" Type="http://schemas.openxmlformats.org/officeDocument/2006/relationships/image" Target="../media/image283.png"/><Relationship Id="rId12" Type="http://schemas.openxmlformats.org/officeDocument/2006/relationships/image" Target="../media/image34.png"/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2.png"/><Relationship Id="rId11" Type="http://schemas.openxmlformats.org/officeDocument/2006/relationships/image" Target="../media/image32.png"/><Relationship Id="rId5" Type="http://schemas.openxmlformats.org/officeDocument/2006/relationships/image" Target="../media/image281.png"/><Relationship Id="rId10" Type="http://schemas.openxmlformats.org/officeDocument/2006/relationships/image" Target="../media/image30.png"/><Relationship Id="rId4" Type="http://schemas.openxmlformats.org/officeDocument/2006/relationships/image" Target="../media/image280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3044279"/>
            <a:ext cx="6696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AI </a:t>
            </a:r>
            <a:r>
              <a:rPr lang="ko-KR" altLang="en-US" sz="4400" b="1" dirty="0">
                <a:latin typeface="+mj-ea"/>
                <a:ea typeface="+mj-ea"/>
              </a:rPr>
              <a:t>모델 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결론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1C422-1565-448B-BCD7-AE68451E1256}"/>
              </a:ext>
            </a:extLst>
          </p:cNvPr>
          <p:cNvSpPr txBox="1"/>
          <p:nvPr/>
        </p:nvSpPr>
        <p:spPr>
          <a:xfrm>
            <a:off x="1775825" y="3234266"/>
            <a:ext cx="864035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j-ea"/>
              </a:rPr>
              <a:t>관심 강우</a:t>
            </a:r>
            <a:r>
              <a:rPr lang="en-US" altLang="ko-KR" sz="1600" b="1" dirty="0">
                <a:latin typeface="+mj-ea"/>
              </a:rPr>
              <a:t>+MAE </a:t>
            </a:r>
            <a:r>
              <a:rPr lang="ko-KR" altLang="en-US" sz="1600" b="1" dirty="0">
                <a:latin typeface="+mj-ea"/>
              </a:rPr>
              <a:t>가 가장 안정적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+mj-ea"/>
              </a:rPr>
              <a:t>20</a:t>
            </a:r>
            <a:r>
              <a:rPr lang="ko-KR" altLang="en-US" sz="1600" b="1" dirty="0">
                <a:latin typeface="+mj-ea"/>
              </a:rPr>
              <a:t>년 이후 학습 모델</a:t>
            </a:r>
            <a:r>
              <a:rPr lang="en-US" altLang="ko-KR" sz="1600" b="1" dirty="0">
                <a:latin typeface="+mj-ea"/>
              </a:rPr>
              <a:t>: </a:t>
            </a:r>
            <a:r>
              <a:rPr lang="ko-KR" altLang="en-US" sz="1600" b="1" dirty="0">
                <a:latin typeface="+mj-ea"/>
              </a:rPr>
              <a:t>최신성우수</a:t>
            </a:r>
            <a:r>
              <a:rPr lang="en-US" altLang="ko-KR" sz="1600" b="1" dirty="0">
                <a:latin typeface="+mj-ea"/>
              </a:rPr>
              <a:t>, 22</a:t>
            </a:r>
            <a:r>
              <a:rPr lang="ko-KR" altLang="en-US" sz="1600" b="1" dirty="0">
                <a:latin typeface="+mj-ea"/>
              </a:rPr>
              <a:t>년 이벤트 음수</a:t>
            </a:r>
          </a:p>
        </p:txBody>
      </p:sp>
    </p:spTree>
    <p:extLst>
      <p:ext uri="{BB962C8B-B14F-4D97-AF65-F5344CB8AC3E}">
        <p14:creationId xmlns:p14="http://schemas.microsoft.com/office/powerpoint/2010/main" val="345861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72</a:t>
            </a:r>
            <a:r>
              <a:rPr lang="ko-KR" altLang="en-US" sz="4400" b="1" dirty="0">
                <a:latin typeface="+mj-ea"/>
                <a:ea typeface="+mj-ea"/>
              </a:rPr>
              <a:t>시간 예측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6049D-7362-4111-BC96-6F8E3CDCAA3B}"/>
              </a:ext>
            </a:extLst>
          </p:cNvPr>
          <p:cNvSpPr txBox="1"/>
          <p:nvPr/>
        </p:nvSpPr>
        <p:spPr>
          <a:xfrm>
            <a:off x="4356099" y="3813720"/>
            <a:ext cx="3344334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050" b="1" dirty="0"/>
              <a:t>72</a:t>
            </a:r>
            <a:r>
              <a:rPr lang="ko-KR" altLang="en-US" sz="1050" b="1" dirty="0"/>
              <a:t>시간 예측 후 </a:t>
            </a:r>
            <a:r>
              <a:rPr lang="en-US" altLang="ko-KR" sz="1050" b="1" dirty="0"/>
              <a:t> </a:t>
            </a:r>
            <a:r>
              <a:rPr lang="ko-KR" altLang="en-US" sz="1050" b="1" dirty="0">
                <a:latin typeface="+mj-ea"/>
              </a:rPr>
              <a:t>뒷부분 날리고</a:t>
            </a:r>
            <a:r>
              <a:rPr lang="en-US" altLang="ko-KR" sz="1050" b="1" dirty="0">
                <a:latin typeface="+mj-ea"/>
              </a:rPr>
              <a:t> </a:t>
            </a:r>
            <a:r>
              <a:rPr lang="ko-KR" altLang="en-US" sz="1050" b="1" dirty="0">
                <a:latin typeface="+mj-ea"/>
              </a:rPr>
              <a:t>앞 </a:t>
            </a:r>
            <a:r>
              <a:rPr lang="en-US" altLang="ko-KR" sz="1050" b="1" dirty="0">
                <a:latin typeface="+mj-ea"/>
              </a:rPr>
              <a:t>36</a:t>
            </a:r>
            <a:r>
              <a:rPr lang="ko-KR" altLang="en-US" sz="1050" b="1" dirty="0">
                <a:latin typeface="+mj-ea"/>
              </a:rPr>
              <a:t>시간만 예측</a:t>
            </a:r>
          </a:p>
        </p:txBody>
      </p:sp>
    </p:spTree>
    <p:extLst>
      <p:ext uri="{BB962C8B-B14F-4D97-AF65-F5344CB8AC3E}">
        <p14:creationId xmlns:p14="http://schemas.microsoft.com/office/powerpoint/2010/main" val="1966476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72</a:t>
            </a:r>
            <a:r>
              <a:rPr lang="ko-KR" altLang="en-US" sz="2000" b="1" dirty="0">
                <a:latin typeface="+mj-ea"/>
              </a:rPr>
              <a:t>시간 예측 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62168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0.8759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0.0262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0.0960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0.1619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0.9934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0.0039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0.0495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0.0631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-1.9263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0.3407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-0.4222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0.4156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0.4462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0.7968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0.0568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0.7761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0.2037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0.3916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0.4514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0.6043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0.0320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0.1075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0.1789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0.2256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0.0368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0.1918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0.4520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0.2344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0.8822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0.0543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0.1855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0.2331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0.8114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0.0132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0.0951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0.7106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0.2621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0.3169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음수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MAE/RMSE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모두 가장 큼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78738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- 62.3% )  ,  </a:t>
            </a:r>
            <a:r>
              <a:rPr lang="ko-KR" altLang="en-US" dirty="0" err="1"/>
              <a:t>대곡교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- 33.9%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478EF-A400-48AA-B4F2-4325273EA3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16055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0.8114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0.4520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0.6043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2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0.7968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-1.9263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0.8759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A2A58F6-1571-4C9A-BF15-77D7AAEEE80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72619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0.7106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0.8822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0.2256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0449"/>
            <a:ext cx="319289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5271474"/>
            <a:ext cx="3192888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0.7761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-0.4222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0.9934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B516A0-9E44-44FC-AA7A-4EC9558A648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2176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1"/>
            <a:ext cx="9499405" cy="342084"/>
            <a:chOff x="1692739" y="4630163"/>
            <a:chExt cx="8869170" cy="291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7BEAE122-3789-4AE3-8E16-CB00E8021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81" y="3744875"/>
            <a:ext cx="3666890" cy="81848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05" y="4522024"/>
            <a:ext cx="3764611" cy="196515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CBB692A-AAAD-4933-B40C-4905E8139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152" y="3746384"/>
            <a:ext cx="3666890" cy="81848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707" y="4565785"/>
            <a:ext cx="3776583" cy="198299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AA367BB-235B-436B-BB2A-8B69D38940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527" y="3766473"/>
            <a:ext cx="3670568" cy="81848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863" y="4557645"/>
            <a:ext cx="3780087" cy="196549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B86AC3FC-9F5F-4B53-ABE0-05F1C177B4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81" y="683300"/>
            <a:ext cx="3631234" cy="8184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67" y="1457418"/>
            <a:ext cx="3780087" cy="1971211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ABF5E94-D2D2-4A42-A3FE-77AD6D9EDF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273" y="684809"/>
            <a:ext cx="3631234" cy="81848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89" y="1511827"/>
            <a:ext cx="3733018" cy="1967762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1AF3CBEF-DE83-4C8F-B316-CCE2BEEE53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526" y="704898"/>
            <a:ext cx="3673423" cy="81848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401" y="1495992"/>
            <a:ext cx="3747010" cy="196564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F1919CF-7403-4DD7-8265-65208CFA199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8527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관심수위 </a:t>
            </a:r>
            <a:r>
              <a:rPr lang="en-US" altLang="ko-KR" sz="4400" b="1" dirty="0">
                <a:highlight>
                  <a:srgbClr val="FFFF00"/>
                </a:highlight>
                <a:latin typeface="+mj-ea"/>
                <a:ea typeface="+mj-ea"/>
              </a:rPr>
              <a:t>+ MAE</a:t>
            </a:r>
          </a:p>
        </p:txBody>
      </p:sp>
    </p:spTree>
    <p:extLst>
      <p:ext uri="{BB962C8B-B14F-4D97-AF65-F5344CB8AC3E}">
        <p14:creationId xmlns:p14="http://schemas.microsoft.com/office/powerpoint/2010/main" val="3065346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3677941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MAE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449658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0.9656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0.0072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0.0558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0.0852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0.8748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0.0763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0.1754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0.2763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0.1139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0.5503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0.2509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0.8622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0.1963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0.3492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0.7308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0.6749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0.0860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0.1244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0.1098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0.5087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0.0423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0.1589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0.2056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 타이밍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&amp;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크기 가장 정확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모든 실험 대비 가장 안정적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이전 모델 대비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피크값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추적력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고수위 예측 정확도 향상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0">
              <a:buNone/>
            </a:pP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3589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0.5087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0.7947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2520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616" y="3240449"/>
            <a:ext cx="3227152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5778" y="5271474"/>
            <a:ext cx="323353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0.8622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0.4201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0.9656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92488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0.8781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0.9470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0.6749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4" y="5271474"/>
            <a:ext cx="3192888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5271474"/>
            <a:ext cx="319289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0.8659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0.5503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0.8748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6851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1"/>
            <a:ext cx="9499405" cy="342084"/>
            <a:chOff x="1692739" y="4630163"/>
            <a:chExt cx="8869170" cy="291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7BEAE122-3789-4AE3-8E16-CB00E8021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81" y="3744875"/>
            <a:ext cx="3666890" cy="81848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05" y="4512181"/>
            <a:ext cx="3764611" cy="1984836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CBB692A-AAAD-4933-B40C-4905E8139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152" y="3746384"/>
            <a:ext cx="3666890" cy="81848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955" y="4565785"/>
            <a:ext cx="3780087" cy="198299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AA367BB-235B-436B-BB2A-8B69D38940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527" y="3766473"/>
            <a:ext cx="3670568" cy="81848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863" y="4553776"/>
            <a:ext cx="3780087" cy="1973228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B86AC3FC-9F5F-4B53-ABE0-05F1C177B4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81" y="683300"/>
            <a:ext cx="3631234" cy="8184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67" y="1450606"/>
            <a:ext cx="3780087" cy="1984836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ABF5E94-D2D2-4A42-A3FE-77AD6D9EDF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273" y="684809"/>
            <a:ext cx="3631234" cy="81848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89" y="1503290"/>
            <a:ext cx="3733018" cy="1984836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1AF3CBEF-DE83-4C8F-B316-CCE2BEEE53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526" y="704898"/>
            <a:ext cx="3673423" cy="81848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863" y="1495992"/>
            <a:ext cx="3780087" cy="196564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8032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11988" y="2705725"/>
            <a:ext cx="6968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관심수위 </a:t>
            </a:r>
            <a:r>
              <a:rPr lang="en-US" altLang="ko-KR" sz="4400" b="1" dirty="0">
                <a:latin typeface="+mj-ea"/>
                <a:ea typeface="+mj-ea"/>
              </a:rPr>
              <a:t>+ MAE</a:t>
            </a:r>
          </a:p>
          <a:p>
            <a:pPr algn="ctr"/>
            <a:r>
              <a:rPr lang="en-US" altLang="ko-KR" sz="4400" b="1" dirty="0">
                <a:latin typeface="+mj-ea"/>
                <a:ea typeface="+mj-ea"/>
              </a:rPr>
              <a:t>1</a:t>
            </a:r>
            <a:r>
              <a:rPr lang="ko-KR" altLang="en-US" sz="4400" b="1" dirty="0">
                <a:latin typeface="+mj-ea"/>
                <a:ea typeface="+mj-ea"/>
              </a:rPr>
              <a:t>시간 단위 예측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32924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MAE 1</a:t>
            </a:r>
            <a:r>
              <a:rPr lang="ko-KR" altLang="en-US" sz="2000" b="1" dirty="0">
                <a:latin typeface="+mj-ea"/>
              </a:rPr>
              <a:t>시간 단위 예측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42400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 Lead time sensitivity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낮음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 이동에 강건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400" b="1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궁내교보다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Lead-time sensitivity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큼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특히 후행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시간에서 성능 급락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peak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위치가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±1h shift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되어도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비슷하게 유지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720763-343A-4A25-BAC3-5D5833244E5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4BC8555-88BC-43AA-B0D0-E89D3D4C3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36443"/>
              </p:ext>
            </p:extLst>
          </p:nvPr>
        </p:nvGraphicFramePr>
        <p:xfrm>
          <a:off x="5603343" y="2605601"/>
          <a:ext cx="6402384" cy="40614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1205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482917">
                  <a:extLst>
                    <a:ext uri="{9D8B030D-6E8A-4147-A177-3AD203B41FA5}">
                      <a16:colId xmlns:a16="http://schemas.microsoft.com/office/drawing/2014/main" val="780052470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Test data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time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20.08.02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01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0.9627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0.0085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0.0656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0.0656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0.8421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0.0716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0.1783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0.2676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02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0.9656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0.0072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0.0558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0.0852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0.8748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0.0763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0.1754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0.2763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2694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03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0.8581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0.0236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0.1028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0.1538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0.8667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0.0633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0.2096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0.2517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9274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22.07.12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15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0.8698</a:t>
                      </a:r>
                      <a:endParaRPr lang="en-US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0.0108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0.0845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0.1041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0.9276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0.0271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0.1433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0.1648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16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0.1139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0.5503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0.2509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8217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17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0.7777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0.0148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0.0844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0.1218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0.3852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0.1563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0.3768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0.3953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49749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23.07.11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06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0.8966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0.0368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0.1150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0.1920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0.8208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0.1877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0.2735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0.4333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07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0.8622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0.1963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0.3492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0473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08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0.8323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0.0351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0.1005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0.1874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0.9018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0.0779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0.2423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0.2791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50228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47D86C-79DE-4B3D-A2D6-5A764D1BA978}"/>
              </a:ext>
            </a:extLst>
          </p:cNvPr>
          <p:cNvSpPr/>
          <p:nvPr/>
        </p:nvSpPr>
        <p:spPr>
          <a:xfrm>
            <a:off x="6828737" y="2963337"/>
            <a:ext cx="660400" cy="371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971287-AAE6-40BB-A0F5-25DB65107EDD}"/>
              </a:ext>
            </a:extLst>
          </p:cNvPr>
          <p:cNvSpPr/>
          <p:nvPr/>
        </p:nvSpPr>
        <p:spPr>
          <a:xfrm>
            <a:off x="9417231" y="2963337"/>
            <a:ext cx="660400" cy="371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7588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MAE 1</a:t>
            </a:r>
            <a:r>
              <a:rPr lang="ko-KR" altLang="en-US" sz="2000" b="1" dirty="0">
                <a:latin typeface="+mj-ea"/>
              </a:rPr>
              <a:t>시간 단위 예측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720763-343A-4A25-BAC3-5D5833244E5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5F8B177-AFE9-4DC7-AD46-F80052E6E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003981"/>
              </p:ext>
            </p:extLst>
          </p:nvPr>
        </p:nvGraphicFramePr>
        <p:xfrm>
          <a:off x="5603341" y="2615313"/>
          <a:ext cx="6402384" cy="40614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1205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482917">
                  <a:extLst>
                    <a:ext uri="{9D8B030D-6E8A-4147-A177-3AD203B41FA5}">
                      <a16:colId xmlns:a16="http://schemas.microsoft.com/office/drawing/2014/main" val="780052470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Test data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time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17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0.6247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0.0329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0.0925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0.1816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0.6779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0.0171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0.1038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0.1311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18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0.7308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0.6749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0.0860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0.1244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2694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19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0.7209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0.0217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0.0892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0.1475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0.4809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0.0191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0.1026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0.1385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9274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25.07.16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16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0.7968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0.0283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0.1263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0.1684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0.9713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0.0168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0.1071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0.1298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17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0.1098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8217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18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0.8285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0.0174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0.1056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0.1319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0.9366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0.0201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0.1147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0.1419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49749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25.08.14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04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0.7630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0.0277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0.1195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0.1665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0.8931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0.0489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0.1846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0.2211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05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0.5087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0.0423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0.1589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0.2056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0473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06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0.6803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0.0131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0.0906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0.1146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0.6361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0.0707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0.2163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0.2659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50228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5543A98-ED3C-4FE5-A394-FCE5A01D5211}"/>
              </a:ext>
            </a:extLst>
          </p:cNvPr>
          <p:cNvSpPr/>
          <p:nvPr/>
        </p:nvSpPr>
        <p:spPr>
          <a:xfrm>
            <a:off x="6828737" y="2963337"/>
            <a:ext cx="660400" cy="371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9AE703-8E58-45C1-B836-F467BBF7E3B6}"/>
              </a:ext>
            </a:extLst>
          </p:cNvPr>
          <p:cNvSpPr/>
          <p:nvPr/>
        </p:nvSpPr>
        <p:spPr>
          <a:xfrm>
            <a:off x="9417231" y="2963337"/>
            <a:ext cx="660400" cy="371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B9857-F487-47DE-9A42-8A1E807D04AF}"/>
              </a:ext>
            </a:extLst>
          </p:cNvPr>
          <p:cNvSpPr txBox="1"/>
          <p:nvPr/>
        </p:nvSpPr>
        <p:spPr>
          <a:xfrm>
            <a:off x="499533" y="1389410"/>
            <a:ext cx="9042400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 Lead time sensitivity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낮음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 이동에 강건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400" b="1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궁내교보다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Lead-time sensitivity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큼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특히 후행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시간에서 성능 급락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peak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위치가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±1h shift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되어도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비슷하게 유지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6152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1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시간 단위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6" y="689483"/>
            <a:ext cx="3206693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2693941"/>
            <a:ext cx="3275495" cy="54196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4721949"/>
            <a:ext cx="323353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231467" y="1473154"/>
            <a:ext cx="1625543" cy="4647191"/>
            <a:chOff x="6231467" y="1473154"/>
            <a:chExt cx="1625543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( 17 )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231467" y="3478697"/>
              <a:ext cx="1618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 ( 16 )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( 15 )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0.7777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0.4201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0.8698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43" y="3240449"/>
            <a:ext cx="323352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98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980" y="716172"/>
            <a:ext cx="3206693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603" y="4745885"/>
            <a:ext cx="323353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763" y="3240449"/>
            <a:ext cx="31789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3232" y="5271474"/>
            <a:ext cx="2580891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30200" y="1566310"/>
            <a:ext cx="1629087" cy="4587791"/>
            <a:chOff x="330200" y="1566310"/>
            <a:chExt cx="1629087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( 03 )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330200" y="3552110"/>
              <a:ext cx="16290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 ( 02 )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( 01 )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0.8581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68867" y="3879471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0.9656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0.9627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39407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1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시간 단위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6" y="689483"/>
            <a:ext cx="3227151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9" y="2689402"/>
            <a:ext cx="325399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18" y="4721949"/>
            <a:ext cx="325399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231467" y="1473154"/>
            <a:ext cx="1625543" cy="4647191"/>
            <a:chOff x="6231467" y="1473154"/>
            <a:chExt cx="1625543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( 19 )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231467" y="3478697"/>
              <a:ext cx="1618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 ( 18 )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( 17 )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0.7209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0.7308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0.6247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0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657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97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716172"/>
            <a:ext cx="315911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2712227"/>
            <a:ext cx="315911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144" y="4745885"/>
            <a:ext cx="325399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55600" y="1566310"/>
            <a:ext cx="1603687" cy="4587791"/>
            <a:chOff x="355600" y="1566310"/>
            <a:chExt cx="1603687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( 08 )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355600" y="3552110"/>
              <a:ext cx="16036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 ( 07 )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( 06 )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0.8323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0.8622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0.8622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5537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1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시간 단위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9" y="689483"/>
            <a:ext cx="323353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2689402"/>
            <a:ext cx="323353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4721949"/>
            <a:ext cx="323353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256867" y="1473154"/>
            <a:ext cx="1600143" cy="4647191"/>
            <a:chOff x="6256867" y="1473154"/>
            <a:chExt cx="1600143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( 06 )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256867" y="3478697"/>
              <a:ext cx="15932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250814 ( 05 )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( 04 )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0.6803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0.5087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0.7630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9" y="1254012"/>
            <a:ext cx="315910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98" y="5271474"/>
            <a:ext cx="317890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4" y="4745885"/>
            <a:ext cx="3227449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0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64068" y="1566310"/>
            <a:ext cx="1595220" cy="4587791"/>
            <a:chOff x="364068" y="1566310"/>
            <a:chExt cx="15952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( 18 )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364068" y="3552110"/>
              <a:ext cx="15952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 ( 17 )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( 16 )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0.8285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0.7947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0.7968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81349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시간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689483"/>
            <a:ext cx="323353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2693941"/>
            <a:ext cx="3233530" cy="54196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4721949"/>
            <a:ext cx="323353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231467" y="1473154"/>
            <a:ext cx="1625543" cy="4647191"/>
            <a:chOff x="6231467" y="1473154"/>
            <a:chExt cx="1625543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( 17 )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231467" y="3478697"/>
              <a:ext cx="1618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 ( 16 )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( 15 )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0.3852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0.5503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0.9276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3240449"/>
            <a:ext cx="323353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98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2" y="716172"/>
            <a:ext cx="323353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2" y="2712227"/>
            <a:ext cx="323353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604" y="4745885"/>
            <a:ext cx="3233529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2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763" y="3240449"/>
            <a:ext cx="31789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2" y="5271474"/>
            <a:ext cx="3184991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30200" y="1566310"/>
            <a:ext cx="1629087" cy="4587791"/>
            <a:chOff x="330200" y="1566310"/>
            <a:chExt cx="1629087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( 03 )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330200" y="3552110"/>
              <a:ext cx="16290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 ( 02 )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( 01 )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0.8667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68867" y="3879471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0.8748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0.8421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110920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시간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9" y="689483"/>
            <a:ext cx="323353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239" y="2689402"/>
            <a:ext cx="3233529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4721949"/>
            <a:ext cx="323353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223000" y="1473154"/>
            <a:ext cx="1634010" cy="4647191"/>
            <a:chOff x="6223000" y="1473154"/>
            <a:chExt cx="1634010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( 19 )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223000" y="3478697"/>
              <a:ext cx="16271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 ( 18 )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( 17 )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0.4809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0.6749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0.6779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264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9" y="3240449"/>
            <a:ext cx="315910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464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522" y="716172"/>
            <a:ext cx="3227151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3" y="2712227"/>
            <a:ext cx="323353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603" y="4745885"/>
            <a:ext cx="323353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825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763" y="3240449"/>
            <a:ext cx="31789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4" y="5271474"/>
            <a:ext cx="318499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55600" y="1566310"/>
            <a:ext cx="1603687" cy="4587791"/>
            <a:chOff x="355600" y="1566310"/>
            <a:chExt cx="1603687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( 08 )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355600" y="3552110"/>
              <a:ext cx="16036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 ( 07 )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( 06 )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0.9018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0.8659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0.8208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743966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시간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241" y="689483"/>
            <a:ext cx="3233528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315" y="2689402"/>
            <a:ext cx="3227454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4721949"/>
            <a:ext cx="3233529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256867" y="1473154"/>
            <a:ext cx="1600143" cy="4647191"/>
            <a:chOff x="6256867" y="1473154"/>
            <a:chExt cx="1600143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( 06 )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256867" y="3478697"/>
              <a:ext cx="15932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250814 ( 05 )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( 04 )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0.6361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0.8781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0.8931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3240449"/>
            <a:ext cx="3179571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738" y="5271474"/>
            <a:ext cx="317957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151" y="716172"/>
            <a:ext cx="3233529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3" y="2712227"/>
            <a:ext cx="323353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603" y="4745885"/>
            <a:ext cx="323353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02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101" y="3240449"/>
            <a:ext cx="3179571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3" y="5271474"/>
            <a:ext cx="318499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64068" y="1566310"/>
            <a:ext cx="1595220" cy="4587791"/>
            <a:chOff x="364068" y="1566310"/>
            <a:chExt cx="15952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( 18 )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364068" y="3552110"/>
              <a:ext cx="15952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 ( 17 )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( 16 )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0.9366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0.9713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88193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3"/>
            <a:ext cx="9499405" cy="293891"/>
            <a:chOff x="1692739" y="4630163"/>
            <a:chExt cx="8869170" cy="2503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( 17 )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514817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 ( 17 )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( 15 )</a:t>
              </a:r>
              <a:endParaRPr lang="ko-KR" altLang="en-US" sz="1200" b="1" dirty="0"/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7BEAE122-3789-4AE3-8E16-CB00E8021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94" y="3744875"/>
            <a:ext cx="3839738" cy="81848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05" y="4524953"/>
            <a:ext cx="3764611" cy="195929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CBB692A-AAAD-4933-B40C-4905E8139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550" y="3746384"/>
            <a:ext cx="3839738" cy="81848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707" y="4568820"/>
            <a:ext cx="3776583" cy="1976925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AA367BB-235B-436B-BB2A-8B69D38940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674" y="3766473"/>
            <a:ext cx="3839737" cy="81848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012" y="4557645"/>
            <a:ext cx="3779788" cy="196549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( 03 )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514817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 ( 02 )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( 01 )</a:t>
              </a:r>
              <a:endParaRPr lang="ko-KR" altLang="en-US" sz="1200" b="1" dirty="0"/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B86AC3FC-9F5F-4B53-ABE0-05F1C177B4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33" y="683300"/>
            <a:ext cx="3839738" cy="8184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67" y="1458344"/>
            <a:ext cx="3780087" cy="1969359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ABF5E94-D2D2-4A42-A3FE-77AD6D9EDF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200" y="684809"/>
            <a:ext cx="3780087" cy="81848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89" y="1519468"/>
            <a:ext cx="3733018" cy="1952479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1AF3CBEF-DE83-4C8F-B316-CCE2BEEE53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33" y="704898"/>
            <a:ext cx="3818178" cy="81848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401" y="1495992"/>
            <a:ext cx="3747010" cy="1965644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2ACA17F-A063-4F7D-B20A-9E0840D2E852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90783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3"/>
            <a:ext cx="9499405" cy="293891"/>
            <a:chOff x="1692739" y="4630163"/>
            <a:chExt cx="8869170" cy="2503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( 19 )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491102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 ( 18 )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( 17 )</a:t>
              </a:r>
              <a:endParaRPr lang="ko-KR" altLang="en-US" sz="1200" b="1" dirty="0"/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7BEAE122-3789-4AE3-8E16-CB00E8021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67" y="3744875"/>
            <a:ext cx="3848203" cy="81848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05" y="4526803"/>
            <a:ext cx="3764611" cy="195559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CBB692A-AAAD-4933-B40C-4905E8139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088" y="3746384"/>
            <a:ext cx="3848202" cy="81848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707" y="4567625"/>
            <a:ext cx="3776583" cy="197931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AA367BB-235B-436B-BB2A-8B69D38940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210" y="3766473"/>
            <a:ext cx="3848202" cy="81848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6" y="4557645"/>
            <a:ext cx="3776520" cy="196549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( 08 )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491102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 ( 07 )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( 06 )</a:t>
              </a:r>
              <a:endParaRPr lang="ko-KR" altLang="en-US" sz="1200" b="1" dirty="0"/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B86AC3FC-9F5F-4B53-ABE0-05F1C177B4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67" y="683300"/>
            <a:ext cx="3848203" cy="8184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65" y="1457418"/>
            <a:ext cx="3768491" cy="1971211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ABF5E94-D2D2-4A42-A3FE-77AD6D9EDF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305" y="684809"/>
            <a:ext cx="3848202" cy="81848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89" y="1524283"/>
            <a:ext cx="3733018" cy="1942849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1AF3CBEF-DE83-4C8F-B316-CCE2BEEE53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209" y="704898"/>
            <a:ext cx="3848202" cy="81848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401" y="1499831"/>
            <a:ext cx="3747010" cy="1957966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2ACA17F-A063-4F7D-B20A-9E0840D2E852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55042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3"/>
            <a:ext cx="9499405" cy="293891"/>
            <a:chOff x="1692739" y="4630163"/>
            <a:chExt cx="8869170" cy="2503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( 06 )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483196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 ( 05 )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( 04 )</a:t>
              </a:r>
              <a:endParaRPr lang="ko-KR" altLang="en-US" sz="1200" b="1" dirty="0"/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7BEAE122-3789-4AE3-8E16-CB00E8021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13" y="3744875"/>
            <a:ext cx="3856670" cy="81848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39" y="4522024"/>
            <a:ext cx="3753743" cy="196515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CBB692A-AAAD-4933-B40C-4905E8139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837" y="3746384"/>
            <a:ext cx="3856669" cy="81848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707" y="4569651"/>
            <a:ext cx="3776583" cy="1975264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AA367BB-235B-436B-BB2A-8B69D38940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160" y="3766473"/>
            <a:ext cx="3844251" cy="81848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507" y="4557645"/>
            <a:ext cx="3768798" cy="196549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( 18 )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483196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 ( 17 )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( 16 )</a:t>
              </a:r>
              <a:endParaRPr lang="ko-KR" altLang="en-US" sz="1200" b="1" dirty="0"/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B86AC3FC-9F5F-4B53-ABE0-05F1C177B4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83300"/>
            <a:ext cx="3856671" cy="8184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23" y="1457418"/>
            <a:ext cx="3764974" cy="1971211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ABF5E94-D2D2-4A42-A3FE-77AD6D9EDF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157" y="684809"/>
            <a:ext cx="3808350" cy="81848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89" y="1530995"/>
            <a:ext cx="3733018" cy="1929425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1AF3CBEF-DE83-4C8F-B316-CCE2BEEE53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526" y="722423"/>
            <a:ext cx="3673423" cy="78343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401" y="1507143"/>
            <a:ext cx="3747010" cy="1943343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2ACA17F-A063-4F7D-B20A-9E0840D2E852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6676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3044279"/>
            <a:ext cx="684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유량 예측 모델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75356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7780867" y="126666"/>
            <a:ext cx="4284136" cy="3095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유량 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( 1.45 – 200.45 )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( 3.93 – 712.55 )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수위 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유량 </a:t>
            </a:r>
            <a:r>
              <a:rPr lang="ko-KR" altLang="en-US" sz="900" b="1" dirty="0" err="1">
                <a:latin typeface="+mn-ea"/>
              </a:rPr>
              <a:t>곡선식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: 23</a:t>
            </a:r>
            <a:r>
              <a:rPr lang="ko-KR" altLang="en-US" sz="900" b="1" dirty="0">
                <a:latin typeface="+mn-ea"/>
              </a:rPr>
              <a:t>년 </a:t>
            </a:r>
            <a:r>
              <a:rPr lang="en-US" altLang="ko-KR" sz="900" b="1" dirty="0">
                <a:latin typeface="+mn-ea"/>
              </a:rPr>
              <a:t>11</a:t>
            </a:r>
            <a:r>
              <a:rPr lang="ko-KR" altLang="en-US" sz="900" b="1" dirty="0">
                <a:latin typeface="+mn-ea"/>
              </a:rPr>
              <a:t>월 이후 </a:t>
            </a:r>
            <a:r>
              <a:rPr lang="en-US" altLang="ko-KR" sz="900" b="1" dirty="0">
                <a:latin typeface="+mn-ea"/>
              </a:rPr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2659324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유량 예측 모델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유량 비교 </a:t>
            </a:r>
            <a:r>
              <a:rPr lang="en-US" altLang="ko-KR" sz="2000" b="1" dirty="0">
                <a:latin typeface="+mj-ea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평균적으로 안정적이나 특정 이벤트 성능 저하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22.07.12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유독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안맞음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음수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1E3F0B-DA34-47B0-B4F4-88DEB1CB6C7E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/dg)_flow</a:t>
            </a:r>
            <a:endParaRPr lang="ko-KR" altLang="en-US" sz="1050" b="1" dirty="0">
              <a:latin typeface="+mj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18E859D-EBD2-4A84-8D67-C7F09C6F1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602149"/>
              </p:ext>
            </p:extLst>
          </p:nvPr>
        </p:nvGraphicFramePr>
        <p:xfrm>
          <a:off x="4614334" y="3429000"/>
          <a:ext cx="709366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810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8799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874539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797077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797077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2955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946318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719613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797077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0.9470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133.2941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7.6087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11.5453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0.8104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2119.8319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31.4251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46.0416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-0.3192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1225.0217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27.96738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35.0003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0.9411</a:t>
                      </a:r>
                      <a:endParaRPr lang="en-US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849.6534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22.2570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29.14881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0.9153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187.9712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10.4154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13.71025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0.7145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8592.75005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69.7216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92.6970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0.7854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99.3442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6.1220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9.9671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0.7932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92.4420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6.9991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9.6146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0.7869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113.8457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8.1333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10.6698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0.8734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916.8551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24.9128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30.2796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0.7481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88.8281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7.2954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9.4248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0.9158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666.7448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22.7927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25.8214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5422724" y="3784018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8572325" y="3784018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5E48DA-1670-4B12-BDEF-4C0FF83218E0}"/>
              </a:ext>
            </a:extLst>
          </p:cNvPr>
          <p:cNvSpPr txBox="1"/>
          <p:nvPr/>
        </p:nvSpPr>
        <p:spPr>
          <a:xfrm>
            <a:off x="5018529" y="2914649"/>
            <a:ext cx="6978738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- 9%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+ 5.4%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5755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465564" y="5849826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0.7481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404A7A-A932-4ACE-8BE0-B47CF0C2724C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/dg)_flow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125198F-8746-4EC8-9127-ED14E04C6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EE802461-7193-48D2-A821-585D8FB12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56BF6FC6-35CF-4854-92EE-A8ADFA96DB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F2F23C9-24C8-4398-94A2-E097686031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7FDCB0B-0442-452D-BC2C-1A4EDA2737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A3D65E91-0AA2-4B9A-B4B8-76CFC4B89B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013117C8-4176-482F-818A-C866CF9CFA74}"/>
              </a:ext>
            </a:extLst>
          </p:cNvPr>
          <p:cNvGrpSpPr/>
          <p:nvPr/>
        </p:nvGrpSpPr>
        <p:grpSpPr>
          <a:xfrm>
            <a:off x="6465564" y="1473154"/>
            <a:ext cx="1391446" cy="4307814"/>
            <a:chOff x="6465564" y="1473154"/>
            <a:chExt cx="1391446" cy="4307814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AF0D9F-0741-4151-8172-1548A2DC27B5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F711CC2-4CA1-44AE-B532-5B43FEE7E4F2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2F7180D-A4E7-432D-9332-F8328637ACBF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3A8A96A-3191-4C3F-9706-2F23CE2DF8DB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0.7869</a:t>
              </a:r>
              <a:endParaRPr lang="ko-KR" altLang="en-US" sz="1200" b="1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B975A15-CF8B-4F70-9F3F-A7437F945E66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0.7854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74" name="그림 73">
            <a:extLst>
              <a:ext uri="{FF2B5EF4-FFF2-40B4-BE49-F238E27FC236}">
                <a16:creationId xmlns:a16="http://schemas.microsoft.com/office/drawing/2014/main" id="{1ED12E98-A7E9-4FAA-848E-A2EBDE3160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09" cy="1315789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B8DDE25B-0B7D-400D-ADB4-3B047A70EE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40449"/>
            <a:ext cx="3159109" cy="1356107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ED40514F-CC25-414C-967F-6945DB2DC1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74D50CF0-0404-495A-B36E-82F503E234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09" cy="1315789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4393125A-4E1D-4749-89CA-2D7FF30947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5" y="3240449"/>
            <a:ext cx="3159108" cy="1356107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D647DB1E-4BB7-467B-B507-4E1DD16A9CE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grpSp>
        <p:nvGrpSpPr>
          <p:cNvPr id="80" name="그룹 79">
            <a:extLst>
              <a:ext uri="{FF2B5EF4-FFF2-40B4-BE49-F238E27FC236}">
                <a16:creationId xmlns:a16="http://schemas.microsoft.com/office/drawing/2014/main" id="{EAF7470D-3E5C-4DC9-A280-09902B03997D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D77FCF9-7CC9-4A4C-8D53-1389C5AD2CE7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E8FBBFF-5435-49BA-BFEE-84040DE2DD99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A7A8045-5D6C-40D0-80F8-086A248470EB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5BDF1EB-B53C-4F2E-BC88-94547FD54D03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0.9153</a:t>
              </a:r>
              <a:endParaRPr lang="ko-KR" altLang="en-US" sz="1200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2A72304-192F-45C2-BECD-6C677814D76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-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0.3192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CB6D6F7-4BCE-4F2D-9A99-031D4501E27F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0.9470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57035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141CDB-06C4-4F00-8552-80DEA93712EA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/dg)_flow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C72D7B55-5C18-4619-8689-9F39CE0B9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F1359B1E-622B-4DF2-A9AB-EE603F6D8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B0B5158-CE58-4204-942B-CE53441AF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D79E458F-C1B1-47BC-ADCB-9A700BF22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3527CF5C-BC2D-4EE1-8BD8-051A49A502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1211DAA2-EEA8-4D0F-8EA2-F62E25CEDE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grpSp>
        <p:nvGrpSpPr>
          <p:cNvPr id="87" name="그룹 86">
            <a:extLst>
              <a:ext uri="{FF2B5EF4-FFF2-40B4-BE49-F238E27FC236}">
                <a16:creationId xmlns:a16="http://schemas.microsoft.com/office/drawing/2014/main" id="{DEBAD6BE-6CC0-4B64-A312-AE468035344D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63C2725-DB92-418E-99C6-8E8FA330A5CF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F011E77-E8AE-4E8B-89BA-F131A652890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F1ECEB1-7EB7-47E2-B87E-89E52828E8F0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A2AA154-0658-4412-863E-FEBE16F39172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0.9158</a:t>
              </a:r>
              <a:endParaRPr lang="ko-KR" altLang="en-US" sz="1200" b="1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B821D59-CE73-420F-A863-BEE2E8597809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0.8734</a:t>
              </a:r>
              <a:endParaRPr lang="ko-KR" altLang="en-US" sz="1200" b="1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1A0AB5C-D075-4538-9A9A-F5DC2DAC0215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0.7932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94" name="그림 93">
            <a:extLst>
              <a:ext uri="{FF2B5EF4-FFF2-40B4-BE49-F238E27FC236}">
                <a16:creationId xmlns:a16="http://schemas.microsoft.com/office/drawing/2014/main" id="{82652E45-8D6A-4262-95FE-9C1D6C1425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47792"/>
            <a:ext cx="3192890" cy="1315789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8FEEE663-3125-488A-AA03-918B364514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3240449"/>
            <a:ext cx="3192890" cy="1356107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AA625B5F-72F1-42AA-B68B-53A3C68EB5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9B31B99C-774B-4D43-AC60-8D3F074D74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1254012"/>
            <a:ext cx="3192890" cy="1315789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EE5889F8-0F9E-4DC8-87E1-4A8E218F12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51" y="3240449"/>
            <a:ext cx="3192890" cy="1356107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2AF9C198-14DD-4FF6-B28E-40A5087AB7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92890" cy="1356107"/>
          </a:xfrm>
          <a:prstGeom prst="rect">
            <a:avLst/>
          </a:prstGeom>
        </p:spPr>
      </p:pic>
      <p:grpSp>
        <p:nvGrpSpPr>
          <p:cNvPr id="100" name="그룹 99">
            <a:extLst>
              <a:ext uri="{FF2B5EF4-FFF2-40B4-BE49-F238E27FC236}">
                <a16:creationId xmlns:a16="http://schemas.microsoft.com/office/drawing/2014/main" id="{8D9A8DF0-930F-4177-91FF-DD29BFDFF5E9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765CC294-474E-49B4-BED0-1EF8A8056620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EE90E51-C325-4A8B-83B6-E9AAA4CA5884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042E071-E761-4129-919E-FE9E49F3AD61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A87481E-8E46-4334-AD83-655CE5F30758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0.7145</a:t>
              </a:r>
              <a:endParaRPr lang="ko-KR" altLang="en-US" sz="1200" b="1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B7C8F69-00D3-42EA-94EB-9FFAA81091B0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0.9411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0C1092D-6AB1-4770-A0ED-D8EE54B725A6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0.8104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50043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1"/>
            <a:ext cx="9499405" cy="342084"/>
            <a:chOff x="1692739" y="4630163"/>
            <a:chExt cx="8869170" cy="291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7BEAE122-3789-4AE3-8E16-CB00E8021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3744875"/>
            <a:ext cx="3782428" cy="81848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88" y="4540139"/>
            <a:ext cx="3710044" cy="1928919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CBB692A-AAAD-4933-B40C-4905E8139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045" y="3746384"/>
            <a:ext cx="3779997" cy="81848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019" y="4578476"/>
            <a:ext cx="3709959" cy="1957612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AA367BB-235B-436B-BB2A-8B69D38940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791" y="3766473"/>
            <a:ext cx="3772303" cy="81848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466" y="4566346"/>
            <a:ext cx="3702879" cy="1948086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B86AC3FC-9F5F-4B53-ABE0-05F1C177B4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683300"/>
            <a:ext cx="3746772" cy="8184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24" y="1463275"/>
            <a:ext cx="3746772" cy="1959496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ABF5E94-D2D2-4A42-A3FE-77AD6D9EDF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735" y="684809"/>
            <a:ext cx="3746772" cy="81848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718" y="1542175"/>
            <a:ext cx="3664558" cy="1907065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1AF3CBEF-DE83-4C8F-B316-CCE2BEEE53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646" y="704898"/>
            <a:ext cx="3772303" cy="81848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754" y="1509648"/>
            <a:ext cx="3706303" cy="193833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973668" cy="422827"/>
            <a:chOff x="7086600" y="35314"/>
            <a:chExt cx="973668" cy="422827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rgbClr val="FF7C80"/>
            </a:solidFill>
            <a:ln>
              <a:solidFill>
                <a:srgbClr val="FF7C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7410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r>
                <a:rPr lang="ko-KR" altLang="en-US" sz="800" dirty="0"/>
                <a:t> 예측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7410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/>
                <a:t>대곡교</a:t>
              </a:r>
              <a:r>
                <a:rPr lang="ko-KR" altLang="en-US" sz="800" dirty="0"/>
                <a:t> 예측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7FBBA52-C11A-43BE-92E1-DB7442904FB2}"/>
              </a:ext>
            </a:extLst>
          </p:cNvPr>
          <p:cNvSpPr txBox="1"/>
          <p:nvPr/>
        </p:nvSpPr>
        <p:spPr>
          <a:xfrm>
            <a:off x="10345796" y="169583"/>
            <a:ext cx="165147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/dg)_flow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958D60B-F1F6-4AF1-8123-55B82F498349}"/>
              </a:ext>
            </a:extLst>
          </p:cNvPr>
          <p:cNvGrpSpPr/>
          <p:nvPr/>
        </p:nvGrpSpPr>
        <p:grpSpPr>
          <a:xfrm>
            <a:off x="8650321" y="70332"/>
            <a:ext cx="726511" cy="422827"/>
            <a:chOff x="7086600" y="35314"/>
            <a:chExt cx="726511" cy="422827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D00C4FC-9CF3-4D16-991C-306A6D63DBAC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9DC9D4D-A022-4D86-9BB5-64E806099A9F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42447E0-6E75-49AE-8446-693D62DF0F69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3AED15C-6CF3-4442-9C17-DE9E143D8588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6683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 err="1">
                <a:latin typeface="+mj-ea"/>
                <a:ea typeface="+mj-ea"/>
              </a:rPr>
              <a:t>대곡교</a:t>
            </a:r>
            <a:r>
              <a:rPr lang="ko-KR" altLang="en-US" sz="4400" b="1" dirty="0">
                <a:latin typeface="+mj-ea"/>
                <a:ea typeface="+mj-ea"/>
              </a:rPr>
              <a:t> 컬럼 제외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751231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348273"/>
              </p:ext>
            </p:extLst>
          </p:nvPr>
        </p:nvGraphicFramePr>
        <p:xfrm>
          <a:off x="1210731" y="3219528"/>
          <a:ext cx="5475923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60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7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55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( 42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20230629 56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20084494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대곡교</a:t>
            </a:r>
            <a:r>
              <a:rPr lang="ko-KR" altLang="en-US" sz="2000" b="1" dirty="0">
                <a:latin typeface="+mj-ea"/>
              </a:rPr>
              <a:t> 컬럼 제외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064171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0.8253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0.0369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0.1334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0.1922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-1.2836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0.0906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0.2571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0.3010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0.9267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0.7720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0.1358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0.4997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0.1578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0.7909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0.0918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/dg)_none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정보 제거 →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예측에도 악영향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하류 수위 상관성이 존재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- 17.5% )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0183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465564" y="581472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0.7909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125198F-8746-4EC8-9127-ED14E04C6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EE802461-7193-48D2-A821-585D8FB12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56BF6FC6-35CF-4854-92EE-A8ADFA96DB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F2F23C9-24C8-4398-94A2-E097686031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7FDCB0B-0442-452D-BC2C-1A4EDA2737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A3D65E91-0AA2-4B9A-B4B8-76CFC4B89B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013117C8-4176-482F-818A-C866CF9CFA74}"/>
              </a:ext>
            </a:extLst>
          </p:cNvPr>
          <p:cNvGrpSpPr/>
          <p:nvPr/>
        </p:nvGrpSpPr>
        <p:grpSpPr>
          <a:xfrm>
            <a:off x="6465564" y="1473154"/>
            <a:ext cx="1391446" cy="4307814"/>
            <a:chOff x="6465564" y="1473154"/>
            <a:chExt cx="1391446" cy="4307814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AF0D9F-0741-4151-8172-1548A2DC27B5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F711CC2-4CA1-44AE-B532-5B43FEE7E4F2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2F7180D-A4E7-432D-9332-F8328637ACBF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3A8A96A-3191-4C3F-9706-2F23CE2DF8DB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0.4997</a:t>
              </a:r>
              <a:endParaRPr lang="ko-KR" altLang="en-US" sz="1200" b="1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B975A15-CF8B-4F70-9F3F-A7437F945E66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0.7720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74" name="그림 73">
            <a:extLst>
              <a:ext uri="{FF2B5EF4-FFF2-40B4-BE49-F238E27FC236}">
                <a16:creationId xmlns:a16="http://schemas.microsoft.com/office/drawing/2014/main" id="{1ED12E98-A7E9-4FAA-848E-A2EBDE3160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10" cy="1315789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B8DDE25B-0B7D-400D-ADB4-3B047A70EE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467" y="3240449"/>
            <a:ext cx="3155805" cy="1356107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ED40514F-CC25-414C-967F-6945DB2DC1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74D50CF0-0404-495A-B36E-82F503E234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4393125A-4E1D-4749-89CA-2D7FF30947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09" cy="1356107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D647DB1E-4BB7-467B-B507-4E1DD16A9CE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09" cy="1356107"/>
          </a:xfrm>
          <a:prstGeom prst="rect">
            <a:avLst/>
          </a:prstGeom>
        </p:spPr>
      </p:pic>
      <p:grpSp>
        <p:nvGrpSpPr>
          <p:cNvPr id="80" name="그룹 79">
            <a:extLst>
              <a:ext uri="{FF2B5EF4-FFF2-40B4-BE49-F238E27FC236}">
                <a16:creationId xmlns:a16="http://schemas.microsoft.com/office/drawing/2014/main" id="{EAF7470D-3E5C-4DC9-A280-09902B03997D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D77FCF9-7CC9-4A4C-8D53-1389C5AD2CE7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E8FBBFF-5435-49BA-BFEE-84040DE2DD99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A7A8045-5D6C-40D0-80F8-086A248470EB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5BDF1EB-B53C-4F2E-BC88-94547FD54D03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0.9267</a:t>
              </a:r>
              <a:endParaRPr lang="ko-KR" altLang="en-US" sz="1200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2A72304-192F-45C2-BECD-6C677814D76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-1.2836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CB6D6F7-4BCE-4F2D-9A99-031D4501E27F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0.8253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13E51A5-0EE5-4FD5-969C-A321866CA53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/dg)_none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245616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1"/>
            <a:ext cx="9499405" cy="342084"/>
            <a:chOff x="1692739" y="4630163"/>
            <a:chExt cx="8869170" cy="291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</p:grpSp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88" y="4529572"/>
            <a:ext cx="3710044" cy="195005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237" y="4578476"/>
            <a:ext cx="3735523" cy="1957612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429" y="4566346"/>
            <a:ext cx="3724954" cy="1948086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24" y="1458442"/>
            <a:ext cx="3746772" cy="1969162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718" y="1527110"/>
            <a:ext cx="3664558" cy="1937195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754" y="1505863"/>
            <a:ext cx="3706303" cy="1945903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D5142ED-1CE1-4CB3-AE1E-55764C220F29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/dg)_none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84518964-B0F3-47F2-AAFC-E0B93E19AA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3744875"/>
            <a:ext cx="3782428" cy="81848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7F9817C-B5C7-45C4-AE64-0D748791F8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045" y="3746384"/>
            <a:ext cx="3779997" cy="81848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6DE12F5A-5E37-42F8-A192-65392711B4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791" y="3766473"/>
            <a:ext cx="3772303" cy="81848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32E97548-83C2-49CB-A56C-F3C48EA535C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683300"/>
            <a:ext cx="3746772" cy="81848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0F3A301-D247-4A86-88FC-F510C1B99C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735" y="684809"/>
            <a:ext cx="3746772" cy="81848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1C915C19-9AA2-4B06-81FA-3ADD85276C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646" y="704898"/>
            <a:ext cx="3772303" cy="81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269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3044279"/>
            <a:ext cx="684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2020</a:t>
            </a:r>
            <a:r>
              <a:rPr lang="ko-KR" altLang="en-US" sz="4400" b="1" dirty="0">
                <a:latin typeface="+mj-ea"/>
                <a:ea typeface="+mj-ea"/>
              </a:rPr>
              <a:t>년 이후 데이터 학습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074280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40</a:t>
            </a:r>
            <a:r>
              <a:rPr lang="ko-KR" altLang="en-US" sz="1600" dirty="0"/>
              <a:t>개 中 </a:t>
            </a:r>
            <a:r>
              <a:rPr lang="en-US" altLang="ko-KR" sz="1600" dirty="0"/>
              <a:t>34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( 24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2369075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2020</a:t>
            </a:r>
            <a:r>
              <a:rPr lang="ko-KR" altLang="en-US" sz="2000" b="1" dirty="0">
                <a:latin typeface="+mj-ea"/>
              </a:rPr>
              <a:t>년 이후 데이터 학습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022449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0.9513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0.0102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0.0814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0.1013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0.8845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0.0704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0.1797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0.2653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-0.8548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0.2712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-0.1561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0.3550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0.4023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0.8751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0.3701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0.4953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0.8136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0.0610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0.6077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0.1365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0.8213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0.0179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0.2498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0.7835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0.0402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0.1572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0.2006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최근 패턴 집중 → 소폭 개선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 데이터 감소 → 일반화 성능 저하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지점별 데이터 분리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???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+ 2.5 %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+ 0.5 %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33793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0.7835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0.8213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0.8136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-0.8548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0.9513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216076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0.8840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0.8647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0.6077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4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8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5271474"/>
            <a:ext cx="3195542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-0.1561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0.8845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97095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1"/>
            <a:ext cx="9499405" cy="342084"/>
            <a:chOff x="1692739" y="4630163"/>
            <a:chExt cx="8869170" cy="291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</p:grpSp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10" y="4529572"/>
            <a:ext cx="3750400" cy="1950054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CBB692A-AAAD-4933-B40C-4905E8139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152" y="3746384"/>
            <a:ext cx="3666890" cy="81848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237" y="4578476"/>
            <a:ext cx="3735523" cy="1957613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AA367BB-235B-436B-BB2A-8B69D38940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527" y="3766473"/>
            <a:ext cx="3670568" cy="81848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429" y="4561444"/>
            <a:ext cx="3724954" cy="1957891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B86AC3FC-9F5F-4B53-ABE0-05F1C177B4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81" y="683300"/>
            <a:ext cx="3631234" cy="8184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24" y="1458344"/>
            <a:ext cx="3746772" cy="1969359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ABF5E94-D2D2-4A42-A3FE-77AD6D9EDF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273" y="684809"/>
            <a:ext cx="3631234" cy="81848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717" y="1527110"/>
            <a:ext cx="3696561" cy="1937195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1AF3CBEF-DE83-4C8F-B316-CCE2BEEE53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526" y="704898"/>
            <a:ext cx="3673423" cy="81848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754" y="1502872"/>
            <a:ext cx="3706303" cy="195188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C86B8E9-4D13-4C01-B762-FF0ED8FCC58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8471CB87-E9FE-4394-A53A-4434293B5D1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3744875"/>
            <a:ext cx="3782428" cy="81848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9BAD4C7-3AB4-4918-8021-81A245A69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045" y="3746384"/>
            <a:ext cx="3779997" cy="81848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43CEBDEA-83D2-4E93-92A9-D52D3E64E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791" y="3766473"/>
            <a:ext cx="3772303" cy="818481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2768B23-7F59-4053-AF75-406E141E66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683300"/>
            <a:ext cx="3746772" cy="81848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73AD281D-B16D-4D51-A603-D8BF3D9DC2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735" y="684809"/>
            <a:ext cx="3746772" cy="81848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1BDF9F16-6C7E-4CD5-A669-C59953D5BE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646" y="704898"/>
            <a:ext cx="3772303" cy="81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53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3044279"/>
            <a:ext cx="684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3</a:t>
            </a:r>
            <a:r>
              <a:rPr lang="ko-KR" altLang="en-US" sz="4400" b="1" dirty="0">
                <a:latin typeface="+mj-ea"/>
                <a:ea typeface="+mj-ea"/>
              </a:rPr>
              <a:t>시간 예측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407178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30420266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3</a:t>
            </a:r>
            <a:r>
              <a:rPr lang="ko-KR" altLang="en-US" sz="2000" b="1" dirty="0">
                <a:latin typeface="+mj-ea"/>
              </a:rPr>
              <a:t>시간 예측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176497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0.5417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0.0184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0.1049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0.1359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0.4341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/>
                        <a:t>0.0495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/>
                        <a:t>0.1670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/>
                        <a:t>0.2225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0.8669</a:t>
                      </a:r>
                      <a:endParaRPr lang="en-US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0.0795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0.9659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0.0042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0.0452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0.0651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0.9006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0.0563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0.7131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0.1341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0.3316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0.3663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0.5351</a:t>
                      </a:r>
                      <a:endParaRPr lang="pt-BR" altLang="ko-KR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0.0333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-4.2174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0.0347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0.1570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0.1863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0.6605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0.1165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0.7288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0.0379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0.1619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0.1947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0.2037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0.0287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0.1493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0.1695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0.8953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0.0140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0.0854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0.1186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이벤트별 변동성 가장 큼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대곡교에서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-4.21 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발생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기준으로는 손해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- 13.4%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-26.5%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6487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0.2037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0.6605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0.5351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65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658" y="3240449"/>
            <a:ext cx="315910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0.9006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0.8669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0.5417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4B974EA-9D74-40CE-B5FC-A983C2F579D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184922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0.8953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0.7288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-4.2174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3240449"/>
            <a:ext cx="319289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9288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0.7131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0.9659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0.4341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F36F4F-CEB0-4E64-B6B8-57448DFFD3C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631382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1"/>
            <a:ext cx="9499405" cy="342084"/>
            <a:chOff x="1692739" y="4630163"/>
            <a:chExt cx="8869170" cy="291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</p:grpSp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05" y="4525877"/>
            <a:ext cx="3764611" cy="1957443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888" y="4575543"/>
            <a:ext cx="3776220" cy="196348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393" y="4561444"/>
            <a:ext cx="3743026" cy="1957891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67" y="1458344"/>
            <a:ext cx="3780087" cy="1969359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398" y="1518558"/>
            <a:ext cx="3729199" cy="1954299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134" y="1502872"/>
            <a:ext cx="3731544" cy="195188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C86B8E9-4D13-4C01-B762-FF0ED8FCC58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21E30961-8FB7-45C8-A2C2-882398E8D5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3744875"/>
            <a:ext cx="3782428" cy="818481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E1E342EF-2D40-4AA9-A787-852B847112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045" y="3746384"/>
            <a:ext cx="3779997" cy="81848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FF5B8C45-02A2-4FAE-8E13-78F5A72462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791" y="3766473"/>
            <a:ext cx="3772303" cy="81848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4A3619D5-689E-495F-9987-7E7A00298E7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683300"/>
            <a:ext cx="3746772" cy="81848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9D50A50B-1126-4BF4-9F1A-F48E6F4AFAF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735" y="684809"/>
            <a:ext cx="3746772" cy="81848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47858C59-28D4-4869-9C91-6A89436B4C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646" y="704898"/>
            <a:ext cx="3772303" cy="81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430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3</a:t>
            </a:r>
            <a:r>
              <a:rPr lang="ko-KR" altLang="en-US" sz="2000" b="1" dirty="0">
                <a:latin typeface="+mj-ea"/>
              </a:rPr>
              <a:t>시간 예측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예측 시작 시점 </a:t>
            </a:r>
            <a:r>
              <a:rPr lang="en-US" altLang="ko-KR" sz="2000" b="1" dirty="0">
                <a:latin typeface="+mj-ea"/>
              </a:rPr>
              <a:t>-1</a:t>
            </a:r>
            <a:r>
              <a:rPr lang="ko-KR" altLang="en-US" sz="2000" b="1" dirty="0">
                <a:latin typeface="+mj-ea"/>
              </a:rPr>
              <a:t>시간 </a:t>
            </a:r>
            <a:r>
              <a:rPr lang="en-US" altLang="ko-KR" sz="2000" b="1" dirty="0">
                <a:latin typeface="+mj-ea"/>
              </a:rPr>
              <a:t> )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104815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0.8214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0.0315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0.1508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0.1774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0.9113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0.0216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0.1275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0.1470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-0.3291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0.1190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0.1467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-0.1308</a:t>
                      </a:r>
                      <a:endParaRPr lang="en-US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0.0159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0.1264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0.9196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0.0107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0.7288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0.3182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0.3538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0.7568</a:t>
                      </a:r>
                      <a:endParaRPr lang="pt-BR" altLang="ko-KR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0.0911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0.1122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0.5679</a:t>
                      </a:r>
                      <a:endParaRPr lang="pt-BR" altLang="ko-KR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0.0911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0.1122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0.9456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0.0045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0.0528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0.0671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0.5949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0.0571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0.2051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0.2390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-0.9700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0.0607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0.2464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0.8942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0.1387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0.1604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이벤트별 변동성 가장 큼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기준으로는 손해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- 26.6%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-25.6%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2106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-0.9700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0.9456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0.7568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6" y="1247792"/>
            <a:ext cx="3192888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4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89" cy="135610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0.9196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-0.3291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0.8214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1F36F4F-CEB0-4E64-B6B8-57448DFFD3C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7C6BFB-20A7-43B0-90D8-1F7A246BB2B1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E330ADC7-5411-4D38-8863-F9B7C91073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9C81B944-E542-455B-92C0-27BEBDE3E8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29BE6D5B-BC93-466C-847A-0645A0B818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83E87A0-CD57-4F57-92C4-A02C985E38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800CEF64-0372-449C-B3C8-A2BAA38564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4A81F736-890D-487E-AEA3-87DBAFD1CFD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493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0.8942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0.5949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0.5679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0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244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0.7288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-0.1308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0.9113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4B974EA-9D74-40CE-B5FC-A983C2F579D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1B2D2B-8083-44DF-8ED3-5FB121DE62C9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FA178A2C-983E-4C84-A289-6CC4F0CAF6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7350F9F-F0CB-4B9B-BBE3-E6CB451673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89F72EDA-F404-4FED-95A6-C86631F570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5090526C-ACFD-4894-A654-6209385E45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0C6D0FA9-C1E2-4963-9DD4-1CD5F0B8659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4B6D5AA4-0C24-4C8C-8285-4B2E0825A28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816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1"/>
            <a:ext cx="9499405" cy="342084"/>
            <a:chOff x="1692739" y="4630163"/>
            <a:chExt cx="8869170" cy="291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7BEAE122-3789-4AE3-8E16-CB00E8021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08" y="3744875"/>
            <a:ext cx="3866063" cy="81848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10" y="4514217"/>
            <a:ext cx="3750400" cy="1980764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CBB692A-AAAD-4933-B40C-4905E8139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979" y="3746384"/>
            <a:ext cx="3866063" cy="81848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955" y="4578476"/>
            <a:ext cx="3780087" cy="1957613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AA367BB-235B-436B-BB2A-8B69D38940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456" y="3766473"/>
            <a:ext cx="3880639" cy="81848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025" y="4561444"/>
            <a:ext cx="3757763" cy="1957891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B86AC3FC-9F5F-4B53-ABE0-05F1C177B4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7" y="683300"/>
            <a:ext cx="3863348" cy="8184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67" y="1458344"/>
            <a:ext cx="3780087" cy="1969359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ABF5E94-D2D2-4A42-A3FE-77AD6D9EDF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354" y="683300"/>
            <a:ext cx="3785856" cy="81848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89" y="1527110"/>
            <a:ext cx="3733018" cy="1937195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1AF3CBEF-DE83-4C8F-B316-CCE2BEEE53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310" y="704898"/>
            <a:ext cx="3880639" cy="81848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593" y="1502872"/>
            <a:ext cx="3764626" cy="195188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C86B8E9-4D13-4C01-B762-FF0ED8FCC58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7209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1495427" y="3044279"/>
            <a:ext cx="92011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데이터 편집 </a:t>
            </a:r>
            <a:r>
              <a:rPr lang="en-US" altLang="ko-KR" sz="4400" b="1" dirty="0">
                <a:latin typeface="+mj-ea"/>
                <a:ea typeface="+mj-ea"/>
              </a:rPr>
              <a:t>( </a:t>
            </a:r>
            <a:r>
              <a:rPr lang="ko-KR" altLang="en-US" sz="4400" b="1" dirty="0">
                <a:latin typeface="+mj-ea"/>
                <a:ea typeface="+mj-ea"/>
              </a:rPr>
              <a:t>수위 </a:t>
            </a:r>
            <a:r>
              <a:rPr lang="en-US" altLang="ko-KR" sz="4400" b="1" dirty="0">
                <a:latin typeface="+mj-ea"/>
                <a:ea typeface="+mj-ea"/>
              </a:rPr>
              <a:t>X 0.98 , x 1.02 )</a:t>
            </a:r>
          </a:p>
        </p:txBody>
      </p:sp>
    </p:spTree>
    <p:extLst>
      <p:ext uri="{BB962C8B-B14F-4D97-AF65-F5344CB8AC3E}">
        <p14:creationId xmlns:p14="http://schemas.microsoft.com/office/powerpoint/2010/main" val="23560086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15289418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데이터 편집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수위 </a:t>
            </a:r>
            <a:r>
              <a:rPr lang="en-US" altLang="ko-KR" sz="2000" b="1" dirty="0">
                <a:latin typeface="+mj-ea"/>
              </a:rPr>
              <a:t>X 0.98 )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714196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0.8492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0.8492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0.1350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0.1785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0.8579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0.0867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0.1858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0.2944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0.0283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0.1397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0.1682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0.7718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0.1787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0.8814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0.1596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0.3995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0.8244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0.0142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0.0692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0.5221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0.0227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0.1072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0.1507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0.7627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0.1369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0.1542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0.9736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0.0856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0.1103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0.4144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0.0412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0.1441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0.7718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0.2813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/dg)_0.98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편향 보정 효과는 있음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기준으로는 손해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- 6.2%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- 1.5%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43275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6201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0.4144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0.7627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0.8244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7" y="1254012"/>
            <a:ext cx="3248656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7" y="3240449"/>
            <a:ext cx="3248655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36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1254012"/>
            <a:ext cx="322745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3240449"/>
            <a:ext cx="322745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0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0.8814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0.2864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0.8492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E14F8A6-20CE-49E2-BD79-C59F90EEE76A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/dg)_0.98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475043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0.7718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0.9736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0.5221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3240449"/>
            <a:ext cx="319289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79833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9" y="5271474"/>
            <a:ext cx="319289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0.8246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0.7718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0.8579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1E6732-9D3A-4CB5-BA62-8F52B8805B67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/dg)_0.98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51023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1"/>
            <a:ext cx="9499405" cy="342084"/>
            <a:chOff x="1692739" y="4630163"/>
            <a:chExt cx="8869170" cy="291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</p:grpSp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05" y="4515232"/>
            <a:ext cx="3764611" cy="197873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955" y="4566800"/>
            <a:ext cx="3780087" cy="1980966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863" y="4555710"/>
            <a:ext cx="3780087" cy="1969359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67" y="1462213"/>
            <a:ext cx="3780087" cy="196162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89" y="1519468"/>
            <a:ext cx="3733018" cy="1952479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863" y="1500872"/>
            <a:ext cx="3780087" cy="1955884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FC3312A-6466-41B6-A056-1E0E902D64E4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/dg)_0.98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20FA71B5-6683-4D20-A04D-07AA336F48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3744875"/>
            <a:ext cx="3782428" cy="818481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177F3AD2-C58A-4CC3-A360-27AEAB0535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045" y="3746384"/>
            <a:ext cx="3779997" cy="81848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53AA5800-F9A0-4BCE-B4FF-A0250BF353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791" y="3766473"/>
            <a:ext cx="3772303" cy="81848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C2D20426-20C3-4CED-88B6-BC5F514DBD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683300"/>
            <a:ext cx="3746772" cy="818481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BED6E6F9-5228-4AC6-93F7-F2627FFD348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735" y="684809"/>
            <a:ext cx="3746772" cy="818481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B4EF2B9A-5878-42F6-B4B7-D9C5544A6E2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646" y="704898"/>
            <a:ext cx="3772303" cy="81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556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데이터 편집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수위 </a:t>
            </a:r>
            <a:r>
              <a:rPr lang="en-US" altLang="ko-KR" sz="2000" b="1" dirty="0">
                <a:latin typeface="+mj-ea"/>
              </a:rPr>
              <a:t>X 1.02 )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150922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0.7922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0.0439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0.1592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0.2096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0.8688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0.0800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0.1656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0.2829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0.0390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0.1680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0.1976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0.5974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0.0563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0.2374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0.8994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0.1677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0.8086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0.1741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0.3343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0.4173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0.8400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0.1137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0.4905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0.1556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0.8186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0.1220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0.1348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0.9726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0.1124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0.4433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0.0392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0.7639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0.2862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/dg)_1.02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과대보정 → 분산 증가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peak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근처에서 불안정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- 11.1%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▼저하   </a:t>
            </a:r>
            <a:r>
              <a:rPr lang="en-US" altLang="ko-KR" dirty="0"/>
              <a:t>( - 6.1%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39371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0.4433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0.8186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0.8400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696" y="3240449"/>
            <a:ext cx="315910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5" y="5271474"/>
            <a:ext cx="3159108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0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4" y="5271474"/>
            <a:ext cx="3159108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0.8994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0.0156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0.7922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5D1288C-6DC8-48E0-BC34-82E5CF448E5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/dg)_1.02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219059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0.7639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0.9726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0.4905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0449"/>
            <a:ext cx="319289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5271474"/>
            <a:ext cx="3195542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0.8086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0.5974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0.8688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BD50C4-77EC-4577-B0B7-2672EF83669E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/dg)_1.02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057397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1"/>
            <a:ext cx="9499405" cy="342084"/>
            <a:chOff x="1692739" y="4630163"/>
            <a:chExt cx="8869170" cy="291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</p:grpSp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05" y="4514217"/>
            <a:ext cx="3764611" cy="198076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955" y="4575543"/>
            <a:ext cx="3780087" cy="196348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863" y="4561444"/>
            <a:ext cx="3780087" cy="1957891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67" y="1451526"/>
            <a:ext cx="3780087" cy="1982996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89" y="1518558"/>
            <a:ext cx="3733018" cy="1954299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863" y="1502872"/>
            <a:ext cx="3780087" cy="195188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A872D2D-0DFB-4925-A8F6-03ABA00BA53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/dg)_1.02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0356098-3BBE-4C54-9376-BA0D409AAA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3744875"/>
            <a:ext cx="3782428" cy="818481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150473E-3EBE-4365-A8AE-791492A315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045" y="3746384"/>
            <a:ext cx="3779997" cy="81848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A2177A64-151D-4C20-8DD4-30C2EB583E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791" y="3766473"/>
            <a:ext cx="3772303" cy="81848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40E9B05-1C22-48BF-A04F-7DFA46D2D2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683300"/>
            <a:ext cx="3746772" cy="81848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C83C5E7-9D4C-4B7A-8ACF-DEC6874434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735" y="684809"/>
            <a:ext cx="3746772" cy="81848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20645517-19CE-43BF-9E60-3283D9660C1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646" y="704898"/>
            <a:ext cx="3772303" cy="81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776669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8872</TotalTime>
  <Words>4236</Words>
  <Application>Microsoft Office PowerPoint</Application>
  <PresentationFormat>와이드스크린</PresentationFormat>
  <Paragraphs>1578</Paragraphs>
  <Slides>62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69" baseType="lpstr">
      <vt:lpstr>나눔고딕</vt:lpstr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1171</cp:revision>
  <dcterms:created xsi:type="dcterms:W3CDTF">2025-11-18T00:02:37Z</dcterms:created>
  <dcterms:modified xsi:type="dcterms:W3CDTF">2026-01-26T08:57:00Z</dcterms:modified>
</cp:coreProperties>
</file>