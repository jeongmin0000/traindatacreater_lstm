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663" r:id="rId3"/>
    <p:sldId id="671" r:id="rId4"/>
    <p:sldId id="669" r:id="rId5"/>
    <p:sldId id="758" r:id="rId6"/>
    <p:sldId id="759" r:id="rId7"/>
    <p:sldId id="762" r:id="rId8"/>
    <p:sldId id="763" r:id="rId9"/>
    <p:sldId id="757" r:id="rId10"/>
    <p:sldId id="670" r:id="rId11"/>
    <p:sldId id="727" r:id="rId12"/>
    <p:sldId id="755" r:id="rId13"/>
    <p:sldId id="756" r:id="rId14"/>
    <p:sldId id="750" r:id="rId15"/>
    <p:sldId id="752" r:id="rId16"/>
    <p:sldId id="753" r:id="rId17"/>
    <p:sldId id="75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12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2.png"/><Relationship Id="rId3" Type="http://schemas.openxmlformats.org/officeDocument/2006/relationships/image" Target="../media/image30.png"/><Relationship Id="rId7" Type="http://schemas.openxmlformats.org/officeDocument/2006/relationships/image" Target="../media/image39.png"/><Relationship Id="rId12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1C422-1565-448B-BCD7-AE68451E1256}"/>
              </a:ext>
            </a:extLst>
          </p:cNvPr>
          <p:cNvSpPr txBox="1"/>
          <p:nvPr/>
        </p:nvSpPr>
        <p:spPr>
          <a:xfrm>
            <a:off x="913205" y="1938868"/>
            <a:ext cx="10365590" cy="4445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600" b="1" dirty="0">
                <a:latin typeface="+mj-ea"/>
              </a:rPr>
              <a:t>2020</a:t>
            </a:r>
            <a:r>
              <a:rPr lang="ko-KR" altLang="en-US" sz="1600" b="1" dirty="0">
                <a:latin typeface="+mj-ea"/>
              </a:rPr>
              <a:t>년 이후 관심수위 데이터를 학습한 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기존 결과 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( 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예측 데이터 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: 22.07.12 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→ 학습에서 제외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 )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 보다</a:t>
            </a:r>
            <a:r>
              <a:rPr lang="en-US" altLang="ko-KR" sz="1600" b="1" dirty="0">
                <a:latin typeface="+mj-ea"/>
              </a:rPr>
              <a:t> 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atin typeface="+mj-ea"/>
            </a:endParaRPr>
          </a:p>
          <a:p>
            <a:pPr marL="342900" indent="-342900" algn="ctr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600" b="1" dirty="0">
                <a:latin typeface="+mj-ea"/>
              </a:rPr>
              <a:t>2020</a:t>
            </a:r>
            <a:r>
              <a:rPr lang="ko-KR" altLang="en-US" sz="1600" b="1" dirty="0">
                <a:latin typeface="+mj-ea"/>
              </a:rPr>
              <a:t>년 이후 관심수위 데이터를 학습한 기존 모델을 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예측 할 때만 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22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년 예측 데이터를 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22.09.16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으로 변경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1600" b="1" dirty="0">
                <a:latin typeface="+mj-ea"/>
              </a:rPr>
              <a:t>	 ( </a:t>
            </a:r>
            <a:r>
              <a:rPr lang="ko-KR" altLang="en-US" sz="1600" b="1" dirty="0">
                <a:latin typeface="+mj-ea"/>
              </a:rPr>
              <a:t>학습데이터는 </a:t>
            </a:r>
            <a:r>
              <a:rPr lang="en-US" altLang="ko-KR" sz="1600" b="1" dirty="0">
                <a:latin typeface="+mj-ea"/>
              </a:rPr>
              <a:t>26</a:t>
            </a:r>
            <a:r>
              <a:rPr lang="ko-KR" altLang="en-US" sz="1600" b="1" dirty="0">
                <a:latin typeface="+mj-ea"/>
              </a:rPr>
              <a:t>개 검증에 </a:t>
            </a:r>
            <a:r>
              <a:rPr lang="en-US" altLang="ko-KR" sz="1600" b="1" dirty="0">
                <a:latin typeface="+mj-ea"/>
              </a:rPr>
              <a:t>7</a:t>
            </a:r>
            <a:r>
              <a:rPr lang="ko-KR" altLang="en-US" sz="1600" b="1" dirty="0">
                <a:latin typeface="+mj-ea"/>
              </a:rPr>
              <a:t>개 테스트에 </a:t>
            </a:r>
            <a:r>
              <a:rPr lang="en-US" altLang="ko-KR" sz="1600" b="1" dirty="0">
                <a:latin typeface="+mj-ea"/>
              </a:rPr>
              <a:t>3</a:t>
            </a:r>
            <a:r>
              <a:rPr lang="ko-KR" altLang="en-US" sz="1600" b="1" dirty="0">
                <a:latin typeface="+mj-ea"/>
              </a:rPr>
              <a:t>개 를 사용 </a:t>
            </a:r>
            <a:r>
              <a:rPr lang="en-US" altLang="ko-KR" sz="1600" b="1" dirty="0">
                <a:latin typeface="+mj-ea"/>
              </a:rPr>
              <a:t>)</a:t>
            </a:r>
          </a:p>
          <a:p>
            <a:pPr marL="342900" indent="-342900" algn="ctr">
              <a:lnSpc>
                <a:spcPct val="200000"/>
              </a:lnSpc>
              <a:buFont typeface="+mj-lt"/>
              <a:buAutoNum type="arabicPeriod"/>
            </a:pPr>
            <a:endParaRPr lang="en-US" altLang="ko-KR" sz="1600" b="1" dirty="0">
              <a:latin typeface="+mj-ea"/>
            </a:endParaRPr>
          </a:p>
          <a:p>
            <a:pPr marL="342900" indent="-342900" algn="ctr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600" b="1" dirty="0">
                <a:latin typeface="+mj-ea"/>
              </a:rPr>
              <a:t>2020</a:t>
            </a:r>
            <a:r>
              <a:rPr lang="ko-KR" altLang="en-US" sz="1600" b="1" dirty="0">
                <a:latin typeface="+mj-ea"/>
              </a:rPr>
              <a:t>년 이후 관심수위 데이터 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학습 할 때 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22.07.12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를 같이 학습하고 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22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년 예측 데이터를 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22.09.16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으로 변경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1600" b="1" dirty="0">
                <a:latin typeface="+mj-ea"/>
              </a:rPr>
              <a:t>( </a:t>
            </a:r>
            <a:r>
              <a:rPr lang="ko-KR" altLang="en-US" sz="1600" b="1" dirty="0">
                <a:latin typeface="+mj-ea"/>
              </a:rPr>
              <a:t>학습데이터는 </a:t>
            </a:r>
            <a:r>
              <a:rPr lang="en-US" altLang="ko-KR" sz="1600" b="1" dirty="0">
                <a:latin typeface="+mj-ea"/>
              </a:rPr>
              <a:t>25</a:t>
            </a:r>
            <a:r>
              <a:rPr lang="ko-KR" altLang="en-US" sz="1600" b="1" dirty="0">
                <a:latin typeface="+mj-ea"/>
              </a:rPr>
              <a:t>개 검증에 </a:t>
            </a:r>
            <a:r>
              <a:rPr lang="en-US" altLang="ko-KR" sz="1600" b="1" dirty="0">
                <a:latin typeface="+mj-ea"/>
              </a:rPr>
              <a:t>7</a:t>
            </a:r>
            <a:r>
              <a:rPr lang="ko-KR" altLang="en-US" sz="1600" b="1" dirty="0">
                <a:latin typeface="+mj-ea"/>
              </a:rPr>
              <a:t>개 테스트에 </a:t>
            </a:r>
            <a:r>
              <a:rPr lang="en-US" altLang="ko-KR" sz="1600" b="1" dirty="0">
                <a:latin typeface="+mj-ea"/>
              </a:rPr>
              <a:t>3</a:t>
            </a:r>
            <a:r>
              <a:rPr lang="ko-KR" altLang="en-US" sz="1600" b="1" dirty="0">
                <a:latin typeface="+mj-ea"/>
              </a:rPr>
              <a:t>개 를 사용 </a:t>
            </a:r>
            <a:r>
              <a:rPr lang="en-US" altLang="ko-KR" sz="1600" b="1" dirty="0">
                <a:latin typeface="+mj-ea"/>
              </a:rPr>
              <a:t>)</a:t>
            </a:r>
          </a:p>
          <a:p>
            <a:pPr algn="ctr">
              <a:lnSpc>
                <a:spcPct val="200000"/>
              </a:lnSpc>
            </a:pPr>
            <a:endParaRPr lang="en-US" altLang="ko-KR" sz="1600" b="1" dirty="0">
              <a:latin typeface="+mj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→ 성능 개선 효과가 있음</a:t>
            </a:r>
            <a:endParaRPr lang="en-US" altLang="ko-KR" sz="1600" b="1" dirty="0">
              <a:solidFill>
                <a:schemeClr val="accent5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5861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궁내교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R2 </a:t>
            </a:r>
            <a:r>
              <a:rPr lang="ko-KR" altLang="en-US" sz="2000" b="1" dirty="0">
                <a:latin typeface="+mj-ea"/>
              </a:rPr>
              <a:t>비교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최근 패턴 집중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22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testdata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→ 소폭 개선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구성 전략 필요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47DB4F7-2462-44BE-BB98-1F123BE9E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113869"/>
              </p:ext>
            </p:extLst>
          </p:nvPr>
        </p:nvGraphicFramePr>
        <p:xfrm>
          <a:off x="436841" y="3429000"/>
          <a:ext cx="1599819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82740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관심수위</a:t>
                      </a:r>
                      <a:endParaRPr lang="pt-BR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0.9513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-0.8548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0.8751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0.8136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0.8213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0.7835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534A426-D9FC-4ADA-AE30-FDB64376C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97321"/>
              </p:ext>
            </p:extLst>
          </p:nvPr>
        </p:nvGraphicFramePr>
        <p:xfrm>
          <a:off x="4324027" y="3429000"/>
          <a:ext cx="3487674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학습데이터 </a:t>
                      </a:r>
                      <a:r>
                        <a:rPr lang="en-US" altLang="ko-KR" sz="1200" b="1" dirty="0"/>
                        <a:t>26</a:t>
                      </a:r>
                      <a:r>
                        <a:rPr lang="ko-KR" altLang="en-US" sz="1200" b="1" dirty="0"/>
                        <a:t>개 </a:t>
                      </a:r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학습데이터 </a:t>
                      </a:r>
                      <a:r>
                        <a:rPr lang="en-US" altLang="ko-KR" sz="1200" b="1" dirty="0"/>
                        <a:t>27</a:t>
                      </a:r>
                      <a:r>
                        <a:rPr lang="ko-KR" altLang="en-US" sz="1200" b="1" dirty="0"/>
                        <a:t>개 </a:t>
                      </a:r>
                      <a:endParaRPr lang="pt-BR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0.7867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0.9083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0.7582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0.5427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0.8498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0.8559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0.8676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0.7590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0.9540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0.5879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0.5575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F397FB-3FE6-4BC4-87D4-5B95EF5EAE56}"/>
              </a:ext>
            </a:extLst>
          </p:cNvPr>
          <p:cNvSpPr/>
          <p:nvPr/>
        </p:nvSpPr>
        <p:spPr>
          <a:xfrm>
            <a:off x="436841" y="4529666"/>
            <a:ext cx="11318318" cy="364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2161567-86C0-4660-AF04-8D45ED95E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052162"/>
              </p:ext>
            </p:extLst>
          </p:nvPr>
        </p:nvGraphicFramePr>
        <p:xfrm>
          <a:off x="8267485" y="3429000"/>
          <a:ext cx="3487674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학습데이터 </a:t>
                      </a:r>
                      <a:r>
                        <a:rPr lang="en-US" altLang="ko-KR" sz="1200" b="1" dirty="0"/>
                        <a:t>25</a:t>
                      </a:r>
                      <a:r>
                        <a:rPr lang="ko-KR" altLang="en-US" sz="1200" b="1" dirty="0"/>
                        <a:t>개 </a:t>
                      </a:r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학습데이터 </a:t>
                      </a:r>
                      <a:r>
                        <a:rPr lang="en-US" altLang="ko-KR" sz="1200" b="1" dirty="0"/>
                        <a:t>26</a:t>
                      </a:r>
                      <a:r>
                        <a:rPr lang="ko-KR" altLang="en-US" sz="1200" b="1" dirty="0"/>
                        <a:t>개 </a:t>
                      </a:r>
                      <a:endParaRPr lang="pt-BR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0.7813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0.9212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22.09.16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0.6915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0.7218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0.8567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0.9074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0.7770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0.8520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0.8692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0.6983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0.8023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0.8277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48F5993-26BF-4A47-9FC3-5A238716F02D}"/>
              </a:ext>
            </a:extLst>
          </p:cNvPr>
          <p:cNvSpPr txBox="1"/>
          <p:nvPr/>
        </p:nvSpPr>
        <p:spPr>
          <a:xfrm>
            <a:off x="436841" y="3118134"/>
            <a:ext cx="1958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ea"/>
              </a:rPr>
              <a:t>관심수위 </a:t>
            </a:r>
            <a:r>
              <a:rPr lang="en-US" altLang="ko-KR" sz="1200" b="1" dirty="0">
                <a:latin typeface="+mj-ea"/>
              </a:rPr>
              <a:t>( 20</a:t>
            </a:r>
            <a:r>
              <a:rPr lang="ko-KR" altLang="en-US" sz="1200" b="1" dirty="0">
                <a:latin typeface="+mj-ea"/>
              </a:rPr>
              <a:t>년 이후</a:t>
            </a:r>
            <a:r>
              <a:rPr lang="en-US" altLang="ko-KR" sz="1200" b="1" dirty="0">
                <a:latin typeface="+mj-ea"/>
              </a:rPr>
              <a:t> 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D0817-AFDC-42FA-99FC-072C5EFF1246}"/>
              </a:ext>
            </a:extLst>
          </p:cNvPr>
          <p:cNvSpPr txBox="1"/>
          <p:nvPr/>
        </p:nvSpPr>
        <p:spPr>
          <a:xfrm>
            <a:off x="470683" y="2650067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-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en-US" altLang="ko-KR" sz="1200" b="1" dirty="0">
                <a:latin typeface="+mj-ea"/>
              </a:rPr>
              <a:t>R2 </a:t>
            </a:r>
            <a:r>
              <a:rPr lang="ko-KR" altLang="en-US" sz="1200" b="1" dirty="0">
                <a:latin typeface="+mj-ea"/>
              </a:rPr>
              <a:t>평가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17009-0F3A-418C-9699-FB44E033DF60}"/>
              </a:ext>
            </a:extLst>
          </p:cNvPr>
          <p:cNvSpPr txBox="1"/>
          <p:nvPr/>
        </p:nvSpPr>
        <p:spPr>
          <a:xfrm>
            <a:off x="4320220" y="3118133"/>
            <a:ext cx="2214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+</a:t>
            </a:r>
            <a:r>
              <a:rPr lang="ko-KR" altLang="en-US" sz="1200" b="1" dirty="0">
                <a:latin typeface="+mj-ea"/>
              </a:rPr>
              <a:t> 학습데이터 </a:t>
            </a:r>
            <a:r>
              <a:rPr lang="en-US" altLang="ko-KR" sz="1200" b="1" dirty="0">
                <a:latin typeface="+mj-ea"/>
              </a:rPr>
              <a:t>22</a:t>
            </a:r>
            <a:r>
              <a:rPr lang="ko-KR" altLang="en-US" sz="1200" b="1" dirty="0">
                <a:latin typeface="+mj-ea"/>
              </a:rPr>
              <a:t>년 </a:t>
            </a:r>
            <a:r>
              <a:rPr lang="en-US" altLang="ko-KR" sz="1200" b="1" dirty="0">
                <a:latin typeface="+mj-ea"/>
              </a:rPr>
              <a:t>8</a:t>
            </a:r>
            <a:r>
              <a:rPr lang="ko-KR" altLang="en-US" sz="1200" b="1" dirty="0">
                <a:latin typeface="+mj-ea"/>
              </a:rPr>
              <a:t>월</a:t>
            </a:r>
            <a:r>
              <a:rPr lang="en-US" altLang="ko-KR" sz="1200" b="1" dirty="0">
                <a:latin typeface="+mj-ea"/>
              </a:rPr>
              <a:t>14</a:t>
            </a:r>
            <a:r>
              <a:rPr lang="ko-KR" altLang="en-US" sz="1200" b="1" dirty="0">
                <a:latin typeface="+mj-ea"/>
              </a:rPr>
              <a:t>일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60F889-2BD9-48DA-AF85-481ACEB396B9}"/>
              </a:ext>
            </a:extLst>
          </p:cNvPr>
          <p:cNvSpPr txBox="1"/>
          <p:nvPr/>
        </p:nvSpPr>
        <p:spPr>
          <a:xfrm>
            <a:off x="8267485" y="3118133"/>
            <a:ext cx="2214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+</a:t>
            </a:r>
            <a:r>
              <a:rPr lang="ko-KR" altLang="en-US" sz="1200" b="1" dirty="0">
                <a:latin typeface="+mj-ea"/>
              </a:rPr>
              <a:t> 학습데이터 </a:t>
            </a:r>
            <a:r>
              <a:rPr lang="en-US" altLang="ko-KR" sz="1200" b="1" dirty="0">
                <a:latin typeface="+mj-ea"/>
              </a:rPr>
              <a:t>22</a:t>
            </a:r>
            <a:r>
              <a:rPr lang="ko-KR" altLang="en-US" sz="1200" b="1" dirty="0">
                <a:latin typeface="+mj-ea"/>
              </a:rPr>
              <a:t>년 </a:t>
            </a:r>
            <a:r>
              <a:rPr lang="en-US" altLang="ko-KR" sz="1200" b="1" dirty="0">
                <a:latin typeface="+mj-ea"/>
              </a:rPr>
              <a:t>9</a:t>
            </a:r>
            <a:r>
              <a:rPr lang="ko-KR" altLang="en-US" sz="1200" b="1" dirty="0">
                <a:latin typeface="+mj-ea"/>
              </a:rPr>
              <a:t>월</a:t>
            </a:r>
            <a:r>
              <a:rPr lang="en-US" altLang="ko-KR" sz="1200" b="1" dirty="0">
                <a:latin typeface="+mj-ea"/>
              </a:rPr>
              <a:t>16</a:t>
            </a:r>
            <a:r>
              <a:rPr lang="ko-KR" altLang="en-US" sz="1200" b="1" dirty="0">
                <a:latin typeface="+mj-ea"/>
              </a:rPr>
              <a:t>일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021D6C-1868-4B9D-9978-4CDF2A9AAB66}"/>
              </a:ext>
            </a:extLst>
          </p:cNvPr>
          <p:cNvSpPr txBox="1"/>
          <p:nvPr/>
        </p:nvSpPr>
        <p:spPr>
          <a:xfrm>
            <a:off x="-89792" y="4565077"/>
            <a:ext cx="4961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+mj-ea"/>
              </a:rPr>
              <a:t>변경</a:t>
            </a:r>
            <a:endParaRPr lang="en-US" altLang="ko-KR" sz="1000" b="1" dirty="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10F950-3E36-4F7F-987B-53C13A3D89BE}"/>
              </a:ext>
            </a:extLst>
          </p:cNvPr>
          <p:cNvSpPr txBox="1"/>
          <p:nvPr/>
        </p:nvSpPr>
        <p:spPr>
          <a:xfrm>
            <a:off x="10187279" y="6509076"/>
            <a:ext cx="698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1"/>
                </a:solidFill>
                <a:latin typeface="+mj-ea"/>
              </a:rPr>
              <a:t>Best</a:t>
            </a:r>
            <a:r>
              <a:rPr lang="ko-KR" altLang="en-US" sz="1000" b="1" dirty="0">
                <a:solidFill>
                  <a:schemeClr val="accent1"/>
                </a:solidFill>
                <a:latin typeface="+mj-ea"/>
              </a:rPr>
              <a:t> </a:t>
            </a:r>
            <a:r>
              <a:rPr lang="en-US" altLang="ko-KR" sz="1000" b="1" dirty="0">
                <a:solidFill>
                  <a:schemeClr val="accent1"/>
                </a:solidFill>
                <a:latin typeface="+mj-ea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D57AC8-AE2B-4454-8AE0-CC2D1922BFA7}"/>
              </a:ext>
            </a:extLst>
          </p:cNvPr>
          <p:cNvSpPr txBox="1"/>
          <p:nvPr/>
        </p:nvSpPr>
        <p:spPr>
          <a:xfrm>
            <a:off x="760998" y="6509076"/>
            <a:ext cx="698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accent1"/>
                </a:solidFill>
                <a:latin typeface="+mj-ea"/>
              </a:rPr>
              <a:t>기존</a:t>
            </a:r>
            <a:endParaRPr lang="en-US" altLang="ko-KR" sz="1000" b="1" dirty="0">
              <a:solidFill>
                <a:schemeClr val="accent1"/>
              </a:solidFill>
              <a:latin typeface="+mj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2F830F8-4860-485F-964B-07FF51DDCF49}"/>
              </a:ext>
            </a:extLst>
          </p:cNvPr>
          <p:cNvSpPr/>
          <p:nvPr/>
        </p:nvSpPr>
        <p:spPr>
          <a:xfrm>
            <a:off x="1236750" y="3784598"/>
            <a:ext cx="799909" cy="259334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C09B9E6-D235-470F-BD29-6EB53273BD68}"/>
              </a:ext>
            </a:extLst>
          </p:cNvPr>
          <p:cNvSpPr/>
          <p:nvPr/>
        </p:nvSpPr>
        <p:spPr>
          <a:xfrm>
            <a:off x="10424461" y="3784598"/>
            <a:ext cx="1330698" cy="259334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2FFEB7F0-C933-452A-9993-B5674E6E8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725823"/>
              </p:ext>
            </p:extLst>
          </p:nvPr>
        </p:nvGraphicFramePr>
        <p:xfrm>
          <a:off x="2264618" y="3429000"/>
          <a:ext cx="167760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905192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관심수위</a:t>
                      </a:r>
                      <a:r>
                        <a:rPr lang="en-US" altLang="ko-KR" sz="1200" b="1" dirty="0"/>
                        <a:t>2</a:t>
                      </a:r>
                      <a:endParaRPr lang="pt-BR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0.9513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22.09.16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0.9318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0.8751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0.8136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0.8213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0.7835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F28967-0B82-4F92-9EF2-2172376DF311}"/>
              </a:ext>
            </a:extLst>
          </p:cNvPr>
          <p:cNvSpPr/>
          <p:nvPr/>
        </p:nvSpPr>
        <p:spPr>
          <a:xfrm>
            <a:off x="3069188" y="3784598"/>
            <a:ext cx="873036" cy="259334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AFB56C-2099-4C57-9F2A-4795455E4E79}"/>
              </a:ext>
            </a:extLst>
          </p:cNvPr>
          <p:cNvSpPr txBox="1"/>
          <p:nvPr/>
        </p:nvSpPr>
        <p:spPr>
          <a:xfrm>
            <a:off x="2593503" y="6509077"/>
            <a:ext cx="698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1"/>
                </a:solidFill>
                <a:latin typeface="+mj-ea"/>
              </a:rPr>
              <a:t>Best</a:t>
            </a:r>
            <a:r>
              <a:rPr lang="ko-KR" altLang="en-US" sz="1000" b="1" dirty="0">
                <a:solidFill>
                  <a:schemeClr val="accent1"/>
                </a:solidFill>
                <a:latin typeface="+mj-ea"/>
              </a:rPr>
              <a:t> </a:t>
            </a:r>
            <a:r>
              <a:rPr lang="en-US" altLang="ko-KR" sz="1000" b="1" dirty="0">
                <a:solidFill>
                  <a:schemeClr val="accent1"/>
                </a:solidFill>
                <a:latin typeface="+mj-ea"/>
              </a:rPr>
              <a:t>1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CB937F0-2A56-4F08-BD8C-2B558B97FCE3}"/>
              </a:ext>
            </a:extLst>
          </p:cNvPr>
          <p:cNvCxnSpPr>
            <a:cxnSpLocks/>
          </p:cNvCxnSpPr>
          <p:nvPr/>
        </p:nvCxnSpPr>
        <p:spPr>
          <a:xfrm>
            <a:off x="4114800" y="3183467"/>
            <a:ext cx="0" cy="3194473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AC308CE-191C-48F3-9CB1-D6328C9FD726}"/>
              </a:ext>
            </a:extLst>
          </p:cNvPr>
          <p:cNvCxnSpPr>
            <a:cxnSpLocks/>
          </p:cNvCxnSpPr>
          <p:nvPr/>
        </p:nvCxnSpPr>
        <p:spPr>
          <a:xfrm>
            <a:off x="8043332" y="3183467"/>
            <a:ext cx="0" cy="3194473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9F1B96A-11E9-4C3B-84DB-0B3019DDA896}"/>
              </a:ext>
            </a:extLst>
          </p:cNvPr>
          <p:cNvSpPr txBox="1"/>
          <p:nvPr/>
        </p:nvSpPr>
        <p:spPr>
          <a:xfrm>
            <a:off x="1010707" y="6509076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accent5"/>
                </a:solidFill>
                <a:latin typeface="+mj-ea"/>
              </a:rPr>
              <a:t>평균 </a:t>
            </a:r>
            <a:r>
              <a:rPr lang="en-US" altLang="ko-KR" sz="1000" b="1" dirty="0">
                <a:solidFill>
                  <a:schemeClr val="accent5"/>
                </a:solidFill>
                <a:latin typeface="+mj-ea"/>
              </a:rPr>
              <a:t>: 0.57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50B203-3AE3-4AFC-83BF-87EAC468F767}"/>
              </a:ext>
            </a:extLst>
          </p:cNvPr>
          <p:cNvSpPr txBox="1"/>
          <p:nvPr/>
        </p:nvSpPr>
        <p:spPr>
          <a:xfrm>
            <a:off x="2911060" y="6509076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accent5"/>
                </a:solidFill>
                <a:latin typeface="+mj-ea"/>
              </a:rPr>
              <a:t>평균 </a:t>
            </a:r>
            <a:r>
              <a:rPr lang="en-US" altLang="ko-KR" sz="1000" b="1" dirty="0">
                <a:solidFill>
                  <a:schemeClr val="accent5"/>
                </a:solidFill>
                <a:latin typeface="+mj-ea"/>
              </a:rPr>
              <a:t>: 0.86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79008C-C02B-41DF-94F5-88D39125BFC5}"/>
              </a:ext>
            </a:extLst>
          </p:cNvPr>
          <p:cNvSpPr txBox="1"/>
          <p:nvPr/>
        </p:nvSpPr>
        <p:spPr>
          <a:xfrm>
            <a:off x="5222903" y="6509077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03649A-73EB-46AA-BB4A-331D9D50AB07}"/>
              </a:ext>
            </a:extLst>
          </p:cNvPr>
          <p:cNvSpPr txBox="1"/>
          <p:nvPr/>
        </p:nvSpPr>
        <p:spPr>
          <a:xfrm>
            <a:off x="6593179" y="6509077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B13F04-8A5F-42ED-AB63-CD53292F9A8A}"/>
              </a:ext>
            </a:extLst>
          </p:cNvPr>
          <p:cNvSpPr txBox="1"/>
          <p:nvPr/>
        </p:nvSpPr>
        <p:spPr>
          <a:xfrm>
            <a:off x="9166361" y="6509077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5CAE65-575F-4F52-BBA6-A0D2909A1347}"/>
              </a:ext>
            </a:extLst>
          </p:cNvPr>
          <p:cNvSpPr txBox="1"/>
          <p:nvPr/>
        </p:nvSpPr>
        <p:spPr>
          <a:xfrm>
            <a:off x="10536637" y="6498322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accent5"/>
                </a:solidFill>
                <a:latin typeface="+mj-ea"/>
              </a:rPr>
              <a:t>평균 </a:t>
            </a:r>
            <a:r>
              <a:rPr lang="en-US" altLang="ko-KR" sz="1000" b="1" dirty="0">
                <a:solidFill>
                  <a:schemeClr val="accent5"/>
                </a:solidFill>
                <a:latin typeface="+mj-ea"/>
              </a:rPr>
              <a:t>: 0.82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A2E2A-BEE8-4F92-9A6D-021E9C1F18C4}"/>
              </a:ext>
            </a:extLst>
          </p:cNvPr>
          <p:cNvSpPr txBox="1"/>
          <p:nvPr/>
        </p:nvSpPr>
        <p:spPr>
          <a:xfrm>
            <a:off x="604096" y="509326"/>
            <a:ext cx="3074353" cy="303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평균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소수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자리 반올림 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93379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2705725"/>
            <a:ext cx="6841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</a:rPr>
              <a:t>관심수위 </a:t>
            </a:r>
            <a:r>
              <a:rPr lang="en-US" altLang="ko-KR" sz="4400" b="1" dirty="0">
                <a:latin typeface="+mj-ea"/>
                <a:ea typeface="+mj-ea"/>
              </a:rPr>
              <a:t>+</a:t>
            </a:r>
          </a:p>
          <a:p>
            <a:pPr algn="ctr"/>
            <a:r>
              <a:rPr lang="en-US" altLang="ko-KR" sz="4400" b="1" dirty="0">
                <a:latin typeface="+mj-ea"/>
                <a:ea typeface="+mj-ea"/>
              </a:rPr>
              <a:t>2020</a:t>
            </a:r>
            <a:r>
              <a:rPr lang="ko-KR" altLang="en-US" sz="4400" b="1" dirty="0">
                <a:latin typeface="+mj-ea"/>
                <a:ea typeface="+mj-ea"/>
              </a:rPr>
              <a:t>년 이후 데이터 학습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742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5168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latin typeface="+mj-ea"/>
                <a:ea typeface="+mj-ea"/>
              </a:rPr>
              <a:t>학습데이터 관심수위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35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76543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-0.8548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B2DB36-E14B-4C04-905B-301A07101D5D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0.57</a:t>
            </a:r>
          </a:p>
        </p:txBody>
      </p:sp>
    </p:spTree>
    <p:extLst>
      <p:ext uri="{BB962C8B-B14F-4D97-AF65-F5344CB8AC3E}">
        <p14:creationId xmlns:p14="http://schemas.microsoft.com/office/powerpoint/2010/main" val="175504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35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中 </a:t>
            </a:r>
            <a:r>
              <a:rPr lang="en-US" altLang="ko-KR" sz="1600" dirty="0"/>
              <a:t>3</a:t>
            </a:r>
            <a:r>
              <a:rPr lang="ko-KR" altLang="en-US" sz="1600" dirty="0"/>
              <a:t>개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  <a:r>
              <a:rPr lang="en-US" altLang="ko-KR" sz="1600" dirty="0"/>
              <a:t>+ </a:t>
            </a:r>
            <a:r>
              <a:rPr lang="ko-KR" altLang="en-US" sz="1600" dirty="0"/>
              <a:t>그 외 </a:t>
            </a:r>
            <a:r>
              <a:rPr lang="en-US" altLang="ko-KR" sz="1600" dirty="0"/>
              <a:t>22</a:t>
            </a:r>
            <a:r>
              <a:rPr lang="ko-KR" altLang="en-US" sz="1600" dirty="0"/>
              <a:t>년 </a:t>
            </a:r>
            <a:r>
              <a:rPr lang="en-US" altLang="ko-KR" sz="1600" dirty="0"/>
              <a:t>1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6869FA-2F00-4FCB-AA59-1D8EB41723D6}"/>
              </a:ext>
            </a:extLst>
          </p:cNvPr>
          <p:cNvSpPr txBox="1"/>
          <p:nvPr/>
        </p:nvSpPr>
        <p:spPr>
          <a:xfrm>
            <a:off x="622386" y="850612"/>
            <a:ext cx="5168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 관심수위 </a:t>
            </a:r>
            <a:r>
              <a:rPr lang="en-US" altLang="ko-KR" sz="3200" b="1" dirty="0">
                <a:latin typeface="+mj-ea"/>
                <a:ea typeface="+mj-ea"/>
              </a:rPr>
              <a:t>2</a:t>
            </a:r>
            <a:endParaRPr lang="ko-KR" altLang="en-US" sz="1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77395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017" y="2689402"/>
            <a:ext cx="3173062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220916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0.9318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EA4F4F-1E2E-45F9-A412-3B32847A9788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0.86</a:t>
            </a:r>
          </a:p>
        </p:txBody>
      </p:sp>
    </p:spTree>
    <p:extLst>
      <p:ext uri="{BB962C8B-B14F-4D97-AF65-F5344CB8AC3E}">
        <p14:creationId xmlns:p14="http://schemas.microsoft.com/office/powerpoint/2010/main" val="2764186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</a:rPr>
              <a:t>+ 22</a:t>
            </a:r>
            <a:r>
              <a:rPr lang="ko-KR" altLang="en-US" sz="4400" b="1" dirty="0">
                <a:latin typeface="+mj-ea"/>
              </a:rPr>
              <a:t>년 학습데이터 변경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91040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5" y="850612"/>
            <a:ext cx="6464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</a:rPr>
              <a:t>학습데이터 </a:t>
            </a:r>
            <a:r>
              <a:rPr lang="en-US" altLang="ko-KR" sz="3200" b="1" dirty="0">
                <a:latin typeface="+mj-ea"/>
              </a:rPr>
              <a:t>22</a:t>
            </a:r>
            <a:r>
              <a:rPr lang="ko-KR" altLang="en-US" sz="3200" b="1" dirty="0">
                <a:latin typeface="+mj-ea"/>
              </a:rPr>
              <a:t>년 </a:t>
            </a:r>
            <a:r>
              <a:rPr lang="en-US" altLang="ko-KR" sz="3200" b="1" dirty="0">
                <a:latin typeface="+mj-ea"/>
              </a:rPr>
              <a:t>8</a:t>
            </a:r>
            <a:r>
              <a:rPr lang="ko-KR" altLang="en-US" sz="3200" b="1" dirty="0">
                <a:latin typeface="+mj-ea"/>
              </a:rPr>
              <a:t>월</a:t>
            </a:r>
            <a:r>
              <a:rPr lang="en-US" altLang="ko-KR" sz="3200" b="1" dirty="0">
                <a:latin typeface="+mj-ea"/>
              </a:rPr>
              <a:t>14</a:t>
            </a:r>
            <a:r>
              <a:rPr lang="ko-KR" altLang="en-US" sz="3200" b="1" dirty="0">
                <a:latin typeface="+mj-ea"/>
              </a:rPr>
              <a:t>일 </a:t>
            </a:r>
            <a:r>
              <a:rPr lang="en-US" altLang="ko-KR" sz="3200" b="1" dirty="0">
                <a:latin typeface="+mj-ea"/>
              </a:rPr>
              <a:t>( 26</a:t>
            </a:r>
            <a:r>
              <a:rPr lang="ko-KR" altLang="en-US" sz="3200" b="1" dirty="0">
                <a:latin typeface="+mj-ea"/>
              </a:rPr>
              <a:t>개</a:t>
            </a:r>
            <a:r>
              <a:rPr lang="en-US" altLang="ko-KR" sz="3200" b="1" dirty="0">
                <a:latin typeface="+mj-ea"/>
              </a:rPr>
              <a:t> )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41</a:t>
            </a:r>
            <a:r>
              <a:rPr lang="ko-KR" altLang="en-US" sz="1600" dirty="0"/>
              <a:t>개 中 </a:t>
            </a:r>
            <a:r>
              <a:rPr lang="en-US" altLang="ko-KR" sz="1600" dirty="0"/>
              <a:t>37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4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( 3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  <a:r>
              <a:rPr lang="en-US" altLang="ko-KR" sz="1600" dirty="0"/>
              <a:t>+ </a:t>
            </a:r>
            <a:r>
              <a:rPr lang="ko-KR" altLang="en-US" sz="1600" dirty="0"/>
              <a:t>그 외 </a:t>
            </a:r>
            <a:r>
              <a:rPr lang="en-US" altLang="ko-KR" sz="1600" dirty="0"/>
              <a:t>22</a:t>
            </a:r>
            <a:r>
              <a:rPr lang="ko-KR" altLang="en-US" sz="1600" dirty="0"/>
              <a:t>년 </a:t>
            </a:r>
            <a:r>
              <a:rPr lang="en-US" altLang="ko-KR" sz="1600" dirty="0"/>
              <a:t>1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20240919 ( 26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20240920 ~ 250917 84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( 4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369075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0.5575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0.9540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0.8676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5271474"/>
            <a:ext cx="31591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49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2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3" y="5271474"/>
            <a:ext cx="31591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220814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0.8498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0.7582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0.7867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/dg)_20_1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FEA3C0-7A92-4E39-8FB9-F822CE6F766B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0.80</a:t>
            </a:r>
          </a:p>
        </p:txBody>
      </p:sp>
    </p:spTree>
    <p:extLst>
      <p:ext uri="{BB962C8B-B14F-4D97-AF65-F5344CB8AC3E}">
        <p14:creationId xmlns:p14="http://schemas.microsoft.com/office/powerpoint/2010/main" val="1421607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250917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5295A1-6C91-41C8-89F5-D3B68BD4814D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41</a:t>
            </a:r>
            <a:r>
              <a:rPr lang="ko-KR" altLang="en-US" sz="1600" dirty="0"/>
              <a:t>개 中 </a:t>
            </a:r>
            <a:r>
              <a:rPr lang="en-US" altLang="ko-KR" sz="1600" dirty="0"/>
              <a:t>37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4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( 3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  <a:r>
              <a:rPr lang="en-US" altLang="ko-KR" sz="1600" dirty="0"/>
              <a:t>+ </a:t>
            </a:r>
            <a:r>
              <a:rPr lang="ko-KR" altLang="en-US" sz="1600" dirty="0"/>
              <a:t>그 외 </a:t>
            </a:r>
            <a:r>
              <a:rPr lang="en-US" altLang="ko-KR" sz="1600" dirty="0"/>
              <a:t>22</a:t>
            </a:r>
            <a:r>
              <a:rPr lang="ko-KR" altLang="en-US" sz="1600" dirty="0"/>
              <a:t>년 </a:t>
            </a:r>
            <a:r>
              <a:rPr lang="en-US" altLang="ko-KR" sz="1600" dirty="0"/>
              <a:t>1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57260E-997A-4BC2-8E3C-8BE056FBC731}"/>
              </a:ext>
            </a:extLst>
          </p:cNvPr>
          <p:cNvSpPr txBox="1"/>
          <p:nvPr/>
        </p:nvSpPr>
        <p:spPr>
          <a:xfrm>
            <a:off x="622385" y="850612"/>
            <a:ext cx="6464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</a:rPr>
              <a:t>학습데이터 </a:t>
            </a:r>
            <a:r>
              <a:rPr lang="en-US" altLang="ko-KR" sz="3200" b="1" dirty="0">
                <a:latin typeface="+mj-ea"/>
              </a:rPr>
              <a:t>22</a:t>
            </a:r>
            <a:r>
              <a:rPr lang="ko-KR" altLang="en-US" sz="3200" b="1" dirty="0">
                <a:latin typeface="+mj-ea"/>
              </a:rPr>
              <a:t>년 </a:t>
            </a:r>
            <a:r>
              <a:rPr lang="en-US" altLang="ko-KR" sz="3200" b="1" dirty="0">
                <a:latin typeface="+mj-ea"/>
              </a:rPr>
              <a:t>8</a:t>
            </a:r>
            <a:r>
              <a:rPr lang="ko-KR" altLang="en-US" sz="3200" b="1" dirty="0">
                <a:latin typeface="+mj-ea"/>
              </a:rPr>
              <a:t>월</a:t>
            </a:r>
            <a:r>
              <a:rPr lang="en-US" altLang="ko-KR" sz="3200" b="1" dirty="0">
                <a:latin typeface="+mj-ea"/>
              </a:rPr>
              <a:t>14</a:t>
            </a:r>
            <a:r>
              <a:rPr lang="ko-KR" altLang="en-US" sz="3200" b="1" dirty="0">
                <a:latin typeface="+mj-ea"/>
              </a:rPr>
              <a:t>일 </a:t>
            </a:r>
            <a:r>
              <a:rPr lang="en-US" altLang="ko-KR" sz="3200" b="1" dirty="0">
                <a:latin typeface="+mj-ea"/>
              </a:rPr>
              <a:t>( 27</a:t>
            </a:r>
            <a:r>
              <a:rPr lang="ko-KR" altLang="en-US" sz="3200" b="1" dirty="0">
                <a:latin typeface="+mj-ea"/>
              </a:rPr>
              <a:t>개</a:t>
            </a:r>
            <a:r>
              <a:rPr lang="en-US" altLang="ko-KR" sz="3200" b="1" dirty="0">
                <a:latin typeface="+mj-ea"/>
              </a:rPr>
              <a:t> )</a:t>
            </a:r>
            <a:endParaRPr lang="ko-KR" altLang="en-US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68725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0.7810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0.5879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0.7590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223" y="1254012"/>
            <a:ext cx="3159110" cy="131578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939" y="3240449"/>
            <a:ext cx="3161444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220814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0.8559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0.5427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0.9083</a:t>
              </a:r>
              <a:endParaRPr lang="ko-KR" altLang="en-US" sz="1200" b="1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EFE41C0-8707-4B1E-8189-625BA509854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98F76C4-9EEA-437D-BB65-156184EF27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2689402"/>
            <a:ext cx="3227450" cy="55104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A99A4D2-B0FD-4DA6-999F-D4F18680D3A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3240449"/>
            <a:ext cx="3159110" cy="135610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4D03622-1E2B-48FD-B936-6FF978B2A564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0.74</a:t>
            </a:r>
          </a:p>
        </p:txBody>
      </p:sp>
    </p:spTree>
    <p:extLst>
      <p:ext uri="{BB962C8B-B14F-4D97-AF65-F5344CB8AC3E}">
        <p14:creationId xmlns:p14="http://schemas.microsoft.com/office/powerpoint/2010/main" val="3684430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41</a:t>
            </a:r>
            <a:r>
              <a:rPr lang="ko-KR" altLang="en-US" sz="1600" dirty="0"/>
              <a:t>개 中 </a:t>
            </a:r>
            <a:r>
              <a:rPr lang="en-US" altLang="ko-KR" sz="1600" dirty="0"/>
              <a:t>36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20240919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20240920 ~ 250917 84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( 4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84187B-D422-428E-8D46-B38F155583B4}"/>
              </a:ext>
            </a:extLst>
          </p:cNvPr>
          <p:cNvSpPr txBox="1"/>
          <p:nvPr/>
        </p:nvSpPr>
        <p:spPr>
          <a:xfrm>
            <a:off x="622385" y="850612"/>
            <a:ext cx="6464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</a:rPr>
              <a:t>학습데이터 </a:t>
            </a:r>
            <a:r>
              <a:rPr lang="en-US" altLang="ko-KR" sz="3200" b="1" dirty="0">
                <a:latin typeface="+mj-ea"/>
              </a:rPr>
              <a:t>22</a:t>
            </a:r>
            <a:r>
              <a:rPr lang="ko-KR" altLang="en-US" sz="3200" b="1" dirty="0">
                <a:latin typeface="+mj-ea"/>
              </a:rPr>
              <a:t>년 </a:t>
            </a:r>
            <a:r>
              <a:rPr lang="en-US" altLang="ko-KR" sz="3200" b="1" dirty="0">
                <a:latin typeface="+mj-ea"/>
              </a:rPr>
              <a:t>9</a:t>
            </a:r>
            <a:r>
              <a:rPr lang="ko-KR" altLang="en-US" sz="3200" b="1" dirty="0">
                <a:latin typeface="+mj-ea"/>
              </a:rPr>
              <a:t>월</a:t>
            </a:r>
            <a:r>
              <a:rPr lang="en-US" altLang="ko-KR" sz="3200" b="1" dirty="0">
                <a:latin typeface="+mj-ea"/>
              </a:rPr>
              <a:t>16</a:t>
            </a:r>
            <a:r>
              <a:rPr lang="ko-KR" altLang="en-US" sz="3200" b="1" dirty="0">
                <a:latin typeface="+mj-ea"/>
              </a:rPr>
              <a:t>일 </a:t>
            </a:r>
            <a:r>
              <a:rPr lang="en-US" altLang="ko-KR" sz="3200" b="1" dirty="0">
                <a:latin typeface="+mj-ea"/>
              </a:rPr>
              <a:t>( 25</a:t>
            </a:r>
            <a:r>
              <a:rPr lang="ko-KR" altLang="en-US" sz="3200" b="1" dirty="0">
                <a:latin typeface="+mj-ea"/>
              </a:rPr>
              <a:t>개</a:t>
            </a:r>
            <a:r>
              <a:rPr lang="en-US" altLang="ko-KR" sz="3200" b="1" dirty="0">
                <a:latin typeface="+mj-ea"/>
              </a:rPr>
              <a:t> )</a:t>
            </a:r>
            <a:endParaRPr lang="ko-KR" altLang="en-US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116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5" y="2689402"/>
            <a:ext cx="3192889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0.8023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0.8692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0.7770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220916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0.8567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0.6915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0.7813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EFE41C0-8707-4B1E-8189-625BA509854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363FD0-DE64-47B8-99C3-DCC3E09A3BCF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0.80</a:t>
            </a:r>
          </a:p>
        </p:txBody>
      </p:sp>
    </p:spTree>
    <p:extLst>
      <p:ext uri="{BB962C8B-B14F-4D97-AF65-F5344CB8AC3E}">
        <p14:creationId xmlns:p14="http://schemas.microsoft.com/office/powerpoint/2010/main" val="371733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41</a:t>
            </a:r>
            <a:r>
              <a:rPr lang="ko-KR" altLang="en-US" sz="1600" dirty="0"/>
              <a:t>개 中 </a:t>
            </a:r>
            <a:r>
              <a:rPr lang="en-US" altLang="ko-KR" sz="1600" dirty="0"/>
              <a:t>36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250917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DF6D3A-0B99-45E3-AF97-920C81A8F26C}"/>
              </a:ext>
            </a:extLst>
          </p:cNvPr>
          <p:cNvSpPr txBox="1"/>
          <p:nvPr/>
        </p:nvSpPr>
        <p:spPr>
          <a:xfrm>
            <a:off x="622385" y="850612"/>
            <a:ext cx="6464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</a:rPr>
              <a:t>학습데이터 </a:t>
            </a:r>
            <a:r>
              <a:rPr lang="en-US" altLang="ko-KR" sz="3200" b="1" dirty="0">
                <a:latin typeface="+mj-ea"/>
              </a:rPr>
              <a:t>22</a:t>
            </a:r>
            <a:r>
              <a:rPr lang="ko-KR" altLang="en-US" sz="3200" b="1" dirty="0">
                <a:latin typeface="+mj-ea"/>
              </a:rPr>
              <a:t>년 </a:t>
            </a:r>
            <a:r>
              <a:rPr lang="en-US" altLang="ko-KR" sz="3200" b="1" dirty="0">
                <a:latin typeface="+mj-ea"/>
              </a:rPr>
              <a:t>9</a:t>
            </a:r>
            <a:r>
              <a:rPr lang="ko-KR" altLang="en-US" sz="3200" b="1" dirty="0">
                <a:latin typeface="+mj-ea"/>
              </a:rPr>
              <a:t>월</a:t>
            </a:r>
            <a:r>
              <a:rPr lang="en-US" altLang="ko-KR" sz="3200" b="1" dirty="0">
                <a:latin typeface="+mj-ea"/>
              </a:rPr>
              <a:t>16</a:t>
            </a:r>
            <a:r>
              <a:rPr lang="ko-KR" altLang="en-US" sz="3200" b="1" dirty="0">
                <a:latin typeface="+mj-ea"/>
              </a:rPr>
              <a:t>일 </a:t>
            </a:r>
            <a:r>
              <a:rPr lang="en-US" altLang="ko-KR" sz="3200" b="1" dirty="0">
                <a:latin typeface="+mj-ea"/>
              </a:rPr>
              <a:t>( 26</a:t>
            </a:r>
            <a:r>
              <a:rPr lang="ko-KR" altLang="en-US" sz="3200" b="1" dirty="0">
                <a:latin typeface="+mj-ea"/>
              </a:rPr>
              <a:t>개</a:t>
            </a:r>
            <a:r>
              <a:rPr lang="en-US" altLang="ko-KR" sz="3200" b="1" dirty="0">
                <a:latin typeface="+mj-ea"/>
              </a:rPr>
              <a:t> )</a:t>
            </a:r>
            <a:endParaRPr lang="ko-KR" altLang="en-US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94382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5" y="2689402"/>
            <a:ext cx="3192889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0.8277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0.6983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0.8520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365" y="3240449"/>
            <a:ext cx="31789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3" y="3240449"/>
            <a:ext cx="31789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220916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0.9074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0.7218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0.9212</a:t>
              </a:r>
              <a:endParaRPr lang="ko-KR" altLang="en-US" sz="1200" b="1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EFE41C0-8707-4B1E-8189-625BA509854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/dg)_20_4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9C239D-DFEF-4302-B3FF-A7026E13055C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0.82</a:t>
            </a:r>
          </a:p>
        </p:txBody>
      </p:sp>
    </p:spTree>
    <p:extLst>
      <p:ext uri="{BB962C8B-B14F-4D97-AF65-F5344CB8AC3E}">
        <p14:creationId xmlns:p14="http://schemas.microsoft.com/office/powerpoint/2010/main" val="330265162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10414</TotalTime>
  <Words>1918</Words>
  <Application>Microsoft Office PowerPoint</Application>
  <PresentationFormat>와이드스크린</PresentationFormat>
  <Paragraphs>513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나눔고딕</vt:lpstr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1448</cp:revision>
  <dcterms:created xsi:type="dcterms:W3CDTF">2025-11-18T00:02:37Z</dcterms:created>
  <dcterms:modified xsi:type="dcterms:W3CDTF">2026-02-06T02:51:05Z</dcterms:modified>
</cp:coreProperties>
</file>