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510" r:id="rId3"/>
    <p:sldId id="513" r:id="rId4"/>
    <p:sldId id="634" r:id="rId5"/>
    <p:sldId id="640" r:id="rId6"/>
    <p:sldId id="641" r:id="rId7"/>
    <p:sldId id="642" r:id="rId8"/>
    <p:sldId id="644" r:id="rId9"/>
    <p:sldId id="645" r:id="rId10"/>
    <p:sldId id="566" r:id="rId11"/>
    <p:sldId id="567" r:id="rId12"/>
    <p:sldId id="647" r:id="rId13"/>
    <p:sldId id="648" r:id="rId14"/>
    <p:sldId id="649" r:id="rId15"/>
    <p:sldId id="650" r:id="rId16"/>
    <p:sldId id="651" r:id="rId17"/>
    <p:sldId id="652" r:id="rId18"/>
    <p:sldId id="592" r:id="rId19"/>
    <p:sldId id="593" r:id="rId20"/>
    <p:sldId id="664" r:id="rId21"/>
    <p:sldId id="665" r:id="rId22"/>
    <p:sldId id="666" r:id="rId23"/>
    <p:sldId id="609" r:id="rId24"/>
    <p:sldId id="654" r:id="rId25"/>
    <p:sldId id="655" r:id="rId26"/>
    <p:sldId id="656" r:id="rId27"/>
    <p:sldId id="66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3.png"/><Relationship Id="rId18" Type="http://schemas.openxmlformats.org/officeDocument/2006/relationships/image" Target="../media/image18.png"/><Relationship Id="rId3" Type="http://schemas.openxmlformats.org/officeDocument/2006/relationships/image" Target="../media/image39.png"/><Relationship Id="rId7" Type="http://schemas.openxmlformats.org/officeDocument/2006/relationships/image" Target="../media/image7.png"/><Relationship Id="rId12" Type="http://schemas.openxmlformats.org/officeDocument/2006/relationships/image" Target="../media/image42.png"/><Relationship Id="rId17" Type="http://schemas.openxmlformats.org/officeDocument/2006/relationships/image" Target="../media/image17.png"/><Relationship Id="rId2" Type="http://schemas.openxmlformats.org/officeDocument/2006/relationships/image" Target="../media/image38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0.png"/><Relationship Id="rId9" Type="http://schemas.openxmlformats.org/officeDocument/2006/relationships/image" Target="../media/image9.png"/><Relationship Id="rId1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50.png"/><Relationship Id="rId18" Type="http://schemas.openxmlformats.org/officeDocument/2006/relationships/image" Target="../media/image36.png"/><Relationship Id="rId3" Type="http://schemas.openxmlformats.org/officeDocument/2006/relationships/image" Target="../media/image46.png"/><Relationship Id="rId7" Type="http://schemas.openxmlformats.org/officeDocument/2006/relationships/image" Target="../media/image25.png"/><Relationship Id="rId12" Type="http://schemas.openxmlformats.org/officeDocument/2006/relationships/image" Target="../media/image49.png"/><Relationship Id="rId17" Type="http://schemas.openxmlformats.org/officeDocument/2006/relationships/image" Target="../media/image35.png"/><Relationship Id="rId2" Type="http://schemas.openxmlformats.org/officeDocument/2006/relationships/image" Target="../media/image45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48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47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56.png"/><Relationship Id="rId18" Type="http://schemas.openxmlformats.org/officeDocument/2006/relationships/image" Target="../media/image18.png"/><Relationship Id="rId3" Type="http://schemas.openxmlformats.org/officeDocument/2006/relationships/image" Target="../media/image52.png"/><Relationship Id="rId7" Type="http://schemas.openxmlformats.org/officeDocument/2006/relationships/image" Target="../media/image7.png"/><Relationship Id="rId12" Type="http://schemas.openxmlformats.org/officeDocument/2006/relationships/image" Target="../media/image55.png"/><Relationship Id="rId17" Type="http://schemas.openxmlformats.org/officeDocument/2006/relationships/image" Target="../media/image17.png"/><Relationship Id="rId2" Type="http://schemas.openxmlformats.org/officeDocument/2006/relationships/image" Target="../media/image51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5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53.png"/><Relationship Id="rId9" Type="http://schemas.openxmlformats.org/officeDocument/2006/relationships/image" Target="../media/image9.png"/><Relationship Id="rId1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62.png"/><Relationship Id="rId18" Type="http://schemas.openxmlformats.org/officeDocument/2006/relationships/image" Target="../media/image36.png"/><Relationship Id="rId3" Type="http://schemas.openxmlformats.org/officeDocument/2006/relationships/image" Target="../media/image58.png"/><Relationship Id="rId7" Type="http://schemas.openxmlformats.org/officeDocument/2006/relationships/image" Target="../media/image25.png"/><Relationship Id="rId12" Type="http://schemas.openxmlformats.org/officeDocument/2006/relationships/image" Target="../media/image61.png"/><Relationship Id="rId17" Type="http://schemas.openxmlformats.org/officeDocument/2006/relationships/image" Target="../media/image35.png"/><Relationship Id="rId2" Type="http://schemas.openxmlformats.org/officeDocument/2006/relationships/image" Target="../media/image57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60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59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68.png"/><Relationship Id="rId18" Type="http://schemas.openxmlformats.org/officeDocument/2006/relationships/image" Target="../media/image18.png"/><Relationship Id="rId3" Type="http://schemas.openxmlformats.org/officeDocument/2006/relationships/image" Target="../media/image64.png"/><Relationship Id="rId7" Type="http://schemas.openxmlformats.org/officeDocument/2006/relationships/image" Target="../media/image7.png"/><Relationship Id="rId12" Type="http://schemas.openxmlformats.org/officeDocument/2006/relationships/image" Target="../media/image67.png"/><Relationship Id="rId17" Type="http://schemas.openxmlformats.org/officeDocument/2006/relationships/image" Target="../media/image17.png"/><Relationship Id="rId2" Type="http://schemas.openxmlformats.org/officeDocument/2006/relationships/image" Target="../media/image63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66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65.png"/><Relationship Id="rId9" Type="http://schemas.openxmlformats.org/officeDocument/2006/relationships/image" Target="../media/image9.png"/><Relationship Id="rId1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74.png"/><Relationship Id="rId18" Type="http://schemas.openxmlformats.org/officeDocument/2006/relationships/image" Target="../media/image36.png"/><Relationship Id="rId3" Type="http://schemas.openxmlformats.org/officeDocument/2006/relationships/image" Target="../media/image70.png"/><Relationship Id="rId7" Type="http://schemas.openxmlformats.org/officeDocument/2006/relationships/image" Target="../media/image25.png"/><Relationship Id="rId12" Type="http://schemas.openxmlformats.org/officeDocument/2006/relationships/image" Target="../media/image73.png"/><Relationship Id="rId17" Type="http://schemas.openxmlformats.org/officeDocument/2006/relationships/image" Target="../media/image35.png"/><Relationship Id="rId2" Type="http://schemas.openxmlformats.org/officeDocument/2006/relationships/image" Target="../media/image69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72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71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80.png"/><Relationship Id="rId18" Type="http://schemas.openxmlformats.org/officeDocument/2006/relationships/image" Target="../media/image18.png"/><Relationship Id="rId3" Type="http://schemas.openxmlformats.org/officeDocument/2006/relationships/image" Target="../media/image76.png"/><Relationship Id="rId7" Type="http://schemas.openxmlformats.org/officeDocument/2006/relationships/image" Target="../media/image7.png"/><Relationship Id="rId12" Type="http://schemas.openxmlformats.org/officeDocument/2006/relationships/image" Target="../media/image79.png"/><Relationship Id="rId17" Type="http://schemas.openxmlformats.org/officeDocument/2006/relationships/image" Target="../media/image17.png"/><Relationship Id="rId2" Type="http://schemas.openxmlformats.org/officeDocument/2006/relationships/image" Target="../media/image75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78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77.png"/><Relationship Id="rId9" Type="http://schemas.openxmlformats.org/officeDocument/2006/relationships/image" Target="../media/image9.png"/><Relationship Id="rId1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86.png"/><Relationship Id="rId18" Type="http://schemas.openxmlformats.org/officeDocument/2006/relationships/image" Target="../media/image35.png"/><Relationship Id="rId3" Type="http://schemas.openxmlformats.org/officeDocument/2006/relationships/image" Target="../media/image82.png"/><Relationship Id="rId7" Type="http://schemas.openxmlformats.org/officeDocument/2006/relationships/image" Target="../media/image25.png"/><Relationship Id="rId12" Type="http://schemas.openxmlformats.org/officeDocument/2006/relationships/image" Target="../media/image85.png"/><Relationship Id="rId17" Type="http://schemas.openxmlformats.org/officeDocument/2006/relationships/image" Target="../media/image34.png"/><Relationship Id="rId2" Type="http://schemas.openxmlformats.org/officeDocument/2006/relationships/image" Target="../media/image8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84.png"/><Relationship Id="rId5" Type="http://schemas.openxmlformats.org/officeDocument/2006/relationships/image" Target="../media/image23.png"/><Relationship Id="rId15" Type="http://schemas.openxmlformats.org/officeDocument/2006/relationships/image" Target="../media/image32.png"/><Relationship Id="rId10" Type="http://schemas.openxmlformats.org/officeDocument/2006/relationships/image" Target="../media/image28.png"/><Relationship Id="rId19" Type="http://schemas.openxmlformats.org/officeDocument/2006/relationships/image" Target="../media/image36.png"/><Relationship Id="rId4" Type="http://schemas.openxmlformats.org/officeDocument/2006/relationships/image" Target="../media/image83.png"/><Relationship Id="rId9" Type="http://schemas.openxmlformats.org/officeDocument/2006/relationships/image" Target="../media/image27.png"/><Relationship Id="rId1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93.png"/><Relationship Id="rId18" Type="http://schemas.openxmlformats.org/officeDocument/2006/relationships/image" Target="../media/image18.png"/><Relationship Id="rId3" Type="http://schemas.openxmlformats.org/officeDocument/2006/relationships/image" Target="../media/image88.png"/><Relationship Id="rId7" Type="http://schemas.openxmlformats.org/officeDocument/2006/relationships/image" Target="../media/image90.png"/><Relationship Id="rId12" Type="http://schemas.openxmlformats.org/officeDocument/2006/relationships/image" Target="../media/image92.png"/><Relationship Id="rId17" Type="http://schemas.openxmlformats.org/officeDocument/2006/relationships/image" Target="../media/image17.png"/><Relationship Id="rId2" Type="http://schemas.openxmlformats.org/officeDocument/2006/relationships/image" Target="../media/image87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91.png"/><Relationship Id="rId5" Type="http://schemas.openxmlformats.org/officeDocument/2006/relationships/image" Target="../media/image5.png"/><Relationship Id="rId15" Type="http://schemas.openxmlformats.org/officeDocument/2006/relationships/image" Target="../media/image94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89.png"/><Relationship Id="rId9" Type="http://schemas.openxmlformats.org/officeDocument/2006/relationships/image" Target="../media/image9.png"/><Relationship Id="rId1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01.png"/><Relationship Id="rId18" Type="http://schemas.openxmlformats.org/officeDocument/2006/relationships/image" Target="../media/image9.png"/><Relationship Id="rId3" Type="http://schemas.openxmlformats.org/officeDocument/2006/relationships/image" Target="../media/image96.png"/><Relationship Id="rId21" Type="http://schemas.openxmlformats.org/officeDocument/2006/relationships/image" Target="../media/image35.png"/><Relationship Id="rId7" Type="http://schemas.openxmlformats.org/officeDocument/2006/relationships/image" Target="../media/image25.png"/><Relationship Id="rId12" Type="http://schemas.openxmlformats.org/officeDocument/2006/relationships/image" Target="../media/image100.png"/><Relationship Id="rId17" Type="http://schemas.openxmlformats.org/officeDocument/2006/relationships/image" Target="../media/image8.png"/><Relationship Id="rId2" Type="http://schemas.openxmlformats.org/officeDocument/2006/relationships/image" Target="../media/image95.png"/><Relationship Id="rId16" Type="http://schemas.openxmlformats.org/officeDocument/2006/relationships/image" Target="../media/image102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99.png"/><Relationship Id="rId5" Type="http://schemas.openxmlformats.org/officeDocument/2006/relationships/image" Target="../media/image23.png"/><Relationship Id="rId15" Type="http://schemas.openxmlformats.org/officeDocument/2006/relationships/image" Target="../media/image32.png"/><Relationship Id="rId10" Type="http://schemas.openxmlformats.org/officeDocument/2006/relationships/image" Target="../media/image28.png"/><Relationship Id="rId19" Type="http://schemas.openxmlformats.org/officeDocument/2006/relationships/image" Target="../media/image10.png"/><Relationship Id="rId4" Type="http://schemas.openxmlformats.org/officeDocument/2006/relationships/image" Target="../media/image97.png"/><Relationship Id="rId9" Type="http://schemas.openxmlformats.org/officeDocument/2006/relationships/image" Target="../media/image27.png"/><Relationship Id="rId14" Type="http://schemas.openxmlformats.org/officeDocument/2006/relationships/image" Target="../media/image37.png"/><Relationship Id="rId22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3044279"/>
            <a:ext cx="4588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전체 강우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21763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367899"/>
              </p:ext>
            </p:extLst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5655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1420</a:t>
            </a:r>
            <a:r>
              <a:rPr lang="ko-KR" altLang="en-US" sz="1600" dirty="0"/>
              <a:t>개 中 </a:t>
            </a:r>
            <a:r>
              <a:rPr lang="en-US" altLang="ko-KR" sz="1600" dirty="0"/>
              <a:t>1408</a:t>
            </a:r>
            <a:r>
              <a:rPr lang="ko-KR" altLang="en-US" sz="1600" dirty="0"/>
              <a:t>개 데이터 파일 사용 </a:t>
            </a:r>
            <a:r>
              <a:rPr lang="en-US" altLang="ko-KR" sz="1600" dirty="0"/>
              <a:t>( </a:t>
            </a:r>
            <a:r>
              <a:rPr lang="ko-KR" altLang="en-US" sz="1600" dirty="0"/>
              <a:t>결측 </a:t>
            </a:r>
            <a:r>
              <a:rPr lang="en-US" altLang="ko-KR" sz="1600" dirty="0"/>
              <a:t>5</a:t>
            </a:r>
            <a:r>
              <a:rPr lang="ko-KR" altLang="en-US" sz="1600" dirty="0"/>
              <a:t>개 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7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개이벤트 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3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( 2</a:t>
            </a:r>
            <a:r>
              <a:rPr lang="ko-KR" altLang="en-US" sz="1600" dirty="0"/>
              <a:t>개이벤트 </a:t>
            </a:r>
            <a:r>
              <a:rPr lang="en-US" altLang="ko-KR" sz="1600" dirty="0"/>
              <a:t>)</a:t>
            </a:r>
            <a:r>
              <a:rPr lang="ko-KR" altLang="en-US" sz="1600" dirty="0"/>
              <a:t>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2022 67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( 986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~ 2024 97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( 282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~ 2025 109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( 140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754534" y="126666"/>
            <a:ext cx="3310468" cy="1710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 /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 / MAE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  <a:endParaRPr lang="en-US" altLang="ko-KR" sz="9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193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94B40D-A048-4E00-A5A1-E2ED632B0C9E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</a:t>
            </a:r>
            <a:r>
              <a:rPr lang="en-US" altLang="ko-KR" sz="1050" b="1" dirty="0" err="1"/>
              <a:t>all</a:t>
            </a:r>
            <a:r>
              <a:rPr lang="en-US" altLang="ko-KR" sz="1050" b="1" dirty="0" err="1">
                <a:latin typeface="+mj-ea"/>
              </a:rPr>
              <a:t>_mse</a:t>
            </a:r>
            <a:endParaRPr lang="ko-KR" altLang="en-US" sz="1050" b="1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718300"/>
              </p:ext>
            </p:extLst>
          </p:nvPr>
        </p:nvGraphicFramePr>
        <p:xfrm>
          <a:off x="5684773" y="3429000"/>
          <a:ext cx="5977188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0.8168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0.0387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0.1487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0.1967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0.8220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0.1085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0.2380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0.3294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0.0136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0.0930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0.1169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0.1371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0.1208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0.3097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0.3476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0.6495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0.6871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0.2847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0.4375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0.5335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0.5333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0.1245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-0.2634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0.0600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0.2450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0.6917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0.0309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0.1758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0.8524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0.2610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0.8467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0.0108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0.0800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0.7143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0.2523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0.3148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61014" y="377554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D9224-C2C8-4521-8B32-B48D009F7F66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수위 과소 추정 경향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일부 이벤트에서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&lt; 0</a:t>
            </a:r>
          </a:p>
          <a:p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성능 개선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효과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DEA449-DDEE-4743-8194-76E75A493958}"/>
              </a:ext>
            </a:extLst>
          </p:cNvPr>
          <p:cNvSpPr txBox="1"/>
          <p:nvPr/>
        </p:nvSpPr>
        <p:spPr>
          <a:xfrm>
            <a:off x="5018530" y="2914649"/>
            <a:ext cx="6877480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이전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-8.4% )  ,  </a:t>
            </a:r>
            <a:r>
              <a:rPr lang="ko-KR" altLang="en-US" dirty="0" err="1"/>
              <a:t>대곡교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-7.4%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6426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440" y="5580492"/>
            <a:ext cx="2133361" cy="1117580"/>
          </a:xfrm>
          <a:prstGeom prst="rect">
            <a:avLst/>
          </a:prstGeom>
          <a:ln>
            <a:noFill/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075" y="1566310"/>
            <a:ext cx="2141376" cy="1111740"/>
          </a:xfrm>
          <a:prstGeom prst="rect">
            <a:avLst/>
          </a:prstGeom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30201" y="553772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014" y="3524881"/>
            <a:ext cx="2141986" cy="1123263"/>
          </a:xfrm>
          <a:prstGeom prst="rect">
            <a:avLst/>
          </a:prstGeom>
          <a:ln>
            <a:noFill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33688" y="355211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804494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804009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814143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454" y="1554069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620" y="3520958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54" y="5573727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30201" y="156631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94B40D-A048-4E00-A5A1-E2ED632B0C9E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</a:t>
            </a:r>
            <a:r>
              <a:rPr lang="en-US" altLang="ko-KR" sz="1050" b="1" dirty="0" err="1"/>
              <a:t>all</a:t>
            </a:r>
            <a:r>
              <a:rPr lang="en-US" altLang="ko-KR" sz="1050" b="1" dirty="0" err="1">
                <a:latin typeface="+mj-ea"/>
              </a:rPr>
              <a:t>_mse</a:t>
            </a:r>
            <a:endParaRPr lang="ko-KR" altLang="en-US" sz="1050" b="1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84ECF28-228E-4D6A-B895-24572C568A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105" y="5562415"/>
            <a:ext cx="2143724" cy="1119723"/>
          </a:xfrm>
          <a:prstGeom prst="rect">
            <a:avLst/>
          </a:prstGeom>
          <a:ln>
            <a:noFill/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109C969-79B7-4B9F-9E64-8BFFD8A4BD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527" y="1547244"/>
            <a:ext cx="2134163" cy="1115863"/>
          </a:xfrm>
          <a:prstGeom prst="rect">
            <a:avLst/>
          </a:prstGeom>
          <a:ln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24543" y="5503969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64AA9A9-1DFF-45CB-9BF9-493411DA1ED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978" y="3516378"/>
            <a:ext cx="2113749" cy="1106261"/>
          </a:xfrm>
          <a:prstGeom prst="rect">
            <a:avLst/>
          </a:prstGeom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24543" y="3478697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E66C91F-0F93-4444-9BE5-BB73FDD0915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89756"/>
            <a:ext cx="4431036" cy="6765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B8872F6-9A7C-481E-B297-51F56856040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87004"/>
            <a:ext cx="4437903" cy="69169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3903CDDE-72B7-4D51-9D5A-925F970A3D5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97138"/>
            <a:ext cx="4431036" cy="68978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7160A44E-67C1-4CEF-85FB-A176EF000F2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00" y="1544134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A66155F-E5E2-4E8F-8A5E-A48522B8C62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466" y="3514921"/>
            <a:ext cx="2103138" cy="1086475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1630F3F6-4263-4007-BF82-B77F8EC199D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700" y="5563926"/>
            <a:ext cx="2105029" cy="109400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31411" y="147315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A0B56F-75D7-444F-8E71-35C5854B2B8F}"/>
              </a:ext>
            </a:extLst>
          </p:cNvPr>
          <p:cNvSpPr txBox="1"/>
          <p:nvPr/>
        </p:nvSpPr>
        <p:spPr>
          <a:xfrm>
            <a:off x="330201" y="5877102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0.6495</a:t>
            </a:r>
            <a:r>
              <a:rPr lang="en-US" altLang="ko-KR" sz="1200" b="1" dirty="0"/>
              <a:t> </a:t>
            </a:r>
            <a:endParaRPr lang="ko-KR" altLang="en-US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4A4853-1D96-4187-BDA0-FF4B4B02F53B}"/>
              </a:ext>
            </a:extLst>
          </p:cNvPr>
          <p:cNvSpPr txBox="1"/>
          <p:nvPr/>
        </p:nvSpPr>
        <p:spPr>
          <a:xfrm>
            <a:off x="333688" y="3891487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0.6552</a:t>
            </a:r>
            <a:r>
              <a:rPr lang="en-US" altLang="ko-KR" sz="1200" b="1" dirty="0"/>
              <a:t> </a:t>
            </a:r>
            <a:endParaRPr lang="ko-KR" altLang="en-US" sz="12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8E3A99-4477-4F6D-A3B8-5860B919A0F0}"/>
              </a:ext>
            </a:extLst>
          </p:cNvPr>
          <p:cNvSpPr txBox="1"/>
          <p:nvPr/>
        </p:nvSpPr>
        <p:spPr>
          <a:xfrm>
            <a:off x="330201" y="1905687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0.8168</a:t>
            </a:r>
            <a:endParaRPr lang="ko-KR" altLang="en-US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88302B-1DAB-4596-B477-9C6F7E8296AD}"/>
              </a:ext>
            </a:extLst>
          </p:cNvPr>
          <p:cNvSpPr txBox="1"/>
          <p:nvPr/>
        </p:nvSpPr>
        <p:spPr>
          <a:xfrm>
            <a:off x="6224543" y="5843346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0.8467</a:t>
            </a:r>
            <a:endParaRPr lang="ko-KR" altLang="en-US" sz="12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AFE59E-BFBB-46C8-ABFF-C835DAE8D520}"/>
              </a:ext>
            </a:extLst>
          </p:cNvPr>
          <p:cNvSpPr txBox="1"/>
          <p:nvPr/>
        </p:nvSpPr>
        <p:spPr>
          <a:xfrm>
            <a:off x="6224543" y="381807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0.6917</a:t>
            </a:r>
            <a:endParaRPr lang="ko-KR" altLang="en-US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4B910C-C8EB-4323-A9D4-AD4F8BCABD49}"/>
              </a:ext>
            </a:extLst>
          </p:cNvPr>
          <p:cNvSpPr txBox="1"/>
          <p:nvPr/>
        </p:nvSpPr>
        <p:spPr>
          <a:xfrm>
            <a:off x="6231411" y="1812531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0.5333</a:t>
            </a:r>
            <a:r>
              <a:rPr lang="en-US" altLang="ko-KR" sz="1200" b="1" dirty="0"/>
              <a:t> 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955522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38667" y="5537725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42154" y="35521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38667" y="15663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94B40D-A048-4E00-A5A1-E2ED632B0C9E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</a:t>
            </a:r>
            <a:r>
              <a:rPr lang="en-US" altLang="ko-KR" sz="1050" b="1" dirty="0" err="1"/>
              <a:t>all</a:t>
            </a:r>
            <a:r>
              <a:rPr lang="en-US" altLang="ko-KR" sz="1050" b="1" dirty="0" err="1">
                <a:latin typeface="+mj-ea"/>
              </a:rPr>
              <a:t>_mse</a:t>
            </a:r>
            <a:endParaRPr lang="ko-KR" altLang="en-US" sz="105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33009" y="5503969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33009" y="347869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39877" y="147315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1B2914C-9F95-41A4-9B6E-0FCD4C9C4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612" y="5557637"/>
            <a:ext cx="2123388" cy="1116876"/>
          </a:xfrm>
          <a:prstGeom prst="rect">
            <a:avLst/>
          </a:prstGeom>
          <a:ln>
            <a:noFill/>
          </a:ln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39F4C63-CF0F-4CF4-9EA8-602EEC0F6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007" y="1544134"/>
            <a:ext cx="2113881" cy="1109678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06EC120C-F872-4686-B241-C3230E13C3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334" y="3507939"/>
            <a:ext cx="2111715" cy="1110735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892B16EE-3470-4ADB-9692-EC86FA09CE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551" y="781287"/>
            <a:ext cx="4470400" cy="681074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8B968826-2FD6-4B90-A01D-112710D897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551" y="2780802"/>
            <a:ext cx="4470400" cy="69169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BD4CF573-4116-437E-9AD1-78C2951BDC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551" y="4769779"/>
            <a:ext cx="4470399" cy="689782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8A940102-C3C2-4321-8E5B-39D91C24F0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639" y="1535700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9465ECCA-A51E-43AE-BB43-806502E2A1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805" y="3503217"/>
            <a:ext cx="2103138" cy="1097479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F3BAF115-333B-4A52-9ED7-1BC02D8119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039" y="5555540"/>
            <a:ext cx="2105029" cy="109837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9D90BB7F-DACB-471E-97AA-45B859AD65E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843" y="5566595"/>
            <a:ext cx="2114397" cy="1098958"/>
          </a:xfrm>
          <a:prstGeom prst="rect">
            <a:avLst/>
          </a:prstGeom>
          <a:ln>
            <a:noFill/>
          </a:ln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E879A8D4-3194-4172-A10D-D9F17E2A88A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797" y="1544142"/>
            <a:ext cx="2121773" cy="1109662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5D9B600A-9A93-4775-BE65-5D24E6BDC84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055" y="3514628"/>
            <a:ext cx="2117745" cy="1097356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4AC2A1F0-6E8A-4223-92E1-71C2509ABEB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345" y="2780802"/>
            <a:ext cx="4470399" cy="69169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022E537-25B8-4BBF-B2DF-9FCC800FC9A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344" y="4769779"/>
            <a:ext cx="4470399" cy="689782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5E454A7-E127-4FA5-9360-835BA079206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375" y="1531786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1D27389-F38E-4D0C-8BF5-415F5D887CD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541" y="3504879"/>
            <a:ext cx="2103138" cy="109415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7C82F34B-79F5-401E-B84E-3F19A078531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775" y="5550540"/>
            <a:ext cx="2105029" cy="110837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B8DCA58-35BD-455C-BF49-EA3B8DE1741E}"/>
              </a:ext>
            </a:extLst>
          </p:cNvPr>
          <p:cNvSpPr txBox="1"/>
          <p:nvPr/>
        </p:nvSpPr>
        <p:spPr>
          <a:xfrm>
            <a:off x="338667" y="5877102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0.6871</a:t>
            </a:r>
            <a:endParaRPr lang="ko-KR" altLang="en-US" sz="1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924D68-0E37-4DC2-8D11-CC49C129962D}"/>
              </a:ext>
            </a:extLst>
          </p:cNvPr>
          <p:cNvSpPr txBox="1"/>
          <p:nvPr/>
        </p:nvSpPr>
        <p:spPr>
          <a:xfrm>
            <a:off x="342154" y="38914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0.1371</a:t>
            </a:r>
            <a:endParaRPr lang="ko-KR" altLang="en-US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B1B4D9-5957-44D5-A0D9-2B8EE4721A0B}"/>
              </a:ext>
            </a:extLst>
          </p:cNvPr>
          <p:cNvSpPr txBox="1"/>
          <p:nvPr/>
        </p:nvSpPr>
        <p:spPr>
          <a:xfrm>
            <a:off x="338667" y="19056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0.8220</a:t>
            </a:r>
            <a:endParaRPr lang="ko-KR" alt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235642-27AD-4381-813A-B7236544795B}"/>
              </a:ext>
            </a:extLst>
          </p:cNvPr>
          <p:cNvSpPr txBox="1"/>
          <p:nvPr/>
        </p:nvSpPr>
        <p:spPr>
          <a:xfrm>
            <a:off x="6233009" y="5843346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0.7143</a:t>
            </a:r>
            <a:endParaRPr lang="ko-KR" altLang="en-US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09FC97-B2DE-482E-82C9-BB761930BBB4}"/>
              </a:ext>
            </a:extLst>
          </p:cNvPr>
          <p:cNvSpPr txBox="1"/>
          <p:nvPr/>
        </p:nvSpPr>
        <p:spPr>
          <a:xfrm>
            <a:off x="6233009" y="381807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0.8524</a:t>
            </a:r>
            <a:endParaRPr lang="ko-KR" altLang="en-US" sz="12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81B7FF-67C9-4DE3-B270-8438C11DFEF2}"/>
              </a:ext>
            </a:extLst>
          </p:cNvPr>
          <p:cNvSpPr txBox="1"/>
          <p:nvPr/>
        </p:nvSpPr>
        <p:spPr>
          <a:xfrm>
            <a:off x="6239877" y="1812531"/>
            <a:ext cx="1286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-0.2634</a:t>
            </a:r>
            <a:endParaRPr lang="ko-KR" altLang="en-US" sz="1200" dirty="0"/>
          </a:p>
          <a:p>
            <a:pPr algn="ctr" latinLnBrk="1"/>
            <a:endParaRPr lang="ko-KR" altLang="en-US" sz="1200" b="1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0D588B0F-64E0-4E32-B905-296BA5FC933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9" y="787826"/>
            <a:ext cx="4470398" cy="6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1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822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MAE,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0.0005 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37995" y="3784308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096CF99-D409-4E6C-8956-D9D4F897C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675789"/>
              </p:ext>
            </p:extLst>
          </p:nvPr>
        </p:nvGraphicFramePr>
        <p:xfrm>
          <a:off x="5684773" y="3429000"/>
          <a:ext cx="593115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0.9110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0.0188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0.1008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0.1372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0.9067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0.0569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0.1824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0.2385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0.2335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0.1073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0.2582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0.3276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0.7232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0.2122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0.2782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0.6120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0.3530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0.4811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0.5942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0.5535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0.1023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0.1900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0.0143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0.1858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0.2164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0.6694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0.8707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0.0596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0.2443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0.6832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0.0223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0.1494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0.5747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0.2976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0.3841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31D1ACB-7B37-4270-9D6D-379DA573EFDB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</a:t>
            </a:r>
            <a:r>
              <a:rPr lang="en-US" altLang="ko-KR" sz="1050" b="1" dirty="0">
                <a:latin typeface="+mj-ea"/>
              </a:rPr>
              <a:t>_</a:t>
            </a:r>
            <a:r>
              <a:rPr lang="en-US" altLang="ko-KR" sz="1050" b="1" dirty="0" err="1">
                <a:latin typeface="+mj-ea"/>
              </a:rPr>
              <a:t>all_mae</a:t>
            </a:r>
            <a:endParaRPr lang="ko-KR" altLang="en-US" sz="105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A54EA1-9EB1-44D4-96F2-BECF502322C4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 값 불안정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일부 케이스에서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급락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 모델 대비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피크값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추적력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편차가 소폭 개선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CC2FD6-CBDF-4185-8EA1-EC2EB80DBF64}"/>
              </a:ext>
            </a:extLst>
          </p:cNvPr>
          <p:cNvSpPr txBox="1"/>
          <p:nvPr/>
        </p:nvSpPr>
        <p:spPr>
          <a:xfrm>
            <a:off x="5018530" y="2914649"/>
            <a:ext cx="6877480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이전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-10.6% )  ,  </a:t>
            </a:r>
            <a:r>
              <a:rPr lang="ko-KR" altLang="en-US" dirty="0" err="1"/>
              <a:t>대곡교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-1.1%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531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38667" y="5537725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42154" y="35521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38667" y="15663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94B40D-A048-4E00-A5A1-E2ED632B0C9E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</a:t>
            </a:r>
            <a:r>
              <a:rPr lang="en-US" altLang="ko-KR" sz="1050" b="1" dirty="0" err="1"/>
              <a:t>all</a:t>
            </a:r>
            <a:r>
              <a:rPr lang="en-US" altLang="ko-KR" sz="1050" b="1" dirty="0" err="1">
                <a:latin typeface="+mj-ea"/>
              </a:rPr>
              <a:t>_mae</a:t>
            </a:r>
            <a:endParaRPr lang="ko-KR" altLang="en-US" sz="105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33009" y="5503969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33009" y="347869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39877" y="147315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D38ABD4-9960-44D1-93DB-8705CADA2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440" y="5569553"/>
            <a:ext cx="2133361" cy="1105448"/>
          </a:xfrm>
          <a:prstGeom prst="rect">
            <a:avLst/>
          </a:prstGeom>
          <a:ln>
            <a:noFill/>
          </a:ln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33F6287-05E4-43C9-BCE8-C0A6BA9FC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075" y="1547618"/>
            <a:ext cx="2141376" cy="1115114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0FDE268B-E569-447C-8895-C34855AAFF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014" y="3512325"/>
            <a:ext cx="2141986" cy="1114366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F05E16B3-519F-4B25-964C-5BDF683B1B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F1A11F2A-3D39-4F15-9216-648FC5CD42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787004"/>
            <a:ext cx="4431036" cy="69169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46637FB4-E98B-4955-81A2-9D5F566D59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97138"/>
            <a:ext cx="4475270" cy="689782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5D494167-E178-4EB9-88C5-DA787B8B74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454" y="1537064"/>
            <a:ext cx="2105544" cy="1108411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0E03A5BB-AA0D-4BBC-A505-1195C74F0A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620" y="3503953"/>
            <a:ext cx="2103138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AABBB57-C1BF-4106-AF84-D08B66FF2D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54" y="5556722"/>
            <a:ext cx="2105029" cy="110841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5A8A95D4-05F5-4298-A36C-1C54F671DF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105" y="5562962"/>
            <a:ext cx="2143724" cy="1125455"/>
          </a:xfrm>
          <a:prstGeom prst="rect">
            <a:avLst/>
          </a:prstGeom>
          <a:ln>
            <a:noFill/>
          </a:ln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BD866E1C-8219-4DC5-A189-9BDD050C86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220" y="1549550"/>
            <a:ext cx="2126777" cy="1118077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BCDAACCF-880C-46CD-841A-2021D75259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978" y="3521413"/>
            <a:ext cx="2113749" cy="1103016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79A43A8-AA7C-4BC5-8FA5-06658A4AFF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92703"/>
            <a:ext cx="4431036" cy="677472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BB37DA6-5612-4A83-A3D4-CFF8C871F17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90417"/>
            <a:ext cx="4437903" cy="69169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B98FB083-C773-4E82-B7D6-DF610C60AED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800551"/>
            <a:ext cx="4431036" cy="689782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5F601583-2487-4357-8524-53B82B9DCAC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00" y="1547547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2AB4D26-CA77-4FE4-8EB1-02DD6A9540E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466" y="3518334"/>
            <a:ext cx="2103138" cy="108647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0B8C8D62-0C46-41E4-9FCF-9EE5F3A89ED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700" y="5567339"/>
            <a:ext cx="2105029" cy="109400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ABBF0CF-A58A-4054-B6DA-9DB6E2A92C0F}"/>
              </a:ext>
            </a:extLst>
          </p:cNvPr>
          <p:cNvSpPr txBox="1"/>
          <p:nvPr/>
        </p:nvSpPr>
        <p:spPr>
          <a:xfrm>
            <a:off x="338667" y="5877102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0.7232</a:t>
            </a:r>
            <a:endParaRPr lang="ko-KR" altLang="en-US" sz="1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754F4D-382D-444A-80B1-79DC65FCCD23}"/>
              </a:ext>
            </a:extLst>
          </p:cNvPr>
          <p:cNvSpPr txBox="1"/>
          <p:nvPr/>
        </p:nvSpPr>
        <p:spPr>
          <a:xfrm>
            <a:off x="342154" y="38914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0.5566</a:t>
            </a:r>
            <a:endParaRPr lang="ko-KR" altLang="en-US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8B78C4-0A33-43B8-8071-46FA02CC7269}"/>
              </a:ext>
            </a:extLst>
          </p:cNvPr>
          <p:cNvSpPr txBox="1"/>
          <p:nvPr/>
        </p:nvSpPr>
        <p:spPr>
          <a:xfrm>
            <a:off x="338667" y="19056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0.9110</a:t>
            </a:r>
            <a:endParaRPr lang="ko-KR" alt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3E4437-BAEB-4D35-B250-0716EE2531A9}"/>
              </a:ext>
            </a:extLst>
          </p:cNvPr>
          <p:cNvSpPr txBox="1"/>
          <p:nvPr/>
        </p:nvSpPr>
        <p:spPr>
          <a:xfrm>
            <a:off x="6233009" y="5843346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0.6832</a:t>
            </a:r>
            <a:endParaRPr lang="ko-KR" altLang="en-US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66AF22-7E5C-4E8B-B103-3DA78E598702}"/>
              </a:ext>
            </a:extLst>
          </p:cNvPr>
          <p:cNvSpPr txBox="1"/>
          <p:nvPr/>
        </p:nvSpPr>
        <p:spPr>
          <a:xfrm>
            <a:off x="6233009" y="381807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0.6694</a:t>
            </a:r>
            <a:endParaRPr lang="ko-KR" altLang="en-US" sz="12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6BC44F-6832-4950-8F98-3D4E06DC5C2F}"/>
              </a:ext>
            </a:extLst>
          </p:cNvPr>
          <p:cNvSpPr txBox="1"/>
          <p:nvPr/>
        </p:nvSpPr>
        <p:spPr>
          <a:xfrm>
            <a:off x="6239877" y="1812531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0.5535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313045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70933" y="5537725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74420" y="3552110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70933" y="1566310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94B40D-A048-4E00-A5A1-E2ED632B0C9E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</a:t>
            </a:r>
            <a:r>
              <a:rPr lang="en-US" altLang="ko-KR" sz="1050" b="1" dirty="0" err="1"/>
              <a:t>all</a:t>
            </a:r>
            <a:r>
              <a:rPr lang="en-US" altLang="ko-KR" sz="1050" b="1" dirty="0" err="1">
                <a:latin typeface="+mj-ea"/>
              </a:rPr>
              <a:t>_mae</a:t>
            </a:r>
            <a:endParaRPr lang="ko-KR" altLang="en-US" sz="105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65275" y="5503969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65275" y="3478697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72143" y="1473154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798FFB6-195A-4ADC-BDDA-87F078C5F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718" y="5558803"/>
            <a:ext cx="2144214" cy="1114544"/>
          </a:xfrm>
          <a:prstGeom prst="rect">
            <a:avLst/>
          </a:prstGeom>
          <a:ln>
            <a:noFill/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319C407-BA20-4643-9E36-1954BDE46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221" y="1544134"/>
            <a:ext cx="2124492" cy="1109678"/>
          </a:xfrm>
          <a:prstGeom prst="rect">
            <a:avLst/>
          </a:prstGeom>
          <a:ln>
            <a:noFill/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88E2D2D-0B59-4515-8B6F-CB360ED104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853" y="3510134"/>
            <a:ext cx="2111715" cy="1106345"/>
          </a:xfrm>
          <a:prstGeom prst="rect">
            <a:avLst/>
          </a:prstGeom>
          <a:ln>
            <a:noFill/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E6F03720-663E-4066-96FF-5EAC2E7C7E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070" y="781287"/>
            <a:ext cx="4470400" cy="68107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9C84B81-B78B-4556-80E9-9156854694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070" y="2780802"/>
            <a:ext cx="4470400" cy="69169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0AEBD08-7FCF-46D4-A2F4-DF5EDDF3D5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070" y="4769779"/>
            <a:ext cx="4470399" cy="68978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D83DF94-FACE-4B20-8DCB-C3B55B6A3E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158" y="1535700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27E1740-81B6-4DBD-8D63-8371D6DAB9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324" y="3503217"/>
            <a:ext cx="2103138" cy="1097479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18D7BAA1-3552-4218-BC52-6C48C21AB8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558" y="5555540"/>
            <a:ext cx="2105029" cy="109837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23D909D1-9374-4499-9562-E74A461C018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4403" y="5562671"/>
            <a:ext cx="2114397" cy="1106806"/>
          </a:xfrm>
          <a:prstGeom prst="rect">
            <a:avLst/>
          </a:prstGeom>
          <a:ln>
            <a:noFill/>
          </a:ln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A945C38D-B053-458D-9B92-1CB89B64E63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231" y="1547621"/>
            <a:ext cx="2114024" cy="1102705"/>
          </a:xfrm>
          <a:prstGeom prst="rect">
            <a:avLst/>
          </a:prstGeom>
          <a:ln>
            <a:noFill/>
          </a:ln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55032E8B-92D6-490B-889B-68C0D89460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933" y="3506989"/>
            <a:ext cx="2115108" cy="1112635"/>
          </a:xfrm>
          <a:prstGeom prst="rect">
            <a:avLst/>
          </a:prstGeom>
          <a:ln>
            <a:noFill/>
          </a:ln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CB29EC8-D864-4635-AB18-F2648F7A837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905" y="2780802"/>
            <a:ext cx="4470399" cy="691693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E6A90D3-B6CC-49FF-B26F-774ED38F054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904" y="4769779"/>
            <a:ext cx="4470399" cy="689782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F4F1E43D-31FA-4359-823D-D9CE46E1BA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5" y="1531786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16E4229F-F9BD-4C15-9396-2005CE4A818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101" y="3504879"/>
            <a:ext cx="2103138" cy="1094155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7FD289F8-3135-4B3E-B9F0-FEAC2ECC504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335" y="5550540"/>
            <a:ext cx="2105029" cy="110837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1C39D7D-D2FE-49D9-BD99-6CA03D6E847E}"/>
              </a:ext>
            </a:extLst>
          </p:cNvPr>
          <p:cNvSpPr txBox="1"/>
          <p:nvPr/>
        </p:nvSpPr>
        <p:spPr>
          <a:xfrm>
            <a:off x="270933" y="5877102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0.6120</a:t>
            </a:r>
            <a:endParaRPr lang="ko-KR" altLang="en-US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8B7776-6B63-471B-A8CE-E674D9453DEE}"/>
              </a:ext>
            </a:extLst>
          </p:cNvPr>
          <p:cNvSpPr txBox="1"/>
          <p:nvPr/>
        </p:nvSpPr>
        <p:spPr>
          <a:xfrm>
            <a:off x="274420" y="3891487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0.2335</a:t>
            </a:r>
            <a:endParaRPr lang="ko-KR" altLang="en-US" sz="12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63D508-7CFC-4924-92FE-FA3ACBBB387F}"/>
              </a:ext>
            </a:extLst>
          </p:cNvPr>
          <p:cNvSpPr txBox="1"/>
          <p:nvPr/>
        </p:nvSpPr>
        <p:spPr>
          <a:xfrm>
            <a:off x="270933" y="1905687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0.9067</a:t>
            </a:r>
            <a:endParaRPr lang="ko-KR" altLang="en-US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8FCFE0-62BF-41C0-82D7-386503869F2F}"/>
              </a:ext>
            </a:extLst>
          </p:cNvPr>
          <p:cNvSpPr txBox="1"/>
          <p:nvPr/>
        </p:nvSpPr>
        <p:spPr>
          <a:xfrm>
            <a:off x="6165275" y="5843346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0.5747</a:t>
            </a:r>
            <a:endParaRPr lang="ko-KR" altLang="en-US" sz="12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B945C3-647E-4569-B7B7-0B157E184943}"/>
              </a:ext>
            </a:extLst>
          </p:cNvPr>
          <p:cNvSpPr txBox="1"/>
          <p:nvPr/>
        </p:nvSpPr>
        <p:spPr>
          <a:xfrm>
            <a:off x="6165275" y="3818074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0.8707</a:t>
            </a:r>
            <a:endParaRPr lang="ko-KR" altLang="en-US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D5FA52-D810-4158-A7FD-BDA606E110F9}"/>
              </a:ext>
            </a:extLst>
          </p:cNvPr>
          <p:cNvSpPr txBox="1"/>
          <p:nvPr/>
        </p:nvSpPr>
        <p:spPr>
          <a:xfrm>
            <a:off x="6172143" y="1812531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0.0143</a:t>
            </a:r>
            <a:endParaRPr lang="ko-KR" altLang="en-US" sz="1200" b="1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00032EF4-5EB3-41F1-8598-0E884BDB04D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9" y="787826"/>
            <a:ext cx="4470398" cy="6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874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273387" y="3044279"/>
            <a:ext cx="7645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누적 강우 </a:t>
            </a:r>
            <a:r>
              <a:rPr lang="en-US" altLang="ko-KR" sz="4400" b="1" dirty="0">
                <a:latin typeface="+mj-ea"/>
                <a:ea typeface="+mj-ea"/>
              </a:rPr>
              <a:t>110mm </a:t>
            </a:r>
            <a:r>
              <a:rPr lang="ko-KR" altLang="en-US" sz="4400" b="1" dirty="0">
                <a:latin typeface="+mj-ea"/>
                <a:ea typeface="+mj-ea"/>
              </a:rPr>
              <a:t>이상 </a:t>
            </a:r>
            <a:r>
              <a:rPr lang="en-US" altLang="ko-KR" sz="4400" b="1" dirty="0">
                <a:latin typeface="+mj-ea"/>
                <a:ea typeface="+mj-ea"/>
              </a:rPr>
              <a:t>4 , 5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96C0C-6C11-4C0B-824D-E65F785508ED}"/>
              </a:ext>
            </a:extLst>
          </p:cNvPr>
          <p:cNvSpPr txBox="1"/>
          <p:nvPr/>
        </p:nvSpPr>
        <p:spPr>
          <a:xfrm>
            <a:off x="2273387" y="4206035"/>
            <a:ext cx="7645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+mn-ea"/>
              </a:rPr>
              <a:t>누적 강우 </a:t>
            </a:r>
            <a:r>
              <a:rPr lang="en-US" altLang="ko-KR" sz="1000" dirty="0">
                <a:latin typeface="+mn-ea"/>
              </a:rPr>
              <a:t>110mm </a:t>
            </a:r>
            <a:r>
              <a:rPr lang="ko-KR" altLang="en-US" sz="1000" dirty="0">
                <a:latin typeface="+mn-ea"/>
              </a:rPr>
              <a:t>이상 </a:t>
            </a:r>
            <a:r>
              <a:rPr lang="en-US" altLang="ko-KR" sz="1000" dirty="0">
                <a:latin typeface="+mn-ea"/>
              </a:rPr>
              <a:t>1 ~ 6</a:t>
            </a:r>
            <a:r>
              <a:rPr lang="ko-KR" altLang="en-US" sz="1000" dirty="0">
                <a:latin typeface="+mn-ea"/>
              </a:rPr>
              <a:t>은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동일한 ‘ 집중호우 </a:t>
            </a:r>
            <a:r>
              <a:rPr lang="en-US" altLang="ko-KR" sz="1000" dirty="0">
                <a:latin typeface="+mn-ea"/>
              </a:rPr>
              <a:t>(12</a:t>
            </a:r>
            <a:r>
              <a:rPr lang="ko-KR" altLang="en-US" sz="1000" dirty="0">
                <a:latin typeface="+mn-ea"/>
              </a:rPr>
              <a:t>시간 </a:t>
            </a:r>
            <a:r>
              <a:rPr lang="en-US" altLang="ko-KR" sz="1000" dirty="0">
                <a:latin typeface="+mn-ea"/>
              </a:rPr>
              <a:t>110mm </a:t>
            </a:r>
            <a:r>
              <a:rPr lang="ko-KR" altLang="en-US" sz="1000" dirty="0">
                <a:latin typeface="+mn-ea"/>
              </a:rPr>
              <a:t>이상</a:t>
            </a:r>
            <a:r>
              <a:rPr lang="en-US" altLang="ko-KR" sz="1000" dirty="0">
                <a:latin typeface="+mn-ea"/>
              </a:rPr>
              <a:t>) ’ </a:t>
            </a:r>
            <a:r>
              <a:rPr lang="ko-KR" altLang="en-US" sz="1000" dirty="0">
                <a:latin typeface="+mn-ea"/>
              </a:rPr>
              <a:t>조건에서</a:t>
            </a:r>
            <a:br>
              <a:rPr lang="ko-KR" altLang="en-US" sz="1000" dirty="0">
                <a:latin typeface="+mn-ea"/>
              </a:rPr>
            </a:br>
            <a:r>
              <a:rPr lang="ko-KR" altLang="en-US" sz="1000" dirty="0">
                <a:latin typeface="+mn-ea"/>
              </a:rPr>
              <a:t>학습 </a:t>
            </a:r>
            <a:r>
              <a:rPr lang="en-US" altLang="ko-KR" sz="1000" dirty="0">
                <a:latin typeface="+mn-ea"/>
              </a:rPr>
              <a:t>· </a:t>
            </a:r>
            <a:r>
              <a:rPr lang="ko-KR" altLang="en-US" sz="1000" dirty="0">
                <a:latin typeface="+mn-ea"/>
              </a:rPr>
              <a:t>검증 </a:t>
            </a:r>
            <a:r>
              <a:rPr lang="en-US" altLang="ko-KR" sz="1000" dirty="0">
                <a:latin typeface="+mn-ea"/>
              </a:rPr>
              <a:t>· </a:t>
            </a:r>
            <a:r>
              <a:rPr lang="ko-KR" altLang="en-US" sz="1000" dirty="0">
                <a:latin typeface="+mn-ea"/>
              </a:rPr>
              <a:t>테스트 데이터 구성 방식을 달리한 </a:t>
            </a:r>
            <a:r>
              <a:rPr lang="en-US" altLang="ko-KR" sz="1000" dirty="0">
                <a:latin typeface="+mn-ea"/>
              </a:rPr>
              <a:t>6</a:t>
            </a:r>
            <a:r>
              <a:rPr lang="ko-KR" altLang="en-US" sz="1000" dirty="0">
                <a:latin typeface="+mn-ea"/>
              </a:rPr>
              <a:t>가지 실험 시나리오 中 </a:t>
            </a:r>
            <a:r>
              <a:rPr lang="en-US" altLang="ko-KR" sz="1000" dirty="0">
                <a:latin typeface="+mn-ea"/>
              </a:rPr>
              <a:t>4 , 5 </a:t>
            </a:r>
            <a:r>
              <a:rPr lang="ko-KR" altLang="en-US" sz="1000" dirty="0">
                <a:latin typeface="+mn-ea"/>
              </a:rPr>
              <a:t>번째 시나리오</a:t>
            </a:r>
            <a:endParaRPr lang="en-US" altLang="ko-KR" sz="1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01506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파일 단위 누적 강우 </a:t>
            </a:r>
            <a:r>
              <a:rPr lang="en-US" altLang="ko-KR" sz="1600" dirty="0"/>
              <a:t>110mm </a:t>
            </a:r>
            <a:r>
              <a:rPr lang="ko-KR" altLang="en-US" sz="1600" dirty="0"/>
              <a:t>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11</a:t>
            </a:r>
            <a:r>
              <a:rPr lang="ko-KR" altLang="en-US" sz="1600" dirty="0"/>
              <a:t>개 中 </a:t>
            </a:r>
            <a:r>
              <a:rPr lang="en-US" altLang="ko-KR" sz="1600" dirty="0"/>
              <a:t>9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2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+ 4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4467125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2024 ( 8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2022(39</a:t>
            </a:r>
            <a:r>
              <a:rPr lang="ko-KR" altLang="en-US" sz="900" b="1" dirty="0">
                <a:latin typeface="+mn-ea"/>
              </a:rPr>
              <a:t>번이벤트</a:t>
            </a:r>
            <a:r>
              <a:rPr lang="en-US" altLang="ko-KR" sz="900" b="1" dirty="0">
                <a:latin typeface="+mn-ea"/>
              </a:rPr>
              <a:t>) 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2022(66.67</a:t>
            </a:r>
            <a:r>
              <a:rPr lang="ko-KR" altLang="en-US" sz="900" b="1" dirty="0">
                <a:latin typeface="+mn-ea"/>
              </a:rPr>
              <a:t>번이벤트</a:t>
            </a:r>
            <a:r>
              <a:rPr lang="en-US" altLang="ko-KR" sz="900" b="1" dirty="0">
                <a:latin typeface="+mn-ea"/>
              </a:rPr>
              <a:t>)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627533" y="126666"/>
            <a:ext cx="3437469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59DCE-5E14-4255-B96B-E9453705728A}"/>
              </a:ext>
            </a:extLst>
          </p:cNvPr>
          <p:cNvSpPr txBox="1"/>
          <p:nvPr/>
        </p:nvSpPr>
        <p:spPr>
          <a:xfrm>
            <a:off x="9273646" y="55088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2024 ( 8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2022(35</a:t>
            </a:r>
            <a:r>
              <a:rPr lang="ko-KR" altLang="en-US" sz="900" b="1" dirty="0">
                <a:latin typeface="+mn-ea"/>
              </a:rPr>
              <a:t>번이벤트</a:t>
            </a:r>
            <a:r>
              <a:rPr lang="en-US" altLang="ko-KR" sz="900" b="1" dirty="0">
                <a:latin typeface="+mn-ea"/>
              </a:rPr>
              <a:t>) 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2022(66.67</a:t>
            </a:r>
            <a:r>
              <a:rPr lang="ko-KR" altLang="en-US" sz="900" b="1" dirty="0">
                <a:latin typeface="+mn-ea"/>
              </a:rPr>
              <a:t>번이벤트</a:t>
            </a:r>
            <a:r>
              <a:rPr lang="en-US" altLang="ko-KR" sz="900" b="1" dirty="0">
                <a:latin typeface="+mn-ea"/>
              </a:rPr>
              <a:t>)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87A64-B256-4642-919E-76329C7C652D}"/>
              </a:ext>
            </a:extLst>
          </p:cNvPr>
          <p:cNvSpPr txBox="1"/>
          <p:nvPr/>
        </p:nvSpPr>
        <p:spPr>
          <a:xfrm>
            <a:off x="8534704" y="4744123"/>
            <a:ext cx="429656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AF0870-24EB-4091-B846-FEF43C99B44B}"/>
              </a:ext>
            </a:extLst>
          </p:cNvPr>
          <p:cNvSpPr txBox="1"/>
          <p:nvPr/>
        </p:nvSpPr>
        <p:spPr>
          <a:xfrm>
            <a:off x="8534704" y="5785817"/>
            <a:ext cx="429656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2961F6-D031-4D2B-B9B9-3C70CD1822E2}"/>
              </a:ext>
            </a:extLst>
          </p:cNvPr>
          <p:cNvSpPr txBox="1"/>
          <p:nvPr/>
        </p:nvSpPr>
        <p:spPr>
          <a:xfrm>
            <a:off x="8466969" y="5289148"/>
            <a:ext cx="3437469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893282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EDDC169-90D3-4EE7-84AF-450F580C8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537015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0.7237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0.0584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0.1572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0.2417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0.8350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0.1006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0.2683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0.3172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0.3192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0.1369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0.0424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0.3414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0.3820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0.8533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0.0410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0.1509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0.2025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0.7456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0.2314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0.3847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0.4811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0.7623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0.0192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0.0851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0.0871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0.0434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0.2083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0.8108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0.1236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0.8305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0.0782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0.1994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0.2797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0.8475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0.0107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0.0815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0.1036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0.5011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0.3295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0.4160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4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97260" y="3784308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86854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41251-5550-4C99-AD15-000CC298EDA3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/dg)_110_4_2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9568A-83BA-46F0-8B17-6402305D8D68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22 , 24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이벤트  유독 낮은 성능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 이벤트 성능은 향상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 수 부족으로 일반화 한계 명확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51686-94D6-4A56-9631-FEB663D44C00}"/>
              </a:ext>
            </a:extLst>
          </p:cNvPr>
          <p:cNvSpPr txBox="1"/>
          <p:nvPr/>
        </p:nvSpPr>
        <p:spPr>
          <a:xfrm>
            <a:off x="237067" y="6333135"/>
            <a:ext cx="7645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+mn-ea"/>
              </a:rPr>
              <a:t>누적강우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110mm </a:t>
            </a:r>
            <a:r>
              <a:rPr lang="ko-KR" altLang="en-US" sz="1000" dirty="0">
                <a:latin typeface="+mn-ea"/>
              </a:rPr>
              <a:t>이상 </a:t>
            </a:r>
            <a:r>
              <a:rPr lang="en-US" altLang="ko-KR" sz="1000" dirty="0">
                <a:latin typeface="+mn-ea"/>
              </a:rPr>
              <a:t>1 ~ 6</a:t>
            </a:r>
            <a:r>
              <a:rPr lang="ko-KR" altLang="en-US" sz="1000" dirty="0">
                <a:latin typeface="+mn-ea"/>
              </a:rPr>
              <a:t>은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동일한 ‘ 집중호우 </a:t>
            </a:r>
            <a:r>
              <a:rPr lang="en-US" altLang="ko-KR" sz="1000" dirty="0">
                <a:latin typeface="+mn-ea"/>
              </a:rPr>
              <a:t>(12</a:t>
            </a:r>
            <a:r>
              <a:rPr lang="ko-KR" altLang="en-US" sz="1000" dirty="0">
                <a:latin typeface="+mn-ea"/>
              </a:rPr>
              <a:t>시간 </a:t>
            </a:r>
            <a:r>
              <a:rPr lang="en-US" altLang="ko-KR" sz="1000" dirty="0">
                <a:latin typeface="+mn-ea"/>
              </a:rPr>
              <a:t>110mm </a:t>
            </a:r>
            <a:r>
              <a:rPr lang="ko-KR" altLang="en-US" sz="1000" dirty="0">
                <a:latin typeface="+mn-ea"/>
              </a:rPr>
              <a:t>이상</a:t>
            </a:r>
            <a:r>
              <a:rPr lang="en-US" altLang="ko-KR" sz="1000" dirty="0">
                <a:latin typeface="+mn-ea"/>
              </a:rPr>
              <a:t>) ’ </a:t>
            </a:r>
            <a:r>
              <a:rPr lang="ko-KR" altLang="en-US" sz="1000" dirty="0">
                <a:latin typeface="+mn-ea"/>
              </a:rPr>
              <a:t>조건에서</a:t>
            </a:r>
            <a:br>
              <a:rPr lang="ko-KR" altLang="en-US" sz="1000" dirty="0">
                <a:latin typeface="+mn-ea"/>
              </a:rPr>
            </a:br>
            <a:r>
              <a:rPr lang="ko-KR" altLang="en-US" sz="1000" dirty="0">
                <a:latin typeface="+mn-ea"/>
              </a:rPr>
              <a:t>학습 </a:t>
            </a:r>
            <a:r>
              <a:rPr lang="en-US" altLang="ko-KR" sz="1000" dirty="0">
                <a:latin typeface="+mn-ea"/>
              </a:rPr>
              <a:t>· </a:t>
            </a:r>
            <a:r>
              <a:rPr lang="ko-KR" altLang="en-US" sz="1000" dirty="0">
                <a:latin typeface="+mn-ea"/>
              </a:rPr>
              <a:t>검증 </a:t>
            </a:r>
            <a:r>
              <a:rPr lang="en-US" altLang="ko-KR" sz="1000" dirty="0">
                <a:latin typeface="+mn-ea"/>
              </a:rPr>
              <a:t>· </a:t>
            </a:r>
            <a:r>
              <a:rPr lang="ko-KR" altLang="en-US" sz="1000" dirty="0">
                <a:latin typeface="+mn-ea"/>
              </a:rPr>
              <a:t>테스트 데이터 구성 방식을 달리한 </a:t>
            </a:r>
            <a:r>
              <a:rPr lang="en-US" altLang="ko-KR" sz="1000" dirty="0">
                <a:latin typeface="+mn-ea"/>
              </a:rPr>
              <a:t>6</a:t>
            </a:r>
            <a:r>
              <a:rPr lang="ko-KR" altLang="en-US" sz="1000" dirty="0">
                <a:latin typeface="+mn-ea"/>
              </a:rPr>
              <a:t>가지 실험 시나리오 中 시나리오 </a:t>
            </a:r>
            <a:r>
              <a:rPr lang="en-US" altLang="ko-KR" sz="1000" dirty="0">
                <a:latin typeface="+mn-ea"/>
              </a:rPr>
              <a:t>4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4C24FE-71A5-45FE-BA8A-4D02088E6447}"/>
              </a:ext>
            </a:extLst>
          </p:cNvPr>
          <p:cNvSpPr txBox="1"/>
          <p:nvPr/>
        </p:nvSpPr>
        <p:spPr>
          <a:xfrm>
            <a:off x="5018530" y="2914649"/>
            <a:ext cx="6877480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이전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- 5.9% )  ,  </a:t>
            </a:r>
            <a:r>
              <a:rPr lang="ko-KR" altLang="en-US" dirty="0" err="1"/>
              <a:t>대곡교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-7.1%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3665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70933" y="5537725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74420" y="3552110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70933" y="1566310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65275" y="5503969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65275" y="3478697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72143" y="1473154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5E1F18-3EA6-461D-A974-6330CF217EC0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/dg)_110_4_2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32ADF6D3-3D6E-4E33-B459-BD45474F5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989" y="5561236"/>
            <a:ext cx="2133361" cy="113111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00A759DE-B444-42CA-AA90-39C05C2B4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624" y="1544134"/>
            <a:ext cx="2141376" cy="113111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FAC6266C-DAD4-4FEE-A64D-04A78AA208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63" y="3511095"/>
            <a:ext cx="2141986" cy="1125854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E4080B31-8044-42D1-B699-F11EC045EE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149" y="792003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4695A42A-B7EB-4750-9489-ACCDD348F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513" y="2791518"/>
            <a:ext cx="4431036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E37330F-AB40-4B1C-B18A-6AAEAED247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149" y="4801652"/>
            <a:ext cx="4475270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6BA50C0B-BC24-41D0-B884-B525064BEE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003" y="1541578"/>
            <a:ext cx="2105544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125A2E3F-F365-4B85-95A7-2A16F8857D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169" y="3508467"/>
            <a:ext cx="2103138" cy="110841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6A7D02EE-5991-4CA4-9007-64781A880B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403" y="5561236"/>
            <a:ext cx="2105029" cy="110841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B0CF0A35-6151-4CD4-A5E0-B42203C270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105" y="5562653"/>
            <a:ext cx="2143724" cy="1128276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F1E38D4B-6B3F-4F3C-8BA8-0DD92012516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40" y="1549109"/>
            <a:ext cx="2138738" cy="1121161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BF294F20-EB8D-423C-AB12-E34FB0076C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978" y="3515455"/>
            <a:ext cx="2113749" cy="1117135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C82A946F-58D1-43F6-B16B-DFCCF2A8EC9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93804"/>
            <a:ext cx="4431036" cy="67747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5BB40B10-B573-4A42-9BAA-005FD0E93C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91518"/>
            <a:ext cx="4437903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A0E24858-AA7A-476D-8930-AC32A82895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801652"/>
            <a:ext cx="4431036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4A0BB838-C9FA-4D13-8744-12288382928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00" y="1548648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BE88E388-BDF0-441B-A7A2-C69ACFECD12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466" y="3519435"/>
            <a:ext cx="2103138" cy="108647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35C68DFA-45B1-4C24-ADE0-B26B08B8C69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700" y="5568440"/>
            <a:ext cx="2105029" cy="1094003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4BA1DE4-133E-4520-A165-5864DCF00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005" y="5496470"/>
            <a:ext cx="2133361" cy="1131111"/>
          </a:xfrm>
          <a:prstGeom prst="rect">
            <a:avLst/>
          </a:prstGeom>
          <a:ln>
            <a:noFill/>
          </a:ln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E5764851-E7E7-411B-83DD-481CE9D1F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640" y="1479368"/>
            <a:ext cx="2141376" cy="1131111"/>
          </a:xfrm>
          <a:prstGeom prst="rect">
            <a:avLst/>
          </a:prstGeom>
          <a:ln>
            <a:noFill/>
          </a:ln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66A752A-E509-4139-BE45-B10CF53D74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579" y="3446329"/>
            <a:ext cx="2141986" cy="1125854"/>
          </a:xfrm>
          <a:prstGeom prst="rect">
            <a:avLst/>
          </a:prstGeom>
          <a:ln>
            <a:noFill/>
          </a:ln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4F40B36E-2E5F-4EDB-A4DD-5E02F7722D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121" y="5497887"/>
            <a:ext cx="2143724" cy="1128276"/>
          </a:xfrm>
          <a:prstGeom prst="rect">
            <a:avLst/>
          </a:prstGeom>
          <a:ln>
            <a:noFill/>
          </a:ln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97F06816-08FC-4390-9DBD-BD8A6067A5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994" y="3450689"/>
            <a:ext cx="2113749" cy="1117135"/>
          </a:xfrm>
          <a:prstGeom prst="rect">
            <a:avLst/>
          </a:prstGeom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9F55B42-BDF8-4B54-BFC3-CC648EEE1C9A}"/>
              </a:ext>
            </a:extLst>
          </p:cNvPr>
          <p:cNvSpPr txBox="1"/>
          <p:nvPr/>
        </p:nvSpPr>
        <p:spPr>
          <a:xfrm>
            <a:off x="270933" y="5877102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0.8533</a:t>
            </a:r>
            <a:endParaRPr lang="ko-KR" altLang="en-US" sz="12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CEE69E-D59B-4D2B-BFAA-E0B7B731482E}"/>
              </a:ext>
            </a:extLst>
          </p:cNvPr>
          <p:cNvSpPr txBox="1"/>
          <p:nvPr/>
        </p:nvSpPr>
        <p:spPr>
          <a:xfrm>
            <a:off x="274420" y="3891487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0.3192</a:t>
            </a:r>
            <a:endParaRPr lang="ko-KR" altLang="en-US" sz="12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BBC153-104D-4E8B-8C37-FEDEE77F247F}"/>
              </a:ext>
            </a:extLst>
          </p:cNvPr>
          <p:cNvSpPr txBox="1"/>
          <p:nvPr/>
        </p:nvSpPr>
        <p:spPr>
          <a:xfrm>
            <a:off x="270933" y="1905687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0.7237</a:t>
            </a:r>
            <a:endParaRPr lang="ko-KR" altLang="en-US" sz="1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E88140-FB0C-4CE0-881D-73847D8A577F}"/>
              </a:ext>
            </a:extLst>
          </p:cNvPr>
          <p:cNvSpPr txBox="1"/>
          <p:nvPr/>
        </p:nvSpPr>
        <p:spPr>
          <a:xfrm>
            <a:off x="6165275" y="5843346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0.8475</a:t>
            </a:r>
            <a:endParaRPr lang="ko-KR" altLang="en-US" sz="12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C9B4C6-2F0F-4B1C-A8BF-F2B4482CE621}"/>
              </a:ext>
            </a:extLst>
          </p:cNvPr>
          <p:cNvSpPr txBox="1"/>
          <p:nvPr/>
        </p:nvSpPr>
        <p:spPr>
          <a:xfrm>
            <a:off x="6165275" y="3818074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0.8108</a:t>
            </a:r>
            <a:endParaRPr lang="ko-KR" altLang="en-US" sz="12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49ECAB-4778-43D0-AFAF-A8CB9478D750}"/>
              </a:ext>
            </a:extLst>
          </p:cNvPr>
          <p:cNvSpPr txBox="1"/>
          <p:nvPr/>
        </p:nvSpPr>
        <p:spPr>
          <a:xfrm>
            <a:off x="6172143" y="1812531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0.7623</a:t>
            </a:r>
            <a:endParaRPr lang="pt-BR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80339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47133" y="5537725"/>
            <a:ext cx="127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50620" y="3552110"/>
            <a:ext cx="127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47133" y="1566310"/>
            <a:ext cx="127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41475" y="5503969"/>
            <a:ext cx="127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41475" y="3478697"/>
            <a:ext cx="127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48343" y="1473154"/>
            <a:ext cx="127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5E1F18-3EA6-461D-A974-6330CF217EC0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/dg)_110_4_2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B1ECFDE-25E2-41F4-9FF9-1006D0F5F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248" y="5568353"/>
            <a:ext cx="2144214" cy="1116876"/>
          </a:xfrm>
          <a:prstGeom prst="rect">
            <a:avLst/>
          </a:prstGeom>
          <a:ln>
            <a:noFill/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14E9BDD-E4F4-46FD-9486-25CDCF3A0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628" y="1554850"/>
            <a:ext cx="2138738" cy="1109678"/>
          </a:xfrm>
          <a:prstGeom prst="rect">
            <a:avLst/>
          </a:prstGeom>
          <a:ln>
            <a:noFill/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C5FFFCD-31B3-4000-AAAE-2AF1D090A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383" y="3515455"/>
            <a:ext cx="2111715" cy="1117135"/>
          </a:xfrm>
          <a:prstGeom prst="rect">
            <a:avLst/>
          </a:prstGeom>
          <a:ln>
            <a:noFill/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FA6E05AE-6645-469F-9C3C-63AD09EE05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92003"/>
            <a:ext cx="4470400" cy="68107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AD3F760-76C9-4D15-BF25-02F583AB03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791518"/>
            <a:ext cx="4470400" cy="69169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82126A49-DABD-4DA1-8F6E-A5B9BF2C9A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80495"/>
            <a:ext cx="4470399" cy="68978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F71DC40A-54DA-4D6A-BDB5-05B8986D2A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88" y="1546416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498EA2B-3725-49AE-BDEF-25A7ACD2A6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54" y="3513933"/>
            <a:ext cx="2103138" cy="1097479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1E067DA1-1166-4FD2-9569-1085729A52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088" y="5566256"/>
            <a:ext cx="2105029" cy="109837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1841712-3E2C-4BD9-BA83-33894B7EC0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843" y="5568494"/>
            <a:ext cx="2114397" cy="1116592"/>
          </a:xfrm>
          <a:prstGeom prst="rect">
            <a:avLst/>
          </a:prstGeom>
          <a:ln>
            <a:noFill/>
          </a:ln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39644EF2-5826-411D-A19F-EC6BD0AA789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797" y="1551809"/>
            <a:ext cx="2121773" cy="1115760"/>
          </a:xfrm>
          <a:prstGeom prst="rect">
            <a:avLst/>
          </a:prstGeom>
          <a:ln>
            <a:noFill/>
          </a:ln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5A808A59-FEE8-41FF-BC26-42CE039F75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055" y="3517705"/>
            <a:ext cx="2117745" cy="1112635"/>
          </a:xfrm>
          <a:prstGeom prst="rect">
            <a:avLst/>
          </a:prstGeom>
          <a:ln>
            <a:noFill/>
          </a:ln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35C3B56-B424-4B99-B86C-A5A1AB0492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345" y="2791518"/>
            <a:ext cx="4470399" cy="691693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903E6B68-39C2-44AE-8C3F-CAED525BB36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344" y="4780495"/>
            <a:ext cx="4470399" cy="689782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88762908-9A4F-48A7-B0B5-6191E9536ED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375" y="1542502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CCED7D21-1D8F-4447-BEB6-38D5EA24328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541" y="3515595"/>
            <a:ext cx="2103138" cy="1094155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2F47157C-D5A9-46CD-92AD-20E5CDAFB5B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775" y="5561256"/>
            <a:ext cx="2105029" cy="110837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F8CDA13-1CA3-4E3C-9BDA-7CAC5789ED8C}"/>
              </a:ext>
            </a:extLst>
          </p:cNvPr>
          <p:cNvSpPr txBox="1"/>
          <p:nvPr/>
        </p:nvSpPr>
        <p:spPr>
          <a:xfrm>
            <a:off x="347133" y="5877102"/>
            <a:ext cx="127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0.7456</a:t>
            </a:r>
            <a:endParaRPr lang="ko-KR" altLang="en-US" sz="12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79A9DD-8494-4760-AB39-EB7F88134336}"/>
              </a:ext>
            </a:extLst>
          </p:cNvPr>
          <p:cNvSpPr txBox="1"/>
          <p:nvPr/>
        </p:nvSpPr>
        <p:spPr>
          <a:xfrm>
            <a:off x="350620" y="3891487"/>
            <a:ext cx="127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pt-BR" altLang="ko-KR" sz="1200" dirty="0">
                <a:solidFill>
                  <a:srgbClr val="FF0000"/>
                </a:solidFill>
              </a:rPr>
              <a:t>-</a:t>
            </a:r>
            <a:r>
              <a:rPr lang="en-US" altLang="ko-KR" sz="1200" dirty="0">
                <a:solidFill>
                  <a:srgbClr val="FF0000"/>
                </a:solidFill>
              </a:rPr>
              <a:t>0.0424</a:t>
            </a:r>
            <a:endParaRPr lang="ko-KR" alt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F195A6-6C04-4D93-8FBE-76A8D9038A21}"/>
              </a:ext>
            </a:extLst>
          </p:cNvPr>
          <p:cNvSpPr txBox="1"/>
          <p:nvPr/>
        </p:nvSpPr>
        <p:spPr>
          <a:xfrm>
            <a:off x="347133" y="1905687"/>
            <a:ext cx="127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0.8350</a:t>
            </a:r>
            <a:endParaRPr lang="ko-KR" altLang="en-US" sz="12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B31D51-539C-42E7-9925-AC3C39E7FDE3}"/>
              </a:ext>
            </a:extLst>
          </p:cNvPr>
          <p:cNvSpPr txBox="1"/>
          <p:nvPr/>
        </p:nvSpPr>
        <p:spPr>
          <a:xfrm>
            <a:off x="6241475" y="5843346"/>
            <a:ext cx="127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0.5011</a:t>
            </a:r>
            <a:endParaRPr lang="ko-KR" altLang="en-US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55157D-D286-45F6-BD26-FE5C5860CCDF}"/>
              </a:ext>
            </a:extLst>
          </p:cNvPr>
          <p:cNvSpPr txBox="1"/>
          <p:nvPr/>
        </p:nvSpPr>
        <p:spPr>
          <a:xfrm>
            <a:off x="6241475" y="3818074"/>
            <a:ext cx="1278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0.8305</a:t>
            </a:r>
            <a:endParaRPr lang="ko-KR" altLang="en-US" sz="12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D6A87D-9E43-484E-BDE9-ABFD385B8DDE}"/>
              </a:ext>
            </a:extLst>
          </p:cNvPr>
          <p:cNvSpPr txBox="1"/>
          <p:nvPr/>
        </p:nvSpPr>
        <p:spPr>
          <a:xfrm>
            <a:off x="6248343" y="1812531"/>
            <a:ext cx="127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0.0871</a:t>
            </a:r>
            <a:endParaRPr lang="ko-KR" altLang="en-US" sz="1200" dirty="0"/>
          </a:p>
          <a:p>
            <a:pPr algn="ctr" latinLnBrk="1"/>
            <a:endParaRPr lang="ko-KR" altLang="en-US" sz="1200" b="1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788EDC6F-F3CB-44D5-9557-767E616AE92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9" y="787826"/>
            <a:ext cx="4470398" cy="6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004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37995" y="3784308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7CE781-74CB-4413-959E-C32AAC498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665405"/>
              </p:ext>
            </p:extLst>
          </p:nvPr>
        </p:nvGraphicFramePr>
        <p:xfrm>
          <a:off x="5676306" y="3429000"/>
          <a:ext cx="5977188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0.8774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0.0259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0.1047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0.1609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0.9246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0.0460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0.1541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0.2144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0.0373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0.1603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0.1932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0.1000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0.3041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0.3924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0.8028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0.0851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0.1455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0.8276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0.3195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0.3961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0.7051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0.1544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0.5130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0.1521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0.7764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0.0224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0.1110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0.9577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0.0195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0.1145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0.1397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0.8673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0.0093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0.0756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0.0967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0.6115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0.1348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0.3007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0.3671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B39C7E5-BA4C-49A5-81C1-BF204C516EAC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/dg)_110_5_2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8AA43-BFFA-4FAF-9A44-973E9DA1E037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누적 강우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110mm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이상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대비 일부 개선된 성능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22 , 24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이벤트  유독 낮은 성능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 수 부족으로 일반화 한계 명확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피크값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추적력은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개선되었으나 안정성이 향상되지 않음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BBF4F3-5E4A-4A12-817B-CE1688DD301D}"/>
              </a:ext>
            </a:extLst>
          </p:cNvPr>
          <p:cNvSpPr txBox="1"/>
          <p:nvPr/>
        </p:nvSpPr>
        <p:spPr>
          <a:xfrm>
            <a:off x="237067" y="6333135"/>
            <a:ext cx="7645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+mn-ea"/>
              </a:rPr>
              <a:t>누적강우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110mm </a:t>
            </a:r>
            <a:r>
              <a:rPr lang="ko-KR" altLang="en-US" sz="1000" dirty="0">
                <a:latin typeface="+mn-ea"/>
              </a:rPr>
              <a:t>이상 </a:t>
            </a:r>
            <a:r>
              <a:rPr lang="en-US" altLang="ko-KR" sz="1000" dirty="0">
                <a:latin typeface="+mn-ea"/>
              </a:rPr>
              <a:t>1 ~ 6</a:t>
            </a:r>
            <a:r>
              <a:rPr lang="ko-KR" altLang="en-US" sz="1000" dirty="0">
                <a:latin typeface="+mn-ea"/>
              </a:rPr>
              <a:t>은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동일한 ‘ 집중호우 </a:t>
            </a:r>
            <a:r>
              <a:rPr lang="en-US" altLang="ko-KR" sz="1000" dirty="0">
                <a:latin typeface="+mn-ea"/>
              </a:rPr>
              <a:t>(12</a:t>
            </a:r>
            <a:r>
              <a:rPr lang="ko-KR" altLang="en-US" sz="1000" dirty="0">
                <a:latin typeface="+mn-ea"/>
              </a:rPr>
              <a:t>시간 </a:t>
            </a:r>
            <a:r>
              <a:rPr lang="en-US" altLang="ko-KR" sz="1000" dirty="0">
                <a:latin typeface="+mn-ea"/>
              </a:rPr>
              <a:t>110mm </a:t>
            </a:r>
            <a:r>
              <a:rPr lang="ko-KR" altLang="en-US" sz="1000" dirty="0">
                <a:latin typeface="+mn-ea"/>
              </a:rPr>
              <a:t>이상</a:t>
            </a:r>
            <a:r>
              <a:rPr lang="en-US" altLang="ko-KR" sz="1000" dirty="0">
                <a:latin typeface="+mn-ea"/>
              </a:rPr>
              <a:t>) ’ </a:t>
            </a:r>
            <a:r>
              <a:rPr lang="ko-KR" altLang="en-US" sz="1000" dirty="0">
                <a:latin typeface="+mn-ea"/>
              </a:rPr>
              <a:t>조건에서</a:t>
            </a:r>
            <a:br>
              <a:rPr lang="ko-KR" altLang="en-US" sz="1000" dirty="0">
                <a:latin typeface="+mn-ea"/>
              </a:rPr>
            </a:br>
            <a:r>
              <a:rPr lang="ko-KR" altLang="en-US" sz="1000" dirty="0">
                <a:latin typeface="+mn-ea"/>
              </a:rPr>
              <a:t>학습 </a:t>
            </a:r>
            <a:r>
              <a:rPr lang="en-US" altLang="ko-KR" sz="1000" dirty="0">
                <a:latin typeface="+mn-ea"/>
              </a:rPr>
              <a:t>· </a:t>
            </a:r>
            <a:r>
              <a:rPr lang="ko-KR" altLang="en-US" sz="1000" dirty="0">
                <a:latin typeface="+mn-ea"/>
              </a:rPr>
              <a:t>검증 </a:t>
            </a:r>
            <a:r>
              <a:rPr lang="en-US" altLang="ko-KR" sz="1000" dirty="0">
                <a:latin typeface="+mn-ea"/>
              </a:rPr>
              <a:t>· </a:t>
            </a:r>
            <a:r>
              <a:rPr lang="ko-KR" altLang="en-US" sz="1000" dirty="0">
                <a:latin typeface="+mn-ea"/>
              </a:rPr>
              <a:t>테스트 데이터 구성 방식을 달리한 </a:t>
            </a:r>
            <a:r>
              <a:rPr lang="en-US" altLang="ko-KR" sz="1000" dirty="0">
                <a:latin typeface="+mn-ea"/>
              </a:rPr>
              <a:t>6</a:t>
            </a:r>
            <a:r>
              <a:rPr lang="ko-KR" altLang="en-US" sz="1000" dirty="0">
                <a:latin typeface="+mn-ea"/>
              </a:rPr>
              <a:t>가지 실험 시나리오 中 시나리오 </a:t>
            </a:r>
            <a:r>
              <a:rPr lang="en-US" altLang="ko-KR" sz="1000" dirty="0">
                <a:latin typeface="+mn-ea"/>
              </a:rPr>
              <a:t>5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723420-1D1A-46CB-A691-6B9D6395FA3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이전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- 4.3% )  ,  </a:t>
            </a:r>
            <a:r>
              <a:rPr lang="ko-KR" altLang="en-US" dirty="0" err="1"/>
              <a:t>대곡교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+11.1%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7591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30200" y="553772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33687" y="355211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30200" y="156631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24542" y="5503969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24542" y="3478697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31410" y="147315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B503A0-F051-4DD1-9858-F2275BFA867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/dg)_110_5_2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EA3FAB42-84D8-4201-8A59-2696A95CE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014" y="5561374"/>
            <a:ext cx="2144214" cy="1121807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113BA4BF-3A4C-4FEA-931D-BC6B7CD8F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527" y="1541548"/>
            <a:ext cx="2152473" cy="1127254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5480FEDC-74F8-410A-931A-F415FB107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014" y="3506581"/>
            <a:ext cx="2141986" cy="1125854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6876AAB2-8FFA-40E4-975F-267D669830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7C0870AD-0BBF-4A0E-8D76-DCE7E0CF21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787004"/>
            <a:ext cx="4431036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2DE2BC1E-DFE6-4588-BA0A-CBE0D18635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97138"/>
            <a:ext cx="4475270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5B9E3F06-D4FA-4778-8502-9FCD996DA3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454" y="1537064"/>
            <a:ext cx="2105544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A164433D-EAA9-4FF8-87B4-45D34BF551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620" y="3503953"/>
            <a:ext cx="2103138" cy="110841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AC46708C-F3D3-414B-BD04-437866E0D9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54" y="5556722"/>
            <a:ext cx="2105029" cy="110841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BDAA5740-034F-417A-BC5C-59B25B5146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860" y="5561591"/>
            <a:ext cx="2144214" cy="1121372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ECAFD133-D2DA-4405-B48F-07BFFB1A03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333" y="1545145"/>
            <a:ext cx="2130551" cy="1120061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E698D8CD-FC6F-4470-B9C6-6483319B04F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860" y="3512874"/>
            <a:ext cx="2141986" cy="111326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8FC7666E-4201-4A74-A051-710A3E4E53E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89290"/>
            <a:ext cx="4431036" cy="67747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59A86CA8-A798-494D-AE59-9EAECF409F3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87004"/>
            <a:ext cx="4437903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1EF7861-8693-4D55-AF6F-5241DE8D25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97138"/>
            <a:ext cx="4431036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938E2839-8828-4A01-8132-CCC8B5F7CE0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00" y="1544134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0A19909F-2E47-487F-B9EA-BA4C0838834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466" y="3514921"/>
            <a:ext cx="2103138" cy="108647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7CFFFB39-06B9-4EB8-8226-BC5CF1EEB36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700" y="5563926"/>
            <a:ext cx="2105029" cy="109400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C1F9E0A-6432-46A4-8D11-5BDD632C546C}"/>
              </a:ext>
            </a:extLst>
          </p:cNvPr>
          <p:cNvSpPr txBox="1"/>
          <p:nvPr/>
        </p:nvSpPr>
        <p:spPr>
          <a:xfrm>
            <a:off x="330200" y="5877102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0.8028</a:t>
            </a:r>
            <a:endParaRPr lang="ko-KR" altLang="en-US" sz="1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C6F9D7-8260-4C19-BD58-E97A0278BCD4}"/>
              </a:ext>
            </a:extLst>
          </p:cNvPr>
          <p:cNvSpPr txBox="1"/>
          <p:nvPr/>
        </p:nvSpPr>
        <p:spPr>
          <a:xfrm>
            <a:off x="333687" y="3891487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0.0586</a:t>
            </a:r>
            <a:endParaRPr lang="ko-KR" altLang="en-US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5094C5-F553-4905-A5BD-C23C3969AC50}"/>
              </a:ext>
            </a:extLst>
          </p:cNvPr>
          <p:cNvSpPr txBox="1"/>
          <p:nvPr/>
        </p:nvSpPr>
        <p:spPr>
          <a:xfrm>
            <a:off x="330200" y="1905687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0.8774</a:t>
            </a:r>
            <a:endParaRPr lang="ko-KR" alt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5D3F52-962E-41AF-B1BE-580DBB3DA82F}"/>
              </a:ext>
            </a:extLst>
          </p:cNvPr>
          <p:cNvSpPr txBox="1"/>
          <p:nvPr/>
        </p:nvSpPr>
        <p:spPr>
          <a:xfrm>
            <a:off x="6224542" y="5843346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0.8673</a:t>
            </a:r>
            <a:endParaRPr lang="ko-KR" altLang="en-US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92CAB0-3B98-48A8-95AC-5A398F7304FD}"/>
              </a:ext>
            </a:extLst>
          </p:cNvPr>
          <p:cNvSpPr txBox="1"/>
          <p:nvPr/>
        </p:nvSpPr>
        <p:spPr>
          <a:xfrm>
            <a:off x="6224542" y="381807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0.7764</a:t>
            </a:r>
            <a:endParaRPr lang="ko-KR" altLang="en-US" sz="12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7B80C1-D9AC-4205-A151-29EDFC44906D}"/>
              </a:ext>
            </a:extLst>
          </p:cNvPr>
          <p:cNvSpPr txBox="1"/>
          <p:nvPr/>
        </p:nvSpPr>
        <p:spPr>
          <a:xfrm>
            <a:off x="6231410" y="1812531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0.7051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34935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70933" y="5537725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74420" y="3552110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70933" y="1566310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65275" y="5503969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65275" y="3478697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72143" y="1473154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B503A0-F051-4DD1-9858-F2275BFA867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/dg)_110_5_2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08A97BCD-A3DF-4098-A854-46C8701DA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649" y="5559952"/>
            <a:ext cx="2135411" cy="1124650"/>
          </a:xfrm>
          <a:prstGeom prst="rect">
            <a:avLst/>
          </a:prstGeom>
          <a:ln>
            <a:noFill/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6CCFE70-3ED2-4507-9A2E-80627FD44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966" y="1544977"/>
            <a:ext cx="2132061" cy="1120396"/>
          </a:xfrm>
          <a:prstGeom prst="rect">
            <a:avLst/>
          </a:prstGeom>
          <a:ln>
            <a:noFill/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387662CC-9EB9-4858-A5D9-D19C54843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643" y="3510941"/>
            <a:ext cx="2111195" cy="1117135"/>
          </a:xfrm>
          <a:prstGeom prst="rect">
            <a:avLst/>
          </a:prstGeom>
          <a:ln>
            <a:noFill/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7F437A7-17F5-4140-B950-24572DCDB6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109C56B-B46C-43FB-8433-26F3CD422A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787004"/>
            <a:ext cx="4470400" cy="69169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635D634-2C10-41B1-9E2A-9A86736527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75981"/>
            <a:ext cx="4470399" cy="68978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B59ECE28-34A7-431E-A74B-A391296009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88" y="1541902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7BA12036-C70B-49A2-8041-1D35A8244C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54" y="3509419"/>
            <a:ext cx="2103138" cy="1097479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37EB69B9-7A5B-4B4D-917C-74ADABBACF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088" y="5561742"/>
            <a:ext cx="2105029" cy="109837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6831E76C-F051-4B2D-A300-C897B56B70F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558" y="5568010"/>
            <a:ext cx="2123900" cy="1116592"/>
          </a:xfrm>
          <a:prstGeom prst="rect">
            <a:avLst/>
          </a:prstGeom>
          <a:ln>
            <a:noFill/>
          </a:ln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8FD7D4C0-C9D1-47C2-9FEF-E5DF79D77E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4263" y="1551325"/>
            <a:ext cx="2121773" cy="1115760"/>
          </a:xfrm>
          <a:prstGeom prst="rect">
            <a:avLst/>
          </a:prstGeom>
          <a:ln>
            <a:noFill/>
          </a:ln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D41BDC3C-90F9-4CCB-B234-07FBF5D40B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521" y="3517221"/>
            <a:ext cx="2117745" cy="1112635"/>
          </a:xfrm>
          <a:prstGeom prst="rect">
            <a:avLst/>
          </a:prstGeom>
          <a:ln>
            <a:noFill/>
          </a:ln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9AA869AB-7EDB-4501-9538-8493E631AC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1" y="2791034"/>
            <a:ext cx="4470399" cy="691693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77D5C478-E321-43CB-9CBA-C13CB08CA92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80011"/>
            <a:ext cx="4470399" cy="689782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FB873EFB-32AC-4ECB-9196-BF79BA1FB36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41" y="1542018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DB1B8902-6B09-4AE7-87D4-8827C3CD8F0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007" y="3515111"/>
            <a:ext cx="2103138" cy="1094155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877D89A3-9014-436E-AC6A-82CFF783D5C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241" y="5560772"/>
            <a:ext cx="2105029" cy="110837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4C23173-92ED-42D7-9015-D497F2BE96C3}"/>
              </a:ext>
            </a:extLst>
          </p:cNvPr>
          <p:cNvSpPr txBox="1"/>
          <p:nvPr/>
        </p:nvSpPr>
        <p:spPr>
          <a:xfrm>
            <a:off x="270933" y="5877102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0.8276</a:t>
            </a:r>
            <a:endParaRPr lang="ko-KR" altLang="en-US" sz="12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857E3E-C6D1-4B2C-A8F9-89CDB85673A2}"/>
              </a:ext>
            </a:extLst>
          </p:cNvPr>
          <p:cNvSpPr txBox="1"/>
          <p:nvPr/>
        </p:nvSpPr>
        <p:spPr>
          <a:xfrm>
            <a:off x="274420" y="3891487"/>
            <a:ext cx="1354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pt-BR" altLang="ko-KR" sz="1200" dirty="0">
                <a:solidFill>
                  <a:srgbClr val="FF0000"/>
                </a:solidFill>
              </a:rPr>
              <a:t>-</a:t>
            </a:r>
            <a:r>
              <a:rPr lang="en-US" altLang="ko-KR" sz="1200" dirty="0">
                <a:solidFill>
                  <a:srgbClr val="FF0000"/>
                </a:solidFill>
              </a:rPr>
              <a:t>0.1000</a:t>
            </a:r>
            <a:endParaRPr lang="ko-KR" altLang="en-US" sz="1200" dirty="0"/>
          </a:p>
          <a:p>
            <a:pPr algn="ctr" latinLnBrk="1"/>
            <a:endParaRPr lang="ko-KR" altLang="en-US" sz="12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E4AD89-F5E5-4E77-BF90-CF3C96590013}"/>
              </a:ext>
            </a:extLst>
          </p:cNvPr>
          <p:cNvSpPr txBox="1"/>
          <p:nvPr/>
        </p:nvSpPr>
        <p:spPr>
          <a:xfrm>
            <a:off x="270933" y="1905687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0.9246</a:t>
            </a:r>
            <a:endParaRPr lang="ko-KR" altLang="en-US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2D260-D677-438C-B4B0-759A589888C2}"/>
              </a:ext>
            </a:extLst>
          </p:cNvPr>
          <p:cNvSpPr txBox="1"/>
          <p:nvPr/>
        </p:nvSpPr>
        <p:spPr>
          <a:xfrm>
            <a:off x="6165275" y="5843346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0.6115</a:t>
            </a:r>
            <a:endParaRPr lang="ko-KR" altLang="en-US" sz="12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A3D59B-0F58-4194-A471-554A10DA6042}"/>
              </a:ext>
            </a:extLst>
          </p:cNvPr>
          <p:cNvSpPr txBox="1"/>
          <p:nvPr/>
        </p:nvSpPr>
        <p:spPr>
          <a:xfrm>
            <a:off x="6165275" y="3818074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0.9577</a:t>
            </a:r>
            <a:endParaRPr lang="ko-KR" altLang="en-US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242F6C-D145-4A58-94D5-10E8C47CF84B}"/>
              </a:ext>
            </a:extLst>
          </p:cNvPr>
          <p:cNvSpPr txBox="1"/>
          <p:nvPr/>
        </p:nvSpPr>
        <p:spPr>
          <a:xfrm>
            <a:off x="6172143" y="1812531"/>
            <a:ext cx="1354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0.5130</a:t>
            </a:r>
            <a:endParaRPr lang="ko-KR" altLang="en-US" sz="1200" dirty="0"/>
          </a:p>
          <a:p>
            <a:pPr algn="ctr" latinLnBrk="1"/>
            <a:endParaRPr lang="ko-KR" altLang="en-US" sz="1200" b="1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E0B2912B-BD07-43BC-A5A8-34CD6EEBB0A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9" y="787826"/>
            <a:ext cx="4470398" cy="6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01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관심 수위 이상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65346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3677941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MAE + 0.0005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0.9656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0.0072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0.0558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0.0852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0.8748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0.0763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0.1754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0.2763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0.5503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0.2509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0.3492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0.7308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0.0860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0.1244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0.0423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0.2056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 타이밍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&amp;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크기 가장 정확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모든 실험 대비 가장 안정적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 모델 대비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피크값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추적력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고수위 예측 정확도 향상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0">
              <a:buNone/>
            </a:pP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942FA4-807E-4F41-8DC1-89BC1185848C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이전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- 6.6% )  ,  </a:t>
            </a:r>
            <a:r>
              <a:rPr lang="ko-KR" altLang="en-US" dirty="0" err="1"/>
              <a:t>대곡교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/>
              <a:t>( + 15.7% </a:t>
            </a:r>
            <a:r>
              <a:rPr lang="en-US" altLang="ko-KR" dirty="0"/>
              <a:t>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2702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41022" y="5537725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44509" y="35521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41022" y="15663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35364" y="5503969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35364" y="347869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42232" y="147315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48BE905-C6C4-4EF1-88D4-AA8B876F6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692" y="5556722"/>
            <a:ext cx="2140858" cy="1131111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EE3C6F0-9A42-4950-B3FA-3B8D42F2B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527" y="1541316"/>
            <a:ext cx="2152473" cy="1127719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ECABD2C3-CBAF-4BC4-837D-787C00BB4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014" y="3504803"/>
            <a:ext cx="2141986" cy="1129411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787004"/>
            <a:ext cx="4431036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97138"/>
            <a:ext cx="4475270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95DFFBE-6041-413C-98CA-99F56577C7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454" y="1537064"/>
            <a:ext cx="2105544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B6D99D1A-490C-481E-91FB-8B6ADA989E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620" y="3503953"/>
            <a:ext cx="2103138" cy="110841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04855F-117B-44DC-BE67-DED92F3437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54" y="5556722"/>
            <a:ext cx="2105029" cy="110841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3F48BB3-626D-4991-BAEA-C7F3D0E5BA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860" y="5559298"/>
            <a:ext cx="2144214" cy="1125957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135BE032-841B-4953-A165-A7D57426D3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40" y="1550687"/>
            <a:ext cx="2138738" cy="1108975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39E8AF0-0119-4621-9476-BE495E0E6E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860" y="3513369"/>
            <a:ext cx="2141986" cy="111227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4496B11-C129-4B07-89A3-AE395B8194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89290"/>
            <a:ext cx="4431036" cy="67747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8792A48-5415-4B81-9E65-5A85F775823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87004"/>
            <a:ext cx="4437903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C2D455-D6D6-400A-B699-743D117DFB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97138"/>
            <a:ext cx="4431036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E86B926-F299-431E-A055-50682FAA08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00" y="1544134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EBEB951-BA52-4275-A8BA-0ACEC6BEAEA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466" y="3514921"/>
            <a:ext cx="2103138" cy="108647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0DB7602-10B4-4EEA-87AD-9AD411A4C00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700" y="5563926"/>
            <a:ext cx="2105029" cy="109400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9D6ED76-5BA6-46C0-ACEB-7EF11FC145F6}"/>
              </a:ext>
            </a:extLst>
          </p:cNvPr>
          <p:cNvSpPr txBox="1"/>
          <p:nvPr/>
        </p:nvSpPr>
        <p:spPr>
          <a:xfrm>
            <a:off x="241022" y="5877102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0.8622</a:t>
            </a:r>
            <a:endParaRPr lang="ko-KR" alt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30337C-9FC0-4DE4-B666-46B3E25040EE}"/>
              </a:ext>
            </a:extLst>
          </p:cNvPr>
          <p:cNvSpPr txBox="1"/>
          <p:nvPr/>
        </p:nvSpPr>
        <p:spPr>
          <a:xfrm>
            <a:off x="244509" y="38914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0.4201</a:t>
            </a:r>
            <a:endParaRPr lang="ko-KR" alt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60AA5B-23BA-4A1B-8640-663AFA45A7F2}"/>
              </a:ext>
            </a:extLst>
          </p:cNvPr>
          <p:cNvSpPr txBox="1"/>
          <p:nvPr/>
        </p:nvSpPr>
        <p:spPr>
          <a:xfrm>
            <a:off x="241022" y="19056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0.9656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135364" y="584334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0.5087</a:t>
            </a:r>
            <a:endParaRPr lang="ko-KR" altLang="en-US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42ED54-E154-45FD-9E22-F3DB582A0E2E}"/>
              </a:ext>
            </a:extLst>
          </p:cNvPr>
          <p:cNvSpPr txBox="1"/>
          <p:nvPr/>
        </p:nvSpPr>
        <p:spPr>
          <a:xfrm>
            <a:off x="6135364" y="381807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0.7947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E82EB6-8861-41EE-940F-7D3C39D3265A}"/>
              </a:ext>
            </a:extLst>
          </p:cNvPr>
          <p:cNvSpPr txBox="1"/>
          <p:nvPr/>
        </p:nvSpPr>
        <p:spPr>
          <a:xfrm>
            <a:off x="6142232" y="1812531"/>
            <a:ext cx="1384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0.7308</a:t>
            </a:r>
            <a:endParaRPr lang="pt-BR" altLang="ko-KR" sz="1200" dirty="0"/>
          </a:p>
          <a:p>
            <a:pPr algn="ctr" latinLnBrk="1"/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193001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38667" y="5537725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42154" y="35521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38667" y="15663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33009" y="5503969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33009" y="347869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39877" y="147315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4E82C4-13F6-42C6-9C9D-DAA9DDD0417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C25DF5C-A68D-4625-9B79-B37CE2DB4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248" y="5560469"/>
            <a:ext cx="2144214" cy="1120178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B79C4F9-0B39-4647-AAC5-1593FEBE5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806" y="1545631"/>
            <a:ext cx="2098382" cy="1115651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1D298A3-AA90-4919-A592-66C57E76E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691" y="3509223"/>
            <a:ext cx="2103099" cy="1117135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3EA2EBF5-CD13-44C8-813F-EEDA34085D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5771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870AE6B-76EF-4511-87FC-CE101EB4D6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785286"/>
            <a:ext cx="4470400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A7018E1D-D7C4-4D1A-A317-E4ECAA9EE9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74263"/>
            <a:ext cx="4470399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05DBFA2D-C3C1-4ACF-88D1-0DFA6CA1B6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88" y="1540184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47E32F3-DE55-4652-A792-041CB94512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54" y="3507701"/>
            <a:ext cx="2103138" cy="109747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898F38E7-4884-45CF-89FB-FE3ABE8240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088" y="5560024"/>
            <a:ext cx="2105029" cy="109837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29CE206-0C98-4091-A6A8-9814A33571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322" y="5564564"/>
            <a:ext cx="2122486" cy="1111988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9FE448DC-5D9B-47BB-AEC6-8B5360EB10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599" y="1548055"/>
            <a:ext cx="2097215" cy="1110804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60D56D92-6C27-4AF9-B2BC-FBA5E34E99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505" y="3516446"/>
            <a:ext cx="2081892" cy="110268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C2691E6-6B09-4785-BCBF-D3485039FC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9" y="787826"/>
            <a:ext cx="4470398" cy="67696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44744C8E-42F1-4467-BF16-A82BC9F0FA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8" y="2785286"/>
            <a:ext cx="4470399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1575510-750B-41F7-8F3B-28FBA4F1F4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7" y="4774263"/>
            <a:ext cx="4470399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21FB765-8B9E-41F5-A71A-23A8DB3155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98" y="1536270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86507EDF-C6A9-4829-8E18-F555F91745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064" y="3509363"/>
            <a:ext cx="2103138" cy="109415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CAA81C6-ECC4-426A-930B-218CE06E212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298" y="5555024"/>
            <a:ext cx="2105029" cy="110837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758EB5B8-0834-49CB-9DEF-62F323CED012}"/>
              </a:ext>
            </a:extLst>
          </p:cNvPr>
          <p:cNvSpPr txBox="1"/>
          <p:nvPr/>
        </p:nvSpPr>
        <p:spPr>
          <a:xfrm>
            <a:off x="338667" y="5877102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0.8659</a:t>
            </a:r>
            <a:endParaRPr lang="ko-KR" alt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7E3AD7-2F5E-4C0E-B8DD-BBDA0E999573}"/>
              </a:ext>
            </a:extLst>
          </p:cNvPr>
          <p:cNvSpPr txBox="1"/>
          <p:nvPr/>
        </p:nvSpPr>
        <p:spPr>
          <a:xfrm>
            <a:off x="342154" y="38914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0.5503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F151FD-DED9-4507-9B00-C871C4562999}"/>
              </a:ext>
            </a:extLst>
          </p:cNvPr>
          <p:cNvSpPr txBox="1"/>
          <p:nvPr/>
        </p:nvSpPr>
        <p:spPr>
          <a:xfrm>
            <a:off x="338667" y="19056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0.8748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CA2767-C5FF-4340-92EF-D7CFF55312DF}"/>
              </a:ext>
            </a:extLst>
          </p:cNvPr>
          <p:cNvSpPr txBox="1"/>
          <p:nvPr/>
        </p:nvSpPr>
        <p:spPr>
          <a:xfrm>
            <a:off x="6233009" y="5843346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0.8781</a:t>
            </a:r>
            <a:endParaRPr lang="ko-KR" altLang="en-US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2B9BC3-E1EA-4545-8B35-584898123C78}"/>
              </a:ext>
            </a:extLst>
          </p:cNvPr>
          <p:cNvSpPr txBox="1"/>
          <p:nvPr/>
        </p:nvSpPr>
        <p:spPr>
          <a:xfrm>
            <a:off x="6233009" y="381807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0.9470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6821EE-29C4-4C79-9682-1E8E948044F4}"/>
              </a:ext>
            </a:extLst>
          </p:cNvPr>
          <p:cNvSpPr txBox="1"/>
          <p:nvPr/>
        </p:nvSpPr>
        <p:spPr>
          <a:xfrm>
            <a:off x="6239877" y="1812531"/>
            <a:ext cx="1286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0.6749</a:t>
            </a:r>
            <a:endParaRPr lang="ko-KR" altLang="en-US" sz="1200" dirty="0"/>
          </a:p>
          <a:p>
            <a:pPr algn="ctr" latinLnBrk="1"/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4699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85598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</a:t>
            </a:r>
            <a:r>
              <a:rPr lang="en-US" altLang="ko-KR" sz="1600" dirty="0"/>
              <a:t> 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Huber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1879424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204735"/>
              </p:ext>
            </p:extLst>
          </p:nvPr>
        </p:nvGraphicFramePr>
        <p:xfrm>
          <a:off x="5684773" y="3429000"/>
          <a:ext cx="5977188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0.9436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0.0119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0.0800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0.1091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0.8583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0.0864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0.1800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0.2939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0.9114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0.1113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0.8739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0352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0.1878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0.8354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0.2952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0.3870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0.7258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0.0855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0.5169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0.0229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0.8570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0.0951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0.9566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0.1414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0.6947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0.1467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0.7191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0.3122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61014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314F2-B842-42A6-A60D-049F173B6C16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/dg)_huber2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BC229F-29C2-4982-9F64-8D6AC6D87B7E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MSE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대비 안정적이지만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,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MAE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보다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피크값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추적력은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약간 낮음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예측 안정성 우수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 모델에 비해 안정성은 개선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0">
              <a:buNone/>
            </a:pP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EC554-E6CE-46CD-BFA8-01043C9B8D35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이전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+0.8% )  ,  </a:t>
            </a:r>
            <a:r>
              <a:rPr lang="ko-KR" altLang="en-US" dirty="0" err="1"/>
              <a:t>대곡교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+12.6%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6573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30200" y="553772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33687" y="355211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30200" y="156631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24542" y="5503969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24542" y="3478697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31410" y="147315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75C779-5F10-4AC4-817A-8E0E21C795C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/dg)_huber2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965736B-01DA-424B-ADCC-F5CC666BD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696" y="5561858"/>
            <a:ext cx="2144214" cy="1120839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AB107C96-D91C-4153-9D30-6C7669A57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890" y="1539620"/>
            <a:ext cx="2149110" cy="1131111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DDECF1F5-7B6D-4C3E-8B5D-2B31CA69C0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696" y="3504399"/>
            <a:ext cx="2141986" cy="1130218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4CFCED67-75BF-4B02-9371-A58DAC6140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282" y="787489"/>
            <a:ext cx="4468718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2C1CDED5-FD77-466F-9692-8E34F538D1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282" y="2787004"/>
            <a:ext cx="4468718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4506D5D9-A0CE-45AB-B35C-FCD40D0DA3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281" y="4797138"/>
            <a:ext cx="4468717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77643032-2586-4840-86EB-BB1A164401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136" y="1537064"/>
            <a:ext cx="2105544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34D26A8D-335E-42B0-A89F-435FF4DB76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302" y="3503953"/>
            <a:ext cx="2103138" cy="110841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3A53FF6A-0C65-44C3-86A5-901C64C90FA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536" y="5556722"/>
            <a:ext cx="2105029" cy="110841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B35F4636-03AC-47C6-9011-2DA926ED9FF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150" y="5558139"/>
            <a:ext cx="2134444" cy="1128276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6202E8D2-F364-4A47-AD31-562C728CEDA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645" y="1544594"/>
            <a:ext cx="2138738" cy="1121161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171423AB-6A61-4AF1-B90B-99B7E33A0A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265" y="3513085"/>
            <a:ext cx="2141986" cy="1112847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39AE2F01-E59B-479E-87BC-C6F8B667410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348" y="789290"/>
            <a:ext cx="4431035" cy="67747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E985E1EE-E481-43FC-847B-0423553C185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348" y="2787004"/>
            <a:ext cx="4431036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055B549C-46C4-4C13-BFFC-68C862455D2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348" y="4797138"/>
            <a:ext cx="4431036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C29BA506-1946-40D6-ABFA-FBB9DED4316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705" y="1544134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19653679-9968-474C-A974-8B608540536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871" y="3514921"/>
            <a:ext cx="2103138" cy="108647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1292BED-B5E9-4386-AA63-93CB59DFEA3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105" y="5563926"/>
            <a:ext cx="2105029" cy="109400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451D963-8B64-4D73-9899-42C1501C4D41}"/>
              </a:ext>
            </a:extLst>
          </p:cNvPr>
          <p:cNvSpPr txBox="1"/>
          <p:nvPr/>
        </p:nvSpPr>
        <p:spPr>
          <a:xfrm>
            <a:off x="330200" y="5877102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0.8739</a:t>
            </a:r>
            <a:endParaRPr lang="ko-KR" alt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905DD2-2AF4-4D74-8789-67AEB0E4AE48}"/>
              </a:ext>
            </a:extLst>
          </p:cNvPr>
          <p:cNvSpPr txBox="1"/>
          <p:nvPr/>
        </p:nvSpPr>
        <p:spPr>
          <a:xfrm>
            <a:off x="333687" y="3891487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0.5280</a:t>
            </a:r>
            <a:endParaRPr lang="ko-KR" alt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8B0DBF-A99A-4660-ABE8-A85606C74B1F}"/>
              </a:ext>
            </a:extLst>
          </p:cNvPr>
          <p:cNvSpPr txBox="1"/>
          <p:nvPr/>
        </p:nvSpPr>
        <p:spPr>
          <a:xfrm>
            <a:off x="330200" y="1905687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0.9436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A1B492-E96D-4718-BE4B-B90F86CFD4CB}"/>
              </a:ext>
            </a:extLst>
          </p:cNvPr>
          <p:cNvSpPr txBox="1"/>
          <p:nvPr/>
        </p:nvSpPr>
        <p:spPr>
          <a:xfrm>
            <a:off x="6224542" y="5843346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0.6947</a:t>
            </a:r>
            <a:endParaRPr lang="ko-KR" altLang="en-US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C0A7C7-D8F9-4FBF-AD80-0AAB78D8E648}"/>
              </a:ext>
            </a:extLst>
          </p:cNvPr>
          <p:cNvSpPr txBox="1"/>
          <p:nvPr/>
        </p:nvSpPr>
        <p:spPr>
          <a:xfrm>
            <a:off x="6224542" y="381807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0.8570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6BFF35-45CB-40E9-9533-370FC9E0400D}"/>
              </a:ext>
            </a:extLst>
          </p:cNvPr>
          <p:cNvSpPr txBox="1"/>
          <p:nvPr/>
        </p:nvSpPr>
        <p:spPr>
          <a:xfrm>
            <a:off x="6231410" y="1812531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0.7258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601064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70933" y="5537725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74420" y="3552110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70933" y="1566310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65275" y="5503969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65275" y="3478697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72143" y="1473154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97A198-64A0-4818-9997-EF5005454B59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/dg)_huber2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6BF08031-B7BE-43B4-82DA-FE1BCCAA2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088" y="5558979"/>
            <a:ext cx="2139350" cy="1123159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45ECCDA1-3ED2-4DD1-BBCC-1C12259F5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037" y="1543196"/>
            <a:ext cx="2138736" cy="1120523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D6BBBE0-91D7-483B-8D32-DB4AEDCEE4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297" y="3509223"/>
            <a:ext cx="2118703" cy="1117135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FAA5ACC-70CB-4D32-83D6-2AA405518F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1" y="785771"/>
            <a:ext cx="4470399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4C24B0C5-D932-4303-8574-F5B71A8933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2" y="2785286"/>
            <a:ext cx="4470398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CE80E59C-4B78-46AA-9FED-D92457B0B6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1" y="4774263"/>
            <a:ext cx="4470399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3FCF9A7D-6B91-457F-8444-EF4E9418B5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096" y="1540184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521AE32-990C-44AC-AE13-BAD987574F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262" y="3507701"/>
            <a:ext cx="2103138" cy="109747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EACEDAE5-904D-4AC5-941E-F08BB0965C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496" y="5560024"/>
            <a:ext cx="2105029" cy="109837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6926A8B0-2F90-46B9-8408-58D67BEA8BF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694" y="5558979"/>
            <a:ext cx="2129625" cy="1123159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990C5B15-556F-48F2-8CFB-97B05A1CDA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960" y="1545920"/>
            <a:ext cx="2114377" cy="1115075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3A7787D5-72D8-4873-986C-51512F8972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0303" y="3516446"/>
            <a:ext cx="2080179" cy="110268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79FDA52-A685-4AE8-A21B-B29B7CE456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789093"/>
            <a:ext cx="4453671" cy="67443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58C10EB3-AA0E-4827-8CB4-D79D01F62F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2785286"/>
            <a:ext cx="4453671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2B377B3E-D81C-4FA4-AE5E-9537900CD0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74263"/>
            <a:ext cx="4453672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695A9033-3109-40C5-B416-AAC1D8D4248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40" y="1535346"/>
            <a:ext cx="2105544" cy="110841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5FD0CE26-4883-410E-AD08-62619F466C9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006" y="3502235"/>
            <a:ext cx="2103138" cy="110841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067C80CF-51EE-439C-8FFD-206D6751175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240" y="5555004"/>
            <a:ext cx="2105029" cy="110841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F7BAF1A-4F30-466F-A917-2ACF469F050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40" y="1536270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2F11CE0C-0A1B-45F5-8817-E5C28B1D712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006" y="3509363"/>
            <a:ext cx="2103138" cy="1094155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D024D110-4872-4773-9400-89B049D4295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240" y="5555024"/>
            <a:ext cx="2105029" cy="1108371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8C6EB2E-8A19-404F-A23A-AEEBA340EBF8}"/>
              </a:ext>
            </a:extLst>
          </p:cNvPr>
          <p:cNvSpPr txBox="1"/>
          <p:nvPr/>
        </p:nvSpPr>
        <p:spPr>
          <a:xfrm>
            <a:off x="270933" y="5877102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0.8354</a:t>
            </a:r>
            <a:endParaRPr lang="ko-KR" altLang="en-US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1FEDFA-4AAC-437E-A124-68A55B96B05B}"/>
              </a:ext>
            </a:extLst>
          </p:cNvPr>
          <p:cNvSpPr txBox="1"/>
          <p:nvPr/>
        </p:nvSpPr>
        <p:spPr>
          <a:xfrm>
            <a:off x="274420" y="3891487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0.9114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124C10-16B9-4383-BA19-825CFE92831F}"/>
              </a:ext>
            </a:extLst>
          </p:cNvPr>
          <p:cNvSpPr txBox="1"/>
          <p:nvPr/>
        </p:nvSpPr>
        <p:spPr>
          <a:xfrm>
            <a:off x="270933" y="1905687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0.8583</a:t>
            </a:r>
            <a:endParaRPr lang="ko-KR" altLang="en-US" sz="12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5058FE-C03A-407C-9F14-889E6BB2F62B}"/>
              </a:ext>
            </a:extLst>
          </p:cNvPr>
          <p:cNvSpPr txBox="1"/>
          <p:nvPr/>
        </p:nvSpPr>
        <p:spPr>
          <a:xfrm>
            <a:off x="6165275" y="5843346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0.7191</a:t>
            </a:r>
            <a:endParaRPr lang="ko-KR" altLang="en-US" sz="1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7C2779-25B0-4080-9AEB-39D75F3E6DF7}"/>
              </a:ext>
            </a:extLst>
          </p:cNvPr>
          <p:cNvSpPr txBox="1"/>
          <p:nvPr/>
        </p:nvSpPr>
        <p:spPr>
          <a:xfrm>
            <a:off x="6165275" y="3818074"/>
            <a:ext cx="135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0.9566</a:t>
            </a:r>
            <a:endParaRPr lang="ko-KR" altLang="en-US" sz="1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3540417-A7C7-45C5-B18B-CD76EDF0AD58}"/>
              </a:ext>
            </a:extLst>
          </p:cNvPr>
          <p:cNvSpPr txBox="1"/>
          <p:nvPr/>
        </p:nvSpPr>
        <p:spPr>
          <a:xfrm>
            <a:off x="6172143" y="1812531"/>
            <a:ext cx="1354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0.5169</a:t>
            </a:r>
            <a:endParaRPr lang="ko-KR" altLang="en-US" sz="1200" dirty="0"/>
          </a:p>
          <a:p>
            <a:pPr algn="ctr" latinLnBrk="1"/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435192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전체 결론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1C422-1565-448B-BCD7-AE68451E1256}"/>
              </a:ext>
            </a:extLst>
          </p:cNvPr>
          <p:cNvSpPr txBox="1"/>
          <p:nvPr/>
        </p:nvSpPr>
        <p:spPr>
          <a:xfrm>
            <a:off x="1775825" y="3234266"/>
            <a:ext cx="8640350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j-ea"/>
              </a:rPr>
              <a:t>전체 강우 기반에서는 </a:t>
            </a:r>
            <a:r>
              <a:rPr lang="en-US" altLang="ko-KR" sz="1600" b="1" dirty="0">
                <a:latin typeface="+mj-ea"/>
              </a:rPr>
              <a:t>MAE </a:t>
            </a:r>
            <a:r>
              <a:rPr lang="ko-KR" altLang="en-US" sz="1600" b="1" dirty="0">
                <a:latin typeface="+mj-ea"/>
              </a:rPr>
              <a:t>모델이 가장 안정적인 일반화 성능을 보임</a:t>
            </a:r>
            <a:endParaRPr lang="en-US" altLang="ko-KR" sz="1600" b="1" dirty="0">
              <a:latin typeface="+mj-ea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j-ea"/>
              </a:rPr>
              <a:t>누적 강우 </a:t>
            </a:r>
            <a:r>
              <a:rPr lang="en-US" altLang="ko-KR" sz="1600" b="1" dirty="0">
                <a:latin typeface="+mj-ea"/>
              </a:rPr>
              <a:t>110mm </a:t>
            </a:r>
            <a:r>
              <a:rPr lang="ko-KR" altLang="en-US" sz="1600" b="1" dirty="0">
                <a:latin typeface="+mj-ea"/>
              </a:rPr>
              <a:t>이상 모델은 소수 샘플 한계로 </a:t>
            </a:r>
            <a:r>
              <a:rPr lang="ko-KR" altLang="en-US" sz="1600" b="1" dirty="0" err="1">
                <a:latin typeface="+mj-ea"/>
              </a:rPr>
              <a:t>실운영</a:t>
            </a:r>
            <a:r>
              <a:rPr lang="ko-KR" altLang="en-US" sz="1600" b="1" dirty="0">
                <a:latin typeface="+mj-ea"/>
              </a:rPr>
              <a:t> 적용이 어려움</a:t>
            </a:r>
            <a:endParaRPr lang="en-US" altLang="ko-KR" sz="1600" b="1" dirty="0">
              <a:latin typeface="+mj-ea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FF0000"/>
                </a:solidFill>
                <a:latin typeface="+mj-ea"/>
              </a:rPr>
              <a:t>관심 수위 이상 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</a:rPr>
              <a:t>+ MAE + </a:t>
            </a:r>
            <a:r>
              <a:rPr lang="ko-KR" altLang="en-US" sz="1600" b="1" dirty="0" err="1">
                <a:solidFill>
                  <a:srgbClr val="FF0000"/>
                </a:solidFill>
                <a:latin typeface="+mj-ea"/>
              </a:rPr>
              <a:t>학습률</a:t>
            </a:r>
            <a:r>
              <a:rPr lang="ko-KR" altLang="en-US" sz="16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</a:rPr>
              <a:t>0.0005</a:t>
            </a:r>
            <a:r>
              <a:rPr lang="ko-KR" altLang="en-US" sz="1600" b="1" dirty="0">
                <a:solidFill>
                  <a:srgbClr val="FF0000"/>
                </a:solidFill>
                <a:latin typeface="+mj-ea"/>
              </a:rPr>
              <a:t> 모델이 피크 예측 성능에서 우수</a:t>
            </a:r>
            <a:endParaRPr lang="en-US" altLang="ko-KR" sz="1600" b="1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58616905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6368</TotalTime>
  <Words>2334</Words>
  <Application>Microsoft Office PowerPoint</Application>
  <PresentationFormat>와이드스크린</PresentationFormat>
  <Paragraphs>820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나눔고딕</vt:lpstr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833</cp:revision>
  <dcterms:created xsi:type="dcterms:W3CDTF">2025-11-18T00:02:37Z</dcterms:created>
  <dcterms:modified xsi:type="dcterms:W3CDTF">2026-01-22T06:06:48Z</dcterms:modified>
</cp:coreProperties>
</file>