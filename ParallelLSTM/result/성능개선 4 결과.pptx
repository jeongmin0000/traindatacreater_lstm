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528" r:id="rId3"/>
    <p:sldId id="513" r:id="rId4"/>
    <p:sldId id="533" r:id="rId5"/>
    <p:sldId id="545" r:id="rId6"/>
    <p:sldId id="546" r:id="rId7"/>
    <p:sldId id="534" r:id="rId8"/>
    <p:sldId id="547" r:id="rId9"/>
    <p:sldId id="548" r:id="rId10"/>
    <p:sldId id="537" r:id="rId11"/>
    <p:sldId id="538" r:id="rId12"/>
    <p:sldId id="540" r:id="rId13"/>
    <p:sldId id="543" r:id="rId14"/>
    <p:sldId id="544" r:id="rId15"/>
    <p:sldId id="542" r:id="rId16"/>
    <p:sldId id="564" r:id="rId17"/>
    <p:sldId id="565" r:id="rId18"/>
    <p:sldId id="570" r:id="rId19"/>
    <p:sldId id="571" r:id="rId20"/>
    <p:sldId id="572" r:id="rId21"/>
    <p:sldId id="573" r:id="rId22"/>
    <p:sldId id="566" r:id="rId23"/>
    <p:sldId id="567" r:id="rId24"/>
    <p:sldId id="622" r:id="rId25"/>
    <p:sldId id="623" r:id="rId26"/>
    <p:sldId id="624" r:id="rId27"/>
    <p:sldId id="625" r:id="rId28"/>
    <p:sldId id="568" r:id="rId29"/>
    <p:sldId id="569" r:id="rId30"/>
    <p:sldId id="626" r:id="rId31"/>
    <p:sldId id="627" r:id="rId32"/>
    <p:sldId id="628" r:id="rId33"/>
    <p:sldId id="629" r:id="rId34"/>
    <p:sldId id="558" r:id="rId35"/>
    <p:sldId id="559" r:id="rId36"/>
    <p:sldId id="560" r:id="rId37"/>
    <p:sldId id="561" r:id="rId38"/>
    <p:sldId id="562" r:id="rId39"/>
    <p:sldId id="563" r:id="rId40"/>
    <p:sldId id="582" r:id="rId41"/>
    <p:sldId id="509" r:id="rId42"/>
    <p:sldId id="530" r:id="rId43"/>
    <p:sldId id="536" r:id="rId44"/>
    <p:sldId id="531" r:id="rId45"/>
    <p:sldId id="535" r:id="rId46"/>
    <p:sldId id="532" r:id="rId47"/>
    <p:sldId id="574" r:id="rId48"/>
    <p:sldId id="575" r:id="rId49"/>
    <p:sldId id="576" r:id="rId50"/>
    <p:sldId id="577" r:id="rId51"/>
    <p:sldId id="578" r:id="rId52"/>
    <p:sldId id="579" r:id="rId53"/>
    <p:sldId id="580" r:id="rId54"/>
    <p:sldId id="581" r:id="rId55"/>
    <p:sldId id="592" r:id="rId56"/>
    <p:sldId id="593" r:id="rId57"/>
    <p:sldId id="594" r:id="rId58"/>
    <p:sldId id="630" r:id="rId59"/>
    <p:sldId id="615" r:id="rId60"/>
    <p:sldId id="597" r:id="rId61"/>
    <p:sldId id="616" r:id="rId62"/>
    <p:sldId id="617" r:id="rId63"/>
    <p:sldId id="600" r:id="rId64"/>
    <p:sldId id="601" r:id="rId65"/>
    <p:sldId id="603" r:id="rId66"/>
    <p:sldId id="604" r:id="rId67"/>
    <p:sldId id="606" r:id="rId68"/>
    <p:sldId id="607" r:id="rId69"/>
    <p:sldId id="608" r:id="rId70"/>
    <p:sldId id="609" r:id="rId71"/>
    <p:sldId id="618" r:id="rId72"/>
    <p:sldId id="619" r:id="rId73"/>
    <p:sldId id="620" r:id="rId74"/>
    <p:sldId id="621" r:id="rId75"/>
    <p:sldId id="557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30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36.png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42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48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00.png"/><Relationship Id="rId7" Type="http://schemas.openxmlformats.org/officeDocument/2006/relationships/image" Target="../media/image6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101.png"/><Relationship Id="rId9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03.png"/><Relationship Id="rId7" Type="http://schemas.openxmlformats.org/officeDocument/2006/relationships/image" Target="../media/image7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104.png"/><Relationship Id="rId9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06.png"/><Relationship Id="rId7" Type="http://schemas.openxmlformats.org/officeDocument/2006/relationships/image" Target="../media/image8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107.png"/><Relationship Id="rId9" Type="http://schemas.openxmlformats.org/officeDocument/2006/relationships/image" Target="../media/image8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09.png"/><Relationship Id="rId7" Type="http://schemas.openxmlformats.org/officeDocument/2006/relationships/image" Target="../media/image95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110.png"/><Relationship Id="rId9" Type="http://schemas.openxmlformats.org/officeDocument/2006/relationships/image" Target="../media/image9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30.png"/><Relationship Id="rId4" Type="http://schemas.openxmlformats.org/officeDocument/2006/relationships/image" Target="../media/image1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36.png"/><Relationship Id="rId4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42.png"/><Relationship Id="rId4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48.png"/><Relationship Id="rId4" Type="http://schemas.openxmlformats.org/officeDocument/2006/relationships/image" Target="../media/image12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7" Type="http://schemas.openxmlformats.org/officeDocument/2006/relationships/image" Target="../media/image114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1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38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14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44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7" Type="http://schemas.openxmlformats.org/officeDocument/2006/relationships/image" Target="../media/image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5.png"/><Relationship Id="rId4" Type="http://schemas.openxmlformats.org/officeDocument/2006/relationships/image" Target="../media/image14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50.png"/><Relationship Id="rId7" Type="http://schemas.openxmlformats.org/officeDocument/2006/relationships/image" Target="../media/image68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151.png"/><Relationship Id="rId9" Type="http://schemas.openxmlformats.org/officeDocument/2006/relationships/image" Target="../media/image7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53.png"/><Relationship Id="rId7" Type="http://schemas.openxmlformats.org/officeDocument/2006/relationships/image" Target="../media/image7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154.png"/><Relationship Id="rId9" Type="http://schemas.openxmlformats.org/officeDocument/2006/relationships/image" Target="../media/image7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57.png"/><Relationship Id="rId7" Type="http://schemas.openxmlformats.org/officeDocument/2006/relationships/image" Target="../media/image86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158.png"/><Relationship Id="rId9" Type="http://schemas.openxmlformats.org/officeDocument/2006/relationships/image" Target="../media/image8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60.png"/><Relationship Id="rId7" Type="http://schemas.openxmlformats.org/officeDocument/2006/relationships/image" Target="../media/image95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161.png"/><Relationship Id="rId9" Type="http://schemas.openxmlformats.org/officeDocument/2006/relationships/image" Target="../media/image9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14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16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7" Type="http://schemas.openxmlformats.org/officeDocument/2006/relationships/image" Target="../media/image38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3.png"/><Relationship Id="rId4" Type="http://schemas.openxmlformats.org/officeDocument/2006/relationships/image" Target="../media/image16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44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17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5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5.png"/><Relationship Id="rId4" Type="http://schemas.openxmlformats.org/officeDocument/2006/relationships/image" Target="../media/image173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175.png"/><Relationship Id="rId7" Type="http://schemas.openxmlformats.org/officeDocument/2006/relationships/image" Target="../media/image177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176.png"/><Relationship Id="rId9" Type="http://schemas.openxmlformats.org/officeDocument/2006/relationships/image" Target="../media/image70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79.png"/><Relationship Id="rId7" Type="http://schemas.openxmlformats.org/officeDocument/2006/relationships/image" Target="../media/image77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80.png"/><Relationship Id="rId4" Type="http://schemas.openxmlformats.org/officeDocument/2006/relationships/image" Target="../media/image180.png"/><Relationship Id="rId9" Type="http://schemas.openxmlformats.org/officeDocument/2006/relationships/image" Target="../media/image7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84.png"/><Relationship Id="rId7" Type="http://schemas.openxmlformats.org/officeDocument/2006/relationships/image" Target="../media/image86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185.png"/><Relationship Id="rId9" Type="http://schemas.openxmlformats.org/officeDocument/2006/relationships/image" Target="../media/image88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8.png"/><Relationship Id="rId3" Type="http://schemas.openxmlformats.org/officeDocument/2006/relationships/image" Target="../media/image188.png"/><Relationship Id="rId7" Type="http://schemas.openxmlformats.org/officeDocument/2006/relationships/image" Target="../media/image190.png"/><Relationship Id="rId12" Type="http://schemas.openxmlformats.org/officeDocument/2006/relationships/image" Target="../media/image97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6.png"/><Relationship Id="rId5" Type="http://schemas.openxmlformats.org/officeDocument/2006/relationships/image" Target="../media/image93.png"/><Relationship Id="rId10" Type="http://schemas.openxmlformats.org/officeDocument/2006/relationships/image" Target="../media/image71.png"/><Relationship Id="rId4" Type="http://schemas.openxmlformats.org/officeDocument/2006/relationships/image" Target="../media/image189.png"/><Relationship Id="rId9" Type="http://schemas.openxmlformats.org/officeDocument/2006/relationships/image" Target="../media/image70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</a:rPr>
              <a:t>AI </a:t>
            </a:r>
            <a:r>
              <a:rPr lang="ko-KR" altLang="en-US" sz="4400" b="1" dirty="0">
                <a:latin typeface="+mj-ea"/>
              </a:rPr>
              <a:t>모델 성능 개선 결과</a:t>
            </a:r>
            <a:endParaRPr lang="ko-KR" altLang="en-US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459654" y="3044279"/>
            <a:ext cx="72726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1. </a:t>
            </a:r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31641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367899"/>
              </p:ext>
            </p:extLst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2022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2024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27193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5403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(1785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0.992969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0.993190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2.751991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1034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(228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0.958571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0.960290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2.528366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35140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0.778608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0.844471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10.796319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44" y="3740036"/>
            <a:ext cx="5326490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r>
              <a:rPr lang="en-US" altLang="ko-KR" sz="2000" b="1" dirty="0">
                <a:latin typeface="+mj-ea"/>
              </a:rPr>
              <a:t> </a:t>
            </a:r>
            <a:endParaRPr lang="en-US" altLang="ko-KR" sz="2000" b="1" dirty="0">
              <a:latin typeface="+mj-ea"/>
              <a:ea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57051-5EE2-47BB-A552-71B167E2E77F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689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1887"/>
            <a:ext cx="2813219" cy="7164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97" y="4456284"/>
            <a:ext cx="2790655" cy="146617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227" y="1132498"/>
            <a:ext cx="2742694" cy="146239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6167"/>
            <a:ext cx="2759745" cy="71136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r>
              <a:rPr lang="en-US" altLang="ko-KR" sz="2000" b="1" dirty="0">
                <a:latin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87" y="2788821"/>
            <a:ext cx="2788128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4576"/>
            <a:ext cx="2760371" cy="7072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520930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0.8203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0.0379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0.1586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0.1949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-0.3240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0.1927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0.2292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0.6352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0.1020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0.3194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4300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3876"/>
            <a:ext cx="2813219" cy="73248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298" y="4454762"/>
            <a:ext cx="2788053" cy="146922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9" y="1148520"/>
            <a:ext cx="2760371" cy="1430347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3310"/>
            <a:ext cx="2759745" cy="71707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r>
              <a:rPr lang="en-US" altLang="ko-KR" sz="2000" b="1" dirty="0">
                <a:latin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099" y="2788821"/>
            <a:ext cx="2764102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508"/>
            <a:ext cx="2760371" cy="6994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7341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-0.0433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0.0972</a:t>
                      </a:r>
                      <a:endParaRPr lang="pt-BR" altLang="ko-KR" sz="1400" dirty="0"/>
                    </a:p>
                    <a:p>
                      <a:pPr algn="ctr"/>
                      <a:r>
                        <a:rPr lang="pt-BR" altLang="ko-KR" sz="1400" dirty="0"/>
                        <a:t>mae :</a:t>
                      </a:r>
                      <a:r>
                        <a:rPr lang="en-US" altLang="ko-KR" sz="1400" dirty="0"/>
                        <a:t>0.2456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0.3118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0.6714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0.1470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0.1815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0.6227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0.1630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9671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40959"/>
            <a:ext cx="5386707" cy="1793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C9738-8737-4F09-951B-F4BD8602539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A86430DF-CCEF-4049-A149-424642B14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787984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(1785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0.996132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0.996789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3.457385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F48BA8E-AD2A-4D34-A737-DDBE246E0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0102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(228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0.963230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0.965334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3.448578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57D3D064-ED91-42F2-801B-12E65EEC6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315811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0.663938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0.766153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4.633667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29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6274"/>
            <a:ext cx="2813219" cy="70769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624" y="4454762"/>
            <a:ext cx="2763401" cy="146922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650" y="1132498"/>
            <a:ext cx="2739849" cy="146239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541" y="2793144"/>
            <a:ext cx="2813219" cy="14592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0257"/>
            <a:ext cx="2760371" cy="73591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819742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0.9516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0.1382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0.1717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-0.6522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0.2313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0.4550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0.4810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0.1249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0.2790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59460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</a:t>
            </a:r>
            <a:r>
              <a:rPr lang="en-US" altLang="ko-KR" sz="2000" b="1" dirty="0">
                <a:latin typeface="+mj-ea"/>
              </a:rPr>
              <a:t>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8102"/>
            <a:ext cx="2813219" cy="70403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646" y="4454762"/>
            <a:ext cx="2771357" cy="146922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291" y="1132498"/>
            <a:ext cx="2740566" cy="146239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5089"/>
            <a:ext cx="2759745" cy="69351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681" y="2788821"/>
            <a:ext cx="2782940" cy="14678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40303"/>
            <a:ext cx="2760371" cy="69581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559521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-2.2679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0.1745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0.4177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0.9700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0.1176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0.7924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0.2086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0.2684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99989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2705725"/>
            <a:ext cx="764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1-2.</a:t>
            </a:r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조합 찾기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1055-E6B3-4C5C-A476-F2D02B696E6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4407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2017 ~ 2023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2014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04436-3D1F-4921-9155-C679C091172E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</p:spTree>
    <p:extLst>
      <p:ext uri="{BB962C8B-B14F-4D97-AF65-F5344CB8AC3E}">
        <p14:creationId xmlns:p14="http://schemas.microsoft.com/office/powerpoint/2010/main" val="792183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5335"/>
            <a:ext cx="2813219" cy="7295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967" y="4454762"/>
            <a:ext cx="2758715" cy="146922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9" y="1145827"/>
            <a:ext cx="2760371" cy="14357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4316"/>
            <a:ext cx="2759745" cy="71506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 </a:t>
            </a:r>
            <a:r>
              <a:rPr lang="en-US" altLang="ko-KR" sz="2000" b="1" dirty="0">
                <a:latin typeface="+mj-ea"/>
              </a:rPr>
              <a:t>2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401" y="2788821"/>
            <a:ext cx="2805499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6737"/>
            <a:ext cx="2760371" cy="7029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06022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0.8432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0.1339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0.0759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0.1551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0.1914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0.8378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0.1678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0.2130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034118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97" y="4455524"/>
            <a:ext cx="2790655" cy="146769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9" y="1144966"/>
            <a:ext cx="2760371" cy="143745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7228"/>
            <a:ext cx="2759745" cy="7092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2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239" y="2788821"/>
            <a:ext cx="2785824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6735"/>
            <a:ext cx="2760371" cy="7229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58824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0.2846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0.0666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0.1896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0.2581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0.3038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0.0698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0.1956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0.2642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0.7643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0.0963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0.1289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42524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2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18728"/>
            <a:ext cx="2813219" cy="7427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97" y="4456971"/>
            <a:ext cx="2790655" cy="146480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038" y="1132498"/>
            <a:ext cx="2753072" cy="146239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961" y="2788821"/>
            <a:ext cx="2758379" cy="14678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60" y="1531712"/>
            <a:ext cx="2760371" cy="713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688438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0.9377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0.1949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0.1093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0.1247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0.3037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0.3531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0.0832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0.2344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0.2885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4980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2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181" y="4454762"/>
            <a:ext cx="2752287" cy="146922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9" y="1137733"/>
            <a:ext cx="2760371" cy="145192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2586"/>
            <a:ext cx="2759745" cy="6985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999" y="2788821"/>
            <a:ext cx="2766303" cy="14678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145"/>
            <a:ext cx="2760371" cy="7001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68945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0.0119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0.0527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0.1883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0.2297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0.8820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0.0544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0.1842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0.6907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0.1073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0.2570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0.3276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5480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2705725"/>
            <a:ext cx="764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1-3. </a:t>
            </a:r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조합 찾기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1055-E6B3-4C5C-A476-F2D02B696E6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/dg)_110_3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7171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2022(6667)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2024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B31E7-AAD7-4B13-8DF8-548398122082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</p:spTree>
    <p:extLst>
      <p:ext uri="{BB962C8B-B14F-4D97-AF65-F5344CB8AC3E}">
        <p14:creationId xmlns:p14="http://schemas.microsoft.com/office/powerpoint/2010/main" val="1149825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5335"/>
            <a:ext cx="2813219" cy="7295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967" y="4465283"/>
            <a:ext cx="2758715" cy="14481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201" y="1145827"/>
            <a:ext cx="2700747" cy="14357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4316"/>
            <a:ext cx="2759745" cy="71506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 </a:t>
            </a:r>
            <a:r>
              <a:rPr lang="en-US" altLang="ko-KR" sz="2000" b="1" dirty="0">
                <a:latin typeface="+mj-ea"/>
              </a:rPr>
              <a:t>3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4824" y="2788821"/>
            <a:ext cx="2736653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6737"/>
            <a:ext cx="2760371" cy="7029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054394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0.8183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0.1541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0.1960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-0.3856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0.0549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0.2168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0.6955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0.0851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0.2918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506581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188" y="4455524"/>
            <a:ext cx="2782272" cy="146769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154" y="1144966"/>
            <a:ext cx="2700841" cy="143745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7228"/>
            <a:ext cx="2759745" cy="7092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3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123" y="2788821"/>
            <a:ext cx="2780056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6735"/>
            <a:ext cx="2760371" cy="7229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63980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-0.4278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0.1330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0.2866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0.3647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0.7261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0.1657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0.8484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0.0913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637206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3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18728"/>
            <a:ext cx="2813219" cy="7427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997" y="4466304"/>
            <a:ext cx="2790655" cy="14461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038" y="1138975"/>
            <a:ext cx="2753072" cy="144943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961" y="2801698"/>
            <a:ext cx="2758379" cy="144213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60" y="1531712"/>
            <a:ext cx="2760371" cy="713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887071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0.7493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0.1529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0.2611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0.3910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1.6344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0.3689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0.5123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0.6073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0.7544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0.2235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0.4727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73339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3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181" y="4474394"/>
            <a:ext cx="2752287" cy="142995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9" y="1138227"/>
            <a:ext cx="2760371" cy="145093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2586"/>
            <a:ext cx="2759745" cy="6985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70" y="2788821"/>
            <a:ext cx="2760361" cy="14678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145"/>
            <a:ext cx="2760371" cy="7001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454300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-1.3562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0.1258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0.2542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0.3547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0.0490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0.1713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0.2215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0.7912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679854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2705725"/>
            <a:ext cx="764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1-4.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110mm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이상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조합 찾기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1055-E6B3-4C5C-A476-F2D02B696E6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01506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2022(39)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2022(6667)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50B1A8-AC07-4938-895E-54EDE1B47C0F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</p:spTree>
    <p:extLst>
      <p:ext uri="{BB962C8B-B14F-4D97-AF65-F5344CB8AC3E}">
        <p14:creationId xmlns:p14="http://schemas.microsoft.com/office/powerpoint/2010/main" val="289328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573" y="5407728"/>
            <a:ext cx="2133361" cy="11311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8" y="1390626"/>
            <a:ext cx="2141376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7587"/>
            <a:ext cx="2141986" cy="11258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670CA9-EC85-4105-9F68-A7D9E5C52630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826AB7-9561-4061-AA40-5F05F7F5C1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18A818F-FB79-4D07-98E9-039F2C0D52D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0.7237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0.1572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0.3192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0.0270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0.1643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0.8533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0.1509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0.2025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DECBFE-A628-4FF9-BB34-CC58F4A3CA4C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870173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392" y="5409145"/>
            <a:ext cx="2143724" cy="11282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1323"/>
            <a:ext cx="2138738" cy="112971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265" y="3361947"/>
            <a:ext cx="2113749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38495"/>
            <a:ext cx="4431036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D2056B-6846-4A6A-803A-D5B19B088A69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427209-2618-44DB-AF16-74FB30BC95C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89B2F13-C65A-4689-AB5A-9BDA5B69D15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-0.0894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0.1015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0.2527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0.3186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0.8108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0.1377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0.8475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2DD9CD-23CD-4CA1-8557-7B66A43B33A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258455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4845"/>
            <a:ext cx="2144214" cy="11168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401342"/>
            <a:ext cx="2138738" cy="110967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282" y="3361947"/>
            <a:ext cx="2111715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35584E-3161-43BF-ACD1-5F803D749C36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95CF0B-9D7B-4963-A51C-326810BCFC2D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48E4F0D-FE03-455C-8A58-DB5ECB8E56A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0.8350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0.1006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0.2683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0.3172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0.0424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0.1459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0.3414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0.3820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0.2314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0.3847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0.4811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AE2ABDC9-785B-4DE9-AF1E-BFD94D319A4D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845172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055" y="5414986"/>
            <a:ext cx="2114397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397573"/>
            <a:ext cx="2121773" cy="111721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4197"/>
            <a:ext cx="2117745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38495"/>
            <a:ext cx="447039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FC2FF-47AD-4ACD-9D36-7BB2D0D8EC4A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4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5DA6F-8327-4BD4-8FE4-E4F8149F61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/dg)_110_4_2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7D75C2B-9F83-4910-9ED7-CF818E7E2CA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-0.7705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0.2284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0.3075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0.0782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0.1994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0.5011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0.1731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0.4160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720FE3-FD05-4DF5-91BA-759929D77468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598800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2705725"/>
            <a:ext cx="764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1-5.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110mm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이상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조합 찾기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1055-E6B3-4C5C-A476-F2D02B696E6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0710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2022(35) 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2022(6667)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313CF-F1B7-4F3A-B484-23BCD2803D86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</p:spTree>
    <p:extLst>
      <p:ext uri="{BB962C8B-B14F-4D97-AF65-F5344CB8AC3E}">
        <p14:creationId xmlns:p14="http://schemas.microsoft.com/office/powerpoint/2010/main" val="1713821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380"/>
            <a:ext cx="2144214" cy="112180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2554"/>
            <a:ext cx="2152473" cy="112725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7587"/>
            <a:ext cx="2141986" cy="112585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A1C485-D69C-494B-B9BD-6079DEB98109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1DF0F8-18F4-42EB-9FB6-E43BC3ACF29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794749A-8B69-43FB-B67B-AC7E3EF4A68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0.8774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0.0259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0.0586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0.1603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0.8028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0.0851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008EFE15-F86F-496A-9C30-DF570E10338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751080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597"/>
            <a:ext cx="2144214" cy="112137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6151"/>
            <a:ext cx="2138738" cy="112006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3880"/>
            <a:ext cx="2141986" cy="11132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38495"/>
            <a:ext cx="4431036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E0AD17-C689-4B92-AFB6-3BFEE70CE1DE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B3E724-5280-4C13-A67F-E6F684D955F8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A9EFF83D-DF2F-48FB-872C-50CD69E21AD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0.1532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0.0789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0.2809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0.7764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0.1110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0.8673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0.0756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5D16DBE5-60DF-495B-8CD1-DB4AC276776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400166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548" y="5410958"/>
            <a:ext cx="2135411" cy="112465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865" y="1395983"/>
            <a:ext cx="2132061" cy="112039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542" y="3361947"/>
            <a:ext cx="2111195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56F2D9-606A-4C46-9140-3BFFBB7A6F9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DDDDE8-C316-421E-8FCB-A7A0748355B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9908A9E-1547-4AC0-90D2-BBED1B9B6CF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0.9246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0.1541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0.2144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pt-BR" altLang="ko-KR" sz="1400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0.1000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0.1540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0.3041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0.3924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0.1568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0.3195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0.3961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EB951DF1-AA77-4303-BD7F-1A5C511C0AD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197725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2304" y="5414986"/>
            <a:ext cx="2123900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09" y="1397573"/>
            <a:ext cx="2121773" cy="111721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67" y="3364197"/>
            <a:ext cx="2117745" cy="11126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38495"/>
            <a:ext cx="447039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3C90A3-7465-4DB4-879E-A29359910C19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</a:t>
            </a:r>
            <a:r>
              <a:rPr lang="en-US" altLang="ko-KR" sz="2000" b="1" dirty="0">
                <a:latin typeface="+mj-ea"/>
              </a:rPr>
              <a:t>5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750E6-0AE3-4197-816C-716BC541E9FC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/dg)_110_5_2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5F688B0-A841-47A1-95BF-5226AAE27F1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-0.551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0.1258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0.2542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0.3547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0.1145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0.6115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0.1348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0.3671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1F68A4-0BD1-49A6-BBCF-DBBE93A7C28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705296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273387" y="2705725"/>
            <a:ext cx="7645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1-6. </a:t>
            </a:r>
            <a:r>
              <a:rPr lang="ko-KR" altLang="en-US" sz="4400" b="1" dirty="0">
                <a:latin typeface="+mj-ea"/>
                <a:ea typeface="+mj-ea"/>
              </a:rPr>
              <a:t>누적 강우 </a:t>
            </a:r>
            <a:r>
              <a:rPr lang="en-US" altLang="ko-KR" sz="4400" b="1" dirty="0">
                <a:latin typeface="+mj-ea"/>
                <a:ea typeface="+mj-ea"/>
              </a:rPr>
              <a:t>110mm </a:t>
            </a:r>
            <a:r>
              <a:rPr lang="ko-KR" altLang="en-US" sz="4400" b="1" dirty="0">
                <a:latin typeface="+mj-ea"/>
                <a:ea typeface="+mj-ea"/>
              </a:rPr>
              <a:t>이상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조합 찾기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1055-E6B3-4C5C-A476-F2D02B696E61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/dg)_110_6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67913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파일 단위 누적 강우 </a:t>
            </a:r>
            <a:r>
              <a:rPr lang="en-US" altLang="ko-KR" sz="1600" dirty="0"/>
              <a:t>110mm </a:t>
            </a:r>
            <a:r>
              <a:rPr lang="ko-KR" altLang="en-US" sz="1600" dirty="0"/>
              <a:t>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11</a:t>
            </a:r>
            <a:r>
              <a:rPr lang="ko-KR" altLang="en-US" sz="1600" dirty="0"/>
              <a:t>개 中 </a:t>
            </a:r>
            <a:r>
              <a:rPr lang="en-US" altLang="ko-KR" sz="1600" dirty="0"/>
              <a:t>9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2</a:t>
            </a:r>
            <a:r>
              <a:rPr lang="ko-KR" altLang="en-US" sz="1600" dirty="0"/>
              <a:t>개 </a:t>
            </a:r>
            <a:r>
              <a:rPr lang="en-US" altLang="ko-KR" sz="1600" dirty="0"/>
              <a:t>+ 4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2018 ~ 2024 ( 8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2014( 1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2017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627533" y="126666"/>
            <a:ext cx="3437469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 </a:t>
            </a:r>
          </a:p>
        </p:txBody>
      </p:sp>
    </p:spTree>
    <p:extLst>
      <p:ext uri="{BB962C8B-B14F-4D97-AF65-F5344CB8AC3E}">
        <p14:creationId xmlns:p14="http://schemas.microsoft.com/office/powerpoint/2010/main" val="6298072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5335"/>
            <a:ext cx="2813219" cy="72956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967" y="4458873"/>
            <a:ext cx="2758715" cy="146100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130" y="1145827"/>
            <a:ext cx="2702888" cy="143573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4316"/>
            <a:ext cx="2759745" cy="71506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 </a:t>
            </a:r>
            <a:r>
              <a:rPr lang="en-US" altLang="ko-KR" sz="2000" b="1" dirty="0">
                <a:latin typeface="+mj-ea"/>
              </a:rPr>
              <a:t>6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191" y="2788821"/>
            <a:ext cx="2793918" cy="14678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7834"/>
            <a:ext cx="2760371" cy="7007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0.8438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0.1330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0.1817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-0.9135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0.0759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0.2395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0.2755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0.8268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0.0484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0.2201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295458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356" y="4455524"/>
            <a:ext cx="2765937" cy="146769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880" y="1144966"/>
            <a:ext cx="2741389" cy="143745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7228"/>
            <a:ext cx="2759745" cy="70924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6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239" y="2790874"/>
            <a:ext cx="2785824" cy="146378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219B9CB-F516-452F-87A3-1397CD4A4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6735"/>
            <a:ext cx="2760371" cy="72295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DE572B6-C3A0-49C2-9EDD-F474DE484B5A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0.2097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0.0736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0.2087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0.2713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0.6942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0.1282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0.8607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0.0098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0.0703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0.0990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237454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6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18728"/>
            <a:ext cx="2813219" cy="7427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491" y="4456971"/>
            <a:ext cx="2779667" cy="146480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038" y="1137546"/>
            <a:ext cx="2753072" cy="145229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961" y="2790923"/>
            <a:ext cx="2758379" cy="146368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60" y="1531712"/>
            <a:ext cx="2760371" cy="713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0.9343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0.0400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0.1605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0.2000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0.0911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0.1272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0.3334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0.3567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0.8255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0.1587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0.3229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0.3984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9187559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누적 강우 </a:t>
            </a:r>
            <a:r>
              <a:rPr lang="en-US" altLang="ko-KR" sz="2000" b="1" dirty="0">
                <a:latin typeface="+mj-ea"/>
              </a:rPr>
              <a:t>110mm </a:t>
            </a:r>
            <a:r>
              <a:rPr lang="ko-KR" altLang="en-US" sz="2000" b="1" dirty="0">
                <a:latin typeface="+mj-ea"/>
              </a:rPr>
              <a:t>이상 조합 찾기</a:t>
            </a:r>
            <a:r>
              <a:rPr lang="en-US" altLang="ko-KR" sz="2000" b="1" dirty="0">
                <a:latin typeface="+mj-ea"/>
              </a:rPr>
              <a:t> 6 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3E6BE94-1730-402F-97E9-CB195EE79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181" y="4456288"/>
            <a:ext cx="2752287" cy="146617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672" y="1137733"/>
            <a:ext cx="2749805" cy="145192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1AC9C86-E07B-4029-9D0D-918BD95FF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2586"/>
            <a:ext cx="2759745" cy="69852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7402C4-68F9-4D9D-BC6E-7EE8DE3245A2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D4FF93-88A5-49C6-9781-605B0628AB6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999" y="2789583"/>
            <a:ext cx="2766303" cy="146636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8C92D31-B3D6-4A92-A8D0-466FC5830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145"/>
            <a:ext cx="2760371" cy="7001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BEB9DB2-FC20-4638-B01D-C0A7E7DA245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-2.078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0.1644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0.2689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0.4054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0.8521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0.2196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0.7653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0.0814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0.2219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0.2853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6370751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결론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2763837" y="3429000"/>
            <a:ext cx="6664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현재 조합 중에는 </a:t>
            </a:r>
            <a:r>
              <a:rPr lang="en-US" altLang="ko-KR" sz="2000" b="1" dirty="0">
                <a:highlight>
                  <a:srgbClr val="FFFF00"/>
                </a:highlight>
                <a:latin typeface="+mj-ea"/>
              </a:rPr>
              <a:t>4</a:t>
            </a:r>
            <a:r>
              <a:rPr lang="en-US" altLang="ko-KR" sz="2000" b="1" dirty="0">
                <a:latin typeface="+mj-ea"/>
              </a:rPr>
              <a:t> ( </a:t>
            </a:r>
            <a:r>
              <a:rPr lang="ko-KR" altLang="en-US" sz="2000" b="1" dirty="0">
                <a:latin typeface="+mj-ea"/>
              </a:rPr>
              <a:t>피크 재현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안정성 가장 좋음 </a:t>
            </a:r>
            <a:r>
              <a:rPr lang="en-US" altLang="ko-KR" sz="2000" b="1" dirty="0">
                <a:latin typeface="+mj-ea"/>
              </a:rPr>
              <a:t>) ,  </a:t>
            </a:r>
            <a:r>
              <a:rPr lang="en-US" altLang="ko-KR" sz="2000" b="1" dirty="0">
                <a:highlight>
                  <a:srgbClr val="FFFF00"/>
                </a:highlight>
                <a:latin typeface="+mj-ea"/>
              </a:rPr>
              <a:t>5</a:t>
            </a:r>
            <a:r>
              <a:rPr lang="en-US" altLang="ko-KR" sz="2000" b="1" dirty="0">
                <a:latin typeface="+mj-ea"/>
              </a:rPr>
              <a:t> (</a:t>
            </a:r>
            <a:r>
              <a:rPr lang="ko-KR" altLang="en-US" sz="2000" b="1" dirty="0">
                <a:latin typeface="+mj-ea"/>
              </a:rPr>
              <a:t>일부 음수 발생</a:t>
            </a:r>
            <a:r>
              <a:rPr lang="en-US" altLang="ko-KR" sz="2000" b="1" dirty="0">
                <a:latin typeface="+mj-ea"/>
              </a:rPr>
              <a:t>,</a:t>
            </a:r>
            <a:r>
              <a:rPr lang="ko-KR" altLang="en-US" sz="2000" b="1" dirty="0">
                <a:latin typeface="+mj-ea"/>
              </a:rPr>
              <a:t> 전체 평균은 안정</a:t>
            </a:r>
            <a:r>
              <a:rPr lang="en-US" altLang="ko-KR" sz="2000" b="1" dirty="0">
                <a:latin typeface="+mj-ea"/>
              </a:rPr>
              <a:t> ) </a:t>
            </a:r>
            <a:r>
              <a:rPr lang="ko-KR" altLang="en-US" sz="2000" b="1" dirty="0">
                <a:latin typeface="+mj-ea"/>
              </a:rPr>
              <a:t>가 나음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45567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725420" y="3044279"/>
            <a:ext cx="47411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2. </a:t>
            </a:r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9CAAC-43B5-4870-B987-8FCCFB99085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63511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64</a:t>
            </a:r>
            <a:r>
              <a:rPr lang="ko-KR" altLang="en-US" sz="1600" dirty="0"/>
              <a:t>개 데이터 파일 사용</a:t>
            </a:r>
            <a:r>
              <a:rPr lang="en-US" altLang="ko-KR" sz="1600" dirty="0"/>
              <a:t> </a:t>
            </a:r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3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</a:t>
            </a:r>
            <a:r>
              <a:rPr lang="en-US" altLang="ko-KR" sz="1600" dirty="0"/>
              <a:t> 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942203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23905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(5065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0.986375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0.986791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2.606402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34318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0.942399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0.946896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5.359824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927574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0.950739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0.958120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4.395504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36" y="3759373"/>
            <a:ext cx="5386707" cy="17568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5940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442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0.7777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0.0939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0.8560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0.1376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0.2006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0.7887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0.1130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0.1455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0.6514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0.0245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0.1184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18" y="4348846"/>
            <a:ext cx="3002052" cy="158711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416" y="4339671"/>
            <a:ext cx="3010771" cy="160407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399" y="1975519"/>
            <a:ext cx="2993660" cy="157610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4875" y="1994731"/>
            <a:ext cx="2977423" cy="15626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1737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90" y="3740036"/>
            <a:ext cx="5381199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C82A05-A407-42E7-96BE-861DBCA9010D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81D2EB6A-8717-4131-B9BE-B9EE955D5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582984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(5065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0.987721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0.989193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5.235190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E149AA4-EDCC-4D11-BED4-58762BE0A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79656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0.955670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0.956173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2.551442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57BC6560-961C-451B-AE01-12184D641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81380"/>
              </p:ext>
            </p:extLst>
          </p:nvPr>
        </p:nvGraphicFramePr>
        <p:xfrm>
          <a:off x="6951132" y="5500395"/>
          <a:ext cx="38074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0.952298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0.953230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3.660785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815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65A6128-F671-488A-B725-D8FE81F5C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533538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0.7789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0.8833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0.1061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0.2572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0.3258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0.9808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0.0088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0.0723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0.0939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0.8550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0.0503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0.2242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15C8347-4427-434D-B5DF-732CAF98B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586" y="4345524"/>
            <a:ext cx="3029716" cy="159375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C322E94-D588-407C-BC30-BFC818A89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62" y="4331287"/>
            <a:ext cx="3038680" cy="16208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AB98D6-4D7B-4475-ADE8-0249AD610F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830" y="1974868"/>
            <a:ext cx="2986798" cy="157740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0CE8EA7-DB91-45CD-B0B7-895B2582E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1718" y="1990718"/>
            <a:ext cx="2983736" cy="15707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65CAC3-189B-4520-92AF-759C40170BE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0984A-6BC1-4FDC-8121-95FCFE0B9A94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140992-293D-49CE-BB2D-0A090D788F4A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5E3A12-5140-46EE-91C9-23AA19E0DB22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2542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705725"/>
            <a:ext cx="54355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2-2. </a:t>
            </a:r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en-US" altLang="ko-KR" sz="4400" b="1" dirty="0" err="1">
                <a:latin typeface="+mj-ea"/>
                <a:ea typeface="+mj-ea"/>
              </a:rPr>
              <a:t>Testdata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증강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252BC-12C5-48A5-8DC1-6EBC4C8E58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74795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949315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994508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(4937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0.978650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0.979667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6.814979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26667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0.941805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0.947482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5.596691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15864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0.943811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0.949195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6.698679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44" y="3756420"/>
            <a:ext cx="5326490" cy="17628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57051-5EE2-47BB-A552-71B167E2E77F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/dg)_wl18_2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65427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612" y="4478131"/>
            <a:ext cx="2689424" cy="1422484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115" y="1158913"/>
            <a:ext cx="2676918" cy="140956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656" y="2814676"/>
            <a:ext cx="2686989" cy="14161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11462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0.9353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0.0136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0.0837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0.1169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0.2652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0.1272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0.1707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0.8690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0.1914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3231FC-8EAD-48CE-858D-DC3398F18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5335"/>
            <a:ext cx="2813219" cy="72956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40B0D13-C87B-4AC0-B9FF-B72A6FF78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4316"/>
            <a:ext cx="2759745" cy="7150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FF36C2-1AEC-42D1-9262-5EC65618A30C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21FE7-BBB0-4F0F-9265-D0AA0C49B197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08C60607-399C-4A71-8BCF-26A4AE4F2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7834"/>
            <a:ext cx="2760371" cy="70075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FEB4EA7-EF1F-4D00-AEC9-E4E5716C0382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07751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612" y="4486456"/>
            <a:ext cx="2689424" cy="140583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115" y="1166398"/>
            <a:ext cx="2676918" cy="13945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656" y="2814785"/>
            <a:ext cx="2686989" cy="141596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48157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0.1206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0.0819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0.2115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0.2862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0.7039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0.0296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0.1723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0.4391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0.0395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0.1988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38CCEE3-61C5-4A7F-ADEB-944E297E3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2EBBF7E-21B3-415D-9D34-3A5A71240F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7228"/>
            <a:ext cx="2759745" cy="7092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5B7ADD7-1A25-4461-B398-5CDFDA8A2657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AA9BCA-E616-4F53-B2D6-A9A5F1887121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684F68E-F078-47EF-BEE3-83C7143B18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6735"/>
            <a:ext cx="2760371" cy="72295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D6A0000-0D41-489D-9B39-1492B01A648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423464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27" y="3740959"/>
            <a:ext cx="5386124" cy="1793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E82BF-5846-4009-B5AD-F7F638F671F4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F7F306F-7BAC-432B-A954-028D3F810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075440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(4937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0.983367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0.983731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6.069073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816161E-16CF-43DE-AE7D-129E16DAB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565594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0.955707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3.890129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FC4B711-C2F3-4021-ADBE-4AD9C1045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675148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0.936055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0.938276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6.933598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154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598" y="4483253"/>
            <a:ext cx="2687453" cy="141224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096" y="1160269"/>
            <a:ext cx="2674956" cy="140684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640" y="2813175"/>
            <a:ext cx="2685020" cy="141918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39350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0.9182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0.0498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0.1637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0.2233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0.4487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0.0771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0.2441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0.2778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0.8872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0.1026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0.2578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0.3203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57E6BF9-DFD9-4E23-8251-8654EA5DC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18728"/>
            <a:ext cx="2813219" cy="7427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94EA93F-F59C-482F-B16E-C517FF367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B2180F-C470-4C20-BB25-A04B5366FCEA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A58C66-AB0C-4803-B13B-CF50311EC95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1AAE37F-EC1E-4535-8CEE-DE8214C83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60" y="1531712"/>
            <a:ext cx="2760371" cy="713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549526-6583-4DBF-B1C3-1A8CCBD73BC8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501792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598" y="4482517"/>
            <a:ext cx="2687453" cy="141371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096" y="1162248"/>
            <a:ext cx="2674956" cy="140289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640" y="2817286"/>
            <a:ext cx="2685020" cy="141096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078747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-1.2187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0.1185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0.2587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0.3442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0.9720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0.0129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0.0860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0.8273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3047BD1-3AB9-45C2-A5C1-D89B4A952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D1CC508-FCD6-4486-8838-4403BEDBC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2586"/>
            <a:ext cx="2759745" cy="6985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D69D46C-A27D-4E29-B1E3-78421E440EE8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EFF8E4-4FD9-452B-B2DC-1ABEBC12C4B2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9A9B8A6-90C2-4CF8-8123-4D2AD76691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145"/>
            <a:ext cx="2760371" cy="7001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4A1D03-B909-43A2-A292-0305C5365530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005706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367171"/>
            <a:ext cx="5435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2-3.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 수위 이상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en-US" altLang="ko-KR" sz="4400" b="1" dirty="0" err="1">
                <a:highlight>
                  <a:srgbClr val="FFFF00"/>
                </a:highlight>
                <a:latin typeface="+mj-ea"/>
                <a:ea typeface="+mj-ea"/>
              </a:rPr>
              <a:t>Testdata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증강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MAE + 0.0005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252BC-12C5-48A5-8DC1-6EBC4C8E58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078938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(5079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0.0527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0.970485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0.971132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6.131354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94280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(1404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0.938086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0.942190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3.555444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16311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(297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0.931818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0.935694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0.423962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644" y="3756439"/>
            <a:ext cx="5326490" cy="17627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A57051-5EE2-47BB-A552-71B167E2E77F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444251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825" y="5407728"/>
            <a:ext cx="2140858" cy="11311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660" y="1392322"/>
            <a:ext cx="2152473" cy="11277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5809"/>
            <a:ext cx="2141986" cy="11294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4648144"/>
            <a:ext cx="4475270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8FED2-F8F6-49BA-AF97-1E9007C8CF91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3CF90643-C222-4143-9FDB-55C494E1A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88938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0.9656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0.0072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0.0558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0.0852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0.4201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0.1139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0.8622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0.1486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0.1963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49698A-7809-464B-946B-701ED27E3333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008553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0304"/>
            <a:ext cx="2144214" cy="112595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0626"/>
            <a:ext cx="2138738" cy="11311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4375"/>
            <a:ext cx="2141986" cy="11122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638495"/>
            <a:ext cx="4431036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29" y="2638010"/>
            <a:ext cx="4437903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097" y="4648144"/>
            <a:ext cx="4431036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2D5D1C-9809-4303-96FC-619DAE6D885A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FA09D528-68C1-4E00-B740-1E8B99859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1128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-0.0236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0.2271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0.3088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0.0205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2928A60B-580D-477C-897D-E296A914934A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41646275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477" y="3740959"/>
            <a:ext cx="5278824" cy="1793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B43079-8C41-4D96-9126-885F7E9D1484}"/>
              </a:ext>
            </a:extLst>
          </p:cNvPr>
          <p:cNvSpPr txBox="1"/>
          <p:nvPr/>
        </p:nvSpPr>
        <p:spPr>
          <a:xfrm>
            <a:off x="622385" y="850612"/>
            <a:ext cx="789963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-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  <a:p>
            <a:endParaRPr lang="ko-KR" altLang="en-US" sz="1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E82BF-5846-4009-B5AD-F7F638F671F4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B2A5745-8543-4D4B-BA55-F41607AAD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154377"/>
              </p:ext>
            </p:extLst>
          </p:nvPr>
        </p:nvGraphicFramePr>
        <p:xfrm>
          <a:off x="6951132" y="3017967"/>
          <a:ext cx="39090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(5079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0.992509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0.992542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1.779686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DCAD51C5-07C6-4716-82F0-4FB8EE012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49764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(1404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0.950117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0.951611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1.926420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02085DF-B5D6-4DCD-A0B5-5C6008C6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5329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(297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0.0200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0.961031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0.962256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1.172597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57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1703"/>
            <a:ext cx="2144214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8355"/>
            <a:ext cx="2138738" cy="111565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381" y="3361947"/>
            <a:ext cx="2123518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638495"/>
            <a:ext cx="4470400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2638010"/>
            <a:ext cx="4470400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499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B3C5CA-35D6-453B-B2A0-8C33E7CF1056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954EC9B-E0F1-4DF8-B7B6-0AA5A419F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328775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0.1438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0.2361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0.8939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0.0148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0.0947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0.9252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0.2608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A70F720-33BC-4E79-99C1-39AC413364E1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06404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11" y="5414986"/>
            <a:ext cx="2122486" cy="111659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969" y="1397573"/>
            <a:ext cx="2117853" cy="111721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381" y="3369170"/>
            <a:ext cx="2123518" cy="11026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E8161-D5E7-4DD8-B31B-C6601D0D70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/dg)_wl18_3_2</a:t>
            </a:r>
            <a:endParaRPr lang="ko-KR" altLang="en-US" sz="1050" dirty="0">
              <a:latin typeface="+mj-ea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8" y="638495"/>
            <a:ext cx="447039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70399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6" y="4626987"/>
            <a:ext cx="4470399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4F539B-9632-4983-8850-7AAE8CF7E258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MAE + 0.0005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13956D11-1263-42BF-B188-F0DFD054E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033288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-2.7619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0.2009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0.3459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0.4482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0.7833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0.2001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0.2742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72717E-A50D-4F31-A0FE-2757E7F367C6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9121278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367171"/>
            <a:ext cx="5435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2-4. </a:t>
            </a:r>
            <a:r>
              <a:rPr lang="ko-KR" altLang="en-US" sz="4400" b="1" dirty="0">
                <a:latin typeface="+mj-ea"/>
                <a:ea typeface="+mj-ea"/>
              </a:rPr>
              <a:t>관심 수위 이상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en-US" altLang="ko-KR" sz="4400" b="1" dirty="0" err="1">
                <a:latin typeface="+mj-ea"/>
                <a:ea typeface="+mj-ea"/>
              </a:rPr>
              <a:t>Testdata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증강</a:t>
            </a:r>
            <a:endParaRPr lang="en-US" altLang="ko-KR" sz="4400" b="1" dirty="0">
              <a:latin typeface="+mj-ea"/>
              <a:ea typeface="+mj-ea"/>
            </a:endParaRP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MSLE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252BC-12C5-48A5-8DC1-6EBC4C8E58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msle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FF7955-C0D8-40F6-BC5D-3C67F7F33A42}"/>
              </a:ext>
            </a:extLst>
          </p:cNvPr>
          <p:cNvSpPr txBox="1"/>
          <p:nvPr/>
        </p:nvSpPr>
        <p:spPr>
          <a:xfrm>
            <a:off x="4555066" y="4490829"/>
            <a:ext cx="2937933" cy="69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050" dirty="0"/>
              <a:t>상대오차</a:t>
            </a:r>
            <a:r>
              <a:rPr lang="en-US" altLang="ko-KR" sz="1050" dirty="0"/>
              <a:t>(</a:t>
            </a:r>
            <a:r>
              <a:rPr lang="ko-KR" altLang="en-US" sz="1050" dirty="0"/>
              <a:t>비율</a:t>
            </a:r>
            <a:r>
              <a:rPr lang="en-US" altLang="ko-KR" sz="1050" dirty="0"/>
              <a:t>)</a:t>
            </a:r>
            <a:r>
              <a:rPr lang="ko-KR" altLang="en-US" sz="1050" dirty="0"/>
              <a:t>를 더 중요하게 봄</a:t>
            </a:r>
            <a:endParaRPr lang="en-US" altLang="ko-KR" sz="1050" dirty="0"/>
          </a:p>
          <a:p>
            <a:pPr algn="ctr">
              <a:lnSpc>
                <a:spcPct val="200000"/>
              </a:lnSpc>
            </a:pPr>
            <a:r>
              <a:rPr lang="ko-KR" altLang="en-US" sz="1050" dirty="0"/>
              <a:t>값이 클수록 절대오차보다 비율 오차에 민감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8385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MSLE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2079697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612" y="4486328"/>
            <a:ext cx="2689424" cy="140608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1115" y="1163256"/>
            <a:ext cx="2676918" cy="140087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MSLE</a:t>
            </a: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237" y="2826551"/>
            <a:ext cx="2681827" cy="13924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328178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0.9132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0.1354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0.7455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0.0840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0.8928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0.1190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0.1731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3231FC-8EAD-48CE-858D-DC3398F184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25335"/>
            <a:ext cx="2813219" cy="72956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40B0D13-C87B-4AC0-B9FF-B72A6FF789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4316"/>
            <a:ext cx="2759745" cy="7150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FF36C2-1AEC-42D1-9262-5EC65618A30C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A21FE7-BBB0-4F0F-9265-D0AA0C49B197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08C60607-399C-4A71-8BCF-26A4AE4F22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7834"/>
            <a:ext cx="2760371" cy="70075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FEB4EA7-EF1F-4D00-AEC9-E4E5716C0382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447110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825" y="4486456"/>
            <a:ext cx="2664998" cy="140583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59" y="1166398"/>
            <a:ext cx="2641229" cy="13945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dirty="0">
                <a:latin typeface="+mj-ea"/>
              </a:rPr>
              <a:t> </a:t>
            </a:r>
            <a:r>
              <a:rPr lang="en-US" altLang="ko-KR" sz="2000" b="1" dirty="0">
                <a:latin typeface="+mn-ea"/>
              </a:rPr>
              <a:t>MSLE</a:t>
            </a:r>
            <a:endParaRPr lang="en-US" altLang="ko-KR" sz="2000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827" y="2823758"/>
            <a:ext cx="2652647" cy="13980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1890FCD-7F1C-40BA-877E-5D1CB415E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18366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0.0277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0.0906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0.2251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0.3010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0.6664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0.0334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0.6655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0.1183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0.1535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D6A239CC-29FD-402E-AB65-80B9957BB64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38CCEE3-61C5-4A7F-ADEB-944E297E3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2EBBF7E-21B3-415D-9D34-3A5A71240F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57228"/>
            <a:ext cx="2759745" cy="7092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5B7ADD7-1A25-4461-B398-5CDFDA8A2657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AA9BCA-E616-4F53-B2D6-A9A5F1887121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250814</a:t>
            </a:r>
            <a:endParaRPr lang="ko-KR" altLang="en-US" sz="10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684F68E-F078-47EF-BEE3-83C7143B18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26735"/>
            <a:ext cx="2760371" cy="72295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D6A0000-0D41-489D-9B39-1492B01A648D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846133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MSLE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6650" y="4486049"/>
            <a:ext cx="2657348" cy="140664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2096" y="1167515"/>
            <a:ext cx="2674956" cy="139235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640" y="2818422"/>
            <a:ext cx="2685020" cy="140868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87907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0.9057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0.0575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0.2398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0.7552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0.0342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0.1851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0.7906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0.1905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0.3216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0.4364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57E6BF9-DFD9-4E23-8251-8654EA5DC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18728"/>
            <a:ext cx="2813219" cy="74278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94EA93F-F59C-482F-B16E-C517FF367E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0790"/>
            <a:ext cx="2759745" cy="7021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B2180F-C470-4C20-BB25-A04B5366FCEA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A58C66-AB0C-4803-B13B-CF50311EC95A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230711</a:t>
            </a:r>
            <a:endParaRPr lang="ko-KR" altLang="en-US" sz="10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1AAE37F-EC1E-4535-8CEE-DE8214C833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60" y="1531712"/>
            <a:ext cx="2760371" cy="713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549526-6583-4DBF-B1C3-1A8CCBD73BC8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testdata_200802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887916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B776D31-284F-4F08-950F-9807E063D9DD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MSLE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E87E734D-7867-4F4B-9B05-C0592F902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140" y="4485948"/>
            <a:ext cx="2684369" cy="140684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05DC6D-C83E-4CF9-AB68-6780D1156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011" y="1172320"/>
            <a:ext cx="2659126" cy="138274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A89996B-061A-4418-B92F-831B2372929B}"/>
              </a:ext>
            </a:extLst>
          </p:cNvPr>
          <p:cNvSpPr txBox="1"/>
          <p:nvPr/>
        </p:nvSpPr>
        <p:spPr>
          <a:xfrm>
            <a:off x="9947618" y="25426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2DA0F4-F1F9-405E-9A00-2E9B260BF13E}"/>
              </a:ext>
            </a:extLst>
          </p:cNvPr>
          <p:cNvSpPr txBox="1"/>
          <p:nvPr/>
        </p:nvSpPr>
        <p:spPr>
          <a:xfrm>
            <a:off x="9869660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ABC9892-D129-48AE-9865-AD9D46CB46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938" y="2824997"/>
            <a:ext cx="2648424" cy="139554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B7114F2-FB54-4FA0-8882-AC4A7DF14901}"/>
              </a:ext>
            </a:extLst>
          </p:cNvPr>
          <p:cNvSpPr txBox="1"/>
          <p:nvPr/>
        </p:nvSpPr>
        <p:spPr>
          <a:xfrm>
            <a:off x="10020441" y="4250632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4A02C064-49E7-4B25-8EDD-3158FF4F2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27633"/>
              </p:ext>
            </p:extLst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-0.7897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0.0955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0.2293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0.0381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0.1320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0.1951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0.7456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0.0882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0.2280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0.2971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42" name="직사각형 41">
            <a:extLst>
              <a:ext uri="{FF2B5EF4-FFF2-40B4-BE49-F238E27FC236}">
                <a16:creationId xmlns:a16="http://schemas.microsoft.com/office/drawing/2014/main" id="{E106B5F0-BE5F-484D-88D9-D75BBF1A1485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3047BD1-3AB9-45C2-A5C1-D89B4A952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468" y="4834090"/>
            <a:ext cx="2813219" cy="7120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D1CC508-FCD6-4486-8838-4403BEDBC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01" y="3162586"/>
            <a:ext cx="2759745" cy="6985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D69D46C-A27D-4E29-B1E3-78421E440EE8}"/>
              </a:ext>
            </a:extLst>
          </p:cNvPr>
          <p:cNvSpPr txBox="1"/>
          <p:nvPr/>
        </p:nvSpPr>
        <p:spPr>
          <a:xfrm>
            <a:off x="6745996" y="4256853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EFF8E4-4FD9-452B-B2DC-1ABEBC12C4B2}"/>
              </a:ext>
            </a:extLst>
          </p:cNvPr>
          <p:cNvSpPr txBox="1"/>
          <p:nvPr/>
        </p:nvSpPr>
        <p:spPr>
          <a:xfrm>
            <a:off x="6713303" y="594556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59A9B8A6-90C2-4CF8-8123-4D2AD76691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159" y="1538145"/>
            <a:ext cx="2760371" cy="7001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4A1D03-B909-43A2-A292-0305C5365530}"/>
              </a:ext>
            </a:extLst>
          </p:cNvPr>
          <p:cNvSpPr txBox="1"/>
          <p:nvPr/>
        </p:nvSpPr>
        <p:spPr>
          <a:xfrm>
            <a:off x="6749388" y="256711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testdata_240723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008261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2367171"/>
            <a:ext cx="54355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2-5.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 수위 이상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en-US" altLang="ko-KR" sz="4400" b="1" dirty="0" err="1">
                <a:highlight>
                  <a:srgbClr val="FFFF00"/>
                </a:highlight>
                <a:latin typeface="+mj-ea"/>
                <a:ea typeface="+mj-ea"/>
              </a:rPr>
              <a:t>Testdata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증강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  <a:p>
            <a:pPr algn="ctr"/>
            <a:r>
              <a:rPr lang="en-US" altLang="ko-KR" sz="4400" b="1" dirty="0" err="1">
                <a:highlight>
                  <a:srgbClr val="FFFF00"/>
                </a:highlight>
                <a:latin typeface="+mj-ea"/>
                <a:ea typeface="+mj-ea"/>
              </a:rPr>
              <a:t>huber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252BC-12C5-48A5-8DC1-6EBC4C8E585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</a:t>
            </a:r>
            <a:r>
              <a:rPr lang="en-US" altLang="ko-KR" sz="1050" dirty="0" err="1"/>
              <a:t>huber</a:t>
            </a:r>
            <a:endParaRPr lang="ko-KR" altLang="en-US" sz="1050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EFCE7-A43C-44ED-BFEA-D3057137FF5B}"/>
              </a:ext>
            </a:extLst>
          </p:cNvPr>
          <p:cNvSpPr txBox="1"/>
          <p:nvPr/>
        </p:nvSpPr>
        <p:spPr>
          <a:xfrm>
            <a:off x="4555066" y="4490829"/>
            <a:ext cx="2937933" cy="69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050" dirty="0"/>
              <a:t>작은 오차는 </a:t>
            </a:r>
            <a:r>
              <a:rPr lang="en-US" altLang="ko-KR" sz="1050" dirty="0"/>
              <a:t>MSE</a:t>
            </a:r>
            <a:r>
              <a:rPr lang="ko-KR" altLang="en-US" sz="1050" dirty="0"/>
              <a:t>처럼 부드럽게</a:t>
            </a:r>
            <a:r>
              <a:rPr lang="en-US" altLang="ko-KR" sz="1050" dirty="0"/>
              <a:t>,</a:t>
            </a:r>
          </a:p>
          <a:p>
            <a:pPr algn="ctr">
              <a:lnSpc>
                <a:spcPct val="200000"/>
              </a:lnSpc>
            </a:pPr>
            <a:r>
              <a:rPr lang="ko-KR" altLang="en-US" sz="1050" dirty="0"/>
              <a:t>큰 오차</a:t>
            </a:r>
            <a:r>
              <a:rPr lang="en-US" altLang="ko-KR" sz="1050" dirty="0"/>
              <a:t>(</a:t>
            </a:r>
            <a:r>
              <a:rPr lang="ko-KR" altLang="en-US" sz="1050" dirty="0"/>
              <a:t>이상치</a:t>
            </a:r>
            <a:r>
              <a:rPr lang="en-US" altLang="ko-KR" sz="1050" dirty="0"/>
              <a:t>)</a:t>
            </a:r>
            <a:r>
              <a:rPr lang="ko-KR" altLang="en-US" sz="1050" dirty="0"/>
              <a:t>는 </a:t>
            </a:r>
            <a:r>
              <a:rPr lang="en-US" altLang="ko-KR" sz="1050" dirty="0"/>
              <a:t>MAE</a:t>
            </a:r>
            <a:r>
              <a:rPr lang="ko-KR" altLang="en-US" sz="1050" dirty="0"/>
              <a:t>처럼 강건하게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662997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</a:t>
            </a:r>
            <a:r>
              <a:rPr lang="en-US" altLang="ko-KR" sz="1600" dirty="0"/>
              <a:t>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0.0001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Huber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8794243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5412864"/>
            <a:ext cx="2144214" cy="112083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341" y="1390626"/>
            <a:ext cx="2149110" cy="113111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CA3B-0B84-4DCC-BCA8-4F45FEE3555F}"/>
              </a:ext>
            </a:extLst>
          </p:cNvPr>
          <p:cNvSpPr txBox="1"/>
          <p:nvPr/>
        </p:nvSpPr>
        <p:spPr>
          <a:xfrm>
            <a:off x="622385" y="850612"/>
            <a:ext cx="6440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</a:rPr>
              <a:t>예측 코드 </a:t>
            </a:r>
            <a:r>
              <a:rPr lang="en-US" altLang="ko-KR" sz="2000" b="1" dirty="0">
                <a:latin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55405"/>
            <a:ext cx="2141986" cy="113021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638495"/>
            <a:ext cx="4468718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3" y="2638010"/>
            <a:ext cx="446871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732" y="4648144"/>
            <a:ext cx="4468717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9FE234-C56E-46FE-8AF6-E623016959A2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D561D03-87A3-4C82-9658-157F38B1053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0.9436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0.0119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0.1091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0.5280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0.0187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0.1057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0.1368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0.8739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0352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0.1445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0.1878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399E11-0E4A-4099-99DB-3342A9B87CD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3753A1C-52BC-4C73-90AF-B45DE9CF60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4F6B4C7-898F-4BAD-97B4-69803FF78E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D2B7323-20F0-4314-9A8A-29951EC708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924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32" y="5409145"/>
            <a:ext cx="2134444" cy="112827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7" y="1390626"/>
            <a:ext cx="2138738" cy="113111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147" y="3364091"/>
            <a:ext cx="2141986" cy="11128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638495"/>
            <a:ext cx="4431035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2638010"/>
            <a:ext cx="4431036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230" y="4648144"/>
            <a:ext cx="4431036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70E481-046E-4B98-82EF-B0D0ED759E57}"/>
              </a:ext>
            </a:extLst>
          </p:cNvPr>
          <p:cNvSpPr txBox="1"/>
          <p:nvPr/>
        </p:nvSpPr>
        <p:spPr>
          <a:xfrm>
            <a:off x="622385" y="850612"/>
            <a:ext cx="8352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</a:t>
            </a:r>
            <a:r>
              <a:rPr lang="en-US" altLang="ko-KR" sz="2000" dirty="0">
                <a:latin typeface="+mj-ea"/>
              </a:rPr>
              <a:t>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rgbClr val="FF0000"/>
                </a:solidFill>
                <a:latin typeface="+mj-ea"/>
                <a:ea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FD2CC-37E5-4142-8319-5EB445310AEE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9D5A683-7D0B-47E4-BD1C-B937527C7B7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0.0597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0.0876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0.2157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0.2960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0.8570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0.0951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0.1197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0.6947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0.0215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0.1217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0.1467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7E823A61-94CA-4EA3-A7A0-7BB3248FD102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58F65DA0-4EA8-40BF-9D12-4DD3D9DDC5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5140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F78EEE0-55D4-445F-B4E5-B2A52E1489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5927"/>
            <a:ext cx="2103138" cy="108647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BB3FB78-AEC1-440D-B727-8A714DBA34E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4932"/>
            <a:ext cx="2105029" cy="10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480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79" y="5411703"/>
            <a:ext cx="2139350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528" y="1395920"/>
            <a:ext cx="2138736" cy="112052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788" y="3361947"/>
            <a:ext cx="2118703" cy="11171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220712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638495"/>
            <a:ext cx="4470399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3" y="2638010"/>
            <a:ext cx="4470398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092" y="4626987"/>
            <a:ext cx="4470399" cy="689782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200802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65472D-B23E-48E1-AD68-7714330415E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8387AB-FE52-4C83-A7B2-B3DBB02C00B0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1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C38916C-0BFF-4A20-B514-C2C5CEC719D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testdata_200802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0.8583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0.0864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0.1800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0.2939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0.9114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0.0931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0.8354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0.1497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0.2952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0.3870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B560F6D5-68FA-4067-8B3B-14788F3865B4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69ABB3DE-CA85-4681-9807-C54C13F283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92908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0D0F7A6-9609-4F28-8D11-9173362805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0425"/>
            <a:ext cx="2103138" cy="109747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B61517F7-592B-47D7-B9D4-C91594A634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12748"/>
            <a:ext cx="2105029" cy="10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9622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441" y="5411703"/>
            <a:ext cx="2129625" cy="112315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707" y="1395920"/>
            <a:ext cx="2114377" cy="112052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5887447" y="5407728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5344DC-409F-402A-8744-0CDDEEB21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050" y="3369170"/>
            <a:ext cx="2080179" cy="11026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5887447" y="3429000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250716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A856132F-CBFF-4D9E-8989-4CB996C9FA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638495"/>
            <a:ext cx="4453671" cy="6810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0A24E53-BC5F-406A-B389-C934D6A439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2638010"/>
            <a:ext cx="4453671" cy="6916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9502D35-AD74-4DC1-A9D3-A38E8588E7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557" y="4626987"/>
            <a:ext cx="4453672" cy="689782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587D4D1-B5AD-4F84-A9EC-ACF0F37209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070"/>
            <a:ext cx="2105544" cy="110841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2EB87C0-99F4-4D4D-BA7D-BBD8C5BA25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54959"/>
            <a:ext cx="2103138" cy="110841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A32BC7D-501C-44A7-96AA-6D8ABAFFB1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28"/>
            <a:ext cx="2105029" cy="11084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5887447" y="1319569"/>
            <a:ext cx="1175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testdata</a:t>
            </a:r>
            <a:r>
              <a:rPr lang="en-US" altLang="ko-KR" sz="1000" dirty="0"/>
              <a:t>_ 240723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0006E6-4DC9-4D6B-A0F4-982942755965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/dg)_huber2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B4AB1-D0CB-489C-8F65-9813869AC487}"/>
              </a:ext>
            </a:extLst>
          </p:cNvPr>
          <p:cNvSpPr txBox="1"/>
          <p:nvPr/>
        </p:nvSpPr>
        <p:spPr>
          <a:xfrm>
            <a:off x="622385" y="850612"/>
            <a:ext cx="8140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 수위 이상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 err="1">
                <a:latin typeface="+mj-ea"/>
              </a:rPr>
              <a:t>testdata</a:t>
            </a:r>
            <a:r>
              <a:rPr lang="en-US" altLang="ko-KR" sz="2000" b="1" dirty="0">
                <a:latin typeface="+mj-ea"/>
              </a:rPr>
              <a:t> </a:t>
            </a:r>
            <a:r>
              <a:rPr lang="ko-KR" altLang="en-US" sz="2000" b="1" dirty="0">
                <a:latin typeface="+mj-ea"/>
              </a:rPr>
              <a:t>증강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en-US" altLang="ko-KR" sz="2000" b="1" dirty="0">
                <a:latin typeface="+mn-ea"/>
              </a:rPr>
              <a:t>Huber + 0.0001</a:t>
            </a:r>
            <a:endParaRPr lang="en-US" altLang="ko-KR" sz="2000" b="1" dirty="0">
              <a:latin typeface="+mj-ea"/>
            </a:endParaRPr>
          </a:p>
          <a:p>
            <a:r>
              <a:rPr lang="ko-KR" altLang="en-US" sz="2000" b="1" dirty="0">
                <a:latin typeface="+mj-ea"/>
                <a:ea typeface="+mj-ea"/>
              </a:rPr>
              <a:t>예측 코드 </a:t>
            </a:r>
            <a:r>
              <a:rPr lang="en-US" altLang="ko-KR" sz="2000" b="1" dirty="0">
                <a:latin typeface="+mj-ea"/>
                <a:ea typeface="+mj-ea"/>
              </a:rPr>
              <a:t>– </a:t>
            </a:r>
            <a:r>
              <a:rPr lang="ko-KR" altLang="en-US" sz="2000" b="1" dirty="0" err="1">
                <a:solidFill>
                  <a:schemeClr val="accent5"/>
                </a:solidFill>
                <a:latin typeface="+mj-ea"/>
                <a:ea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  <a:ea typeface="+mj-ea"/>
              </a:rPr>
              <a:t>2</a:t>
            </a:r>
            <a:endParaRPr lang="ko-KR" altLang="en-US" sz="20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9367729-6572-4303-8483-24437287B63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249937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testdata_240723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-0.3854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0.0739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0.1788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0.2720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0.9566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0.0200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0.1153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0.1414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0.7191</a:t>
                      </a:r>
                      <a:endParaRPr lang="pt-BR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0.0974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0.2343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0.3122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996F11D0-7D12-42A1-BB2E-042E0567CC40}"/>
              </a:ext>
            </a:extLst>
          </p:cNvPr>
          <p:cNvSpPr/>
          <p:nvPr/>
        </p:nvSpPr>
        <p:spPr>
          <a:xfrm>
            <a:off x="2241494" y="2499373"/>
            <a:ext cx="2887375" cy="32054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C9444A97-0014-4E52-96D5-B6D91F4AA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587" y="1388994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4A34667-D2C6-41BE-A6F2-E927AEDAB6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753" y="3362087"/>
            <a:ext cx="2103138" cy="1094155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4ED9013-2921-4D6D-927D-4E4015FB48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987" y="5407748"/>
            <a:ext cx="2105029" cy="110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2902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1519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결론</a:t>
            </a:r>
            <a:endParaRPr lang="ko-KR" altLang="en-US" sz="12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DC680-F0CF-4BBD-BD62-C9B6103562BC}"/>
              </a:ext>
            </a:extLst>
          </p:cNvPr>
          <p:cNvSpPr txBox="1"/>
          <p:nvPr/>
        </p:nvSpPr>
        <p:spPr>
          <a:xfrm>
            <a:off x="1382050" y="3429000"/>
            <a:ext cx="94278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ko-KR" altLang="en-US" sz="2000" b="1" dirty="0">
                <a:latin typeface="+mj-ea"/>
              </a:rPr>
              <a:t>관심수위이상 중에는 </a:t>
            </a:r>
            <a:r>
              <a:rPr lang="en-US" altLang="ko-KR" sz="2000" b="1" dirty="0">
                <a:highlight>
                  <a:srgbClr val="FFFF00"/>
                </a:highlight>
                <a:latin typeface="+mj-ea"/>
              </a:rPr>
              <a:t>MAE</a:t>
            </a:r>
            <a:r>
              <a:rPr lang="en-US" altLang="ko-KR" sz="2000" b="1" dirty="0">
                <a:latin typeface="+mj-ea"/>
              </a:rPr>
              <a:t> ( </a:t>
            </a:r>
            <a:r>
              <a:rPr lang="ko-KR" altLang="en-US" sz="2000" b="1" dirty="0">
                <a:latin typeface="+mj-ea"/>
              </a:rPr>
              <a:t>피크</a:t>
            </a:r>
            <a:r>
              <a:rPr lang="en-US" altLang="ko-KR" sz="2000" b="1" dirty="0">
                <a:latin typeface="+mj-ea"/>
              </a:rPr>
              <a:t>/</a:t>
            </a:r>
            <a:r>
              <a:rPr lang="ko-KR" altLang="en-US" sz="2000" b="1" dirty="0">
                <a:latin typeface="+mj-ea"/>
              </a:rPr>
              <a:t>급변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평균 성능 모두 최고</a:t>
            </a:r>
            <a:r>
              <a:rPr lang="en-US" altLang="ko-KR" sz="2000" b="1" dirty="0">
                <a:latin typeface="+mj-ea"/>
              </a:rPr>
              <a:t> ) , 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altLang="ko-KR" sz="2000" b="1" dirty="0">
                <a:highlight>
                  <a:srgbClr val="FFFF00"/>
                </a:highlight>
                <a:latin typeface="+mj-ea"/>
              </a:rPr>
              <a:t>Huber</a:t>
            </a:r>
            <a:r>
              <a:rPr lang="en-US" altLang="ko-KR" sz="2000" b="1" dirty="0">
                <a:latin typeface="+mj-ea"/>
              </a:rPr>
              <a:t> ( MAE</a:t>
            </a:r>
            <a:r>
              <a:rPr lang="ko-KR" altLang="en-US" sz="2000" b="1" dirty="0">
                <a:latin typeface="+mj-ea"/>
              </a:rPr>
              <a:t>보다 이상치에 강함 </a:t>
            </a:r>
            <a:r>
              <a:rPr lang="en-US" altLang="ko-KR" sz="2000" b="1" dirty="0">
                <a:latin typeface="+mj-ea"/>
              </a:rPr>
              <a:t>, </a:t>
            </a:r>
            <a:r>
              <a:rPr lang="ko-KR" altLang="en-US" sz="2000" b="1" dirty="0">
                <a:latin typeface="+mj-ea"/>
              </a:rPr>
              <a:t>평균 </a:t>
            </a:r>
            <a:r>
              <a:rPr lang="en-US" altLang="ko-KR" sz="2000" b="1" dirty="0">
                <a:latin typeface="+mj-ea"/>
              </a:rPr>
              <a:t>MAE</a:t>
            </a:r>
            <a:r>
              <a:rPr lang="ko-KR" altLang="en-US" sz="2000" b="1" dirty="0">
                <a:latin typeface="+mj-ea"/>
              </a:rPr>
              <a:t>는 앞 실험 보다 약간 큼</a:t>
            </a:r>
            <a:r>
              <a:rPr lang="en-US" altLang="ko-KR" sz="2000" b="1" dirty="0">
                <a:latin typeface="+mj-ea"/>
              </a:rPr>
              <a:t> ) </a:t>
            </a:r>
            <a:r>
              <a:rPr lang="ko-KR" altLang="en-US" sz="2000" b="1" dirty="0">
                <a:latin typeface="+mj-ea"/>
              </a:rPr>
              <a:t>가 나음 </a:t>
            </a:r>
            <a:endParaRPr lang="en-US" altLang="ko-KR" sz="20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9702809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6241</TotalTime>
  <Words>6356</Words>
  <Application>Microsoft Office PowerPoint</Application>
  <PresentationFormat>와이드스크린</PresentationFormat>
  <Paragraphs>1971</Paragraphs>
  <Slides>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1" baseType="lpstr"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878</cp:revision>
  <dcterms:created xsi:type="dcterms:W3CDTF">2025-11-18T00:02:37Z</dcterms:created>
  <dcterms:modified xsi:type="dcterms:W3CDTF">2026-01-15T08:50:52Z</dcterms:modified>
</cp:coreProperties>
</file>