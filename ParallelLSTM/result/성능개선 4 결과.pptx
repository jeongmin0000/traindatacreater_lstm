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28" r:id="rId3"/>
    <p:sldId id="513" r:id="rId4"/>
    <p:sldId id="533" r:id="rId5"/>
    <p:sldId id="545" r:id="rId6"/>
    <p:sldId id="546" r:id="rId7"/>
    <p:sldId id="534" r:id="rId8"/>
    <p:sldId id="547" r:id="rId9"/>
    <p:sldId id="548" r:id="rId10"/>
    <p:sldId id="537" r:id="rId11"/>
    <p:sldId id="538" r:id="rId12"/>
    <p:sldId id="540" r:id="rId13"/>
    <p:sldId id="543" r:id="rId14"/>
    <p:sldId id="544" r:id="rId15"/>
    <p:sldId id="542" r:id="rId16"/>
    <p:sldId id="564" r:id="rId17"/>
    <p:sldId id="565" r:id="rId18"/>
    <p:sldId id="570" r:id="rId19"/>
    <p:sldId id="571" r:id="rId20"/>
    <p:sldId id="572" r:id="rId21"/>
    <p:sldId id="573" r:id="rId22"/>
    <p:sldId id="566" r:id="rId23"/>
    <p:sldId id="567" r:id="rId24"/>
    <p:sldId id="584" r:id="rId25"/>
    <p:sldId id="585" r:id="rId26"/>
    <p:sldId id="586" r:id="rId27"/>
    <p:sldId id="587" r:id="rId28"/>
    <p:sldId id="568" r:id="rId29"/>
    <p:sldId id="569" r:id="rId30"/>
    <p:sldId id="588" r:id="rId31"/>
    <p:sldId id="589" r:id="rId32"/>
    <p:sldId id="590" r:id="rId33"/>
    <p:sldId id="591" r:id="rId34"/>
    <p:sldId id="558" r:id="rId35"/>
    <p:sldId id="559" r:id="rId36"/>
    <p:sldId id="560" r:id="rId37"/>
    <p:sldId id="561" r:id="rId38"/>
    <p:sldId id="562" r:id="rId39"/>
    <p:sldId id="563" r:id="rId40"/>
    <p:sldId id="582" r:id="rId41"/>
    <p:sldId id="509" r:id="rId42"/>
    <p:sldId id="530" r:id="rId43"/>
    <p:sldId id="536" r:id="rId44"/>
    <p:sldId id="531" r:id="rId45"/>
    <p:sldId id="535" r:id="rId46"/>
    <p:sldId id="532" r:id="rId47"/>
    <p:sldId id="574" r:id="rId48"/>
    <p:sldId id="575" r:id="rId49"/>
    <p:sldId id="576" r:id="rId50"/>
    <p:sldId id="577" r:id="rId51"/>
    <p:sldId id="578" r:id="rId52"/>
    <p:sldId id="579" r:id="rId53"/>
    <p:sldId id="580" r:id="rId54"/>
    <p:sldId id="581" r:id="rId55"/>
    <p:sldId id="592" r:id="rId56"/>
    <p:sldId id="593" r:id="rId57"/>
    <p:sldId id="594" r:id="rId58"/>
    <p:sldId id="595" r:id="rId59"/>
    <p:sldId id="596" r:id="rId60"/>
    <p:sldId id="597" r:id="rId61"/>
    <p:sldId id="598" r:id="rId62"/>
    <p:sldId id="599" r:id="rId63"/>
    <p:sldId id="600" r:id="rId64"/>
    <p:sldId id="601" r:id="rId65"/>
    <p:sldId id="603" r:id="rId66"/>
    <p:sldId id="604" r:id="rId67"/>
    <p:sldId id="606" r:id="rId68"/>
    <p:sldId id="607" r:id="rId69"/>
    <p:sldId id="608" r:id="rId70"/>
    <p:sldId id="609" r:id="rId71"/>
    <p:sldId id="610" r:id="rId72"/>
    <p:sldId id="611" r:id="rId73"/>
    <p:sldId id="612" r:id="rId74"/>
    <p:sldId id="613" r:id="rId75"/>
    <p:sldId id="55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30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6.png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42.png"/><Relationship Id="rId4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48.png"/><Relationship Id="rId4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30.png"/><Relationship Id="rId4" Type="http://schemas.openxmlformats.org/officeDocument/2006/relationships/image" Target="../media/image6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36.png"/><Relationship Id="rId4" Type="http://schemas.openxmlformats.org/officeDocument/2006/relationships/image" Target="../media/image6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42.png"/><Relationship Id="rId4" Type="http://schemas.openxmlformats.org/officeDocument/2006/relationships/image" Target="../media/image7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48.png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30.png"/><Relationship Id="rId4" Type="http://schemas.openxmlformats.org/officeDocument/2006/relationships/image" Target="../media/image7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36.png"/><Relationship Id="rId4" Type="http://schemas.openxmlformats.org/officeDocument/2006/relationships/image" Target="../media/image7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42.png"/><Relationship Id="rId4" Type="http://schemas.openxmlformats.org/officeDocument/2006/relationships/image" Target="../media/image8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48.png"/><Relationship Id="rId4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30.png"/><Relationship Id="rId4" Type="http://schemas.openxmlformats.org/officeDocument/2006/relationships/image" Target="../media/image8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36.png"/><Relationship Id="rId4" Type="http://schemas.openxmlformats.org/officeDocument/2006/relationships/image" Target="../media/image9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42.png"/><Relationship Id="rId4" Type="http://schemas.openxmlformats.org/officeDocument/2006/relationships/image" Target="../media/image9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48.png"/><Relationship Id="rId4" Type="http://schemas.openxmlformats.org/officeDocument/2006/relationships/image" Target="../media/image98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90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7.png"/><Relationship Id="rId4" Type="http://schemas.openxmlformats.org/officeDocument/2006/relationships/image" Target="../media/image11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38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3.png"/><Relationship Id="rId4" Type="http://schemas.openxmlformats.org/officeDocument/2006/relationships/image" Target="../media/image116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44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9.png"/><Relationship Id="rId4" Type="http://schemas.openxmlformats.org/officeDocument/2006/relationships/image" Target="../media/image12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50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5.png"/><Relationship Id="rId4" Type="http://schemas.openxmlformats.org/officeDocument/2006/relationships/image" Target="../media/image12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9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7.png"/><Relationship Id="rId4" Type="http://schemas.openxmlformats.org/officeDocument/2006/relationships/image" Target="../media/image12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7" Type="http://schemas.openxmlformats.org/officeDocument/2006/relationships/image" Target="../media/image38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3.png"/><Relationship Id="rId4" Type="http://schemas.openxmlformats.org/officeDocument/2006/relationships/image" Target="../media/image13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44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9.png"/><Relationship Id="rId4" Type="http://schemas.openxmlformats.org/officeDocument/2006/relationships/image" Target="../media/image1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7" Type="http://schemas.openxmlformats.org/officeDocument/2006/relationships/image" Target="../media/image50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5.png"/><Relationship Id="rId4" Type="http://schemas.openxmlformats.org/officeDocument/2006/relationships/image" Target="../media/image137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7" Type="http://schemas.openxmlformats.org/officeDocument/2006/relationships/image" Target="../media/image90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7.png"/><Relationship Id="rId4" Type="http://schemas.openxmlformats.org/officeDocument/2006/relationships/image" Target="../media/image14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7" Type="http://schemas.openxmlformats.org/officeDocument/2006/relationships/image" Target="../media/image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3.png"/><Relationship Id="rId4" Type="http://schemas.openxmlformats.org/officeDocument/2006/relationships/image" Target="../media/image14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7" Type="http://schemas.openxmlformats.org/officeDocument/2006/relationships/image" Target="../media/image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9.png"/><Relationship Id="rId4" Type="http://schemas.openxmlformats.org/officeDocument/2006/relationships/image" Target="../media/image1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7" Type="http://schemas.openxmlformats.org/officeDocument/2006/relationships/image" Target="../media/image50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5.png"/><Relationship Id="rId4" Type="http://schemas.openxmlformats.org/officeDocument/2006/relationships/image" Target="../media/image148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9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7.png"/><Relationship Id="rId4" Type="http://schemas.openxmlformats.org/officeDocument/2006/relationships/image" Target="../media/image1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7" Type="http://schemas.openxmlformats.org/officeDocument/2006/relationships/image" Target="../media/image38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3.png"/><Relationship Id="rId4" Type="http://schemas.openxmlformats.org/officeDocument/2006/relationships/image" Target="../media/image15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7" Type="http://schemas.openxmlformats.org/officeDocument/2006/relationships/image" Target="../media/image44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9.png"/><Relationship Id="rId4" Type="http://schemas.openxmlformats.org/officeDocument/2006/relationships/image" Target="../media/image15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7" Type="http://schemas.openxmlformats.org/officeDocument/2006/relationships/image" Target="../media/image50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5.png"/><Relationship Id="rId4" Type="http://schemas.openxmlformats.org/officeDocument/2006/relationships/image" Target="../media/image16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</a:rPr>
              <a:t>수위 예측 </a:t>
            </a:r>
            <a:r>
              <a:rPr lang="en-US" altLang="ko-KR" sz="4400" b="1" dirty="0">
                <a:latin typeface="+mj-ea"/>
              </a:rPr>
              <a:t>AI</a:t>
            </a:r>
          </a:p>
          <a:p>
            <a:pPr algn="ctr"/>
            <a:r>
              <a:rPr lang="ko-KR" altLang="en-US" sz="4400" b="1" dirty="0">
                <a:latin typeface="+mj-ea"/>
              </a:rPr>
              <a:t>성능 개선 결과 </a:t>
            </a:r>
            <a:r>
              <a:rPr lang="en-US" altLang="ko-KR" sz="4400" b="1" dirty="0">
                <a:latin typeface="+mj-ea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459654" y="3044279"/>
            <a:ext cx="72726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31641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( 7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05403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0.992969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0.993190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2.751991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4103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0.958571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2.528366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935140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0.778608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0.844471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10.796319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40036"/>
            <a:ext cx="5326490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8689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1887"/>
            <a:ext cx="2813219" cy="71646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284"/>
            <a:ext cx="2790655" cy="146617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227" y="1132498"/>
            <a:ext cx="2742694" cy="146239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6167"/>
            <a:ext cx="2759745" cy="7113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087" y="2788821"/>
            <a:ext cx="278812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4576"/>
            <a:ext cx="2760371" cy="7072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0930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0.8203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-0.3240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0.2292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0.6352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0.3194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43009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3876"/>
            <a:ext cx="2813219" cy="73248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298" y="4454762"/>
            <a:ext cx="2788053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8520"/>
            <a:ext cx="2760371" cy="14303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3310"/>
            <a:ext cx="2759745" cy="717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099" y="2788821"/>
            <a:ext cx="2764102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508"/>
            <a:ext cx="2760371" cy="69940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6734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-0.0433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0.0972</a:t>
                      </a:r>
                      <a:endParaRPr lang="pt-BR" altLang="ko-KR" sz="1400" dirty="0"/>
                    </a:p>
                    <a:p>
                      <a:pPr algn="ctr"/>
                      <a:r>
                        <a:rPr lang="pt-BR" altLang="ko-KR" sz="1400" dirty="0"/>
                        <a:t>mae :</a:t>
                      </a:r>
                      <a:r>
                        <a:rPr lang="en-US" altLang="ko-KR" sz="1400" dirty="0"/>
                        <a:t>0.2456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0.3118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0.6227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0.0265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96719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959"/>
            <a:ext cx="5386707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6C9738-8737-4F09-951B-F4BD8602539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A86430DF-CCEF-4049-A149-424642B14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787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0.996789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3.457385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F48BA8E-AD2A-4D34-A737-DDBE246E0F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10102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0.965334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3.448578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57D3D064-ED91-42F2-801B-12E65EEC6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3158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0.1498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0.1888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0.663938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0.766153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4.633667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5299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6274"/>
            <a:ext cx="2813219" cy="70769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624" y="4454762"/>
            <a:ext cx="2763401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0" y="1132498"/>
            <a:ext cx="2739849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6541" y="2793144"/>
            <a:ext cx="2813219" cy="14592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0257"/>
            <a:ext cx="2760371" cy="73591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81974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0.9516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0.1382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-0.6522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0.4550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259460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8102"/>
            <a:ext cx="2813219" cy="70403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9646" y="4454762"/>
            <a:ext cx="277135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291" y="1132498"/>
            <a:ext cx="2740566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5089"/>
            <a:ext cx="2759745" cy="69351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1681" y="2788821"/>
            <a:ext cx="2782940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40303"/>
            <a:ext cx="2760371" cy="69581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55952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-2.2679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0.1745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0.3375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0.4177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999896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1-2.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44076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2017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792183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4762"/>
            <a:ext cx="2758715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5827"/>
            <a:ext cx="2760371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01" y="2788821"/>
            <a:ext cx="2805499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06022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0.0759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0.1551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034118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5524"/>
            <a:ext cx="2790655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4966"/>
            <a:ext cx="276037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88821"/>
            <a:ext cx="2785824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8824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0.2846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0.0666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0.1896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0.2581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0.3038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0.0698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0.1289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42524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971"/>
            <a:ext cx="2790655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2498"/>
            <a:ext cx="2753072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88821"/>
            <a:ext cx="2758379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68843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0.1093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0.2885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4980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4762"/>
            <a:ext cx="275228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7733"/>
            <a:ext cx="2760371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8821"/>
            <a:ext cx="2766303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68945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0.2297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5480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1-3.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7171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2022(6667)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1149825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65283"/>
            <a:ext cx="2758715" cy="14481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45827"/>
            <a:ext cx="2700747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788821"/>
            <a:ext cx="2736653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05439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0.2168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06581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5524"/>
            <a:ext cx="2782272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44966"/>
            <a:ext cx="270084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23" y="2788821"/>
            <a:ext cx="2780056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63980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-0.4278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0.1330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0.2866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0.3647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0.7261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0.1657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0.8484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637206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66304"/>
            <a:ext cx="2790655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8975"/>
            <a:ext cx="2753072" cy="144943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801698"/>
            <a:ext cx="2758379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870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0.7493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0.2611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0.3910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1.6344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0.5123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0.3753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0.4727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73339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74394"/>
            <a:ext cx="2752287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8227"/>
            <a:ext cx="2760371" cy="145093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88821"/>
            <a:ext cx="2760361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45430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-1.3562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0.1258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0.2542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0.3547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0.7912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0.2691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6798542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1-4.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581" y="4465283"/>
            <a:ext cx="2723487" cy="14481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49285"/>
            <a:ext cx="2700747" cy="14288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802372"/>
            <a:ext cx="2736653" cy="144079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56405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65288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6892"/>
            <a:ext cx="2782272" cy="146496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50581"/>
            <a:ext cx="2700841" cy="142622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721" y="2788821"/>
            <a:ext cx="2776860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0057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-0.0894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0.1015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207292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8361" y="4466304"/>
            <a:ext cx="2773927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49615"/>
            <a:ext cx="2753072" cy="14281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661" y="2801698"/>
            <a:ext cx="2730979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37963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986263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9813" y="4474394"/>
            <a:ext cx="2711022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0533"/>
            <a:ext cx="2760371" cy="144631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96810"/>
            <a:ext cx="2760361" cy="145191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64848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-0.7705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0.0945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967984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0710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68216"/>
            <a:ext cx="2758715" cy="144231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54223"/>
            <a:ext cx="2700747" cy="141894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803792"/>
            <a:ext cx="2736653" cy="143795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98864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460247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8413"/>
            <a:ext cx="2782272" cy="146192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54197"/>
            <a:ext cx="2700841" cy="141899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23" y="2800300"/>
            <a:ext cx="2780056" cy="14449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87685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0.1532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0.2090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366632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348" y="4466304"/>
            <a:ext cx="2743952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41764"/>
            <a:ext cx="2753072" cy="144385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429" y="2801698"/>
            <a:ext cx="2717442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472869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0878495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0492" y="4474394"/>
            <a:ext cx="2729664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330" y="1138227"/>
            <a:ext cx="2758489" cy="145093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96054"/>
            <a:ext cx="2760361" cy="1453426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19669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-0.551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0.1258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0.2542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0.3547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6383156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1-6.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/dg)_110_6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67913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2018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2014( 1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2017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629807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8873"/>
            <a:ext cx="2758715" cy="146100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130" y="1145827"/>
            <a:ext cx="2702888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191" y="2788821"/>
            <a:ext cx="279391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-0.9135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0.2755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0.2201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295458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356" y="4455524"/>
            <a:ext cx="2765937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80" y="1144966"/>
            <a:ext cx="2741389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90874"/>
            <a:ext cx="2785824" cy="146378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0.2097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0.2087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0.2713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0.0990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2374545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5491" y="4456971"/>
            <a:ext cx="2779667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7546"/>
            <a:ext cx="2753072" cy="145229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90923"/>
            <a:ext cx="2758379" cy="1463688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0.9343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0.0911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0.1272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0.3334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0.1587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18755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6288"/>
            <a:ext cx="2752287" cy="146617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672" y="1137733"/>
            <a:ext cx="2749805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9583"/>
            <a:ext cx="2766303" cy="146636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-2.078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0.1644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0.4054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0.8521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0.7653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0.2853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6370751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2763837" y="3429000"/>
            <a:ext cx="6664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현재 조합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4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 재현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안정성 가장 좋음 </a:t>
            </a:r>
            <a:r>
              <a:rPr lang="en-US" altLang="ko-KR" sz="2000" b="1" dirty="0">
                <a:latin typeface="+mj-ea"/>
              </a:rPr>
              <a:t>) , 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5</a:t>
            </a:r>
            <a:r>
              <a:rPr lang="en-US" altLang="ko-KR" sz="2000" b="1" dirty="0">
                <a:latin typeface="+mj-ea"/>
              </a:rPr>
              <a:t> (</a:t>
            </a:r>
            <a:r>
              <a:rPr lang="ko-KR" altLang="en-US" sz="2000" b="1" dirty="0">
                <a:latin typeface="+mj-ea"/>
              </a:rPr>
              <a:t>일부 음수 발생</a:t>
            </a:r>
            <a:r>
              <a:rPr lang="en-US" altLang="ko-KR" sz="2000" b="1" dirty="0">
                <a:latin typeface="+mj-ea"/>
              </a:rPr>
              <a:t>,</a:t>
            </a:r>
            <a:r>
              <a:rPr lang="ko-KR" altLang="en-US" sz="2000" b="1" dirty="0">
                <a:latin typeface="+mj-ea"/>
              </a:rPr>
              <a:t> 전체 평균은 안정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745567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725420" y="3044279"/>
            <a:ext cx="47411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9CAAC-43B5-4870-B987-8FCCFB99085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64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2203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23905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0.986375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0.986791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2.606402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343180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0.942399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0.946896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5.359824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927574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0.950739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0.958120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4.395504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59373"/>
            <a:ext cx="5386707" cy="17568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5940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044423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0.8560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0.2006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0.1455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418" y="4348846"/>
            <a:ext cx="3002052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9671"/>
            <a:ext cx="3010771" cy="160407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5519"/>
            <a:ext cx="2993660" cy="157610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94731"/>
            <a:ext cx="2977423" cy="156268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01737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90" y="3740036"/>
            <a:ext cx="5381199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C82A05-A407-42E7-96BE-861DBCA9010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1D2EB6A-8717-4131-B9BE-B9EE955D5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582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0.987721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0.989193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5.235190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E149AA4-EDCC-4D11-BED4-58762BE0A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79656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0.955670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0.956173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2.551442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57BC6560-961C-451B-AE01-12184D641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81380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0.0260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0.952298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3.660785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152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3353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0.7789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0.1061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0.3258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0.9808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0.8550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5524"/>
            <a:ext cx="3029716" cy="1593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62" y="4331287"/>
            <a:ext cx="3038680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4830" y="1974868"/>
            <a:ext cx="298679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718" y="1990718"/>
            <a:ext cx="2983736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542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705725"/>
            <a:ext cx="54355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7479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9315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899450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0.978650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0.979667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6.814979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1266679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0.941805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0.947482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5.596691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515864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0.0766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0.943811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0.949195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6.698679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20"/>
            <a:ext cx="5326490" cy="17628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654278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78131"/>
            <a:ext cx="2689424" cy="142248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58913"/>
            <a:ext cx="2676918" cy="140956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676"/>
            <a:ext cx="2686989" cy="141618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1146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0.9353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0.1169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0.2652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0.1707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0775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456"/>
            <a:ext cx="2689424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6398"/>
            <a:ext cx="2676918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785"/>
            <a:ext cx="2686989" cy="141596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48157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0.1206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0.2115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0.2862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0.1723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0.4391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0.1988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4234640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27" y="3740959"/>
            <a:ext cx="53861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F7F306F-7BAC-432B-A954-028D3F810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075440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0.983367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0.983731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6.069073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816161E-16CF-43DE-AE7D-129E16DAB6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65594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0.955390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0.955707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3.890129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9FC4B711-C2F3-4021-ADBE-4AD9C1045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675148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0.0829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0.936055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0.938276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6.933598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154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3253"/>
            <a:ext cx="2687453" cy="141224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0269"/>
            <a:ext cx="2674956" cy="140684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3175"/>
            <a:ext cx="2685020" cy="1419185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39350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0.9182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0.2233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0.4487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0.0771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0.3203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5501792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2517"/>
            <a:ext cx="2687453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2248"/>
            <a:ext cx="267495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7286"/>
            <a:ext cx="2685020" cy="141096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07874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-1.2187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0.1185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0.2587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0.3442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00570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2-3.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MAE + 0.0005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07893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0.970485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0.971132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6.131354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94280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0.938086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3.555444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163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0.931818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0.935694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0.423962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39"/>
            <a:ext cx="5326490" cy="17627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44251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0013"/>
            <a:ext cx="2689424" cy="141871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0341"/>
            <a:ext cx="2676918" cy="140670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237" y="2814676"/>
            <a:ext cx="2681827" cy="141618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07833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715982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919" y="4486456"/>
            <a:ext cx="2670810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59" y="1166398"/>
            <a:ext cx="2641229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23758"/>
            <a:ext cx="2686989" cy="13980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98440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-0.0236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0.0953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0.2271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0.3088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160682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477" y="3740959"/>
            <a:ext cx="52788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DB2A5745-8543-4D4B-BA55-F41607AADA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154377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0.0752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0.992509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1.779686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CAD51C5-07C6-4716-82F0-4FB8EE012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4976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0.0923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0.950117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0.951611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1.926420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E02085DF-B5D6-4DCD-A0B5-5C6008C62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45329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0.961031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0.962256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1.172597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457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6049"/>
            <a:ext cx="2687453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2977"/>
            <a:ext cx="2674956" cy="140143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6551"/>
            <a:ext cx="2685020" cy="14124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95441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0.0557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0.2361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0.2608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03556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140" y="4482517"/>
            <a:ext cx="2684369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011" y="1162248"/>
            <a:ext cx="265912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24997"/>
            <a:ext cx="2685020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2580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-2.7619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0.2009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0.3459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0.4482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0.2001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0877493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2-4.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latin typeface="+mj-ea"/>
                <a:ea typeface="+mj-ea"/>
              </a:rPr>
              <a:t>MSLE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msle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F7955-C0D8-40F6-BC5D-3C67F7F33A42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상대오차</a:t>
            </a:r>
            <a:r>
              <a:rPr lang="en-US" altLang="ko-KR" sz="1050" dirty="0"/>
              <a:t>(</a:t>
            </a:r>
            <a:r>
              <a:rPr lang="ko-KR" altLang="en-US" sz="1050" dirty="0"/>
              <a:t>비율</a:t>
            </a:r>
            <a:r>
              <a:rPr lang="en-US" altLang="ko-KR" sz="1050" dirty="0"/>
              <a:t>)</a:t>
            </a:r>
            <a:r>
              <a:rPr lang="ko-KR" altLang="en-US" sz="1050" dirty="0"/>
              <a:t>를 더 중요하게 봄</a:t>
            </a:r>
            <a:endParaRPr lang="en-US" altLang="ko-KR" sz="1050" dirty="0"/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값이 클수록 절대오차보다 비율 오차에 민감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83850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079697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328"/>
            <a:ext cx="2689424" cy="140608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3256"/>
            <a:ext cx="2676918" cy="140087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MSLE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237" y="2826551"/>
            <a:ext cx="2681827" cy="13924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32817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0.1354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0.0840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0.1004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0.8928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8447110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825" y="4486456"/>
            <a:ext cx="2664998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59" y="1166398"/>
            <a:ext cx="2641229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827" y="2823758"/>
            <a:ext cx="2652647" cy="13980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1836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0.0277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0.3010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846133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650" y="4486049"/>
            <a:ext cx="2657348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7515"/>
            <a:ext cx="2674956" cy="139235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8422"/>
            <a:ext cx="2685020" cy="140868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87907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0.9057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0.0575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0.2398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0.7906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0.1905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0.4364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887916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140" y="4485948"/>
            <a:ext cx="2684369" cy="140684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011" y="1172320"/>
            <a:ext cx="2659126" cy="13827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938" y="2824997"/>
            <a:ext cx="2648424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2763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-0.7897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0.0955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0.2293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2008261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huber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EFCE7-A43C-44ED-BFEA-D3057137FF5B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작은 오차는 </a:t>
            </a:r>
            <a:r>
              <a:rPr lang="en-US" altLang="ko-KR" sz="1050" dirty="0"/>
              <a:t>MSE</a:t>
            </a:r>
            <a:r>
              <a:rPr lang="ko-KR" altLang="en-US" sz="1050" dirty="0"/>
              <a:t>처럼 부드럽게</a:t>
            </a:r>
            <a:r>
              <a:rPr lang="en-US" altLang="ko-KR" sz="1050" dirty="0"/>
              <a:t>,</a:t>
            </a:r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큰 오차</a:t>
            </a:r>
            <a:r>
              <a:rPr lang="en-US" altLang="ko-KR" sz="1050" dirty="0"/>
              <a:t>(</a:t>
            </a:r>
            <a:r>
              <a:rPr lang="ko-KR" altLang="en-US" sz="1050" dirty="0"/>
              <a:t>이상치</a:t>
            </a:r>
            <a:r>
              <a:rPr lang="en-US" altLang="ko-KR" sz="1050" dirty="0"/>
              <a:t>)</a:t>
            </a:r>
            <a:r>
              <a:rPr lang="ko-KR" altLang="en-US" sz="1050" dirty="0"/>
              <a:t>는 </a:t>
            </a:r>
            <a:r>
              <a:rPr lang="en-US" altLang="ko-KR" sz="1050" dirty="0"/>
              <a:t>MAE</a:t>
            </a:r>
            <a:r>
              <a:rPr lang="ko-KR" altLang="en-US" sz="1050" dirty="0"/>
              <a:t>처럼 강건하게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6629971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403" y="4486328"/>
            <a:ext cx="2683842" cy="140608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913" y="1163256"/>
            <a:ext cx="2663321" cy="140087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08" y="2826551"/>
            <a:ext cx="2648084" cy="13924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93275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116769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062" y="4486456"/>
            <a:ext cx="2662524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0181" y="1166398"/>
            <a:ext cx="2638784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827" y="2832145"/>
            <a:ext cx="2652647" cy="138124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211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0.0597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0.0876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0.2157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194734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033" y="4486049"/>
            <a:ext cx="2678583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4450"/>
            <a:ext cx="2674956" cy="139848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31" y="2816551"/>
            <a:ext cx="2679837" cy="14124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7430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9892267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723" y="4482517"/>
            <a:ext cx="2667203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6181" y="1162248"/>
            <a:ext cx="264678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84" y="2824997"/>
            <a:ext cx="2630531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3535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0.1788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0.2720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268000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1382050" y="3429000"/>
            <a:ext cx="94278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관심수위이상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MAE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</a:t>
            </a:r>
            <a:r>
              <a:rPr lang="en-US" altLang="ko-KR" sz="2000" b="1" dirty="0">
                <a:latin typeface="+mj-ea"/>
              </a:rPr>
              <a:t>/</a:t>
            </a:r>
            <a:r>
              <a:rPr lang="ko-KR" altLang="en-US" sz="2000" b="1" dirty="0">
                <a:latin typeface="+mj-ea"/>
              </a:rPr>
              <a:t>급변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평균 성능 모두 최고</a:t>
            </a:r>
            <a:r>
              <a:rPr lang="en-US" altLang="ko-KR" sz="2000" b="1" dirty="0">
                <a:latin typeface="+mj-ea"/>
              </a:rPr>
              <a:t> ) ,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Huber</a:t>
            </a:r>
            <a:r>
              <a:rPr lang="en-US" altLang="ko-KR" sz="2000" b="1" dirty="0">
                <a:latin typeface="+mj-ea"/>
              </a:rPr>
              <a:t> ( MAE</a:t>
            </a:r>
            <a:r>
              <a:rPr lang="ko-KR" altLang="en-US" sz="2000" b="1" dirty="0">
                <a:latin typeface="+mj-ea"/>
              </a:rPr>
              <a:t>보다 이상치에 강함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평균 </a:t>
            </a:r>
            <a:r>
              <a:rPr lang="en-US" altLang="ko-KR" sz="2000" b="1" dirty="0">
                <a:latin typeface="+mj-ea"/>
              </a:rPr>
              <a:t>MAE</a:t>
            </a:r>
            <a:r>
              <a:rPr lang="ko-KR" altLang="en-US" sz="2000" b="1" dirty="0">
                <a:latin typeface="+mj-ea"/>
              </a:rPr>
              <a:t>는 앞 실험 보다 약간 큼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 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97028098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6228</TotalTime>
  <Words>6423</Words>
  <Application>Microsoft Office PowerPoint</Application>
  <PresentationFormat>와이드스크린</PresentationFormat>
  <Paragraphs>2002</Paragraphs>
  <Slides>75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81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875</cp:revision>
  <dcterms:created xsi:type="dcterms:W3CDTF">2025-11-18T00:02:37Z</dcterms:created>
  <dcterms:modified xsi:type="dcterms:W3CDTF">2026-01-14T05:42:02Z</dcterms:modified>
</cp:coreProperties>
</file>