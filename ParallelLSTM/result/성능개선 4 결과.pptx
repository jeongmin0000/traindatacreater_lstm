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528" r:id="rId3"/>
    <p:sldId id="513" r:id="rId4"/>
    <p:sldId id="533" r:id="rId5"/>
    <p:sldId id="545" r:id="rId6"/>
    <p:sldId id="546" r:id="rId7"/>
    <p:sldId id="534" r:id="rId8"/>
    <p:sldId id="547" r:id="rId9"/>
    <p:sldId id="548" r:id="rId10"/>
    <p:sldId id="537" r:id="rId11"/>
    <p:sldId id="538" r:id="rId12"/>
    <p:sldId id="540" r:id="rId13"/>
    <p:sldId id="543" r:id="rId14"/>
    <p:sldId id="544" r:id="rId15"/>
    <p:sldId id="542" r:id="rId16"/>
    <p:sldId id="564" r:id="rId17"/>
    <p:sldId id="565" r:id="rId18"/>
    <p:sldId id="570" r:id="rId19"/>
    <p:sldId id="571" r:id="rId20"/>
    <p:sldId id="572" r:id="rId21"/>
    <p:sldId id="573" r:id="rId22"/>
    <p:sldId id="566" r:id="rId23"/>
    <p:sldId id="567" r:id="rId24"/>
    <p:sldId id="622" r:id="rId25"/>
    <p:sldId id="623" r:id="rId26"/>
    <p:sldId id="624" r:id="rId27"/>
    <p:sldId id="625" r:id="rId28"/>
    <p:sldId id="568" r:id="rId29"/>
    <p:sldId id="569" r:id="rId30"/>
    <p:sldId id="626" r:id="rId31"/>
    <p:sldId id="627" r:id="rId32"/>
    <p:sldId id="628" r:id="rId33"/>
    <p:sldId id="629" r:id="rId34"/>
    <p:sldId id="558" r:id="rId35"/>
    <p:sldId id="559" r:id="rId36"/>
    <p:sldId id="560" r:id="rId37"/>
    <p:sldId id="561" r:id="rId38"/>
    <p:sldId id="562" r:id="rId39"/>
    <p:sldId id="563" r:id="rId40"/>
    <p:sldId id="582" r:id="rId41"/>
    <p:sldId id="509" r:id="rId42"/>
    <p:sldId id="530" r:id="rId43"/>
    <p:sldId id="536" r:id="rId44"/>
    <p:sldId id="531" r:id="rId45"/>
    <p:sldId id="535" r:id="rId46"/>
    <p:sldId id="532" r:id="rId47"/>
    <p:sldId id="574" r:id="rId48"/>
    <p:sldId id="575" r:id="rId49"/>
    <p:sldId id="576" r:id="rId50"/>
    <p:sldId id="577" r:id="rId51"/>
    <p:sldId id="578" r:id="rId52"/>
    <p:sldId id="579" r:id="rId53"/>
    <p:sldId id="580" r:id="rId54"/>
    <p:sldId id="581" r:id="rId55"/>
    <p:sldId id="592" r:id="rId56"/>
    <p:sldId id="593" r:id="rId57"/>
    <p:sldId id="594" r:id="rId58"/>
    <p:sldId id="630" r:id="rId59"/>
    <p:sldId id="615" r:id="rId60"/>
    <p:sldId id="597" r:id="rId61"/>
    <p:sldId id="616" r:id="rId62"/>
    <p:sldId id="617" r:id="rId63"/>
    <p:sldId id="600" r:id="rId64"/>
    <p:sldId id="601" r:id="rId65"/>
    <p:sldId id="603" r:id="rId66"/>
    <p:sldId id="604" r:id="rId67"/>
    <p:sldId id="606" r:id="rId68"/>
    <p:sldId id="607" r:id="rId69"/>
    <p:sldId id="608" r:id="rId70"/>
    <p:sldId id="609" r:id="rId71"/>
    <p:sldId id="618" r:id="rId72"/>
    <p:sldId id="619" r:id="rId73"/>
    <p:sldId id="620" r:id="rId74"/>
    <p:sldId id="621" r:id="rId75"/>
    <p:sldId id="557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173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6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0354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7031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7069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086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387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500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4824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6710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3604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8280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409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72759B8-7332-44BD-B1FF-13450B6DA7DC}" type="datetimeFigureOut">
              <a:rPr lang="ko-KR" altLang="en-US" smtClean="0"/>
              <a:t>2026-01-19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8753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32.png"/><Relationship Id="rId4" Type="http://schemas.openxmlformats.org/officeDocument/2006/relationships/image" Target="../media/image5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5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38.png"/><Relationship Id="rId4" Type="http://schemas.openxmlformats.org/officeDocument/2006/relationships/image" Target="../media/image5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5" Type="http://schemas.openxmlformats.org/officeDocument/2006/relationships/image" Target="../media/image44.png"/><Relationship Id="rId4" Type="http://schemas.openxmlformats.org/officeDocument/2006/relationships/image" Target="../media/image6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62.png"/><Relationship Id="rId7" Type="http://schemas.openxmlformats.org/officeDocument/2006/relationships/image" Target="../media/image52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50.png"/><Relationship Id="rId4" Type="http://schemas.openxmlformats.org/officeDocument/2006/relationships/image" Target="../media/image63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11" Type="http://schemas.openxmlformats.org/officeDocument/2006/relationships/image" Target="../media/image14.png"/><Relationship Id="rId5" Type="http://schemas.openxmlformats.org/officeDocument/2006/relationships/image" Target="../media/image7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10" Type="http://schemas.openxmlformats.org/officeDocument/2006/relationships/image" Target="../media/image91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3" Type="http://schemas.openxmlformats.org/officeDocument/2006/relationships/image" Target="../media/image93.png"/><Relationship Id="rId7" Type="http://schemas.openxmlformats.org/officeDocument/2006/relationships/image" Target="../media/image97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6.png"/><Relationship Id="rId11" Type="http://schemas.openxmlformats.org/officeDocument/2006/relationships/image" Target="../media/image28.png"/><Relationship Id="rId5" Type="http://schemas.openxmlformats.org/officeDocument/2006/relationships/image" Target="../media/image95.png"/><Relationship Id="rId10" Type="http://schemas.openxmlformats.org/officeDocument/2006/relationships/image" Target="../media/image100.png"/><Relationship Id="rId4" Type="http://schemas.openxmlformats.org/officeDocument/2006/relationships/image" Target="../media/image94.png"/><Relationship Id="rId9" Type="http://schemas.openxmlformats.org/officeDocument/2006/relationships/image" Target="../media/image99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102.png"/><Relationship Id="rId7" Type="http://schemas.openxmlformats.org/officeDocument/2006/relationships/image" Target="../media/image70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103.png"/><Relationship Id="rId9" Type="http://schemas.openxmlformats.org/officeDocument/2006/relationships/image" Target="../media/image72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105.png"/><Relationship Id="rId7" Type="http://schemas.openxmlformats.org/officeDocument/2006/relationships/image" Target="../media/image79.png"/><Relationship Id="rId12" Type="http://schemas.openxmlformats.org/officeDocument/2006/relationships/image" Target="../media/image107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11" Type="http://schemas.openxmlformats.org/officeDocument/2006/relationships/image" Target="../media/image14.png"/><Relationship Id="rId5" Type="http://schemas.openxmlformats.org/officeDocument/2006/relationships/image" Target="../media/image77.png"/><Relationship Id="rId10" Type="http://schemas.openxmlformats.org/officeDocument/2006/relationships/image" Target="../media/image82.png"/><Relationship Id="rId4" Type="http://schemas.openxmlformats.org/officeDocument/2006/relationships/image" Target="../media/image106.png"/><Relationship Id="rId9" Type="http://schemas.openxmlformats.org/officeDocument/2006/relationships/image" Target="../media/image81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109.png"/><Relationship Id="rId7" Type="http://schemas.openxmlformats.org/officeDocument/2006/relationships/image" Target="../media/image88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10" Type="http://schemas.openxmlformats.org/officeDocument/2006/relationships/image" Target="../media/image91.png"/><Relationship Id="rId4" Type="http://schemas.openxmlformats.org/officeDocument/2006/relationships/image" Target="../media/image110.png"/><Relationship Id="rId9" Type="http://schemas.openxmlformats.org/officeDocument/2006/relationships/image" Target="../media/image90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3" Type="http://schemas.openxmlformats.org/officeDocument/2006/relationships/image" Target="../media/image105.png"/><Relationship Id="rId7" Type="http://schemas.openxmlformats.org/officeDocument/2006/relationships/image" Target="../media/image97.png"/><Relationship Id="rId12" Type="http://schemas.openxmlformats.org/officeDocument/2006/relationships/image" Target="../media/image113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6.png"/><Relationship Id="rId11" Type="http://schemas.openxmlformats.org/officeDocument/2006/relationships/image" Target="../media/image28.png"/><Relationship Id="rId5" Type="http://schemas.openxmlformats.org/officeDocument/2006/relationships/image" Target="../media/image95.png"/><Relationship Id="rId10" Type="http://schemas.openxmlformats.org/officeDocument/2006/relationships/image" Target="../media/image100.png"/><Relationship Id="rId4" Type="http://schemas.openxmlformats.org/officeDocument/2006/relationships/image" Target="../media/image112.png"/><Relationship Id="rId9" Type="http://schemas.openxmlformats.org/officeDocument/2006/relationships/image" Target="../media/image99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7" Type="http://schemas.openxmlformats.org/officeDocument/2006/relationships/image" Target="../media/image117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6.png"/><Relationship Id="rId5" Type="http://schemas.openxmlformats.org/officeDocument/2006/relationships/image" Target="../media/image32.png"/><Relationship Id="rId4" Type="http://schemas.openxmlformats.org/officeDocument/2006/relationships/image" Target="../media/image115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18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0.png"/><Relationship Id="rId5" Type="http://schemas.openxmlformats.org/officeDocument/2006/relationships/image" Target="../media/image38.png"/><Relationship Id="rId4" Type="http://schemas.openxmlformats.org/officeDocument/2006/relationships/image" Target="../media/image11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3.png"/><Relationship Id="rId5" Type="http://schemas.openxmlformats.org/officeDocument/2006/relationships/image" Target="../media/image44.png"/><Relationship Id="rId4" Type="http://schemas.openxmlformats.org/officeDocument/2006/relationships/image" Target="../media/image122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24.png"/><Relationship Id="rId7" Type="http://schemas.openxmlformats.org/officeDocument/2006/relationships/image" Target="../media/image52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6.png"/><Relationship Id="rId5" Type="http://schemas.openxmlformats.org/officeDocument/2006/relationships/image" Target="../media/image50.png"/><Relationship Id="rId4" Type="http://schemas.openxmlformats.org/officeDocument/2006/relationships/image" Target="../media/image125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7" Type="http://schemas.openxmlformats.org/officeDocument/2006/relationships/image" Target="../media/image117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29.png"/><Relationship Id="rId4" Type="http://schemas.openxmlformats.org/officeDocument/2006/relationships/image" Target="../media/image140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42.png"/><Relationship Id="rId7" Type="http://schemas.openxmlformats.org/officeDocument/2006/relationships/image" Target="../media/image40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5.png"/><Relationship Id="rId4" Type="http://schemas.openxmlformats.org/officeDocument/2006/relationships/image" Target="../media/image143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7" Type="http://schemas.openxmlformats.org/officeDocument/2006/relationships/image" Target="../media/image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1.png"/><Relationship Id="rId4" Type="http://schemas.openxmlformats.org/officeDocument/2006/relationships/image" Target="../media/image147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49.png"/><Relationship Id="rId7" Type="http://schemas.openxmlformats.org/officeDocument/2006/relationships/image" Target="../media/image52.png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7.png"/><Relationship Id="rId4" Type="http://schemas.openxmlformats.org/officeDocument/2006/relationships/image" Target="../media/image150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153.png"/><Relationship Id="rId7" Type="http://schemas.openxmlformats.org/officeDocument/2006/relationships/image" Target="../media/image70.png"/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154.png"/><Relationship Id="rId9" Type="http://schemas.openxmlformats.org/officeDocument/2006/relationships/image" Target="../media/image72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105.png"/><Relationship Id="rId7" Type="http://schemas.openxmlformats.org/officeDocument/2006/relationships/image" Target="../media/image79.png"/><Relationship Id="rId12" Type="http://schemas.openxmlformats.org/officeDocument/2006/relationships/image" Target="../media/image157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11" Type="http://schemas.openxmlformats.org/officeDocument/2006/relationships/image" Target="../media/image14.png"/><Relationship Id="rId5" Type="http://schemas.openxmlformats.org/officeDocument/2006/relationships/image" Target="../media/image77.png"/><Relationship Id="rId10" Type="http://schemas.openxmlformats.org/officeDocument/2006/relationships/image" Target="../media/image82.png"/><Relationship Id="rId4" Type="http://schemas.openxmlformats.org/officeDocument/2006/relationships/image" Target="../media/image156.png"/><Relationship Id="rId9" Type="http://schemas.openxmlformats.org/officeDocument/2006/relationships/image" Target="../media/image81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160.png"/><Relationship Id="rId7" Type="http://schemas.openxmlformats.org/officeDocument/2006/relationships/image" Target="../media/image88.png"/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10" Type="http://schemas.openxmlformats.org/officeDocument/2006/relationships/image" Target="../media/image91.png"/><Relationship Id="rId4" Type="http://schemas.openxmlformats.org/officeDocument/2006/relationships/image" Target="../media/image161.png"/><Relationship Id="rId9" Type="http://schemas.openxmlformats.org/officeDocument/2006/relationships/image" Target="../media/image90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3" Type="http://schemas.openxmlformats.org/officeDocument/2006/relationships/image" Target="../media/image105.png"/><Relationship Id="rId7" Type="http://schemas.openxmlformats.org/officeDocument/2006/relationships/image" Target="../media/image97.png"/><Relationship Id="rId12" Type="http://schemas.openxmlformats.org/officeDocument/2006/relationships/image" Target="../media/image164.png"/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6.png"/><Relationship Id="rId11" Type="http://schemas.openxmlformats.org/officeDocument/2006/relationships/image" Target="../media/image28.png"/><Relationship Id="rId5" Type="http://schemas.openxmlformats.org/officeDocument/2006/relationships/image" Target="../media/image95.png"/><Relationship Id="rId10" Type="http://schemas.openxmlformats.org/officeDocument/2006/relationships/image" Target="../media/image100.png"/><Relationship Id="rId4" Type="http://schemas.openxmlformats.org/officeDocument/2006/relationships/image" Target="../media/image163.png"/><Relationship Id="rId9" Type="http://schemas.openxmlformats.org/officeDocument/2006/relationships/image" Target="../media/image99.pn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6.png"/><Relationship Id="rId7" Type="http://schemas.openxmlformats.org/officeDocument/2006/relationships/image" Target="../media/image117.png"/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29.png"/><Relationship Id="rId4" Type="http://schemas.openxmlformats.org/officeDocument/2006/relationships/image" Target="../media/image167.png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69.png"/><Relationship Id="rId7" Type="http://schemas.openxmlformats.org/officeDocument/2006/relationships/image" Target="../media/image40.png"/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5.png"/><Relationship Id="rId4" Type="http://schemas.openxmlformats.org/officeDocument/2006/relationships/image" Target="../media/image17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7" Type="http://schemas.openxmlformats.org/officeDocument/2006/relationships/image" Target="../media/image46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1.png"/><Relationship Id="rId4" Type="http://schemas.openxmlformats.org/officeDocument/2006/relationships/image" Target="../media/image173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75.png"/><Relationship Id="rId7" Type="http://schemas.openxmlformats.org/officeDocument/2006/relationships/image" Target="../media/image52.png"/><Relationship Id="rId2" Type="http://schemas.openxmlformats.org/officeDocument/2006/relationships/image" Target="../media/image1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7.png"/><Relationship Id="rId4" Type="http://schemas.openxmlformats.org/officeDocument/2006/relationships/image" Target="../media/image176.png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178.png"/><Relationship Id="rId7" Type="http://schemas.openxmlformats.org/officeDocument/2006/relationships/image" Target="../media/image180.png"/><Relationship Id="rId2" Type="http://schemas.openxmlformats.org/officeDocument/2006/relationships/image" Target="../media/image17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179.png"/><Relationship Id="rId9" Type="http://schemas.openxmlformats.org/officeDocument/2006/relationships/image" Target="../media/image72.png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105.png"/><Relationship Id="rId7" Type="http://schemas.openxmlformats.org/officeDocument/2006/relationships/image" Target="../media/image79.png"/><Relationship Id="rId12" Type="http://schemas.openxmlformats.org/officeDocument/2006/relationships/image" Target="../media/image185.png"/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4.png"/><Relationship Id="rId11" Type="http://schemas.openxmlformats.org/officeDocument/2006/relationships/image" Target="../media/image14.png"/><Relationship Id="rId5" Type="http://schemas.openxmlformats.org/officeDocument/2006/relationships/image" Target="../media/image183.png"/><Relationship Id="rId10" Type="http://schemas.openxmlformats.org/officeDocument/2006/relationships/image" Target="../media/image82.png"/><Relationship Id="rId4" Type="http://schemas.openxmlformats.org/officeDocument/2006/relationships/image" Target="../media/image182.png"/><Relationship Id="rId9" Type="http://schemas.openxmlformats.org/officeDocument/2006/relationships/image" Target="../media/image81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187.png"/><Relationship Id="rId7" Type="http://schemas.openxmlformats.org/officeDocument/2006/relationships/image" Target="../media/image88.png"/><Relationship Id="rId2" Type="http://schemas.openxmlformats.org/officeDocument/2006/relationships/image" Target="../media/image18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9.png"/><Relationship Id="rId5" Type="http://schemas.openxmlformats.org/officeDocument/2006/relationships/image" Target="../media/image86.png"/><Relationship Id="rId10" Type="http://schemas.openxmlformats.org/officeDocument/2006/relationships/image" Target="../media/image91.png"/><Relationship Id="rId4" Type="http://schemas.openxmlformats.org/officeDocument/2006/relationships/image" Target="../media/image188.png"/><Relationship Id="rId9" Type="http://schemas.openxmlformats.org/officeDocument/2006/relationships/image" Target="../media/image90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100.png"/><Relationship Id="rId3" Type="http://schemas.openxmlformats.org/officeDocument/2006/relationships/image" Target="../media/image105.png"/><Relationship Id="rId7" Type="http://schemas.openxmlformats.org/officeDocument/2006/relationships/image" Target="../media/image192.png"/><Relationship Id="rId12" Type="http://schemas.openxmlformats.org/officeDocument/2006/relationships/image" Target="../media/image99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6.png"/><Relationship Id="rId11" Type="http://schemas.openxmlformats.org/officeDocument/2006/relationships/image" Target="../media/image98.png"/><Relationship Id="rId5" Type="http://schemas.openxmlformats.org/officeDocument/2006/relationships/image" Target="../media/image95.png"/><Relationship Id="rId15" Type="http://schemas.openxmlformats.org/officeDocument/2006/relationships/image" Target="../media/image193.png"/><Relationship Id="rId10" Type="http://schemas.openxmlformats.org/officeDocument/2006/relationships/image" Target="../media/image73.png"/><Relationship Id="rId4" Type="http://schemas.openxmlformats.org/officeDocument/2006/relationships/image" Target="../media/image191.png"/><Relationship Id="rId9" Type="http://schemas.openxmlformats.org/officeDocument/2006/relationships/image" Target="../media/image72.png"/><Relationship Id="rId14" Type="http://schemas.openxmlformats.org/officeDocument/2006/relationships/image" Target="../media/image28.png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747520" y="3044279"/>
            <a:ext cx="669695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</a:rPr>
              <a:t>AI </a:t>
            </a:r>
            <a:r>
              <a:rPr lang="ko-KR" altLang="en-US" sz="4400" b="1" dirty="0">
                <a:latin typeface="+mj-ea"/>
              </a:rPr>
              <a:t>모델 성능 개선 결과</a:t>
            </a:r>
            <a:endParaRPr lang="ko-KR" altLang="en-US" sz="200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691215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459654" y="3044279"/>
            <a:ext cx="727269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1. </a:t>
            </a:r>
            <a:r>
              <a:rPr lang="ko-KR" altLang="en-US" sz="4400" b="1" dirty="0">
                <a:latin typeface="+mj-ea"/>
                <a:ea typeface="+mj-ea"/>
              </a:rPr>
              <a:t>누적 강우 </a:t>
            </a:r>
            <a:r>
              <a:rPr lang="en-US" altLang="ko-KR" sz="4400" b="1" dirty="0">
                <a:latin typeface="+mj-ea"/>
                <a:ea typeface="+mj-ea"/>
              </a:rPr>
              <a:t>110mm </a:t>
            </a:r>
            <a:r>
              <a:rPr lang="ko-KR" altLang="en-US" sz="4400" b="1" dirty="0">
                <a:latin typeface="+mj-ea"/>
                <a:ea typeface="+mj-ea"/>
              </a:rPr>
              <a:t>이상</a:t>
            </a:r>
            <a:endParaRPr lang="en-US" altLang="ko-KR" sz="44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431641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8367899"/>
              </p:ext>
            </p:extLst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2022 ( 7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2024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3271932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705403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(1785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0.0370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0.0225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0.0501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0.992969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0.993190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2.751991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9410342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(228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0.0489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0.0280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0.0646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0.958571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0.960290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2.528366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2935140"/>
              </p:ext>
            </p:extLst>
          </p:nvPr>
        </p:nvGraphicFramePr>
        <p:xfrm>
          <a:off x="6951132" y="5500395"/>
          <a:ext cx="38582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(25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0.0698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0.0330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0.0905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0.778608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0.844471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10.796319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44" y="3740036"/>
            <a:ext cx="5326490" cy="179556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43079-8C41-4D96-9126-885F7E9D1484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</a:t>
            </a:r>
            <a:r>
              <a:rPr lang="en-US" altLang="ko-KR" sz="2000" b="1" dirty="0">
                <a:latin typeface="+mj-ea"/>
              </a:rPr>
              <a:t> </a:t>
            </a:r>
            <a:endParaRPr lang="en-US" altLang="ko-KR" sz="2000" b="1" dirty="0">
              <a:latin typeface="+mj-ea"/>
              <a:ea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A57051-5EE2-47BB-A552-71B167E2E77F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86898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1887"/>
            <a:ext cx="2813219" cy="71646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9997" y="4456284"/>
            <a:ext cx="2790655" cy="1466178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8227" y="1132498"/>
            <a:ext cx="2742694" cy="1462391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6167"/>
            <a:ext cx="2759745" cy="71136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</a:t>
            </a:r>
            <a:r>
              <a:rPr lang="en-US" altLang="ko-KR" sz="2000" b="1" dirty="0">
                <a:latin typeface="+mj-ea"/>
              </a:rPr>
              <a:t>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9087" y="2788821"/>
            <a:ext cx="2788128" cy="146789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4576"/>
            <a:ext cx="2760371" cy="70727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5209307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0.8203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0.0379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0.1586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0.1949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-0.3240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0.0525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0.1927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0.2292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0.6352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0.1020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0.2347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0.3194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043009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3876"/>
            <a:ext cx="2813219" cy="732487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1298" y="4454762"/>
            <a:ext cx="2788053" cy="1469223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9389" y="1148520"/>
            <a:ext cx="2760371" cy="1430347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3310"/>
            <a:ext cx="2759745" cy="717076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</a:t>
            </a:r>
            <a:r>
              <a:rPr lang="en-US" altLang="ko-KR" sz="2000" b="1" dirty="0">
                <a:latin typeface="+mj-ea"/>
              </a:rPr>
              <a:t>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1099" y="2788821"/>
            <a:ext cx="2764102" cy="146789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508"/>
            <a:ext cx="2760371" cy="69940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1603398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</a:t>
                      </a:r>
                      <a:endParaRPr lang="en-US" altLang="ko-KR" sz="1400" dirty="0"/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</a:p>
                    <a:p>
                      <a:pPr algn="ctr"/>
                      <a:r>
                        <a:rPr lang="pt-BR" altLang="ko-KR" sz="1400" dirty="0"/>
                        <a:t>rmse 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0.6714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0.0329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0.1470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0.1815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0.6227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0.0265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0.1210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0.1630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FB63118D-A6C9-4F6A-B3C1-EF540995E86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1514031"/>
            <a:ext cx="2813219" cy="732286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D1EF6101-4846-4772-81A0-0843A1C495CF}"/>
              </a:ext>
            </a:extLst>
          </p:cNvPr>
          <p:cNvSpPr/>
          <p:nvPr/>
        </p:nvSpPr>
        <p:spPr>
          <a:xfrm>
            <a:off x="9108938" y="1159933"/>
            <a:ext cx="2730822" cy="13955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7195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536" y="3740959"/>
            <a:ext cx="5386707" cy="179372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43079-8C41-4D96-9126-885F7E9D1484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6C9738-8737-4F09-951B-F4BD8602539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A86430DF-CCEF-4049-A149-424642B14C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1787984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(1785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0.0451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0.0139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0.0689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0.996132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0.996789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3.457385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DF48BA8E-AD2A-4D34-A737-DDBE246E0F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3101028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(228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0.0818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0.0253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0.1113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0.963230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0.965334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3.448578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57D3D064-ED91-42F2-801B-12E65EEC65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0315811"/>
              </p:ext>
            </p:extLst>
          </p:nvPr>
        </p:nvGraphicFramePr>
        <p:xfrm>
          <a:off x="6951132" y="5500395"/>
          <a:ext cx="38582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(25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0.1498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0.0398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0.1888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0.663938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0.766153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4.633667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5299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6274"/>
            <a:ext cx="2813219" cy="707691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3624" y="4454762"/>
            <a:ext cx="2763401" cy="146922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650" y="1132498"/>
            <a:ext cx="2739849" cy="146239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6541" y="2793144"/>
            <a:ext cx="2813219" cy="1459247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0257"/>
            <a:ext cx="2760371" cy="73591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9819742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0.9516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0.0295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0.1382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0.1717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-0.6522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0.2313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0.4550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0.4810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0.8627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0.1249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0.2790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0.3534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2594601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</a:t>
            </a:r>
            <a:r>
              <a:rPr lang="en-US" altLang="ko-KR" sz="2000" b="1" dirty="0">
                <a:latin typeface="+mj-ea"/>
              </a:rPr>
              <a:t>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8102"/>
            <a:ext cx="2813219" cy="70403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9646" y="4454762"/>
            <a:ext cx="2771357" cy="146922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291" y="1132498"/>
            <a:ext cx="2740566" cy="146239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5089"/>
            <a:ext cx="2759745" cy="693518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1681" y="2788821"/>
            <a:ext cx="2782940" cy="1467893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40303"/>
            <a:ext cx="2760371" cy="695819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987990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</a:t>
                      </a:r>
                      <a:endParaRPr lang="en-US" altLang="ko-KR" sz="1400" dirty="0"/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</a:p>
                    <a:p>
                      <a:pPr algn="ctr"/>
                      <a:r>
                        <a:rPr lang="pt-BR" altLang="ko-KR" sz="1400" dirty="0"/>
                        <a:t>rmse 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0.9700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0.0138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0.0916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0.1176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0.7924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0.0720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0.2086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0.2684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FC7BFE74-55AA-4D1C-8443-58A419E42AC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7638" y="1524205"/>
            <a:ext cx="2802229" cy="707886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5EC5BB31-748D-4556-ADF2-3C6D608A99F9}"/>
              </a:ext>
            </a:extLst>
          </p:cNvPr>
          <p:cNvSpPr/>
          <p:nvPr/>
        </p:nvSpPr>
        <p:spPr>
          <a:xfrm>
            <a:off x="9108938" y="1159933"/>
            <a:ext cx="2730822" cy="13955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98969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273387" y="2705725"/>
            <a:ext cx="764522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1-2.</a:t>
            </a:r>
            <a:r>
              <a:rPr lang="ko-KR" altLang="en-US" sz="4400" b="1" dirty="0">
                <a:latin typeface="+mj-ea"/>
                <a:ea typeface="+mj-ea"/>
              </a:rPr>
              <a:t>누적 강우 </a:t>
            </a:r>
            <a:r>
              <a:rPr lang="en-US" altLang="ko-KR" sz="4400" b="1" dirty="0">
                <a:latin typeface="+mj-ea"/>
                <a:ea typeface="+mj-ea"/>
              </a:rPr>
              <a:t>110mm </a:t>
            </a:r>
            <a:r>
              <a:rPr lang="ko-KR" altLang="en-US" sz="4400" b="1" dirty="0">
                <a:latin typeface="+mj-ea"/>
                <a:ea typeface="+mj-ea"/>
              </a:rPr>
              <a:t>이상</a:t>
            </a:r>
            <a:endParaRPr lang="en-US" altLang="ko-KR" sz="4400" b="1" dirty="0">
              <a:latin typeface="+mj-ea"/>
              <a:ea typeface="+mj-ea"/>
            </a:endParaRPr>
          </a:p>
          <a:p>
            <a:pPr algn="ctr"/>
            <a:r>
              <a:rPr lang="ko-KR" altLang="en-US" sz="4400" b="1" dirty="0">
                <a:latin typeface="+mj-ea"/>
                <a:ea typeface="+mj-ea"/>
              </a:rPr>
              <a:t>조합 찾기</a:t>
            </a:r>
            <a:endParaRPr lang="en-US" altLang="ko-KR" sz="44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81055-E6B3-4C5C-A476-F2D02B696E61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/dg)_110_2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2440767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2017 ~ 2023 ( 8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2024( 1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2014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404436-3D1F-4921-9155-C679C091172E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</p:spTree>
    <p:extLst>
      <p:ext uri="{BB962C8B-B14F-4D97-AF65-F5344CB8AC3E}">
        <p14:creationId xmlns:p14="http://schemas.microsoft.com/office/powerpoint/2010/main" val="7921832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5335"/>
            <a:ext cx="2813219" cy="72956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5967" y="4454762"/>
            <a:ext cx="2758715" cy="1469223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9389" y="1145827"/>
            <a:ext cx="2760371" cy="143573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4316"/>
            <a:ext cx="2759745" cy="715063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 </a:t>
            </a:r>
            <a:r>
              <a:rPr lang="en-US" altLang="ko-KR" sz="2000" b="1" dirty="0">
                <a:latin typeface="+mj-ea"/>
              </a:rPr>
              <a:t>2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0401" y="2788821"/>
            <a:ext cx="2805499" cy="146789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6737"/>
            <a:ext cx="2760371" cy="70295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7060227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0.8432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0.0331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0.1339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0.1821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0.0759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0.0366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0.1551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0.1914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0.8378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0.0453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0.1678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0.2130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40341181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9997" y="4455524"/>
            <a:ext cx="2790655" cy="146769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9389" y="1144966"/>
            <a:ext cx="2760371" cy="143745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7228"/>
            <a:ext cx="2759745" cy="70924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2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0239" y="2788821"/>
            <a:ext cx="2785824" cy="146789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6735"/>
            <a:ext cx="2760371" cy="72295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936183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</a:t>
                      </a:r>
                      <a:endParaRPr lang="en-US" altLang="ko-KR" sz="1400" dirty="0"/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</a:p>
                    <a:p>
                      <a:pPr algn="ctr"/>
                      <a:r>
                        <a:rPr lang="pt-BR" altLang="ko-KR" sz="1400" dirty="0"/>
                        <a:t>rmse 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0.3038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0.0698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0.1956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0.2642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0.7643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0.0166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0.0963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0.1289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1C0147FD-716A-44E7-995E-C7EF38F09F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1514031"/>
            <a:ext cx="2813219" cy="732286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A19BCE0E-1E63-4C9C-B08A-E5D2F057AE2E}"/>
              </a:ext>
            </a:extLst>
          </p:cNvPr>
          <p:cNvSpPr/>
          <p:nvPr/>
        </p:nvSpPr>
        <p:spPr>
          <a:xfrm>
            <a:off x="9108938" y="1159933"/>
            <a:ext cx="2730822" cy="13955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25248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2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18728"/>
            <a:ext cx="2813219" cy="742783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9997" y="4456971"/>
            <a:ext cx="2790655" cy="146480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3038" y="1132498"/>
            <a:ext cx="2753072" cy="146239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3961" y="2788821"/>
            <a:ext cx="2758379" cy="1467893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60" y="1531712"/>
            <a:ext cx="2760371" cy="71300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3688438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0.9377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0.0380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0.1374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0.1949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0.1093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0.1247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0.3037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0.3531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0.9085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0.0832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0.2344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0.2885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49801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2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9181" y="4454762"/>
            <a:ext cx="2752287" cy="146922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9389" y="1137733"/>
            <a:ext cx="2760371" cy="1451920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2586"/>
            <a:ext cx="2759745" cy="698524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9999" y="2788821"/>
            <a:ext cx="2766303" cy="1467893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145"/>
            <a:ext cx="2760371" cy="70013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36739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</a:t>
                      </a:r>
                      <a:endParaRPr lang="en-US" altLang="ko-KR" sz="1400" dirty="0"/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</a:p>
                    <a:p>
                      <a:pPr algn="ctr"/>
                      <a:r>
                        <a:rPr lang="pt-BR" altLang="ko-KR" sz="1400" dirty="0"/>
                        <a:t>rmse 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0.8820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0.0544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0.1842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0.2334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0.6907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0.1073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0.2570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0.3276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8D356AC-93C1-4B9B-9160-14D976BC461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7638" y="1524205"/>
            <a:ext cx="2802229" cy="707886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FE1C24-1DAF-4A37-88B3-20DABF9D2EB9}"/>
              </a:ext>
            </a:extLst>
          </p:cNvPr>
          <p:cNvSpPr/>
          <p:nvPr/>
        </p:nvSpPr>
        <p:spPr>
          <a:xfrm>
            <a:off x="9108938" y="1159933"/>
            <a:ext cx="2730822" cy="13955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4802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273387" y="2705725"/>
            <a:ext cx="764522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1-3. </a:t>
            </a:r>
            <a:r>
              <a:rPr lang="ko-KR" altLang="en-US" sz="4400" b="1" dirty="0">
                <a:latin typeface="+mj-ea"/>
                <a:ea typeface="+mj-ea"/>
              </a:rPr>
              <a:t>누적 강우 </a:t>
            </a:r>
            <a:r>
              <a:rPr lang="en-US" altLang="ko-KR" sz="4400" b="1" dirty="0">
                <a:latin typeface="+mj-ea"/>
                <a:ea typeface="+mj-ea"/>
              </a:rPr>
              <a:t>110mm </a:t>
            </a:r>
            <a:r>
              <a:rPr lang="ko-KR" altLang="en-US" sz="4400" b="1" dirty="0">
                <a:latin typeface="+mj-ea"/>
                <a:ea typeface="+mj-ea"/>
              </a:rPr>
              <a:t>이상</a:t>
            </a:r>
            <a:endParaRPr lang="en-US" altLang="ko-KR" sz="4400" b="1" dirty="0">
              <a:latin typeface="+mj-ea"/>
              <a:ea typeface="+mj-ea"/>
            </a:endParaRPr>
          </a:p>
          <a:p>
            <a:pPr algn="ctr"/>
            <a:r>
              <a:rPr lang="ko-KR" altLang="en-US" sz="4400" b="1" dirty="0">
                <a:latin typeface="+mj-ea"/>
                <a:ea typeface="+mj-ea"/>
              </a:rPr>
              <a:t>조합 찾기</a:t>
            </a:r>
            <a:endParaRPr lang="en-US" altLang="ko-KR" sz="44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81055-E6B3-4C5C-A476-F2D02B696E61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/dg)_110_3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4471714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 ( 8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2022(6667) 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2024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5B31E7-AAD7-4B13-8DF8-548398122082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</p:spTree>
    <p:extLst>
      <p:ext uri="{BB962C8B-B14F-4D97-AF65-F5344CB8AC3E}">
        <p14:creationId xmlns:p14="http://schemas.microsoft.com/office/powerpoint/2010/main" val="11498255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5335"/>
            <a:ext cx="2813219" cy="72956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5967" y="4465283"/>
            <a:ext cx="2758715" cy="1448181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9201" y="1145827"/>
            <a:ext cx="2700747" cy="143573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4316"/>
            <a:ext cx="2759745" cy="715063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 </a:t>
            </a:r>
            <a:r>
              <a:rPr lang="en-US" altLang="ko-KR" sz="2000" b="1" dirty="0">
                <a:latin typeface="+mj-ea"/>
              </a:rPr>
              <a:t>3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4824" y="2788821"/>
            <a:ext cx="2736653" cy="146789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6737"/>
            <a:ext cx="2760371" cy="70295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2054394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0.8183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0.0384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0.1541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0.1960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-0.3856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0.0549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0.2168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0.2344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0.6955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0.0851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0.2246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0.2918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5065810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4188" y="4455524"/>
            <a:ext cx="2782272" cy="146769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9154" y="1144966"/>
            <a:ext cx="2700841" cy="143745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7228"/>
            <a:ext cx="2759745" cy="70924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3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123" y="2788821"/>
            <a:ext cx="2780056" cy="146789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6735"/>
            <a:ext cx="2760371" cy="72295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395791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</a:t>
                      </a:r>
                      <a:endParaRPr lang="en-US" altLang="ko-KR" sz="1400" dirty="0"/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</a:p>
                    <a:p>
                      <a:pPr algn="ctr"/>
                      <a:r>
                        <a:rPr lang="pt-BR" altLang="ko-KR" sz="1400" dirty="0"/>
                        <a:t>rmse 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0.7261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0.0274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0.1434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0.1657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0.8484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0.0106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0.0913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0.1033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8579FF43-0C23-43E0-B456-7AE2D1D961A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1514031"/>
            <a:ext cx="2813219" cy="732286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B67FC2-6E57-4252-8CE3-9895A65F956D}"/>
              </a:ext>
            </a:extLst>
          </p:cNvPr>
          <p:cNvSpPr/>
          <p:nvPr/>
        </p:nvSpPr>
        <p:spPr>
          <a:xfrm>
            <a:off x="9108938" y="1159933"/>
            <a:ext cx="2730822" cy="13955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72065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3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18728"/>
            <a:ext cx="2813219" cy="742783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9997" y="4466304"/>
            <a:ext cx="2790655" cy="1446137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3038" y="1138975"/>
            <a:ext cx="2753072" cy="1449436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3961" y="2801698"/>
            <a:ext cx="2758379" cy="1442139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60" y="1531712"/>
            <a:ext cx="2760371" cy="71300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887071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0.7493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0.1529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0.2611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0.3910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pt-BR" altLang="ko-KR" sz="1400" dirty="0">
                          <a:solidFill>
                            <a:srgbClr val="FF0000"/>
                          </a:solidFill>
                        </a:rPr>
                        <a:t>-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1.6344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0.3689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0.5123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0.6073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0.7544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0.2235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0.3753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0.4727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9733394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3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9181" y="4474394"/>
            <a:ext cx="2752287" cy="142995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9389" y="1138227"/>
            <a:ext cx="2760371" cy="1450931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2586"/>
            <a:ext cx="2759745" cy="698524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2970" y="2788821"/>
            <a:ext cx="2760361" cy="1467893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145"/>
            <a:ext cx="2760371" cy="70013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1931426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</a:t>
                      </a:r>
                      <a:endParaRPr lang="en-US" altLang="ko-KR" sz="1400" dirty="0"/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</a:p>
                    <a:p>
                      <a:pPr algn="ctr"/>
                      <a:r>
                        <a:rPr lang="pt-BR" altLang="ko-KR" sz="1400" dirty="0"/>
                        <a:t>rmse 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0.8936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0.0490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0.1713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0.2215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0.7912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0.0724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0.2211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0.2691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6912BD3-2D7E-4660-905B-46AD94F33A3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7638" y="1524205"/>
            <a:ext cx="2802229" cy="707886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A5CCB0FC-8D4D-42F1-AD12-6D6D3BDCD54D}"/>
              </a:ext>
            </a:extLst>
          </p:cNvPr>
          <p:cNvSpPr/>
          <p:nvPr/>
        </p:nvSpPr>
        <p:spPr>
          <a:xfrm>
            <a:off x="9108938" y="1159933"/>
            <a:ext cx="2730822" cy="13955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98542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273387" y="2705725"/>
            <a:ext cx="764522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1-4. 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누적 강우 </a:t>
            </a:r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110mm 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이상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  <a:p>
            <a:pPr algn="ctr"/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조합 찾기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81055-E6B3-4C5C-A476-F2D02B696E61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/dg)_110_4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6015067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2024 ( 8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2022(39) 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2022(6667)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50B1A8-AC07-4938-895E-54EDE1B47C0F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</p:spTree>
    <p:extLst>
      <p:ext uri="{BB962C8B-B14F-4D97-AF65-F5344CB8AC3E}">
        <p14:creationId xmlns:p14="http://schemas.microsoft.com/office/powerpoint/2010/main" val="28932829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573" y="5407728"/>
            <a:ext cx="2133361" cy="1131111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7208" y="1390626"/>
            <a:ext cx="2141376" cy="113111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57587"/>
            <a:ext cx="2141986" cy="1125854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2638010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4648144"/>
            <a:ext cx="4475270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670CA9-EC85-4105-9F68-A7D9E5C52630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4826AB7-9561-4061-AA40-5F05F7F5C1B3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/dg)_110_4_2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A18A818F-FB79-4D07-98E9-039F2C0D52D6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0.7237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0.0584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0.1572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0.2417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0.3192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0.0270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0.1369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0.1643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0.8533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0.0410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0.1509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0.2025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33" name="직사각형 32">
            <a:extLst>
              <a:ext uri="{FF2B5EF4-FFF2-40B4-BE49-F238E27FC236}">
                <a16:creationId xmlns:a16="http://schemas.microsoft.com/office/drawing/2014/main" id="{85DECBFE-A628-4FF9-BB34-CC58F4A3CA4C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8701738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392" y="5409145"/>
            <a:ext cx="2143724" cy="112827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395601"/>
            <a:ext cx="2138738" cy="112116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6265" y="3361947"/>
            <a:ext cx="2113749" cy="11171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38495"/>
            <a:ext cx="4431036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2638010"/>
            <a:ext cx="4437903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4648144"/>
            <a:ext cx="4431036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5140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5927"/>
            <a:ext cx="2103138" cy="108647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4932"/>
            <a:ext cx="2105029" cy="109400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D2056B-6846-4A6A-803A-D5B19B088A69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427209-2618-44DB-AF16-74FB30BC95C7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/dg)_110_4_2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89B2F13-C65A-4689-AB5A-9BDA5B69D1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2204521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0.7623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0.0192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0.0851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0.1386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0.8108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0.0189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0.1236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0.1377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0.8475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0.0107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0.0815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0.1036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E22DD9CD-23CD-4CA1-8557-7B66A43B33A8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934B43BC-78A5-49AF-A102-5C2C6C91C1C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41227"/>
            <a:ext cx="4431036" cy="675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4554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4845"/>
            <a:ext cx="2144214" cy="111687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401342"/>
            <a:ext cx="2138738" cy="110967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282" y="3361947"/>
            <a:ext cx="2111715" cy="11171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2638010"/>
            <a:ext cx="4470400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2908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0425"/>
            <a:ext cx="2103138" cy="1097479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2748"/>
            <a:ext cx="2105029" cy="1098370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35584E-3161-43BF-ACD1-5F803D749C36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95CF0B-9D7B-4963-A51C-326810BCFC2D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/dg)_110_4_2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648E4F0D-FE03-455C-8A58-DB5ECB8E56A5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0.8350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0.1006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0.2683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0.3172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pt-BR" altLang="ko-KR" sz="1400" dirty="0">
                          <a:solidFill>
                            <a:srgbClr val="FF0000"/>
                          </a:solidFill>
                        </a:rPr>
                        <a:t>-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0.0424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0.1459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0.3414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0.3820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0.7456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0.2314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0.3847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0.4811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AE2ABDC9-785B-4DE9-AF1E-BFD94D319A4D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8451720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055" y="5414986"/>
            <a:ext cx="2114397" cy="1116592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1397" y="1397573"/>
            <a:ext cx="2112997" cy="1117217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267" y="3364197"/>
            <a:ext cx="2117745" cy="11126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8" y="638495"/>
            <a:ext cx="4470398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2638010"/>
            <a:ext cx="4470399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6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994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2087"/>
            <a:ext cx="2103138" cy="109415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48"/>
            <a:ext cx="2105029" cy="110837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4FC2FF-47AD-4ACD-9D36-7BB2D0D8EC4A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4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35DA6F-8327-4BD4-8FE4-E4F8149F615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/dg)_110_4_2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07D75C2B-9F83-4910-9ED7-CF818E7E2C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6884269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0.0871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0.0434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0.1510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0.2083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0.8305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0.0782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0.1994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0.2797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0.5011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0.1731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0.3295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0.4160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BC720FE3-FD05-4DF5-91BA-759929D77468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344A5C0E-5F1D-4E5A-BB0A-11E01DCA16D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8" y="640550"/>
            <a:ext cx="4470398" cy="67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8004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273387" y="2705725"/>
            <a:ext cx="764522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1-5. 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누적 강우 </a:t>
            </a:r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110mm 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이상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  <a:p>
            <a:pPr algn="ctr"/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조합 찾기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81055-E6B3-4C5C-A476-F2D02B696E61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/dg)_110_5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107107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2024 ( 8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2022(35) 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2022(6667)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E313CF-F1B7-4F3A-B484-23BCD2803D86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</p:spTree>
    <p:extLst>
      <p:ext uri="{BB962C8B-B14F-4D97-AF65-F5344CB8AC3E}">
        <p14:creationId xmlns:p14="http://schemas.microsoft.com/office/powerpoint/2010/main" val="17138212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2380"/>
            <a:ext cx="2144214" cy="1121807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1660" y="1392554"/>
            <a:ext cx="2152473" cy="112725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57587"/>
            <a:ext cx="2141986" cy="1125854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2638010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4648144"/>
            <a:ext cx="4475270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A1C485-D69C-494B-B9BD-6079DEB98109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1DF0F8-18F4-42EB-9FB6-E43BC3ACF291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/dg)_110_5_2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794749A-8B69-43FB-B67B-AC7E3EF4A680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0.8774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0.0259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0.1047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0.1609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0.0586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0.0373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0.1603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0.1932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0.8028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0.0851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0.1455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0.2349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008EFE15-F86F-496A-9C30-DF570E103380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7510809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2597"/>
            <a:ext cx="2144214" cy="1121372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407239"/>
            <a:ext cx="2138738" cy="1097885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63880"/>
            <a:ext cx="2141986" cy="111326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38495"/>
            <a:ext cx="4431036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2638010"/>
            <a:ext cx="4437903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4648144"/>
            <a:ext cx="4431036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5140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5927"/>
            <a:ext cx="2103138" cy="108647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4932"/>
            <a:ext cx="2105029" cy="109400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5E0AD17-C689-4B92-AFB6-3BFEE70CE1DE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3E724-5280-4C13-A67F-E6F684D955F8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/dg)_110_5_2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A9EFF83D-DF2F-48FB-872C-50CD69E21A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5789374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0.7051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0.0238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0.0874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0.1544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0.7764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0.0224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0.1110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0.1497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0.8673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0.0093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0.0756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0.0967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5D16DBE5-60DF-495B-8CD1-DB4AC276776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0C63F665-6EF3-4090-8BD1-4C2B5631EDC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41227"/>
            <a:ext cx="4431036" cy="675611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9343A9BD-31F1-4291-B1B6-ACD3B79F2CD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067" y="1396151"/>
            <a:ext cx="2131657" cy="1120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1666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6548" y="5410958"/>
            <a:ext cx="2135411" cy="1124650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1865" y="1395983"/>
            <a:ext cx="2132061" cy="1120396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542" y="3361947"/>
            <a:ext cx="2111195" cy="11171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2638010"/>
            <a:ext cx="4470400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2908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0425"/>
            <a:ext cx="2103138" cy="1097479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2748"/>
            <a:ext cx="2105029" cy="1098370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956F2D9-606A-4C46-9140-3BFFBB7A6F9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DDDDE8-C316-421E-8FCB-A7A0748355BC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/dg)_110_5_2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C9908A9E-1547-4AC0-90D2-BBED1B9B6CF3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0.9246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0.0460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0.1541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0.2144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pt-BR" altLang="ko-KR" sz="1400" dirty="0">
                          <a:solidFill>
                            <a:srgbClr val="FF0000"/>
                          </a:solidFill>
                        </a:rPr>
                        <a:t>-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0.1000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0.1540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0.3041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0.3924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0.8276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0.1568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0.3195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0.3961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EB951DF1-AA77-4303-BD7F-1A5C511C0AD0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1977255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2304" y="5414986"/>
            <a:ext cx="2123900" cy="1116592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009" y="1411593"/>
            <a:ext cx="2121773" cy="1089176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267" y="3364197"/>
            <a:ext cx="2117745" cy="11126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8" y="638495"/>
            <a:ext cx="4470398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2638010"/>
            <a:ext cx="4470399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6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994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2087"/>
            <a:ext cx="2103138" cy="109415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48"/>
            <a:ext cx="2105029" cy="110837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3C90A3-7465-4DB4-879E-A29359910C19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72750E6-0AE3-4197-816C-716BC541E9FC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/dg)_110_5_2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A5F688B0-A841-47A1-95BF-5226AAE27F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3200218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0.5130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0.0231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0.1419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0.1521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0.9577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0.0195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0.1145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0.1397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0.6115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0.1348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0.3007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0.3671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34" name="직사각형 33">
            <a:extLst>
              <a:ext uri="{FF2B5EF4-FFF2-40B4-BE49-F238E27FC236}">
                <a16:creationId xmlns:a16="http://schemas.microsoft.com/office/drawing/2014/main" id="{C91F68A4-0BD1-49A6-BBCF-DBBE93A7C28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9342EC77-5763-4D9D-A3E2-35223481FCC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8" y="640550"/>
            <a:ext cx="4470398" cy="67696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07AE20DC-F747-4785-AD94-FEA129BC1E2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009" y="1398168"/>
            <a:ext cx="2121773" cy="1116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969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273387" y="2705725"/>
            <a:ext cx="764522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1-6. </a:t>
            </a:r>
            <a:r>
              <a:rPr lang="ko-KR" altLang="en-US" sz="4400" b="1" dirty="0">
                <a:latin typeface="+mj-ea"/>
                <a:ea typeface="+mj-ea"/>
              </a:rPr>
              <a:t>누적 강우 </a:t>
            </a:r>
            <a:r>
              <a:rPr lang="en-US" altLang="ko-KR" sz="4400" b="1" dirty="0">
                <a:latin typeface="+mj-ea"/>
                <a:ea typeface="+mj-ea"/>
              </a:rPr>
              <a:t>110mm </a:t>
            </a:r>
            <a:r>
              <a:rPr lang="ko-KR" altLang="en-US" sz="4400" b="1" dirty="0">
                <a:latin typeface="+mj-ea"/>
                <a:ea typeface="+mj-ea"/>
              </a:rPr>
              <a:t>이상</a:t>
            </a:r>
            <a:endParaRPr lang="en-US" altLang="ko-KR" sz="4400" b="1" dirty="0">
              <a:latin typeface="+mj-ea"/>
              <a:ea typeface="+mj-ea"/>
            </a:endParaRPr>
          </a:p>
          <a:p>
            <a:pPr algn="ctr"/>
            <a:r>
              <a:rPr lang="ko-KR" altLang="en-US" sz="4400" b="1" dirty="0">
                <a:latin typeface="+mj-ea"/>
                <a:ea typeface="+mj-ea"/>
              </a:rPr>
              <a:t>조합 찾기</a:t>
            </a:r>
            <a:endParaRPr lang="en-US" altLang="ko-KR" sz="44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81055-E6B3-4C5C-A476-F2D02B696E61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/dg)_110_6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7679135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11</a:t>
            </a:r>
            <a:r>
              <a:rPr lang="ko-KR" altLang="en-US" sz="1600" dirty="0"/>
              <a:t>개 中 </a:t>
            </a:r>
            <a:r>
              <a:rPr lang="en-US" altLang="ko-KR" sz="1600" dirty="0"/>
              <a:t>9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2</a:t>
            </a:r>
            <a:r>
              <a:rPr lang="ko-KR" altLang="en-US" sz="1600" dirty="0"/>
              <a:t>개 </a:t>
            </a:r>
            <a:r>
              <a:rPr lang="en-US" altLang="ko-KR" sz="1600" dirty="0"/>
              <a:t>+ 4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2018 ~ 2024 ( 8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2014( 1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2017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 </a:t>
            </a:r>
          </a:p>
        </p:txBody>
      </p:sp>
    </p:spTree>
    <p:extLst>
      <p:ext uri="{BB962C8B-B14F-4D97-AF65-F5344CB8AC3E}">
        <p14:creationId xmlns:p14="http://schemas.microsoft.com/office/powerpoint/2010/main" val="6298072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5335"/>
            <a:ext cx="2813219" cy="72956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5967" y="4458873"/>
            <a:ext cx="2758715" cy="1461001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8130" y="1145827"/>
            <a:ext cx="2702888" cy="143573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4316"/>
            <a:ext cx="2759745" cy="715063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 </a:t>
            </a:r>
            <a:r>
              <a:rPr lang="en-US" altLang="ko-KR" sz="2000" b="1" dirty="0">
                <a:latin typeface="+mj-ea"/>
              </a:rPr>
              <a:t>6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6191" y="2788821"/>
            <a:ext cx="2793918" cy="146789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7834"/>
            <a:ext cx="2760371" cy="70075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0.8438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0.0330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0.1330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0.1817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-0.9135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0.0759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0.2395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0.2755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0.8268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0.0484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0.1442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0.2201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2954586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2356" y="4455524"/>
            <a:ext cx="2765937" cy="146769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8880" y="1144966"/>
            <a:ext cx="2741389" cy="1437454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7228"/>
            <a:ext cx="2759745" cy="70924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6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0239" y="2790874"/>
            <a:ext cx="2785824" cy="146378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219B9CB-F516-452F-87A3-1397CD4A42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6735"/>
            <a:ext cx="2760371" cy="72295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DE572B6-C3A0-49C2-9EDD-F474DE484B5A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9756863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</a:t>
                      </a:r>
                      <a:endParaRPr lang="en-US" altLang="ko-KR" sz="1400" dirty="0"/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</a:p>
                    <a:p>
                      <a:pPr algn="ctr"/>
                      <a:r>
                        <a:rPr lang="pt-BR" altLang="ko-KR" sz="1400" dirty="0"/>
                        <a:t>rmse 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0.6942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0.0306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0.1282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0.1751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0.8607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0.0098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0.0703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0.0990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27F7823F-E2AF-4A44-B198-845E1A74C65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1514031"/>
            <a:ext cx="2813219" cy="732286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AB1778F8-DAF6-4894-89AA-EE640D48028C}"/>
              </a:ext>
            </a:extLst>
          </p:cNvPr>
          <p:cNvSpPr/>
          <p:nvPr/>
        </p:nvSpPr>
        <p:spPr>
          <a:xfrm>
            <a:off x="9108938" y="1159933"/>
            <a:ext cx="2730822" cy="13955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74545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6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18728"/>
            <a:ext cx="2813219" cy="742783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5491" y="4456971"/>
            <a:ext cx="2779667" cy="146480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3038" y="1137546"/>
            <a:ext cx="2753072" cy="1452295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3961" y="2790923"/>
            <a:ext cx="2758379" cy="1463688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60" y="1531712"/>
            <a:ext cx="2760371" cy="71300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0.9343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0.0400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0.1605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0.2000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0.0911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0.1272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0.3334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0.3567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0.8255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0.1587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0.3229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0.3984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9187559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조합 찾기</a:t>
            </a:r>
            <a:r>
              <a:rPr lang="en-US" altLang="ko-KR" sz="2000" b="1" dirty="0">
                <a:latin typeface="+mj-ea"/>
              </a:rPr>
              <a:t> 6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E6BE94-1730-402F-97E9-CB195EE79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9181" y="4456288"/>
            <a:ext cx="2752287" cy="1466171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4672" y="1137733"/>
            <a:ext cx="2749805" cy="1451920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61AC9C86-E07B-4029-9D0D-918BD95FFA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2586"/>
            <a:ext cx="2759745" cy="698524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D7402C4-68F9-4D9D-BC6E-7EE8DE3245A2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D4FF93-88A5-49C6-9781-605B0628AB6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9999" y="2789583"/>
            <a:ext cx="2766303" cy="1466369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8C92D31-B3D6-4A92-A8D0-466FC5830F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145"/>
            <a:ext cx="2760371" cy="70013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BEB9DB2-FC20-4638-B01D-C0A7E7DA245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3815908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</a:t>
                      </a:r>
                      <a:endParaRPr lang="en-US" altLang="ko-KR" sz="1400" dirty="0"/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</a:p>
                    <a:p>
                      <a:pPr algn="ctr"/>
                      <a:r>
                        <a:rPr lang="pt-BR" altLang="ko-KR" sz="1400" dirty="0"/>
                        <a:t>rmse 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0.8521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0.0682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0.2196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0.2613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0.7653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0.0814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0.2219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0.2853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87A57032-E3B7-4847-BC2A-1EF04D7B383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7638" y="1524205"/>
            <a:ext cx="2802229" cy="707886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0431A005-C09D-4075-8AEB-EA8494D8403C}"/>
              </a:ext>
            </a:extLst>
          </p:cNvPr>
          <p:cNvSpPr/>
          <p:nvPr/>
        </p:nvSpPr>
        <p:spPr>
          <a:xfrm>
            <a:off x="9108938" y="1159933"/>
            <a:ext cx="2730822" cy="13955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07517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1519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결론</a:t>
            </a:r>
            <a:endParaRPr lang="ko-KR" altLang="en-US" sz="12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9DC680-F0CF-4BBD-BD62-C9B6103562BC}"/>
              </a:ext>
            </a:extLst>
          </p:cNvPr>
          <p:cNvSpPr txBox="1"/>
          <p:nvPr/>
        </p:nvSpPr>
        <p:spPr>
          <a:xfrm>
            <a:off x="2763837" y="3429000"/>
            <a:ext cx="66643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ko-KR" altLang="en-US" sz="2000" b="1" dirty="0">
                <a:latin typeface="+mj-ea"/>
              </a:rPr>
              <a:t>현재 조합 중에는 </a:t>
            </a:r>
            <a:r>
              <a:rPr lang="en-US" altLang="ko-KR" sz="2000" b="1" dirty="0">
                <a:highlight>
                  <a:srgbClr val="FFFF00"/>
                </a:highlight>
                <a:latin typeface="+mj-ea"/>
              </a:rPr>
              <a:t>4</a:t>
            </a:r>
            <a:r>
              <a:rPr lang="en-US" altLang="ko-KR" sz="2000" b="1" dirty="0">
                <a:latin typeface="+mj-ea"/>
              </a:rPr>
              <a:t> ( </a:t>
            </a:r>
            <a:r>
              <a:rPr lang="ko-KR" altLang="en-US" sz="2000" b="1" dirty="0">
                <a:latin typeface="+mj-ea"/>
              </a:rPr>
              <a:t>피크 재현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ko-KR" altLang="en-US" sz="2000" b="1" dirty="0">
                <a:latin typeface="+mj-ea"/>
              </a:rPr>
              <a:t>안정성 가장 좋음 </a:t>
            </a:r>
            <a:r>
              <a:rPr lang="en-US" altLang="ko-KR" sz="2000" b="1" dirty="0">
                <a:latin typeface="+mj-ea"/>
              </a:rPr>
              <a:t>) ,  </a:t>
            </a:r>
            <a:r>
              <a:rPr lang="en-US" altLang="ko-KR" sz="2000" b="1" dirty="0">
                <a:highlight>
                  <a:srgbClr val="FFFF00"/>
                </a:highlight>
                <a:latin typeface="+mj-ea"/>
              </a:rPr>
              <a:t>5</a:t>
            </a:r>
            <a:r>
              <a:rPr lang="en-US" altLang="ko-KR" sz="2000" b="1" dirty="0">
                <a:latin typeface="+mj-ea"/>
              </a:rPr>
              <a:t> (</a:t>
            </a:r>
            <a:r>
              <a:rPr lang="ko-KR" altLang="en-US" sz="2000" b="1" dirty="0">
                <a:latin typeface="+mj-ea"/>
              </a:rPr>
              <a:t>일부 음수 발생</a:t>
            </a:r>
            <a:r>
              <a:rPr lang="en-US" altLang="ko-KR" sz="2000" b="1" dirty="0">
                <a:latin typeface="+mj-ea"/>
              </a:rPr>
              <a:t>,</a:t>
            </a:r>
            <a:r>
              <a:rPr lang="ko-KR" altLang="en-US" sz="2000" b="1" dirty="0">
                <a:latin typeface="+mj-ea"/>
              </a:rPr>
              <a:t> 전체 평균은 안정</a:t>
            </a:r>
            <a:r>
              <a:rPr lang="en-US" altLang="ko-KR" sz="2000" b="1" dirty="0">
                <a:latin typeface="+mj-ea"/>
              </a:rPr>
              <a:t> ) </a:t>
            </a:r>
            <a:r>
              <a:rPr lang="ko-KR" altLang="en-US" sz="2000" b="1" dirty="0">
                <a:latin typeface="+mj-ea"/>
              </a:rPr>
              <a:t>가 나음</a:t>
            </a:r>
            <a:endParaRPr lang="en-US" altLang="ko-KR" sz="200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7455671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725420" y="3044279"/>
            <a:ext cx="474115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2. </a:t>
            </a:r>
            <a:r>
              <a:rPr lang="ko-KR" altLang="en-US" sz="4400" b="1" dirty="0">
                <a:latin typeface="+mj-ea"/>
                <a:ea typeface="+mj-ea"/>
              </a:rPr>
              <a:t>관심 수위 이상</a:t>
            </a:r>
            <a:endParaRPr lang="en-US" altLang="ko-KR" sz="44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49CAAC-43B5-4870-B987-8FCCFB990857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66351180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64</a:t>
            </a:r>
            <a:r>
              <a:rPr lang="ko-KR" altLang="en-US" sz="1600" dirty="0"/>
              <a:t>개 데이터 파일 사용</a:t>
            </a:r>
            <a:r>
              <a:rPr lang="en-US" altLang="ko-KR" sz="1600" dirty="0"/>
              <a:t> </a:t>
            </a:r>
          </a:p>
          <a:p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3</a:t>
            </a:r>
            <a:r>
              <a:rPr lang="ko-KR" altLang="en-US" sz="1600" dirty="0"/>
              <a:t>개 데이터 파일</a:t>
            </a:r>
            <a:r>
              <a:rPr lang="en-US" altLang="ko-KR" sz="1600" dirty="0"/>
              <a:t>( 4</a:t>
            </a:r>
            <a:r>
              <a:rPr lang="ko-KR" altLang="en-US" sz="1600" dirty="0"/>
              <a:t>개 이벤트</a:t>
            </a:r>
            <a:r>
              <a:rPr lang="en-US" altLang="ko-KR" sz="1600" dirty="0"/>
              <a:t> )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	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( 45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29422038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0123905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(5065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0.0398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0.0274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0.0543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0.986375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0.986791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2.606402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0343180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(1346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0.0667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0.0513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0.0934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0.942399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0.946896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5.359824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7927574"/>
              </p:ext>
            </p:extLst>
          </p:nvPr>
        </p:nvGraphicFramePr>
        <p:xfrm>
          <a:off x="6951132" y="5500395"/>
          <a:ext cx="38074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(594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0.0449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0.0328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0.0718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0.950739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0.958120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4.395504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536" y="3759373"/>
            <a:ext cx="5386707" cy="175689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43079-8C41-4D96-9126-885F7E9D1484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6359402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11C99160-6B77-45EA-8F2B-8F7648201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3044423"/>
              </p:ext>
            </p:extLst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0.7777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0.0088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0.0801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0.0939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0.8560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0.0402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0.1376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0.2006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0.7887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0.0211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0.1130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0.1455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0.6514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0.0245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0.1184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0.1567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CC287890-8D3F-4F75-B6EE-54A24D722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4418" y="4348846"/>
            <a:ext cx="3002052" cy="1587112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6416" y="4339671"/>
            <a:ext cx="3010771" cy="1604073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399" y="1975519"/>
            <a:ext cx="2993660" cy="1576101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7E4CA0B-D49E-45B1-BAE8-60B9B42BF1F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4875" y="1994731"/>
            <a:ext cx="2977423" cy="1562684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CA25465-4979-4F8A-9B0A-4264AEA6DA31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6B302A1-B195-4A71-8F8A-E20D52E67826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2017372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290" y="3740036"/>
            <a:ext cx="5381199" cy="179556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43079-8C41-4D96-9126-885F7E9D1484}"/>
              </a:ext>
            </a:extLst>
          </p:cNvPr>
          <p:cNvSpPr txBox="1"/>
          <p:nvPr/>
        </p:nvSpPr>
        <p:spPr>
          <a:xfrm>
            <a:off x="622385" y="850612"/>
            <a:ext cx="78996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C82A05-A407-42E7-96BE-861DBCA9010D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81D2EB6A-8717-4131-B9BE-B9EE955D51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6582984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(5065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0.0643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0.0226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0.0959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0.987721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0.989193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5.235190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1E149AA4-EDCC-4D11-BED4-58762BE0A1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796568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(1346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0.0900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0.0333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0.1277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0.955670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0.956173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2.551442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57BC6560-961C-451B-AE01-12184D6415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9481380"/>
              </p:ext>
            </p:extLst>
          </p:nvPr>
        </p:nvGraphicFramePr>
        <p:xfrm>
          <a:off x="6951132" y="5500395"/>
          <a:ext cx="38074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(594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0.0700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0.0260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0.1105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0.952298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0.953230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3.660785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081524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865A6128-F671-488A-B725-D8FE81F5C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4533538"/>
              </p:ext>
            </p:extLst>
          </p:nvPr>
        </p:nvGraphicFramePr>
        <p:xfrm>
          <a:off x="800836" y="1889775"/>
          <a:ext cx="4328033" cy="415036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bg1"/>
                          </a:solidFill>
                        </a:rPr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0.7789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0.0309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0.1394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0.1759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testdata_230711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0.8833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0.1061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0.2572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0.3258</a:t>
                      </a:r>
                      <a:endParaRPr lang="ko-KR" altLang="en-US" sz="14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testdata_250716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0.9808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0.0088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0.0723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0.0939</a:t>
                      </a:r>
                      <a:endParaRPr lang="ko-KR" altLang="en-US" sz="1400" b="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0.8550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0.0503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0.1777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0.2242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621040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EF33900-A573-48EF-8975-0A2C5750C40D}"/>
              </a:ext>
            </a:extLst>
          </p:cNvPr>
          <p:cNvSpPr/>
          <p:nvPr/>
        </p:nvSpPr>
        <p:spPr>
          <a:xfrm>
            <a:off x="2241494" y="1889775"/>
            <a:ext cx="2887375" cy="415036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15C8347-4427-434D-B5DF-732CAF98BB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0586" y="4345524"/>
            <a:ext cx="3029716" cy="1593756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2C322E94-D588-407C-BC30-BFC818A899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62" y="4331287"/>
            <a:ext cx="3038680" cy="1620841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5AB98D6-4D7B-4475-ADE8-0249AD610F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4830" y="1974868"/>
            <a:ext cx="2986798" cy="157740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40CE8EA7-DB91-45CD-B0B7-895B2582E3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1718" y="1990718"/>
            <a:ext cx="2983736" cy="157071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F65CAC3-189B-4520-92AF-759C40170BE7}"/>
              </a:ext>
            </a:extLst>
          </p:cNvPr>
          <p:cNvSpPr txBox="1"/>
          <p:nvPr/>
        </p:nvSpPr>
        <p:spPr>
          <a:xfrm>
            <a:off x="6261235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testdata_220712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670984A-6BC1-4FDC-8121-95FCFE0B9A94}"/>
              </a:ext>
            </a:extLst>
          </p:cNvPr>
          <p:cNvSpPr txBox="1"/>
          <p:nvPr/>
        </p:nvSpPr>
        <p:spPr>
          <a:xfrm>
            <a:off x="9409377" y="3605498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E140992-293D-49CE-BB2D-0A090D788F4A}"/>
              </a:ext>
            </a:extLst>
          </p:cNvPr>
          <p:cNvSpPr txBox="1"/>
          <p:nvPr/>
        </p:nvSpPr>
        <p:spPr>
          <a:xfrm>
            <a:off x="6261235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E5E3A12-5140-46EE-91C9-23AA19E0DB22}"/>
              </a:ext>
            </a:extLst>
          </p:cNvPr>
          <p:cNvSpPr txBox="1"/>
          <p:nvPr/>
        </p:nvSpPr>
        <p:spPr>
          <a:xfrm>
            <a:off x="9417592" y="6040135"/>
            <a:ext cx="12684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54236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378243" y="2705725"/>
            <a:ext cx="543551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2-2. </a:t>
            </a:r>
            <a:r>
              <a:rPr lang="ko-KR" altLang="en-US" sz="4400" b="1" dirty="0">
                <a:latin typeface="+mj-ea"/>
                <a:ea typeface="+mj-ea"/>
              </a:rPr>
              <a:t>관심 수위 이상</a:t>
            </a:r>
            <a:endParaRPr lang="en-US" altLang="ko-KR" sz="4400" b="1" dirty="0">
              <a:latin typeface="+mj-ea"/>
              <a:ea typeface="+mj-ea"/>
            </a:endParaRPr>
          </a:p>
          <a:p>
            <a:pPr algn="ctr"/>
            <a:r>
              <a:rPr lang="en-US" altLang="ko-KR" sz="4400" b="1" dirty="0" err="1">
                <a:latin typeface="+mj-ea"/>
                <a:ea typeface="+mj-ea"/>
              </a:rPr>
              <a:t>Testdata</a:t>
            </a:r>
            <a:r>
              <a:rPr lang="en-US" altLang="ko-KR" sz="4400" b="1" dirty="0">
                <a:latin typeface="+mj-ea"/>
                <a:ea typeface="+mj-ea"/>
              </a:rPr>
              <a:t> </a:t>
            </a:r>
            <a:r>
              <a:rPr lang="ko-KR" altLang="en-US" sz="4400" b="1" dirty="0">
                <a:latin typeface="+mj-ea"/>
                <a:ea typeface="+mj-ea"/>
              </a:rPr>
              <a:t>증강</a:t>
            </a:r>
            <a:endParaRPr lang="en-US" altLang="ko-KR" sz="44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D252BC-12C5-48A5-8DC1-6EBC4C8E585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/dg)_wl18_2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747955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61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6</a:t>
            </a:r>
            <a:r>
              <a:rPr lang="ko-KR" altLang="en-US" sz="1600" dirty="0"/>
              <a:t>개 </a:t>
            </a:r>
            <a:r>
              <a:rPr lang="en-US" altLang="ko-KR" sz="1600" dirty="0"/>
              <a:t>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294931562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8994508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(4937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0.0481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0.0322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0.0686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0.978650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0.979667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6.814979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1266679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(1249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0.0708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0.0549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0.0963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0.941805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0.947482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5.596691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5515864"/>
              </p:ext>
            </p:extLst>
          </p:nvPr>
        </p:nvGraphicFramePr>
        <p:xfrm>
          <a:off x="6951132" y="5500395"/>
          <a:ext cx="38582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(594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0.0472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0.0343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0.0766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0.943811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0.949195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6.698679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44" y="3756420"/>
            <a:ext cx="5326490" cy="176280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43079-8C41-4D96-9126-885F7E9D1484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A57051-5EE2-47BB-A552-71B167E2E77F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/dg)_wl18_2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36542784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0612" y="4478131"/>
            <a:ext cx="2689424" cy="1422484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1115" y="1158913"/>
            <a:ext cx="2676918" cy="140956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656" y="2814676"/>
            <a:ext cx="2686989" cy="141618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114626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0.9353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0.0136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0.0837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0.1169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0.2652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0.0291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0.1272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0.1707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0.8690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0.0366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0.1914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323231FC-8EAD-48CE-858D-DC3398F184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5335"/>
            <a:ext cx="2813219" cy="729569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340B0D13-C87B-4AC0-B9FF-B72A6FF789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4316"/>
            <a:ext cx="2759745" cy="71506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1FF36C2-1AEC-42D1-9262-5EC65618A30C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A21FE7-BBB0-4F0F-9265-D0AA0C49B197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08C60607-399C-4A71-8BCF-26A4AE4F22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7834"/>
            <a:ext cx="2760371" cy="700756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FEB4EA7-EF1F-4D00-AEC9-E4E5716C0382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7077516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0612" y="4486456"/>
            <a:ext cx="2689424" cy="140583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1115" y="1166398"/>
            <a:ext cx="2676918" cy="139459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656" y="2814785"/>
            <a:ext cx="2686989" cy="1415964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7159996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</a:t>
                      </a:r>
                      <a:endParaRPr lang="en-US" altLang="ko-KR" sz="1400" dirty="0"/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</a:p>
                    <a:p>
                      <a:pPr algn="ctr"/>
                      <a:r>
                        <a:rPr lang="pt-BR" altLang="ko-KR" sz="1400" dirty="0"/>
                        <a:t>rmse 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0.7039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0.0296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0.1295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0.1723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0.4391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0.0395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0.1522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0.1988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F38CCEE3-61C5-4A7F-ADEB-944E297E35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42EBBF7E-21B3-415D-9D34-3A5A71240F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7228"/>
            <a:ext cx="2759745" cy="70924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5B7ADD7-1A25-4461-B398-5CDFDA8A2657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AA9BCA-E616-4F53-B2D6-A9A5F1887121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E684F68E-F078-47EF-BEE3-83C7143B189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6735"/>
            <a:ext cx="2760371" cy="722954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D6A0000-0D41-489D-9B39-1492B01A648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6DF57240-396B-4E29-9E35-092C6BDBC62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1514031"/>
            <a:ext cx="2813219" cy="732286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9756A79-25F5-4647-AF64-6B7B60934EB0}"/>
              </a:ext>
            </a:extLst>
          </p:cNvPr>
          <p:cNvSpPr/>
          <p:nvPr/>
        </p:nvSpPr>
        <p:spPr>
          <a:xfrm>
            <a:off x="9108938" y="1159933"/>
            <a:ext cx="2730822" cy="13955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346407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827" y="3740959"/>
            <a:ext cx="5386124" cy="179372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43079-8C41-4D96-9126-885F7E9D1484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BE82BF-5846-4009-B5AD-F7F638F671F4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4F7F306F-7BAC-432B-A954-028D3F8107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9075440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(4937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0.0780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0.0275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0.1126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0.983367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0.983731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6.069073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3816161E-16CF-43DE-AE7D-129E16DAB6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7565594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(1249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0.0972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0.0362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0.1324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0.955390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0.955707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3.890129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9FC4B711-C2F3-4021-ADBE-4AD9C1045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2675148"/>
              </p:ext>
            </p:extLst>
          </p:nvPr>
        </p:nvGraphicFramePr>
        <p:xfrm>
          <a:off x="6951132" y="5500395"/>
          <a:ext cx="38582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(594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0.0829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0.0307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0.1280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0.936055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0.938276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6.933598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7154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1598" y="4483253"/>
            <a:ext cx="2687453" cy="1412240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2096" y="1160269"/>
            <a:ext cx="2674956" cy="1406849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0640" y="2813175"/>
            <a:ext cx="2685020" cy="1419185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9393506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0.9182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0.0498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0.1637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0.2233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0.4487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0.0771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0.2441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0.2778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0.8872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0.1026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0.2578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0.3203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057E6BF9-DFD9-4E23-8251-8654EA5DC6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18728"/>
            <a:ext cx="2813219" cy="74278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C94EA93F-F59C-482F-B16E-C517FF367E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5B2180F-C470-4C20-BB25-A04B5366FCEA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A58C66-AB0C-4803-B13B-CF50311EC95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1AAE37F-EC1E-4535-8CEE-DE8214C8339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60" y="1531712"/>
            <a:ext cx="2760371" cy="7130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2B549526-6583-4DBF-B1C3-1A8CCBD73BC8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55017928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1598" y="4482517"/>
            <a:ext cx="2687453" cy="1413712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2096" y="1162248"/>
            <a:ext cx="2674956" cy="140289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0640" y="2817286"/>
            <a:ext cx="2685020" cy="141096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0587950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</a:t>
                      </a:r>
                      <a:endParaRPr lang="en-US" altLang="ko-KR" sz="1400" dirty="0"/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</a:p>
                    <a:p>
                      <a:pPr algn="ctr"/>
                      <a:r>
                        <a:rPr lang="pt-BR" altLang="ko-KR" sz="1400" dirty="0"/>
                        <a:t>rmse 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0.9720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0.0129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0.0860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0.1136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0.8273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0.0599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0.1907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0.2448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53047BD1-3AB9-45C2-A5C1-D89B4A952B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4D1CC508-FCD6-4486-8838-4403BEDBC3B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2586"/>
            <a:ext cx="2759745" cy="69852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D69D46C-A27D-4E29-B1E3-78421E440EE8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EFF8E4-4FD9-452B-B2DC-1ABEBC12C4B2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59A9B8A6-90C2-4CF8-8123-4D2AD766916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145"/>
            <a:ext cx="2760371" cy="70013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24A1D03-B909-43A2-A292-0305C5365530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9FA40EE9-0E60-499E-AD69-390A12871FB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7638" y="1524205"/>
            <a:ext cx="2802229" cy="707886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35F5D453-CD09-47FB-823F-B22B5C80D450}"/>
              </a:ext>
            </a:extLst>
          </p:cNvPr>
          <p:cNvSpPr/>
          <p:nvPr/>
        </p:nvSpPr>
        <p:spPr>
          <a:xfrm>
            <a:off x="9108938" y="1159933"/>
            <a:ext cx="2730822" cy="13955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057064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378243" y="2367171"/>
            <a:ext cx="543551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2-3. 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관심 수위 이상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  <a:p>
            <a:pPr algn="ctr"/>
            <a:r>
              <a:rPr lang="en-US" altLang="ko-KR" sz="4400" b="1" dirty="0" err="1">
                <a:highlight>
                  <a:srgbClr val="FFFF00"/>
                </a:highlight>
                <a:latin typeface="+mj-ea"/>
                <a:ea typeface="+mj-ea"/>
              </a:rPr>
              <a:t>Testdata</a:t>
            </a:r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 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증강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  <a:p>
            <a:pPr algn="ctr"/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MAE + 0.0005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D252BC-12C5-48A5-8DC1-6EBC4C8E585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06534604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61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r>
              <a:rPr lang="en-US" altLang="ko-KR" sz="1600" dirty="0"/>
              <a:t> </a:t>
            </a:r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6</a:t>
            </a:r>
            <a:r>
              <a:rPr lang="ko-KR" altLang="en-US" sz="1600" dirty="0"/>
              <a:t>개 </a:t>
            </a:r>
            <a:r>
              <a:rPr lang="en-US" altLang="ko-KR" sz="1600" dirty="0"/>
              <a:t>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MAE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36779414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F37C692-0D2E-44D5-8AE7-B05779A9F1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9078938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(5079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0.0527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0.0349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0.0808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0.970485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0.971132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6.131354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08A13AB-CF40-41FC-85F4-AA63438CD5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6942802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(1404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0.0649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0.0463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0.0974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0.938086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0.942190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3.555444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F3AC006-682A-4D96-B009-F19CB094C0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8416311"/>
              </p:ext>
            </p:extLst>
          </p:nvPr>
        </p:nvGraphicFramePr>
        <p:xfrm>
          <a:off x="6951132" y="5500395"/>
          <a:ext cx="38582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(297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0.0403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0.0290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0.0732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0.931818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0.935694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0.423962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44" y="3756439"/>
            <a:ext cx="5326490" cy="176276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43079-8C41-4D96-9126-885F7E9D1484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A57051-5EE2-47BB-A552-71B167E2E77F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44442518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3825" y="5407728"/>
            <a:ext cx="2140858" cy="1131111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1660" y="1392322"/>
            <a:ext cx="2152473" cy="1127719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55809"/>
            <a:ext cx="2141986" cy="112941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3E8161-D5E7-4DD8-B31B-C6601D0D70F1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/dg)_wl18_3_2</a:t>
            </a:r>
            <a:endParaRPr lang="ko-KR" altLang="en-US" sz="1050" dirty="0">
              <a:latin typeface="+mj-ea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2638010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4648144"/>
            <a:ext cx="4475270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98FED2-F8F6-49BA-AF97-1E9007C8CF91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3CF90643-C222-4143-9FDB-55C494E1AC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4889385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0.9656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0.0072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0.0558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0.0852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0.4201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0.0230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0.1139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0.1516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0.8622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0.0385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0.1486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0.1963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6" name="직사각형 25">
            <a:extLst>
              <a:ext uri="{FF2B5EF4-FFF2-40B4-BE49-F238E27FC236}">
                <a16:creationId xmlns:a16="http://schemas.microsoft.com/office/drawing/2014/main" id="{F849698A-7809-464B-946B-701ED27E3333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0085531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0304"/>
            <a:ext cx="2144214" cy="1125957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407238"/>
            <a:ext cx="2138738" cy="1097885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64375"/>
            <a:ext cx="2141986" cy="111227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3E8161-D5E7-4DD8-B31B-C6601D0D70F1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/dg)_wl18_3_2</a:t>
            </a:r>
            <a:endParaRPr lang="ko-KR" altLang="en-US" sz="1050" dirty="0">
              <a:latin typeface="+mj-ea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38495"/>
            <a:ext cx="4431036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2638010"/>
            <a:ext cx="4437903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4648144"/>
            <a:ext cx="4431036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5140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5927"/>
            <a:ext cx="2103138" cy="108647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4932"/>
            <a:ext cx="2105029" cy="109400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2D5D1C-9809-4303-96FC-619DAE6D885A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FA09D528-68C1-4E00-B740-1E8B998599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156445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0.7308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0.0217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0.0962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0.1475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0.7947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0.0205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0.1435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0.5087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0.0346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0.1446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0.1861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2928A60B-580D-477C-897D-E296A914934A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2F151847-2CFD-4C77-9140-682275F9E0F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41227"/>
            <a:ext cx="4431036" cy="675611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CF7D82CF-91E0-4C52-A8EA-2ACBF965A2C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403711"/>
            <a:ext cx="2138738" cy="1104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62758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9DB7C3-A352-4434-832E-7169C75AB765}"/>
              </a:ext>
            </a:extLst>
          </p:cNvPr>
          <p:cNvSpPr txBox="1"/>
          <p:nvPr/>
        </p:nvSpPr>
        <p:spPr>
          <a:xfrm>
            <a:off x="1346199" y="1786468"/>
            <a:ext cx="86021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Train : Valid : Test = 7 : 2 : 1 </a:t>
            </a:r>
            <a:r>
              <a:rPr lang="ko-KR" altLang="en-US" dirty="0"/>
              <a:t>비율로 학습 진행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B8BFE22-A6DD-4A55-8213-16C5AD40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4477" y="3740959"/>
            <a:ext cx="5278824" cy="179372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545FBF0-BD23-47BA-AE23-A9041F51CCD9}"/>
              </a:ext>
            </a:extLst>
          </p:cNvPr>
          <p:cNvSpPr txBox="1"/>
          <p:nvPr/>
        </p:nvSpPr>
        <p:spPr>
          <a:xfrm>
            <a:off x="900984" y="3109677"/>
            <a:ext cx="1740616" cy="402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200" dirty="0">
                <a:latin typeface="+mj-ea"/>
              </a:rPr>
              <a:t>Train Chart</a:t>
            </a:r>
            <a:endParaRPr lang="ko-KR" altLang="en-US" sz="1200" dirty="0">
              <a:latin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E70C8B-0378-41AB-8FAC-941DC946C20B}"/>
              </a:ext>
            </a:extLst>
          </p:cNvPr>
          <p:cNvSpPr txBox="1"/>
          <p:nvPr/>
        </p:nvSpPr>
        <p:spPr>
          <a:xfrm>
            <a:off x="6823157" y="2491201"/>
            <a:ext cx="2312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일괄 예측 수행 결과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B43079-8C41-4D96-9126-885F7E9D1484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-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BE82BF-5846-4009-B5AD-F7F638F671F4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DB2A5745-8543-4D4B-BA55-F41607AADA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7154377"/>
              </p:ext>
            </p:extLst>
          </p:nvPr>
        </p:nvGraphicFramePr>
        <p:xfrm>
          <a:off x="6951132" y="3017967"/>
          <a:ext cx="39090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Train</a:t>
                      </a:r>
                    </a:p>
                    <a:p>
                      <a:pPr latinLnBrk="1"/>
                      <a:r>
                        <a:rPr lang="en-US" altLang="ko-KR" sz="800" dirty="0"/>
                        <a:t>(5079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0.0478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0.0164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0.0752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0.992509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0.992542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1.779686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DCAD51C5-07C6-4716-82F0-4FB8EE012D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9497642"/>
              </p:ext>
            </p:extLst>
          </p:nvPr>
        </p:nvGraphicFramePr>
        <p:xfrm>
          <a:off x="6951132" y="4259181"/>
          <a:ext cx="3836035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734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Valid</a:t>
                      </a:r>
                    </a:p>
                    <a:p>
                      <a:pPr latinLnBrk="1"/>
                      <a:r>
                        <a:rPr lang="en-US" altLang="ko-KR" sz="800" dirty="0"/>
                        <a:t>(1404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0.0923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0.0332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0.1380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0.950117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0.951611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1.926420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E02085DF-B5D6-4DCD-A0B5-5C6008C629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745329"/>
              </p:ext>
            </p:extLst>
          </p:nvPr>
        </p:nvGraphicFramePr>
        <p:xfrm>
          <a:off x="6951132" y="5500395"/>
          <a:ext cx="3858260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595630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4845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5861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Test</a:t>
                      </a:r>
                    </a:p>
                    <a:p>
                      <a:pPr latinLnBrk="1"/>
                      <a:r>
                        <a:rPr lang="en-US" altLang="ko-KR" sz="800" dirty="0"/>
                        <a:t>(297 </a:t>
                      </a:r>
                      <a:r>
                        <a:rPr lang="ko-KR" altLang="en-US" sz="800" dirty="0"/>
                        <a:t>건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MAPE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RMSE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NSE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CoR2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QER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0.0502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0.0200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0.0801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0.961031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0.962256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1.172597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4576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1703"/>
            <a:ext cx="2144214" cy="112315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398355"/>
            <a:ext cx="2138738" cy="111565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1381" y="3361947"/>
            <a:ext cx="2123518" cy="11171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3E8161-D5E7-4DD8-B31B-C6601D0D70F1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/dg)_wl18_3_2</a:t>
            </a:r>
            <a:endParaRPr lang="ko-KR" altLang="en-US" sz="1050" dirty="0">
              <a:latin typeface="+mj-ea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2638010"/>
            <a:ext cx="4470400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2908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0425"/>
            <a:ext cx="2103138" cy="1097479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2748"/>
            <a:ext cx="2105029" cy="1098370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3B3C5CA-35D6-453B-B2A0-8C33E7CF1056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2954EC9B-E0F1-4DF8-B7B6-0AA5A419F1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328775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0.9086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0.0557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0.1438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0.2361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0.8939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0.0148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0.1218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0.9252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0.0680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0.2035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0.2608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4A70F720-33BC-4E79-99C1-39AC413364E1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10640428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3011" y="5414986"/>
            <a:ext cx="2122486" cy="1116592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8969" y="1412599"/>
            <a:ext cx="2117853" cy="1087164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1381" y="3369170"/>
            <a:ext cx="2123518" cy="110268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3E8161-D5E7-4DD8-B31B-C6601D0D70F1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/dg)_wl18_3_2</a:t>
            </a:r>
            <a:endParaRPr lang="ko-KR" altLang="en-US" sz="1050" dirty="0">
              <a:latin typeface="+mj-ea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8" y="638495"/>
            <a:ext cx="4470398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2638010"/>
            <a:ext cx="4470399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6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994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2087"/>
            <a:ext cx="2103138" cy="109415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48"/>
            <a:ext cx="2105029" cy="110837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4F539B-9632-4983-8850-7AAE8CF7E258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13956D11-1263-42BF-B188-F0DFD054ED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6626088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0.6749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0.0154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0.0960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0.1243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0.9579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0.0194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0.0938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0.1393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0.7833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0.2001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0.2742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EF72717E-A50D-4F31-A0FE-2757E7F367C6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473766E3-A978-4360-A900-167771E336B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8" y="640550"/>
            <a:ext cx="4470398" cy="676963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EF6A8B96-3FAB-45DF-9C12-E804BB88114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8969" y="1403554"/>
            <a:ext cx="2117853" cy="1105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12782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378243" y="2367171"/>
            <a:ext cx="543551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2-4. </a:t>
            </a:r>
            <a:r>
              <a:rPr lang="ko-KR" altLang="en-US" sz="4400" b="1" dirty="0">
                <a:latin typeface="+mj-ea"/>
                <a:ea typeface="+mj-ea"/>
              </a:rPr>
              <a:t>관심 수위 이상</a:t>
            </a:r>
            <a:endParaRPr lang="en-US" altLang="ko-KR" sz="4400" b="1" dirty="0">
              <a:latin typeface="+mj-ea"/>
              <a:ea typeface="+mj-ea"/>
            </a:endParaRPr>
          </a:p>
          <a:p>
            <a:pPr algn="ctr"/>
            <a:r>
              <a:rPr lang="en-US" altLang="ko-KR" sz="4400" b="1" dirty="0" err="1">
                <a:latin typeface="+mj-ea"/>
                <a:ea typeface="+mj-ea"/>
              </a:rPr>
              <a:t>Testdata</a:t>
            </a:r>
            <a:r>
              <a:rPr lang="en-US" altLang="ko-KR" sz="4400" b="1" dirty="0">
                <a:latin typeface="+mj-ea"/>
                <a:ea typeface="+mj-ea"/>
              </a:rPr>
              <a:t> </a:t>
            </a:r>
            <a:r>
              <a:rPr lang="ko-KR" altLang="en-US" sz="4400" b="1" dirty="0">
                <a:latin typeface="+mj-ea"/>
                <a:ea typeface="+mj-ea"/>
              </a:rPr>
              <a:t>증강</a:t>
            </a:r>
            <a:endParaRPr lang="en-US" altLang="ko-KR" sz="4400" b="1" dirty="0">
              <a:latin typeface="+mj-ea"/>
              <a:ea typeface="+mj-ea"/>
            </a:endParaRPr>
          </a:p>
          <a:p>
            <a:pPr algn="ctr"/>
            <a:r>
              <a:rPr lang="en-US" altLang="ko-KR" sz="4400" b="1" dirty="0">
                <a:latin typeface="+mj-ea"/>
                <a:ea typeface="+mj-ea"/>
              </a:rPr>
              <a:t>MSLE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D252BC-12C5-48A5-8DC1-6EBC4C8E585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</a:t>
            </a:r>
            <a:r>
              <a:rPr lang="en-US" altLang="ko-KR" sz="1050" dirty="0" err="1"/>
              <a:t>msle</a:t>
            </a:r>
            <a:endParaRPr lang="ko-KR" altLang="en-US" sz="1050" dirty="0">
              <a:latin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FF7955-C0D8-40F6-BC5D-3C67F7F33A42}"/>
              </a:ext>
            </a:extLst>
          </p:cNvPr>
          <p:cNvSpPr txBox="1"/>
          <p:nvPr/>
        </p:nvSpPr>
        <p:spPr>
          <a:xfrm>
            <a:off x="4555066" y="4490829"/>
            <a:ext cx="2937933" cy="6921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00000"/>
              </a:lnSpc>
            </a:pPr>
            <a:r>
              <a:rPr lang="ko-KR" altLang="en-US" sz="1050" dirty="0"/>
              <a:t>상대오차</a:t>
            </a:r>
            <a:r>
              <a:rPr lang="en-US" altLang="ko-KR" sz="1050" dirty="0"/>
              <a:t>(</a:t>
            </a:r>
            <a:r>
              <a:rPr lang="ko-KR" altLang="en-US" sz="1050" dirty="0"/>
              <a:t>비율</a:t>
            </a:r>
            <a:r>
              <a:rPr lang="en-US" altLang="ko-KR" sz="1050" dirty="0"/>
              <a:t>)</a:t>
            </a:r>
            <a:r>
              <a:rPr lang="ko-KR" altLang="en-US" sz="1050" dirty="0"/>
              <a:t>를 더 중요하게 봄</a:t>
            </a:r>
            <a:endParaRPr lang="en-US" altLang="ko-KR" sz="1050" dirty="0"/>
          </a:p>
          <a:p>
            <a:pPr algn="ctr">
              <a:lnSpc>
                <a:spcPct val="200000"/>
              </a:lnSpc>
            </a:pPr>
            <a:r>
              <a:rPr lang="ko-KR" altLang="en-US" sz="1050" dirty="0"/>
              <a:t>값이 클수록 절대오차보다 비율 오차에 민감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9838501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61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6</a:t>
            </a:r>
            <a:r>
              <a:rPr lang="ko-KR" altLang="en-US" sz="1600" dirty="0"/>
              <a:t>개 </a:t>
            </a:r>
            <a:r>
              <a:rPr lang="en-US" altLang="ko-KR" sz="1600" dirty="0"/>
              <a:t>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MSLE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320796978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0612" y="4486328"/>
            <a:ext cx="2689424" cy="1406088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1115" y="1163256"/>
            <a:ext cx="2676918" cy="1400874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MSLE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2237" y="2826551"/>
            <a:ext cx="2681827" cy="139243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4328178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0.9132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0.0183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0.0952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0.1354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0.7455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0.0100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0.0840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0.1004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0.8928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0.0299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0.1190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0.1731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323231FC-8EAD-48CE-858D-DC3398F1840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25335"/>
            <a:ext cx="2813219" cy="729569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340B0D13-C87B-4AC0-B9FF-B72A6FF789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4316"/>
            <a:ext cx="2759745" cy="71506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1FF36C2-1AEC-42D1-9262-5EC65618A30C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A21FE7-BBB0-4F0F-9265-D0AA0C49B197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08C60607-399C-4A71-8BCF-26A4AE4F22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7834"/>
            <a:ext cx="2760371" cy="700756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FEB4EA7-EF1F-4D00-AEC9-E4E5716C0382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84471100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2825" y="4486456"/>
            <a:ext cx="2664998" cy="140583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8959" y="1166398"/>
            <a:ext cx="2641229" cy="139459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666F396-617E-4A87-B71B-140F779486DE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</a:t>
            </a:r>
            <a:r>
              <a:rPr lang="en-US" altLang="ko-KR" sz="2000" dirty="0">
                <a:latin typeface="+mj-ea"/>
              </a:rPr>
              <a:t> </a:t>
            </a:r>
            <a:r>
              <a:rPr lang="en-US" altLang="ko-KR" sz="2000" b="1" dirty="0">
                <a:latin typeface="+mn-ea"/>
              </a:rPr>
              <a:t>MSLE</a:t>
            </a:r>
            <a:endParaRPr lang="en-US" altLang="ko-KR" sz="2000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6827" y="2823758"/>
            <a:ext cx="2652647" cy="139801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3165793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</a:t>
                      </a:r>
                      <a:endParaRPr lang="en-US" altLang="ko-KR" sz="1400" dirty="0"/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</a:p>
                    <a:p>
                      <a:pPr algn="ctr"/>
                      <a:r>
                        <a:rPr lang="pt-BR" altLang="ko-KR" sz="1400" dirty="0"/>
                        <a:t>rmse 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0.6664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0.0334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0.1392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0.1829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0.6655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0.0235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0.1183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0.1535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F38CCEE3-61C5-4A7F-ADEB-944E297E35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42EBBF7E-21B3-415D-9D34-3A5A71240F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57228"/>
            <a:ext cx="2759745" cy="70924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5B7ADD7-1A25-4461-B398-5CDFDA8A2657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AA9BCA-E616-4F53-B2D6-A9A5F1887121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250814</a:t>
            </a:r>
            <a:endParaRPr lang="ko-KR" altLang="en-US" sz="1000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E684F68E-F078-47EF-BEE3-83C7143B189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26735"/>
            <a:ext cx="2760371" cy="722954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D6A0000-0D41-489D-9B39-1492B01A648D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6CE6C77-8217-4D53-81F6-5903D78CBC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1514031"/>
            <a:ext cx="2813219" cy="732286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FC8ECE7B-07AD-4901-8042-74728C8B0664}"/>
              </a:ext>
            </a:extLst>
          </p:cNvPr>
          <p:cNvSpPr/>
          <p:nvPr/>
        </p:nvSpPr>
        <p:spPr>
          <a:xfrm>
            <a:off x="9108938" y="1159933"/>
            <a:ext cx="2730822" cy="13955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461333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MSLE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650" y="4486049"/>
            <a:ext cx="2657348" cy="1406648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2096" y="1167515"/>
            <a:ext cx="2674956" cy="1392356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0640" y="2818422"/>
            <a:ext cx="2685020" cy="1408689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8879073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0.9057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0.0575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0.1462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0.2398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0.7552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0.0342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0.1560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0.1851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0.7906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0.1905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0.3216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0.4364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057E6BF9-DFD9-4E23-8251-8654EA5DC6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18728"/>
            <a:ext cx="2813219" cy="74278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C94EA93F-F59C-482F-B16E-C517FF367E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0790"/>
            <a:ext cx="2759745" cy="7021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5B2180F-C470-4C20-BB25-A04B5366FCEA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A58C66-AB0C-4803-B13B-CF50311EC95A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230711</a:t>
            </a:r>
            <a:endParaRPr lang="ko-KR" altLang="en-US" sz="1000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D1AAE37F-EC1E-4535-8CEE-DE8214C8339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60" y="1531712"/>
            <a:ext cx="2760371" cy="7130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2B549526-6583-4DBF-B1C3-1A8CCBD73BC8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testdata_200802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58879165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9B776D31-284F-4F08-950F-9807E063D9D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MSLE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E87E734D-7867-4F4B-9B05-C0592F902E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3140" y="4485948"/>
            <a:ext cx="2684369" cy="140684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2D05DC6D-C83E-4CF9-AB68-6780D1156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0011" y="1172320"/>
            <a:ext cx="2659126" cy="138274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A89996B-061A-4418-B92F-831B2372929B}"/>
              </a:ext>
            </a:extLst>
          </p:cNvPr>
          <p:cNvSpPr txBox="1"/>
          <p:nvPr/>
        </p:nvSpPr>
        <p:spPr>
          <a:xfrm>
            <a:off x="9947618" y="25426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2DA0F4-F1F9-405E-9A00-2E9B260BF13E}"/>
              </a:ext>
            </a:extLst>
          </p:cNvPr>
          <p:cNvSpPr txBox="1"/>
          <p:nvPr/>
        </p:nvSpPr>
        <p:spPr>
          <a:xfrm>
            <a:off x="9869660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ABC9892-D129-48AE-9865-AD9D46CB4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8938" y="2824997"/>
            <a:ext cx="2648424" cy="1395540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5B7114F2-FB54-4FA0-8882-AC4A7DF14901}"/>
              </a:ext>
            </a:extLst>
          </p:cNvPr>
          <p:cNvSpPr txBox="1"/>
          <p:nvPr/>
        </p:nvSpPr>
        <p:spPr>
          <a:xfrm>
            <a:off x="10020441" y="4250632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4A02C064-49E7-4B25-8EDD-3158FF4F2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4099993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</a:t>
                      </a:r>
                      <a:endParaRPr lang="en-US" altLang="ko-KR" sz="1400" dirty="0"/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</a:p>
                    <a:p>
                      <a:pPr algn="ctr"/>
                      <a:r>
                        <a:rPr lang="pt-BR" altLang="ko-KR" sz="1400" dirty="0"/>
                        <a:t>rmse 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0.9174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0.0381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0.1320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0.1951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0.7456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0.0882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0.2280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0.2971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42" name="직사각형 41">
            <a:extLst>
              <a:ext uri="{FF2B5EF4-FFF2-40B4-BE49-F238E27FC236}">
                <a16:creationId xmlns:a16="http://schemas.microsoft.com/office/drawing/2014/main" id="{E106B5F0-BE5F-484D-88D9-D75BBF1A148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53047BD1-3AB9-45C2-A5C1-D89B4A952B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468" y="4834090"/>
            <a:ext cx="2813219" cy="712059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4D1CC508-FCD6-4486-8838-4403BEDBC3B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801" y="3162586"/>
            <a:ext cx="2759745" cy="69852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D69D46C-A27D-4E29-B1E3-78421E440EE8}"/>
              </a:ext>
            </a:extLst>
          </p:cNvPr>
          <p:cNvSpPr txBox="1"/>
          <p:nvPr/>
        </p:nvSpPr>
        <p:spPr>
          <a:xfrm>
            <a:off x="6745996" y="4256853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/>
              <a:t>testdata_250716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EFF8E4-4FD9-452B-B2DC-1ABEBC12C4B2}"/>
              </a:ext>
            </a:extLst>
          </p:cNvPr>
          <p:cNvSpPr txBox="1"/>
          <p:nvPr/>
        </p:nvSpPr>
        <p:spPr>
          <a:xfrm>
            <a:off x="6713303" y="594556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59A9B8A6-90C2-4CF8-8123-4D2AD766916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1159" y="1538145"/>
            <a:ext cx="2760371" cy="70013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24A1D03-B909-43A2-A292-0305C5365530}"/>
              </a:ext>
            </a:extLst>
          </p:cNvPr>
          <p:cNvSpPr txBox="1"/>
          <p:nvPr/>
        </p:nvSpPr>
        <p:spPr>
          <a:xfrm>
            <a:off x="6749388" y="256711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testdata_240723</a:t>
            </a:r>
            <a:endParaRPr lang="ko-KR" altLang="en-US" sz="1000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0967BE39-0503-4C9C-BD49-1FFDF08101C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7638" y="1524205"/>
            <a:ext cx="2802229" cy="707886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3C7A4E3A-13AD-4710-BA48-E5DCA98ACD67}"/>
              </a:ext>
            </a:extLst>
          </p:cNvPr>
          <p:cNvSpPr/>
          <p:nvPr/>
        </p:nvSpPr>
        <p:spPr>
          <a:xfrm>
            <a:off x="9108938" y="1159933"/>
            <a:ext cx="2684369" cy="139554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082619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378243" y="2367171"/>
            <a:ext cx="543551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2-5. 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관심 수위 이상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  <a:p>
            <a:pPr algn="ctr"/>
            <a:r>
              <a:rPr lang="en-US" altLang="ko-KR" sz="4400" b="1" dirty="0" err="1">
                <a:highlight>
                  <a:srgbClr val="FFFF00"/>
                </a:highlight>
                <a:latin typeface="+mj-ea"/>
                <a:ea typeface="+mj-ea"/>
              </a:rPr>
              <a:t>Testdata</a:t>
            </a:r>
            <a:r>
              <a:rPr lang="en-US" altLang="ko-KR" sz="4400" b="1" dirty="0">
                <a:highlight>
                  <a:srgbClr val="FFFF00"/>
                </a:highlight>
                <a:latin typeface="+mj-ea"/>
                <a:ea typeface="+mj-ea"/>
              </a:rPr>
              <a:t> </a:t>
            </a:r>
            <a:r>
              <a:rPr lang="ko-KR" altLang="en-US" sz="4400" b="1" dirty="0">
                <a:highlight>
                  <a:srgbClr val="FFFF00"/>
                </a:highlight>
                <a:latin typeface="+mj-ea"/>
                <a:ea typeface="+mj-ea"/>
              </a:rPr>
              <a:t>증강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  <a:p>
            <a:pPr algn="ctr"/>
            <a:r>
              <a:rPr lang="en-US" altLang="ko-KR" sz="4400" b="1" dirty="0" err="1">
                <a:highlight>
                  <a:srgbClr val="FFFF00"/>
                </a:highlight>
                <a:latin typeface="+mj-ea"/>
                <a:ea typeface="+mj-ea"/>
              </a:rPr>
              <a:t>huber</a:t>
            </a:r>
            <a:endParaRPr lang="en-US" altLang="ko-KR" sz="4400" b="1" dirty="0">
              <a:highlight>
                <a:srgbClr val="FFFF00"/>
              </a:highlight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D252BC-12C5-48A5-8DC1-6EBC4C8E585A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</a:t>
            </a:r>
            <a:r>
              <a:rPr lang="en-US" altLang="ko-KR" sz="1050" dirty="0" err="1"/>
              <a:t>huber</a:t>
            </a:r>
            <a:endParaRPr lang="ko-KR" altLang="en-US" sz="1050" dirty="0">
              <a:latin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FEFCE7-A43C-44ED-BFEA-D3057137FF5B}"/>
              </a:ext>
            </a:extLst>
          </p:cNvPr>
          <p:cNvSpPr txBox="1"/>
          <p:nvPr/>
        </p:nvSpPr>
        <p:spPr>
          <a:xfrm>
            <a:off x="4555066" y="4490829"/>
            <a:ext cx="2937933" cy="6921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00000"/>
              </a:lnSpc>
            </a:pPr>
            <a:r>
              <a:rPr lang="ko-KR" altLang="en-US" sz="1050" dirty="0"/>
              <a:t>작은 오차는 </a:t>
            </a:r>
            <a:r>
              <a:rPr lang="en-US" altLang="ko-KR" sz="1050" dirty="0"/>
              <a:t>MSE</a:t>
            </a:r>
            <a:r>
              <a:rPr lang="ko-KR" altLang="en-US" sz="1050" dirty="0"/>
              <a:t>처럼 부드럽게</a:t>
            </a:r>
            <a:r>
              <a:rPr lang="en-US" altLang="ko-KR" sz="1050" dirty="0"/>
              <a:t>,</a:t>
            </a:r>
          </a:p>
          <a:p>
            <a:pPr algn="ctr">
              <a:lnSpc>
                <a:spcPct val="200000"/>
              </a:lnSpc>
            </a:pPr>
            <a:r>
              <a:rPr lang="ko-KR" altLang="en-US" sz="1050" dirty="0"/>
              <a:t>큰 오차</a:t>
            </a:r>
            <a:r>
              <a:rPr lang="en-US" altLang="ko-KR" sz="1050" dirty="0"/>
              <a:t>(</a:t>
            </a:r>
            <a:r>
              <a:rPr lang="ko-KR" altLang="en-US" sz="1050" dirty="0"/>
              <a:t>이상치</a:t>
            </a:r>
            <a:r>
              <a:rPr lang="en-US" altLang="ko-KR" sz="1050" dirty="0"/>
              <a:t>)</a:t>
            </a:r>
            <a:r>
              <a:rPr lang="ko-KR" altLang="en-US" sz="1050" dirty="0"/>
              <a:t>는 </a:t>
            </a:r>
            <a:r>
              <a:rPr lang="en-US" altLang="ko-KR" sz="1050" dirty="0"/>
              <a:t>MAE</a:t>
            </a:r>
            <a:r>
              <a:rPr lang="ko-KR" altLang="en-US" sz="1050" dirty="0"/>
              <a:t>처럼 강건하게</a:t>
            </a:r>
            <a:endParaRPr lang="ko-KR" altLang="en-US" sz="105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36629971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A47AD-0990-45A0-AE11-480760BE19D1}"/>
              </a:ext>
            </a:extLst>
          </p:cNvPr>
          <p:cNvSpPr txBox="1"/>
          <p:nvPr/>
        </p:nvSpPr>
        <p:spPr>
          <a:xfrm>
            <a:off x="1109130" y="5289148"/>
            <a:ext cx="79755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학습 </a:t>
            </a:r>
            <a:r>
              <a:rPr lang="en-US" altLang="ko-KR" sz="1600" dirty="0"/>
              <a:t>, </a:t>
            </a:r>
            <a:r>
              <a:rPr lang="ko-KR" altLang="en-US" sz="1600" dirty="0"/>
              <a:t>검증  </a:t>
            </a:r>
            <a:r>
              <a:rPr lang="en-US" altLang="ko-KR" sz="1600" dirty="0"/>
              <a:t>: </a:t>
            </a:r>
            <a:r>
              <a:rPr lang="ko-KR" altLang="en-US" sz="1600" dirty="0"/>
              <a:t>총 </a:t>
            </a:r>
            <a:r>
              <a:rPr lang="en-US" altLang="ko-KR" sz="1600" dirty="0"/>
              <a:t>67</a:t>
            </a:r>
            <a:r>
              <a:rPr lang="ko-KR" altLang="en-US" sz="1600" dirty="0"/>
              <a:t>개 中 </a:t>
            </a:r>
            <a:r>
              <a:rPr lang="en-US" altLang="ko-KR" sz="1600" dirty="0"/>
              <a:t>61</a:t>
            </a:r>
            <a:r>
              <a:rPr lang="ko-KR" altLang="en-US" sz="1600" dirty="0"/>
              <a:t>개 데이터 파일 사용</a:t>
            </a:r>
            <a:endParaRPr lang="en-US" altLang="ko-KR" sz="1600" dirty="0"/>
          </a:p>
          <a:p>
            <a:br>
              <a:rPr lang="en-US" altLang="ko-KR" sz="1600" dirty="0"/>
            </a:br>
            <a:r>
              <a:rPr lang="ko-KR" altLang="en-US" sz="1600" dirty="0"/>
              <a:t>테스트 </a:t>
            </a:r>
            <a:r>
              <a:rPr lang="en-US" altLang="ko-KR" sz="1600" dirty="0"/>
              <a:t>: </a:t>
            </a:r>
            <a:r>
              <a:rPr lang="ko-KR" altLang="en-US" sz="1600" dirty="0"/>
              <a:t>학습 데이터에서 제외한 </a:t>
            </a:r>
            <a:r>
              <a:rPr lang="en-US" altLang="ko-KR" sz="1600" dirty="0"/>
              <a:t>6</a:t>
            </a:r>
            <a:r>
              <a:rPr lang="ko-KR" altLang="en-US" sz="1600" dirty="0"/>
              <a:t>개 </a:t>
            </a:r>
            <a:r>
              <a:rPr lang="en-US" altLang="ko-KR" sz="1600" dirty="0"/>
              <a:t>+ </a:t>
            </a:r>
            <a:r>
              <a:rPr lang="ko-KR" altLang="en-US" sz="1600" dirty="0"/>
              <a:t>학습에서 검증에 사용된 </a:t>
            </a:r>
            <a:r>
              <a:rPr lang="en-US" altLang="ko-KR" sz="1600" dirty="0"/>
              <a:t>2</a:t>
            </a:r>
            <a:r>
              <a:rPr lang="ko-KR" altLang="en-US" sz="1600" dirty="0"/>
              <a:t>개 이벤트 사용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2550916 ~ 251006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Huber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</p:spTree>
    <p:extLst>
      <p:ext uri="{BB962C8B-B14F-4D97-AF65-F5344CB8AC3E}">
        <p14:creationId xmlns:p14="http://schemas.microsoft.com/office/powerpoint/2010/main" val="187942434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2864"/>
            <a:ext cx="2144214" cy="112083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341" y="1390626"/>
            <a:ext cx="2149110" cy="113111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64407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Huber + 0.0001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</a:rPr>
              <a:t>예측 코드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55405"/>
            <a:ext cx="2141986" cy="113021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638495"/>
            <a:ext cx="4468718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2638010"/>
            <a:ext cx="4468718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2" y="4648144"/>
            <a:ext cx="4468717" cy="689782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9FE234-C56E-46FE-8AF6-E623016959A2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/dg)_huber2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8D561D03-87A3-4C82-9658-157F38B10531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0.9436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0.0119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0.0800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0.1091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0.5280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0.0187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0.1057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0.1368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0.8739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</a:t>
                      </a:r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/>
                        <a:t>0352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0.1445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0.1878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D8399E11-0E4A-4099-99DB-3342A9B87CD2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23753A1C-52BC-4C73-90AF-B45DE9CF601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A4F6B4C7-898F-4BAD-97B4-69803FF78ED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8D2B7323-20F0-4314-9A8A-29951EC7080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09240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032" y="5409145"/>
            <a:ext cx="2134444" cy="112827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407238"/>
            <a:ext cx="2138738" cy="1097885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64091"/>
            <a:ext cx="2141986" cy="111284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30" y="638495"/>
            <a:ext cx="4431035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30" y="2638010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30" y="4648144"/>
            <a:ext cx="4431036" cy="689782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F70E481-046E-4B98-82EF-B0D0ED759E57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</a:t>
            </a:r>
            <a:r>
              <a:rPr lang="en-US" altLang="ko-KR" sz="2000" dirty="0">
                <a:latin typeface="+mj-ea"/>
              </a:rPr>
              <a:t>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Huber + 0.0001</a:t>
            </a:r>
            <a:endParaRPr lang="en-US" altLang="ko-KR" sz="2000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0FD2CC-37E5-4142-8319-5EB445310AEE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/dg)_huber2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9D5A683-7D0B-47E4-BD1C-B937527C7B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7318971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0.7258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0.0221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0.0855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0.1489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0.8570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0.0143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0.0951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0.1197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0.6947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0.0215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0.1217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0.1467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33" name="직사각형 32">
            <a:extLst>
              <a:ext uri="{FF2B5EF4-FFF2-40B4-BE49-F238E27FC236}">
                <a16:creationId xmlns:a16="http://schemas.microsoft.com/office/drawing/2014/main" id="{7E823A61-94CA-4EA3-A7A0-7BB3248FD102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58F65DA0-4EA8-40BF-9D12-4DD3D9DDC59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5140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9F78EEE0-55D4-445F-B4E5-B2A52E1489B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5927"/>
            <a:ext cx="2103138" cy="1086475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8BB3FB78-AEC1-440D-B727-8A714DBA34E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4932"/>
            <a:ext cx="2105029" cy="109400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FB692253-0F74-4DF4-BC1F-1E7B19D5D3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41227"/>
            <a:ext cx="4431036" cy="675611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26118DCC-2C52-445F-936E-17B282881F1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394234"/>
            <a:ext cx="2138738" cy="1123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44808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4579" y="5411703"/>
            <a:ext cx="2139350" cy="112315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8" y="1395920"/>
            <a:ext cx="2138736" cy="112052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3788" y="3361947"/>
            <a:ext cx="2118703" cy="11171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092" y="638495"/>
            <a:ext cx="4470399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093" y="2638010"/>
            <a:ext cx="4470398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092" y="4626987"/>
            <a:ext cx="4470399" cy="689782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65472D-B23E-48E1-AD68-7714330415E7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/dg)_huber2</a:t>
            </a:r>
            <a:endParaRPr lang="ko-KR" altLang="en-US" sz="1050" dirty="0">
              <a:latin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8387AB-FE52-4C83-A7B2-B3DBB02C00B0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Huber + 0.0001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FC38916C-0BFF-4A20-B514-C2C5CEC719D3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0.8583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0.0864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0.1800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0.2939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0.9114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0.0123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0.0931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0.1113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0.8354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0.1497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0.2952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0.3870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B560F6D5-68FA-4067-8B3B-14788F3865B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69ABB3DE-CA85-4681-9807-C54C13F2831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2908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B0D0F7A6-9609-4F28-8D11-91733628050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0425"/>
            <a:ext cx="2103138" cy="1097479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B61517F7-592B-47D7-B9D4-C91594A6340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2748"/>
            <a:ext cx="2105029" cy="109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09622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9441" y="5411703"/>
            <a:ext cx="2129625" cy="112315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0707" y="1413491"/>
            <a:ext cx="2114377" cy="108538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3050" y="3369170"/>
            <a:ext cx="2080179" cy="110268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638495"/>
            <a:ext cx="4453671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2638010"/>
            <a:ext cx="4453671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4626987"/>
            <a:ext cx="4453672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60006E6-4DC9-4D6B-A0F4-982942755965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/dg)_huber2</a:t>
            </a:r>
            <a:endParaRPr lang="ko-KR" altLang="en-US" sz="1050" dirty="0">
              <a:latin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FAB4AB1-D0CB-489C-8F65-9813869AC487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 err="1">
                <a:latin typeface="+mj-ea"/>
              </a:rPr>
              <a:t>testdata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ko-KR" altLang="en-US" sz="2000" b="1" dirty="0">
                <a:latin typeface="+mj-ea"/>
              </a:rPr>
              <a:t>증강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Huber + 0.0001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9367729-6572-4303-8483-24437287B6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8151990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0.5169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0.0229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0.1216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0.1515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0.9566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0.0200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0.1153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0.1414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0.7191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0.0974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0.2343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0.3122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996F11D0-7D12-42A1-BB2E-042E0567CC40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C9444A97-0014-4E52-96D5-B6D91F4AA8F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994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34A34667-D2C6-41BE-A6F2-E927AEDAB6C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2087"/>
            <a:ext cx="2103138" cy="1094155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4ED9013-2921-4D6D-927D-4E4015FB485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48"/>
            <a:ext cx="2105029" cy="1108371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BD6E3B4B-35A8-46B5-8AFA-947853C8231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8" y="640550"/>
            <a:ext cx="4470398" cy="676963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D95273BB-EF07-46EF-B727-1D82608A75C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0707" y="1399015"/>
            <a:ext cx="2114377" cy="1114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82902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1519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결론</a:t>
            </a:r>
            <a:endParaRPr lang="ko-KR" altLang="en-US" sz="12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9DC680-F0CF-4BBD-BD62-C9B6103562BC}"/>
              </a:ext>
            </a:extLst>
          </p:cNvPr>
          <p:cNvSpPr txBox="1"/>
          <p:nvPr/>
        </p:nvSpPr>
        <p:spPr>
          <a:xfrm>
            <a:off x="1382050" y="3429000"/>
            <a:ext cx="9427899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ko-KR" altLang="en-US" sz="2000" b="1" dirty="0">
                <a:latin typeface="+mj-ea"/>
              </a:rPr>
              <a:t>관심수위이상 중에는 </a:t>
            </a:r>
            <a:r>
              <a:rPr lang="en-US" altLang="ko-KR" sz="2000" b="1" dirty="0">
                <a:highlight>
                  <a:srgbClr val="FFFF00"/>
                </a:highlight>
                <a:latin typeface="+mj-ea"/>
              </a:rPr>
              <a:t>MAE</a:t>
            </a:r>
            <a:r>
              <a:rPr lang="en-US" altLang="ko-KR" sz="2000" b="1" dirty="0">
                <a:latin typeface="+mj-ea"/>
              </a:rPr>
              <a:t> ( </a:t>
            </a:r>
            <a:r>
              <a:rPr lang="ko-KR" altLang="en-US" sz="2000" b="1" dirty="0">
                <a:latin typeface="+mj-ea"/>
              </a:rPr>
              <a:t>피크</a:t>
            </a:r>
            <a:r>
              <a:rPr lang="en-US" altLang="ko-KR" sz="2000" b="1" dirty="0">
                <a:latin typeface="+mj-ea"/>
              </a:rPr>
              <a:t>/</a:t>
            </a:r>
            <a:r>
              <a:rPr lang="ko-KR" altLang="en-US" sz="2000" b="1" dirty="0">
                <a:latin typeface="+mj-ea"/>
              </a:rPr>
              <a:t>급변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ko-KR" altLang="en-US" sz="2000" b="1" dirty="0">
                <a:latin typeface="+mj-ea"/>
              </a:rPr>
              <a:t>평균 성능 모두 최고</a:t>
            </a:r>
            <a:r>
              <a:rPr lang="en-US" altLang="ko-KR" sz="2000" b="1" dirty="0">
                <a:latin typeface="+mj-ea"/>
              </a:rPr>
              <a:t> ) , 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en-US" altLang="ko-KR" sz="2000" b="1" dirty="0">
                <a:highlight>
                  <a:srgbClr val="FFFF00"/>
                </a:highlight>
                <a:latin typeface="+mj-ea"/>
              </a:rPr>
              <a:t>Huber</a:t>
            </a:r>
            <a:r>
              <a:rPr lang="en-US" altLang="ko-KR" sz="2000" b="1" dirty="0">
                <a:latin typeface="+mj-ea"/>
              </a:rPr>
              <a:t> ( MAE</a:t>
            </a:r>
            <a:r>
              <a:rPr lang="ko-KR" altLang="en-US" sz="2000" b="1" dirty="0">
                <a:latin typeface="+mj-ea"/>
              </a:rPr>
              <a:t>보다 이상치에 강함 </a:t>
            </a:r>
            <a:r>
              <a:rPr lang="en-US" altLang="ko-KR" sz="2000" b="1" dirty="0">
                <a:latin typeface="+mj-ea"/>
              </a:rPr>
              <a:t>, </a:t>
            </a:r>
            <a:r>
              <a:rPr lang="ko-KR" altLang="en-US" sz="2000" b="1" dirty="0">
                <a:latin typeface="+mj-ea"/>
              </a:rPr>
              <a:t>평균 </a:t>
            </a:r>
            <a:r>
              <a:rPr lang="en-US" altLang="ko-KR" sz="2000" b="1" dirty="0">
                <a:latin typeface="+mj-ea"/>
              </a:rPr>
              <a:t>MAE</a:t>
            </a:r>
            <a:r>
              <a:rPr lang="ko-KR" altLang="en-US" sz="2000" b="1" dirty="0">
                <a:latin typeface="+mj-ea"/>
              </a:rPr>
              <a:t>는 앞 실험 보다 약간 큼</a:t>
            </a:r>
            <a:r>
              <a:rPr lang="en-US" altLang="ko-KR" sz="2000" b="1" dirty="0">
                <a:latin typeface="+mj-ea"/>
              </a:rPr>
              <a:t> ) </a:t>
            </a:r>
            <a:r>
              <a:rPr lang="ko-KR" altLang="en-US" sz="2000" b="1" dirty="0">
                <a:latin typeface="+mj-ea"/>
              </a:rPr>
              <a:t>가 나음 </a:t>
            </a:r>
            <a:endParaRPr lang="en-US" altLang="ko-KR" sz="2000" b="1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697028098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6255</TotalTime>
  <Words>6295</Words>
  <Application>Microsoft Office PowerPoint</Application>
  <PresentationFormat>와이드스크린</PresentationFormat>
  <Paragraphs>1971</Paragraphs>
  <Slides>75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75</vt:i4>
      </vt:variant>
    </vt:vector>
  </HeadingPairs>
  <TitlesOfParts>
    <vt:vector size="81" baseType="lpstr">
      <vt:lpstr>맑은 고딕</vt:lpstr>
      <vt:lpstr>Arial</vt:lpstr>
      <vt:lpstr>Calibri</vt:lpstr>
      <vt:lpstr>Calibri Light</vt:lpstr>
      <vt:lpstr>Wingdings 2</vt:lpstr>
      <vt:lpstr>HDOfficeLightV0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magpie</dc:creator>
  <cp:lastModifiedBy>magpie</cp:lastModifiedBy>
  <cp:revision>880</cp:revision>
  <dcterms:created xsi:type="dcterms:W3CDTF">2025-11-18T00:02:37Z</dcterms:created>
  <dcterms:modified xsi:type="dcterms:W3CDTF">2026-01-19T02:54:05Z</dcterms:modified>
</cp:coreProperties>
</file>