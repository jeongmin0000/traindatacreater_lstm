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0" r:id="rId2"/>
    <p:sldId id="510" r:id="rId3"/>
    <p:sldId id="513" r:id="rId4"/>
    <p:sldId id="432" r:id="rId5"/>
    <p:sldId id="528" r:id="rId6"/>
    <p:sldId id="518" r:id="rId7"/>
    <p:sldId id="480" r:id="rId8"/>
    <p:sldId id="566" r:id="rId9"/>
    <p:sldId id="567" r:id="rId10"/>
    <p:sldId id="584" r:id="rId11"/>
    <p:sldId id="585" r:id="rId12"/>
    <p:sldId id="586" r:id="rId13"/>
    <p:sldId id="587" r:id="rId14"/>
    <p:sldId id="568" r:id="rId15"/>
    <p:sldId id="569" r:id="rId16"/>
    <p:sldId id="588" r:id="rId17"/>
    <p:sldId id="589" r:id="rId18"/>
    <p:sldId id="590" r:id="rId19"/>
    <p:sldId id="591" r:id="rId20"/>
    <p:sldId id="592" r:id="rId21"/>
    <p:sldId id="593" r:id="rId22"/>
    <p:sldId id="595" r:id="rId23"/>
    <p:sldId id="596" r:id="rId24"/>
    <p:sldId id="598" r:id="rId25"/>
    <p:sldId id="599" r:id="rId26"/>
    <p:sldId id="608" r:id="rId27"/>
    <p:sldId id="609" r:id="rId28"/>
    <p:sldId id="610" r:id="rId29"/>
    <p:sldId id="611" r:id="rId30"/>
    <p:sldId id="612" r:id="rId31"/>
    <p:sldId id="613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FECB4D8-DB02-4DC6-A0A2-4F2EBAE1DC90}" styleName="보통 스타일 1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561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82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4530"/>
            <a:ext cx="9144000" cy="2387600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0354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97031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12423"/>
            <a:ext cx="10515600" cy="2851208"/>
          </a:xfrm>
        </p:spPr>
        <p:txBody>
          <a:bodyPr anchor="b">
            <a:normAutofit/>
          </a:bodyPr>
          <a:lstStyle>
            <a:lvl1pPr>
              <a:defRPr sz="60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52633"/>
            <a:ext cx="105156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7069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5127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90867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681850"/>
            <a:ext cx="5156200" cy="825699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5127" y="2507550"/>
            <a:ext cx="5156200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851"/>
            <a:ext cx="5181601" cy="825698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7550"/>
            <a:ext cx="5181601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1387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5005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4824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197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399"/>
            <a:ext cx="3931920" cy="38100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67109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20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400"/>
            <a:ext cx="3931920" cy="38100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3604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8280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0362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0362"/>
            <a:ext cx="7734300" cy="581183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8409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5127" y="365760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828800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B72759B8-7332-44BD-B1FF-13450B6DA7DC}" type="datetimeFigureOut">
              <a:rPr lang="ko-KR" altLang="en-US" smtClean="0"/>
              <a:t>2026-01-14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8753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Wingdings 2" pitchFamily="18" charset="2"/>
        <a:buChar char="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20.png"/><Relationship Id="rId4" Type="http://schemas.openxmlformats.org/officeDocument/2006/relationships/image" Target="../media/image4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26.png"/><Relationship Id="rId4" Type="http://schemas.openxmlformats.org/officeDocument/2006/relationships/image" Target="../media/image4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32.png"/><Relationship Id="rId4" Type="http://schemas.openxmlformats.org/officeDocument/2006/relationships/image" Target="../media/image4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5" Type="http://schemas.openxmlformats.org/officeDocument/2006/relationships/image" Target="../media/image38.png"/><Relationship Id="rId4" Type="http://schemas.openxmlformats.org/officeDocument/2006/relationships/image" Target="../media/image51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7" Type="http://schemas.openxmlformats.org/officeDocument/2006/relationships/image" Target="../media/image56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7.png"/><Relationship Id="rId4" Type="http://schemas.openxmlformats.org/officeDocument/2006/relationships/image" Target="../media/image5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7" Type="http://schemas.openxmlformats.org/officeDocument/2006/relationships/image" Target="../media/image2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3.png"/><Relationship Id="rId4" Type="http://schemas.openxmlformats.org/officeDocument/2006/relationships/image" Target="../media/image5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7" Type="http://schemas.openxmlformats.org/officeDocument/2006/relationships/image" Target="../media/image34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29.png"/><Relationship Id="rId4" Type="http://schemas.openxmlformats.org/officeDocument/2006/relationships/image" Target="../media/image6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7" Type="http://schemas.openxmlformats.org/officeDocument/2006/relationships/image" Target="../media/image40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5.png"/><Relationship Id="rId4" Type="http://schemas.openxmlformats.org/officeDocument/2006/relationships/image" Target="../media/image65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7" Type="http://schemas.openxmlformats.org/officeDocument/2006/relationships/image" Target="../media/image56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7.png"/><Relationship Id="rId4" Type="http://schemas.openxmlformats.org/officeDocument/2006/relationships/image" Target="../media/image6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7" Type="http://schemas.openxmlformats.org/officeDocument/2006/relationships/image" Target="../media/image28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3.png"/><Relationship Id="rId4" Type="http://schemas.openxmlformats.org/officeDocument/2006/relationships/image" Target="../media/image7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7" Type="http://schemas.openxmlformats.org/officeDocument/2006/relationships/image" Target="../media/image34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29.png"/><Relationship Id="rId4" Type="http://schemas.openxmlformats.org/officeDocument/2006/relationships/image" Target="../media/image7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7" Type="http://schemas.openxmlformats.org/officeDocument/2006/relationships/image" Target="../media/image40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5.png"/><Relationship Id="rId4" Type="http://schemas.openxmlformats.org/officeDocument/2006/relationships/image" Target="../media/image7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747520" y="3044279"/>
            <a:ext cx="669695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  <a:ea typeface="+mj-ea"/>
              </a:rPr>
              <a:t>AI </a:t>
            </a:r>
            <a:r>
              <a:rPr lang="ko-KR" altLang="en-US" sz="4400" b="1" dirty="0">
                <a:latin typeface="+mj-ea"/>
                <a:ea typeface="+mj-ea"/>
              </a:rPr>
              <a:t>모델 성능 개선 결과</a:t>
            </a:r>
            <a:endParaRPr lang="ko-KR" altLang="en-US" sz="20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691215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801708" y="3044279"/>
            <a:ext cx="458858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400" b="1" dirty="0">
                <a:latin typeface="+mj-ea"/>
                <a:ea typeface="+mj-ea"/>
              </a:rPr>
              <a:t>전체 강우</a:t>
            </a:r>
            <a:endParaRPr lang="ko-KR" altLang="en-US" sz="20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2217633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8367899"/>
              </p:ext>
            </p:extLst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56557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1420</a:t>
            </a:r>
            <a:r>
              <a:rPr lang="ko-KR" altLang="en-US" sz="1600" dirty="0"/>
              <a:t>개 中 </a:t>
            </a:r>
            <a:r>
              <a:rPr lang="en-US" altLang="ko-KR" sz="1600" dirty="0"/>
              <a:t>1412</a:t>
            </a:r>
            <a:r>
              <a:rPr lang="ko-KR" altLang="en-US" sz="1600" dirty="0"/>
              <a:t>개 데이터 파일 학습에 사용 </a:t>
            </a:r>
            <a:r>
              <a:rPr lang="en-US" altLang="ko-KR" sz="1600" dirty="0"/>
              <a:t>( </a:t>
            </a:r>
            <a:r>
              <a:rPr lang="ko-KR" altLang="en-US" sz="1600" dirty="0"/>
              <a:t>결측 </a:t>
            </a:r>
            <a:r>
              <a:rPr lang="en-US" altLang="ko-KR" sz="1600" dirty="0"/>
              <a:t>5</a:t>
            </a:r>
            <a:r>
              <a:rPr lang="ko-KR" altLang="en-US" sz="1600" dirty="0"/>
              <a:t>개 </a:t>
            </a:r>
            <a:r>
              <a:rPr lang="en-US" altLang="ko-KR" sz="1600" dirty="0"/>
              <a:t>+ </a:t>
            </a:r>
            <a:r>
              <a:rPr lang="ko-KR" altLang="en-US" sz="1600" dirty="0"/>
              <a:t>검증 </a:t>
            </a:r>
            <a:r>
              <a:rPr lang="en-US" altLang="ko-KR" sz="1600" dirty="0"/>
              <a:t>3</a:t>
            </a:r>
            <a:r>
              <a:rPr lang="ko-KR" altLang="en-US" sz="1600" dirty="0"/>
              <a:t>개 </a:t>
            </a:r>
            <a:r>
              <a:rPr lang="en-US" altLang="ko-KR" sz="1600" dirty="0"/>
              <a:t>)</a:t>
            </a:r>
            <a:r>
              <a:rPr lang="ko-KR" altLang="en-US" sz="1600" dirty="0"/>
              <a:t> 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3</a:t>
            </a:r>
            <a:r>
              <a:rPr lang="ko-KR" altLang="en-US" sz="1600" dirty="0"/>
              <a:t>개 </a:t>
            </a:r>
            <a:r>
              <a:rPr lang="en-US" altLang="ko-KR" sz="1600" dirty="0"/>
              <a:t>+ </a:t>
            </a:r>
            <a:r>
              <a:rPr lang="ko-KR" altLang="en-US" sz="1600" dirty="0"/>
              <a:t>학습에서 검증에 사용된 </a:t>
            </a:r>
            <a:r>
              <a:rPr lang="en-US" altLang="ko-KR" sz="1600" dirty="0"/>
              <a:t>2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~ 2022 68</a:t>
            </a:r>
            <a:r>
              <a:rPr lang="ko-KR" altLang="en-US" sz="900" b="1" dirty="0">
                <a:latin typeface="+mn-ea"/>
              </a:rPr>
              <a:t>번 </a:t>
            </a:r>
            <a:r>
              <a:rPr lang="en-US" altLang="ko-KR" sz="900" b="1" dirty="0">
                <a:latin typeface="+mn-ea"/>
              </a:rPr>
              <a:t>( 988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~ 2024 96</a:t>
            </a:r>
            <a:r>
              <a:rPr lang="ko-KR" altLang="en-US" sz="900" b="1" dirty="0">
                <a:latin typeface="+mn-ea"/>
              </a:rPr>
              <a:t>번 </a:t>
            </a:r>
            <a:r>
              <a:rPr lang="en-US" altLang="ko-KR" sz="900" b="1" dirty="0">
                <a:latin typeface="+mn-ea"/>
              </a:rPr>
              <a:t>( 282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~ 2025 109</a:t>
            </a:r>
            <a:r>
              <a:rPr lang="ko-KR" altLang="en-US" sz="900" b="1" dirty="0">
                <a:latin typeface="+mn-ea"/>
              </a:rPr>
              <a:t>번 </a:t>
            </a:r>
            <a:r>
              <a:rPr lang="en-US" altLang="ko-KR" sz="900" b="1" dirty="0">
                <a:latin typeface="+mn-ea"/>
              </a:rPr>
              <a:t>( 142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754534" y="126666"/>
            <a:ext cx="3310468" cy="1987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 / 0.0005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 / MAE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</a:t>
            </a:r>
            <a:endParaRPr lang="en-US" altLang="ko-KR" sz="900" b="1" dirty="0">
              <a:solidFill>
                <a:srgbClr val="FF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719323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11C99160-6B77-45EA-8F2B-8F76482011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1386464"/>
              </p:ext>
            </p:extLst>
          </p:nvPr>
        </p:nvGraphicFramePr>
        <p:xfrm>
          <a:off x="800836" y="1889775"/>
          <a:ext cx="4328033" cy="4150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bg1"/>
                          </a:solidFill>
                        </a:rPr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-0.2437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0.0493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0.1828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0.2221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testdata_230711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0.8500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0.0419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0.1468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0.2048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testdata_250716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0.8895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0.0110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0.0833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0.1052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0.7838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0.0152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0.0962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0.1234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621040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4EF33900-A573-48EF-8975-0A2C5750C40D}"/>
              </a:ext>
            </a:extLst>
          </p:cNvPr>
          <p:cNvSpPr/>
          <p:nvPr/>
        </p:nvSpPr>
        <p:spPr>
          <a:xfrm>
            <a:off x="2241494" y="1889775"/>
            <a:ext cx="2887375" cy="41503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7887" y="4338524"/>
            <a:ext cx="3035115" cy="1607756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2019" y="4338731"/>
            <a:ext cx="3059566" cy="1605954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1399" y="1970948"/>
            <a:ext cx="2993660" cy="1585244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4875" y="1977329"/>
            <a:ext cx="2977423" cy="159749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6261235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testdata_220712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9409377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261235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417592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4AFE95-2DED-42BC-A1CA-CCD46CBA4F68}"/>
              </a:ext>
            </a:extLst>
          </p:cNvPr>
          <p:cNvSpPr txBox="1"/>
          <p:nvPr/>
        </p:nvSpPr>
        <p:spPr>
          <a:xfrm>
            <a:off x="33795" y="3792450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전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878C64-9135-48B4-AD37-DDB91950CAEC}"/>
              </a:ext>
            </a:extLst>
          </p:cNvPr>
          <p:cNvSpPr txBox="1"/>
          <p:nvPr/>
        </p:nvSpPr>
        <p:spPr>
          <a:xfrm>
            <a:off x="33795" y="4260325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후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05E4055-07E8-4C56-93F5-5CE2B0B1AE01}"/>
              </a:ext>
            </a:extLst>
          </p:cNvPr>
          <p:cNvCxnSpPr/>
          <p:nvPr/>
        </p:nvCxnSpPr>
        <p:spPr>
          <a:xfrm flipH="1">
            <a:off x="0" y="4148667"/>
            <a:ext cx="800836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057CE8F-56A8-4A0F-BD3D-532182644401}"/>
              </a:ext>
            </a:extLst>
          </p:cNvPr>
          <p:cNvSpPr txBox="1"/>
          <p:nvPr/>
        </p:nvSpPr>
        <p:spPr>
          <a:xfrm>
            <a:off x="622385" y="850612"/>
            <a:ext cx="789963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</a:rPr>
              <a:t>num_of_layer</a:t>
            </a:r>
            <a:r>
              <a:rPr lang="en-US" altLang="ko-KR" sz="2000" b="1" dirty="0">
                <a:latin typeface="+mj-ea"/>
              </a:rPr>
              <a:t> =18,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MSE,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0.0001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  <a:p>
            <a:endParaRPr lang="ko-KR" altLang="en-US" sz="10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3597543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04196056-BB79-4D14-ADCA-8FFA99577F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335947"/>
              </p:ext>
            </p:extLst>
          </p:nvPr>
        </p:nvGraphicFramePr>
        <p:xfrm>
          <a:off x="800836" y="1889775"/>
          <a:ext cx="4328033" cy="4150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0.4649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0.0749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0.2530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0.2737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testdata_230711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0.6025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0.3617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0.3919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0.6014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testdata_250716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0.7837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0.0998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0.2374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0.3159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0.6523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0.1206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0.2747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0.3473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621040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4EF33900-A573-48EF-8975-0A2C5750C40D}"/>
              </a:ext>
            </a:extLst>
          </p:cNvPr>
          <p:cNvSpPr/>
          <p:nvPr/>
        </p:nvSpPr>
        <p:spPr>
          <a:xfrm>
            <a:off x="2241494" y="1889775"/>
            <a:ext cx="2887375" cy="415036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4AFE95-2DED-42BC-A1CA-CCD46CBA4F68}"/>
              </a:ext>
            </a:extLst>
          </p:cNvPr>
          <p:cNvSpPr txBox="1"/>
          <p:nvPr/>
        </p:nvSpPr>
        <p:spPr>
          <a:xfrm>
            <a:off x="33795" y="3792450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전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878C64-9135-48B4-AD37-DDB91950CAEC}"/>
              </a:ext>
            </a:extLst>
          </p:cNvPr>
          <p:cNvSpPr txBox="1"/>
          <p:nvPr/>
        </p:nvSpPr>
        <p:spPr>
          <a:xfrm>
            <a:off x="33795" y="4260325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후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05E4055-07E8-4C56-93F5-5CE2B0B1AE01}"/>
              </a:ext>
            </a:extLst>
          </p:cNvPr>
          <p:cNvCxnSpPr/>
          <p:nvPr/>
        </p:nvCxnSpPr>
        <p:spPr>
          <a:xfrm flipH="1">
            <a:off x="0" y="4148667"/>
            <a:ext cx="800836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79147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  <a:ea typeface="+mj-ea"/>
              </a:rPr>
              <a:t>num_of_layer</a:t>
            </a:r>
            <a:r>
              <a:rPr lang="en-US" altLang="ko-KR" sz="2000" b="1" dirty="0">
                <a:latin typeface="+mj-ea"/>
                <a:ea typeface="+mj-ea"/>
              </a:rPr>
              <a:t> =18,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MSE,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0.0001 </a:t>
            </a:r>
            <a:endParaRPr lang="en-US" altLang="ko-KR" sz="2000" b="1" dirty="0">
              <a:latin typeface="+mj-ea"/>
              <a:ea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16E2E844-091A-49B4-BC3E-70A0595B20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0869" y="4338524"/>
            <a:ext cx="3029151" cy="1607756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F9374747-68DC-496A-AAC9-C882AE5743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7167" y="4338731"/>
            <a:ext cx="3029270" cy="1605954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1E2FA94E-7B17-466B-AE68-69E95BD9B4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5689" y="1970948"/>
            <a:ext cx="2985079" cy="158524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4A99877-9487-4654-9C42-C1415051044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4875" y="2006316"/>
            <a:ext cx="2977423" cy="153951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9A05B2C0-8EF7-41B4-AB3C-BCDEAD98637D}"/>
              </a:ext>
            </a:extLst>
          </p:cNvPr>
          <p:cNvSpPr txBox="1"/>
          <p:nvPr/>
        </p:nvSpPr>
        <p:spPr>
          <a:xfrm>
            <a:off x="6261235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testdata_220712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4ED07FF-6B14-4DE1-9C4D-D0EE8E2A5B5B}"/>
              </a:ext>
            </a:extLst>
          </p:cNvPr>
          <p:cNvSpPr txBox="1"/>
          <p:nvPr/>
        </p:nvSpPr>
        <p:spPr>
          <a:xfrm>
            <a:off x="9409377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0757C12-A4C2-411D-B087-B8C397EC2824}"/>
              </a:ext>
            </a:extLst>
          </p:cNvPr>
          <p:cNvSpPr txBox="1"/>
          <p:nvPr/>
        </p:nvSpPr>
        <p:spPr>
          <a:xfrm>
            <a:off x="6261235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D9C68C5-F4E2-4FCB-B716-E0A7EFE9114F}"/>
              </a:ext>
            </a:extLst>
          </p:cNvPr>
          <p:cNvSpPr txBox="1"/>
          <p:nvPr/>
        </p:nvSpPr>
        <p:spPr>
          <a:xfrm>
            <a:off x="9417592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4655361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11C99160-6B77-45EA-8F2B-8F76482011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152708"/>
              </p:ext>
            </p:extLst>
          </p:nvPr>
        </p:nvGraphicFramePr>
        <p:xfrm>
          <a:off x="800836" y="1889775"/>
          <a:ext cx="4328033" cy="4150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bg1"/>
                          </a:solidFill>
                        </a:rPr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0.7886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0.0083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0.07876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0.0915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testdata_230711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0.6794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0.0896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0.2132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0.2994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testdata_250716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0.8537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0.0146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0.0960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0.1211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0.7326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0.0188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0.0974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0.1372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621040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4EF33900-A573-48EF-8975-0A2C5750C40D}"/>
              </a:ext>
            </a:extLst>
          </p:cNvPr>
          <p:cNvSpPr/>
          <p:nvPr/>
        </p:nvSpPr>
        <p:spPr>
          <a:xfrm>
            <a:off x="2241494" y="1889775"/>
            <a:ext cx="2887375" cy="41503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7887" y="4348846"/>
            <a:ext cx="3035115" cy="1587112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6416" y="4338731"/>
            <a:ext cx="3010771" cy="1605954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1399" y="1974700"/>
            <a:ext cx="2993660" cy="1577739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4875" y="1982819"/>
            <a:ext cx="2977423" cy="1586509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6261235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testdata_220712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9409377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261235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417592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4AFE95-2DED-42BC-A1CA-CCD46CBA4F68}"/>
              </a:ext>
            </a:extLst>
          </p:cNvPr>
          <p:cNvSpPr txBox="1"/>
          <p:nvPr/>
        </p:nvSpPr>
        <p:spPr>
          <a:xfrm>
            <a:off x="33795" y="3792450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전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878C64-9135-48B4-AD37-DDB91950CAEC}"/>
              </a:ext>
            </a:extLst>
          </p:cNvPr>
          <p:cNvSpPr txBox="1"/>
          <p:nvPr/>
        </p:nvSpPr>
        <p:spPr>
          <a:xfrm>
            <a:off x="33795" y="4260325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후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05E4055-07E8-4C56-93F5-5CE2B0B1AE01}"/>
              </a:ext>
            </a:extLst>
          </p:cNvPr>
          <p:cNvCxnSpPr/>
          <p:nvPr/>
        </p:nvCxnSpPr>
        <p:spPr>
          <a:xfrm flipH="1">
            <a:off x="0" y="4148667"/>
            <a:ext cx="800836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  <a:ea typeface="+mj-ea"/>
              </a:rPr>
              <a:t>num_of_layer</a:t>
            </a:r>
            <a:r>
              <a:rPr lang="en-US" altLang="ko-KR" sz="2000" b="1" dirty="0">
                <a:latin typeface="+mj-ea"/>
                <a:ea typeface="+mj-ea"/>
              </a:rPr>
              <a:t> =18 , </a:t>
            </a:r>
            <a:r>
              <a:rPr lang="en-US" altLang="ko-KR" sz="2000" b="1" dirty="0" err="1">
                <a:latin typeface="+mj-ea"/>
                <a:ea typeface="+mj-ea"/>
              </a:rPr>
              <a:t>loss_function</a:t>
            </a:r>
            <a:r>
              <a:rPr lang="en-US" altLang="ko-KR" sz="2000" b="1" dirty="0">
                <a:latin typeface="+mj-ea"/>
                <a:ea typeface="+mj-ea"/>
              </a:rPr>
              <a:t> = MAE, </a:t>
            </a:r>
            <a:r>
              <a:rPr lang="en-US" altLang="ko-KR" sz="2000" b="1" dirty="0" err="1">
                <a:latin typeface="+mj-ea"/>
                <a:ea typeface="+mj-ea"/>
              </a:rPr>
              <a:t>learning_rate</a:t>
            </a:r>
            <a:r>
              <a:rPr lang="en-US" altLang="ko-KR" sz="2000" b="1" dirty="0">
                <a:latin typeface="+mj-ea"/>
                <a:ea typeface="+mj-ea"/>
              </a:rPr>
              <a:t> = 0.0005  </a:t>
            </a:r>
          </a:p>
          <a:p>
            <a:r>
              <a:rPr lang="en-US" altLang="ko-KR" sz="2000" b="1" dirty="0">
                <a:latin typeface="+mj-ea"/>
                <a:ea typeface="+mj-ea"/>
              </a:rPr>
              <a:t> </a:t>
            </a:r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186635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865A6128-F671-488A-B725-D8FE81F5C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0839000"/>
              </p:ext>
            </p:extLst>
          </p:nvPr>
        </p:nvGraphicFramePr>
        <p:xfrm>
          <a:off x="800836" y="1889775"/>
          <a:ext cx="4328033" cy="4150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0.5988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0.0561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0.1851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0.2370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testdata_230711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0.6995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0.2734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0.4393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0.5229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testdata_250716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0.8985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0.0468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0.1692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0.2164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0.6443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0.1234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0.2827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0.3513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621040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4EF33900-A573-48EF-8975-0A2C5750C40D}"/>
              </a:ext>
            </a:extLst>
          </p:cNvPr>
          <p:cNvSpPr/>
          <p:nvPr/>
        </p:nvSpPr>
        <p:spPr>
          <a:xfrm>
            <a:off x="2241494" y="1889775"/>
            <a:ext cx="2887375" cy="415036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4AFE95-2DED-42BC-A1CA-CCD46CBA4F68}"/>
              </a:ext>
            </a:extLst>
          </p:cNvPr>
          <p:cNvSpPr txBox="1"/>
          <p:nvPr/>
        </p:nvSpPr>
        <p:spPr>
          <a:xfrm>
            <a:off x="33795" y="3792450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전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878C64-9135-48B4-AD37-DDB91950CAEC}"/>
              </a:ext>
            </a:extLst>
          </p:cNvPr>
          <p:cNvSpPr txBox="1"/>
          <p:nvPr/>
        </p:nvSpPr>
        <p:spPr>
          <a:xfrm>
            <a:off x="33795" y="4260325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후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05E4055-07E8-4C56-93F5-5CE2B0B1AE01}"/>
              </a:ext>
            </a:extLst>
          </p:cNvPr>
          <p:cNvCxnSpPr/>
          <p:nvPr/>
        </p:nvCxnSpPr>
        <p:spPr>
          <a:xfrm flipH="1">
            <a:off x="0" y="4148667"/>
            <a:ext cx="800836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</a:rPr>
              <a:t>num_of_layer</a:t>
            </a:r>
            <a:r>
              <a:rPr lang="en-US" altLang="ko-KR" sz="2000" b="1" dirty="0">
                <a:latin typeface="+mj-ea"/>
              </a:rPr>
              <a:t> =18 ,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MAE,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0.0005 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15C8347-4427-434D-B5DF-732CAF98BB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0586" y="4342368"/>
            <a:ext cx="3029716" cy="1600069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2C322E94-D588-407C-BC30-BFC818A899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143" y="4331287"/>
            <a:ext cx="3087318" cy="1620841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5AB98D6-4D7B-4475-ADE8-0249AD610F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950" y="1974868"/>
            <a:ext cx="2990558" cy="1577403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40CE8EA7-DB91-45CD-B0B7-895B2582E3D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5827" y="1990718"/>
            <a:ext cx="3015518" cy="157071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F65CAC3-189B-4520-92AF-759C40170BE7}"/>
              </a:ext>
            </a:extLst>
          </p:cNvPr>
          <p:cNvSpPr txBox="1"/>
          <p:nvPr/>
        </p:nvSpPr>
        <p:spPr>
          <a:xfrm>
            <a:off x="6261235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testdata_220712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670984A-6BC1-4FDC-8121-95FCFE0B9A94}"/>
              </a:ext>
            </a:extLst>
          </p:cNvPr>
          <p:cNvSpPr txBox="1"/>
          <p:nvPr/>
        </p:nvSpPr>
        <p:spPr>
          <a:xfrm>
            <a:off x="9409377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E140992-293D-49CE-BB2D-0A090D788F4A}"/>
              </a:ext>
            </a:extLst>
          </p:cNvPr>
          <p:cNvSpPr txBox="1"/>
          <p:nvPr/>
        </p:nvSpPr>
        <p:spPr>
          <a:xfrm>
            <a:off x="6261235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E5E3A12-5140-46EE-91C9-23AA19E0DB22}"/>
              </a:ext>
            </a:extLst>
          </p:cNvPr>
          <p:cNvSpPr txBox="1"/>
          <p:nvPr/>
        </p:nvSpPr>
        <p:spPr>
          <a:xfrm>
            <a:off x="9417592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200400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273387" y="2705725"/>
            <a:ext cx="76452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400" b="1" dirty="0">
                <a:latin typeface="+mj-ea"/>
                <a:ea typeface="+mj-ea"/>
              </a:rPr>
              <a:t>누적 강우 </a:t>
            </a:r>
            <a:r>
              <a:rPr lang="en-US" altLang="ko-KR" sz="4400" b="1" dirty="0">
                <a:latin typeface="+mj-ea"/>
                <a:ea typeface="+mj-ea"/>
              </a:rPr>
              <a:t>110mm </a:t>
            </a:r>
            <a:r>
              <a:rPr lang="ko-KR" altLang="en-US" sz="4400" b="1" dirty="0">
                <a:latin typeface="+mj-ea"/>
                <a:ea typeface="+mj-ea"/>
              </a:rPr>
              <a:t>이상</a:t>
            </a:r>
            <a:r>
              <a:rPr lang="en-US" altLang="ko-KR" sz="4400" b="1" dirty="0">
                <a:latin typeface="+mj-ea"/>
                <a:ea typeface="+mj-ea"/>
              </a:rPr>
              <a:t> 4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081055-E6B3-4C5C-A476-F2D02B696E61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/dg)_110_4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6015067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파일 단위 누적 강우 </a:t>
            </a:r>
            <a:r>
              <a:rPr lang="en-US" altLang="ko-KR" sz="1600" dirty="0"/>
              <a:t>110mm </a:t>
            </a:r>
            <a:r>
              <a:rPr lang="ko-KR" altLang="en-US" sz="1600" dirty="0"/>
              <a:t>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11</a:t>
            </a:r>
            <a:r>
              <a:rPr lang="ko-KR" altLang="en-US" sz="1600" dirty="0"/>
              <a:t>개 中 </a:t>
            </a:r>
            <a:r>
              <a:rPr lang="en-US" altLang="ko-KR" sz="1600" dirty="0"/>
              <a:t>9</a:t>
            </a:r>
            <a:r>
              <a:rPr lang="ko-KR" altLang="en-US" sz="1600" dirty="0"/>
              <a:t>개 데이터 파일 학습에 사용 </a:t>
            </a:r>
            <a:r>
              <a:rPr lang="en-US" altLang="ko-KR" sz="1600" dirty="0"/>
              <a:t>( </a:t>
            </a:r>
            <a:r>
              <a:rPr lang="ko-KR" altLang="en-US" sz="1600" dirty="0"/>
              <a:t>검증 </a:t>
            </a:r>
            <a:r>
              <a:rPr lang="en-US" altLang="ko-KR" sz="1600" dirty="0"/>
              <a:t>2</a:t>
            </a:r>
            <a:r>
              <a:rPr lang="ko-KR" altLang="en-US" sz="1600" dirty="0"/>
              <a:t>개 </a:t>
            </a:r>
            <a:r>
              <a:rPr lang="en-US" altLang="ko-KR" sz="1600" dirty="0"/>
              <a:t>)</a:t>
            </a:r>
            <a:r>
              <a:rPr lang="ko-KR" altLang="en-US" sz="1600" dirty="0"/>
              <a:t> 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2</a:t>
            </a:r>
            <a:r>
              <a:rPr lang="ko-KR" altLang="en-US" sz="1600" dirty="0"/>
              <a:t>개 </a:t>
            </a:r>
            <a:r>
              <a:rPr lang="en-US" altLang="ko-KR" sz="1600" dirty="0"/>
              <a:t>+ 4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2024 ( 8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2022(39) 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2022(6667)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627533" y="126666"/>
            <a:ext cx="3437469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 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C7D1CE-FB5B-4F7E-8396-2212B4056010}"/>
              </a:ext>
            </a:extLst>
          </p:cNvPr>
          <p:cNvSpPr/>
          <p:nvPr/>
        </p:nvSpPr>
        <p:spPr>
          <a:xfrm>
            <a:off x="3564468" y="553189"/>
            <a:ext cx="44839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/>
              <a:t>같은 연도</a:t>
            </a:r>
            <a:r>
              <a:rPr lang="en-US" altLang="ko-KR" dirty="0"/>
              <a:t>·</a:t>
            </a:r>
            <a:r>
              <a:rPr lang="ko-KR" altLang="en-US" dirty="0"/>
              <a:t>다른 강우 패턴 대응 가능성 검증</a:t>
            </a:r>
          </a:p>
        </p:txBody>
      </p:sp>
    </p:spTree>
    <p:extLst>
      <p:ext uri="{BB962C8B-B14F-4D97-AF65-F5344CB8AC3E}">
        <p14:creationId xmlns:p14="http://schemas.microsoft.com/office/powerpoint/2010/main" val="28932829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25335"/>
            <a:ext cx="2813219" cy="729569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3581" y="4465283"/>
            <a:ext cx="2723487" cy="1448181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9201" y="1149285"/>
            <a:ext cx="2700747" cy="1428818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4316"/>
            <a:ext cx="2759745" cy="715063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4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4824" y="2802372"/>
            <a:ext cx="2736653" cy="1440792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219B9CB-F516-452F-87A3-1397CD4A42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6737"/>
            <a:ext cx="2760371" cy="70295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DE572B6-C3A0-49C2-9EDD-F474DE484B5A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0.7237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0.0584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0.1572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0.2417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0.3192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0.0270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0.1369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0.1643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0.8533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0.0410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0.1509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0.2025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2652886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4188" y="4456892"/>
            <a:ext cx="2782272" cy="1464963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9154" y="1150581"/>
            <a:ext cx="2700841" cy="142622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7228"/>
            <a:ext cx="2759745" cy="70924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250814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4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721" y="2788821"/>
            <a:ext cx="2776860" cy="1467893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219B9CB-F516-452F-87A3-1397CD4A42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26735"/>
            <a:ext cx="2760371" cy="72295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DE572B6-C3A0-49C2-9EDD-F474DE484B5A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-0.0894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0.1015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0.2527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0.3186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0.8108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0.0189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0.1236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0.1377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0.8475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0.0107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0.0815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0.1036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42072922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4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3E6BE94-1730-402F-97E9-CB195EE79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18728"/>
            <a:ext cx="2813219" cy="742783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8361" y="4466304"/>
            <a:ext cx="2773927" cy="1446137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3038" y="1149615"/>
            <a:ext cx="2753072" cy="1428156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61AC9C86-E07B-4029-9D0D-918BD95FFA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0790"/>
            <a:ext cx="2759745" cy="70211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D7402C4-68F9-4D9D-BC6E-7EE8DE3245A2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D4FF93-88A5-49C6-9781-605B0628AB6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7661" y="2801698"/>
            <a:ext cx="2730979" cy="1442139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A8C92D31-B3D6-4A92-A8D0-466FC5830F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60" y="1531712"/>
            <a:ext cx="2760371" cy="71300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BEB9DB2-FC20-4638-B01D-C0A7E7DA245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testdata_200802</a:t>
            </a:r>
            <a:endParaRPr lang="ko-KR" altLang="en-US" sz="1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0.8350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0.1006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0.2683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0.3172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pt-BR" altLang="ko-KR" sz="1400" dirty="0">
                          <a:solidFill>
                            <a:srgbClr val="FF0000"/>
                          </a:solidFill>
                        </a:rPr>
                        <a:t>-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0.0424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0.1459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0.3414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0.3820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0.7456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0.2314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0.3847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0.4811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9862630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4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3E6BE94-1730-402F-97E9-CB195EE79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9813" y="4474394"/>
            <a:ext cx="2711022" cy="1429959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9389" y="1140533"/>
            <a:ext cx="2760371" cy="1446319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61AC9C86-E07B-4029-9D0D-918BD95FFA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2586"/>
            <a:ext cx="2759745" cy="698524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D7402C4-68F9-4D9D-BC6E-7EE8DE3245A2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D4FF93-88A5-49C6-9781-605B0628AB6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2970" y="2796810"/>
            <a:ext cx="2760361" cy="1451915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A8C92D31-B3D6-4A92-A8D0-466FC5830F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8145"/>
            <a:ext cx="2760371" cy="700135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BEB9DB2-FC20-4638-B01D-C0A7E7DA245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-0.7705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0.0945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0.2284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0.3075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0.8305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0.0782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0.1994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0.2797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0.5011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0.1731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0.3295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0.4160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39679846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273387" y="2705725"/>
            <a:ext cx="76452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400" b="1" dirty="0">
                <a:latin typeface="+mj-ea"/>
                <a:ea typeface="+mj-ea"/>
              </a:rPr>
              <a:t>누적 강우 </a:t>
            </a:r>
            <a:r>
              <a:rPr lang="en-US" altLang="ko-KR" sz="4400" b="1" dirty="0">
                <a:latin typeface="+mj-ea"/>
                <a:ea typeface="+mj-ea"/>
              </a:rPr>
              <a:t>110mm </a:t>
            </a:r>
            <a:r>
              <a:rPr lang="ko-KR" altLang="en-US" sz="4400" b="1" dirty="0">
                <a:latin typeface="+mj-ea"/>
                <a:ea typeface="+mj-ea"/>
              </a:rPr>
              <a:t>이상</a:t>
            </a:r>
            <a:r>
              <a:rPr lang="en-US" altLang="ko-KR" sz="4400" b="1" dirty="0">
                <a:latin typeface="+mj-ea"/>
                <a:ea typeface="+mj-ea"/>
              </a:rPr>
              <a:t> 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081055-E6B3-4C5C-A476-F2D02B696E61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/dg)_110_5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107107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파일 단위 누적 강우 </a:t>
            </a:r>
            <a:r>
              <a:rPr lang="en-US" altLang="ko-KR" sz="1600" dirty="0"/>
              <a:t>110mm </a:t>
            </a:r>
            <a:r>
              <a:rPr lang="ko-KR" altLang="en-US" sz="1600" dirty="0"/>
              <a:t>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11</a:t>
            </a:r>
            <a:r>
              <a:rPr lang="ko-KR" altLang="en-US" sz="1600" dirty="0"/>
              <a:t>개 中 </a:t>
            </a:r>
            <a:r>
              <a:rPr lang="en-US" altLang="ko-KR" sz="1600" dirty="0"/>
              <a:t>9</a:t>
            </a:r>
            <a:r>
              <a:rPr lang="ko-KR" altLang="en-US" sz="1600" dirty="0"/>
              <a:t>개 데이터 파일 학습에 사용 </a:t>
            </a:r>
            <a:r>
              <a:rPr lang="en-US" altLang="ko-KR" sz="1600" dirty="0"/>
              <a:t>( </a:t>
            </a:r>
            <a:r>
              <a:rPr lang="ko-KR" altLang="en-US" sz="1600" dirty="0"/>
              <a:t>검증 </a:t>
            </a:r>
            <a:r>
              <a:rPr lang="en-US" altLang="ko-KR" sz="1600" dirty="0"/>
              <a:t>2</a:t>
            </a:r>
            <a:r>
              <a:rPr lang="ko-KR" altLang="en-US" sz="1600" dirty="0"/>
              <a:t>개 </a:t>
            </a:r>
            <a:r>
              <a:rPr lang="en-US" altLang="ko-KR" sz="1600" dirty="0"/>
              <a:t>)</a:t>
            </a:r>
            <a:r>
              <a:rPr lang="ko-KR" altLang="en-US" sz="1600" dirty="0"/>
              <a:t> 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2</a:t>
            </a:r>
            <a:r>
              <a:rPr lang="ko-KR" altLang="en-US" sz="1600" dirty="0"/>
              <a:t>개 </a:t>
            </a:r>
            <a:r>
              <a:rPr lang="en-US" altLang="ko-KR" sz="1600" dirty="0"/>
              <a:t>+ 4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2024 ( 8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2022(35) 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2022(6667)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627533" y="126666"/>
            <a:ext cx="3437469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 </a:t>
            </a:r>
          </a:p>
        </p:txBody>
      </p:sp>
    </p:spTree>
    <p:extLst>
      <p:ext uri="{BB962C8B-B14F-4D97-AF65-F5344CB8AC3E}">
        <p14:creationId xmlns:p14="http://schemas.microsoft.com/office/powerpoint/2010/main" val="17138212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25335"/>
            <a:ext cx="2813219" cy="729569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5967" y="4468216"/>
            <a:ext cx="2758715" cy="1442315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9201" y="1154223"/>
            <a:ext cx="2700747" cy="1418941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4316"/>
            <a:ext cx="2759745" cy="715063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5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4824" y="2803792"/>
            <a:ext cx="2736653" cy="1437950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219B9CB-F516-452F-87A3-1397CD4A42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6737"/>
            <a:ext cx="2760371" cy="70295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DE572B6-C3A0-49C2-9EDD-F474DE484B5A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0.8774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0.0259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0.1047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0.1609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0.0586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0.0373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0.1603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0.1932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0.8028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0.0851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0.1455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0.2349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24602473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4188" y="4458413"/>
            <a:ext cx="2782272" cy="1461920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9154" y="1154197"/>
            <a:ext cx="2700841" cy="1418991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7228"/>
            <a:ext cx="2759745" cy="70924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250814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5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3123" y="2800300"/>
            <a:ext cx="2780056" cy="144493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219B9CB-F516-452F-87A3-1397CD4A42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26735"/>
            <a:ext cx="2760371" cy="72295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DE572B6-C3A0-49C2-9EDD-F474DE484B5A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0.1532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0.0789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0.2090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0.2809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0.7764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0.0224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0.1110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0.1497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0.8673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0.0093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0.0756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0.0967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21366632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5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3E6BE94-1730-402F-97E9-CB195EE79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18728"/>
            <a:ext cx="2813219" cy="742783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3348" y="4466304"/>
            <a:ext cx="2743952" cy="1446137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3038" y="1141764"/>
            <a:ext cx="2753072" cy="1443858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61AC9C86-E07B-4029-9D0D-918BD95FFA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0790"/>
            <a:ext cx="2759745" cy="70211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D7402C4-68F9-4D9D-BC6E-7EE8DE3245A2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D4FF93-88A5-49C6-9781-605B0628AB6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4429" y="2801698"/>
            <a:ext cx="2717442" cy="1442139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A8C92D31-B3D6-4A92-A8D0-466FC5830F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60" y="1531712"/>
            <a:ext cx="2760371" cy="71300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BEB9DB2-FC20-4638-B01D-C0A7E7DA245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testdata_200802</a:t>
            </a:r>
            <a:endParaRPr lang="ko-KR" altLang="en-US" sz="1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0.9246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0.0460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0.1541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0.2144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pt-BR" altLang="ko-KR" sz="1400" dirty="0">
                          <a:solidFill>
                            <a:srgbClr val="FF0000"/>
                          </a:solidFill>
                        </a:rPr>
                        <a:t>-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0.1000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0.1540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0.3041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0.3924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0.8276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0.1568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0.3195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0.3961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30878495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5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3E6BE94-1730-402F-97E9-CB195EE79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0492" y="4474394"/>
            <a:ext cx="2729664" cy="1429959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0330" y="1138227"/>
            <a:ext cx="2758489" cy="1450931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61AC9C86-E07B-4029-9D0D-918BD95FFA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2586"/>
            <a:ext cx="2759745" cy="698524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D7402C4-68F9-4D9D-BC6E-7EE8DE3245A2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D4FF93-88A5-49C6-9781-605B0628AB6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2970" y="2796054"/>
            <a:ext cx="2760361" cy="1453426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A8C92D31-B3D6-4A92-A8D0-466FC5830F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8145"/>
            <a:ext cx="2760371" cy="700135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BEB9DB2-FC20-4638-B01D-C0A7E7DA245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-0.551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0.1258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0.2542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0.3547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0.9577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0.0195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0.1145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0.1397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0.6115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0.1348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0.3007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0.3671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36383156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378243" y="2367171"/>
            <a:ext cx="543551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400" b="1" dirty="0">
                <a:latin typeface="+mj-ea"/>
                <a:ea typeface="+mj-ea"/>
              </a:rPr>
              <a:t>관심 수위 이상</a:t>
            </a:r>
            <a:endParaRPr lang="en-US" altLang="ko-KR" sz="4400" b="1" dirty="0">
              <a:latin typeface="+mj-ea"/>
              <a:ea typeface="+mj-ea"/>
            </a:endParaRPr>
          </a:p>
          <a:p>
            <a:pPr algn="ctr"/>
            <a:r>
              <a:rPr lang="en-US" altLang="ko-KR" sz="4400" b="1" dirty="0">
                <a:latin typeface="+mj-ea"/>
                <a:ea typeface="+mj-ea"/>
              </a:rPr>
              <a:t>MAE + 0.0005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D252BC-12C5-48A5-8DC1-6EBC4C8E585A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/dg)_wl18_3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0653460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관심 수위 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67</a:t>
            </a:r>
            <a:r>
              <a:rPr lang="ko-KR" altLang="en-US" sz="1600" dirty="0"/>
              <a:t>개 中 </a:t>
            </a:r>
            <a:r>
              <a:rPr lang="en-US" altLang="ko-KR" sz="1600" dirty="0"/>
              <a:t>61</a:t>
            </a:r>
            <a:r>
              <a:rPr lang="ko-KR" altLang="en-US" sz="1600" dirty="0"/>
              <a:t>개 데이터 파일 학습에 사용 </a:t>
            </a:r>
            <a:r>
              <a:rPr lang="en-US" altLang="ko-KR" sz="1600" dirty="0"/>
              <a:t>( </a:t>
            </a:r>
            <a:r>
              <a:rPr lang="ko-KR" altLang="en-US" sz="1600" dirty="0"/>
              <a:t>검증 </a:t>
            </a:r>
            <a:r>
              <a:rPr lang="en-US" altLang="ko-KR" sz="1600" dirty="0"/>
              <a:t>6</a:t>
            </a:r>
            <a:r>
              <a:rPr lang="ko-KR" altLang="en-US" sz="1600" dirty="0"/>
              <a:t>개 </a:t>
            </a:r>
            <a:r>
              <a:rPr lang="en-US" altLang="ko-KR" sz="1600" dirty="0"/>
              <a:t>)</a:t>
            </a:r>
            <a:r>
              <a:rPr lang="ko-KR" altLang="en-US" sz="1600" dirty="0"/>
              <a:t> 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6</a:t>
            </a:r>
            <a:r>
              <a:rPr lang="ko-KR" altLang="en-US" sz="1600" dirty="0"/>
              <a:t>개 </a:t>
            </a:r>
            <a:r>
              <a:rPr lang="en-US" altLang="ko-KR" sz="1600" dirty="0"/>
              <a:t>+ </a:t>
            </a:r>
            <a:r>
              <a:rPr lang="ko-KR" altLang="en-US" sz="1600" dirty="0"/>
              <a:t>학습에서 검증에 사용된 </a:t>
            </a:r>
            <a:r>
              <a:rPr lang="en-US" altLang="ko-KR" sz="1600" dirty="0"/>
              <a:t>2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20230629 ( 43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20230713 ~ 250813 ( 12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2550916 ~ 251006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( 6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466667" y="126666"/>
            <a:ext cx="3598335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0.0005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MAE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</a:t>
            </a:r>
          </a:p>
        </p:txBody>
      </p:sp>
    </p:spTree>
    <p:extLst>
      <p:ext uri="{BB962C8B-B14F-4D97-AF65-F5344CB8AC3E}">
        <p14:creationId xmlns:p14="http://schemas.microsoft.com/office/powerpoint/2010/main" val="36779414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0612" y="4480013"/>
            <a:ext cx="2689424" cy="141871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1115" y="1160341"/>
            <a:ext cx="2676918" cy="1406704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MAE + 0.0005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2237" y="2814676"/>
            <a:ext cx="2681827" cy="1416183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0.9656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0.0072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0.0558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0.0852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0.4201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0.0230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0.1139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0.1516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0.8622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0.0385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0.1486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0.1963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323231FC-8EAD-48CE-858D-DC3398F1840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25335"/>
            <a:ext cx="2813219" cy="729569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340B0D13-C87B-4AC0-B9FF-B72A6FF789A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4316"/>
            <a:ext cx="2759745" cy="715063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81FF36C2-1AEC-42D1-9262-5EC65618A30C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5A21FE7-BBB0-4F0F-9265-D0AA0C49B197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08C60607-399C-4A71-8BCF-26A4AE4F22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7834"/>
            <a:ext cx="2760371" cy="700756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AFEB4EA7-EF1F-4D00-AEC9-E4E5716C0382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7159820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9919" y="4486456"/>
            <a:ext cx="2670810" cy="1405835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8959" y="1166398"/>
            <a:ext cx="2641229" cy="1394591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MAE + 0.0005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9656" y="2823758"/>
            <a:ext cx="2686989" cy="139801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-0.0236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0.0953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0.2271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0.3088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0.7947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0.0205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0.1047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0.1435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0.5087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0.0346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0.1446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0.1861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F38CCEE3-61C5-4A7F-ADEB-944E297E35C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42EBBF7E-21B3-415D-9D34-3A5A71240FD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7228"/>
            <a:ext cx="2759745" cy="70924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75B7ADD7-1A25-4461-B398-5CDFDA8A2657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2AA9BCA-E616-4F53-B2D6-A9A5F1887121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250814</a:t>
            </a:r>
            <a:endParaRPr lang="ko-KR" altLang="en-US" sz="1000" dirty="0"/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E684F68E-F078-47EF-BEE3-83C7143B189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26735"/>
            <a:ext cx="2760371" cy="722954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AD6A0000-0D41-489D-9B39-1492B01A648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7160682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MAE + 0.0005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1598" y="4486049"/>
            <a:ext cx="2687453" cy="1406648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2096" y="1162977"/>
            <a:ext cx="2674956" cy="1401432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0640" y="2816551"/>
            <a:ext cx="2685020" cy="14124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0.9086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0.0557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0.1438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0.2361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0.8939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0.0148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0.0947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0.1218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0.9252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0.0680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0.2035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0.2608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057E6BF9-DFD9-4E23-8251-8654EA5DC6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18728"/>
            <a:ext cx="2813219" cy="742783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C94EA93F-F59C-482F-B16E-C517FF367ED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0790"/>
            <a:ext cx="2759745" cy="70211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5B2180F-C470-4C20-BB25-A04B5366FCEA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A58C66-AB0C-4803-B13B-CF50311EC95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1AAE37F-EC1E-4535-8CEE-DE8214C8339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60" y="1531712"/>
            <a:ext cx="2760371" cy="7130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2B549526-6583-4DBF-B1C3-1A8CCBD73BC8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testdata_200802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3035560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MAE + 0.0005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3140" y="4482517"/>
            <a:ext cx="2684369" cy="1413712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0011" y="1162248"/>
            <a:ext cx="2659126" cy="140289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0640" y="2824997"/>
            <a:ext cx="2685020" cy="1395540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-2.7619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0.2009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0.3459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0.4482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0.9579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0.0194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0.0938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0.1393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0.7833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0.0752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0.2001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0.2742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53047BD1-3AB9-45C2-A5C1-D89B4A952B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4D1CC508-FCD6-4486-8838-4403BEDBC3B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2586"/>
            <a:ext cx="2759745" cy="69852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3D69D46C-A27D-4E29-B1E3-78421E440EE8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EFF8E4-4FD9-452B-B2DC-1ABEBC12C4B2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59A9B8A6-90C2-4CF8-8123-4D2AD766916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8145"/>
            <a:ext cx="2760371" cy="700135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24A1D03-B909-43A2-A292-0305C5365530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0877493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378243" y="2367171"/>
            <a:ext cx="543551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400" b="1" dirty="0">
                <a:latin typeface="+mj-ea"/>
                <a:ea typeface="+mj-ea"/>
              </a:rPr>
              <a:t>관심 수위 이상</a:t>
            </a:r>
            <a:endParaRPr lang="en-US" altLang="ko-KR" sz="4400" b="1" dirty="0">
              <a:latin typeface="+mj-ea"/>
              <a:ea typeface="+mj-ea"/>
            </a:endParaRPr>
          </a:p>
          <a:p>
            <a:pPr algn="ctr"/>
            <a:r>
              <a:rPr lang="en-US" altLang="ko-KR" sz="4400" b="1" dirty="0" err="1">
                <a:latin typeface="+mj-ea"/>
                <a:ea typeface="+mj-ea"/>
              </a:rPr>
              <a:t>huber</a:t>
            </a:r>
            <a:endParaRPr lang="en-US" altLang="ko-KR" sz="4400" b="1" dirty="0"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D252BC-12C5-48A5-8DC1-6EBC4C8E585A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</a:t>
            </a:r>
            <a:r>
              <a:rPr lang="en-US" altLang="ko-KR" sz="1050" dirty="0" err="1"/>
              <a:t>huber</a:t>
            </a:r>
            <a:endParaRPr lang="ko-KR" altLang="en-US" sz="1050" dirty="0">
              <a:latin typeface="+mj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FEFCE7-A43C-44ED-BFEA-D3057137FF5B}"/>
              </a:ext>
            </a:extLst>
          </p:cNvPr>
          <p:cNvSpPr txBox="1"/>
          <p:nvPr/>
        </p:nvSpPr>
        <p:spPr>
          <a:xfrm>
            <a:off x="4555066" y="4490829"/>
            <a:ext cx="2937933" cy="6921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00000"/>
              </a:lnSpc>
            </a:pPr>
            <a:r>
              <a:rPr lang="ko-KR" altLang="en-US" sz="1050" dirty="0"/>
              <a:t>작은 오차는 </a:t>
            </a:r>
            <a:r>
              <a:rPr lang="en-US" altLang="ko-KR" sz="1050" dirty="0"/>
              <a:t>MSE</a:t>
            </a:r>
            <a:r>
              <a:rPr lang="ko-KR" altLang="en-US" sz="1050" dirty="0"/>
              <a:t>처럼 부드럽게</a:t>
            </a:r>
            <a:r>
              <a:rPr lang="en-US" altLang="ko-KR" sz="1050" dirty="0"/>
              <a:t>,</a:t>
            </a:r>
          </a:p>
          <a:p>
            <a:pPr algn="ctr">
              <a:lnSpc>
                <a:spcPct val="200000"/>
              </a:lnSpc>
            </a:pPr>
            <a:r>
              <a:rPr lang="ko-KR" altLang="en-US" sz="1050" dirty="0"/>
              <a:t>큰 오차</a:t>
            </a:r>
            <a:r>
              <a:rPr lang="en-US" altLang="ko-KR" sz="1050" dirty="0"/>
              <a:t>(</a:t>
            </a:r>
            <a:r>
              <a:rPr lang="ko-KR" altLang="en-US" sz="1050" dirty="0"/>
              <a:t>이상치</a:t>
            </a:r>
            <a:r>
              <a:rPr lang="en-US" altLang="ko-KR" sz="1050" dirty="0"/>
              <a:t>)</a:t>
            </a:r>
            <a:r>
              <a:rPr lang="ko-KR" altLang="en-US" sz="1050" dirty="0"/>
              <a:t>는 </a:t>
            </a:r>
            <a:r>
              <a:rPr lang="en-US" altLang="ko-KR" sz="1050" dirty="0"/>
              <a:t>MAE</a:t>
            </a:r>
            <a:r>
              <a:rPr lang="ko-KR" altLang="en-US" sz="1050" dirty="0"/>
              <a:t>처럼 강건하게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3662997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관심 수위 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67</a:t>
            </a:r>
            <a:r>
              <a:rPr lang="ko-KR" altLang="en-US" sz="1600" dirty="0"/>
              <a:t>개 中 </a:t>
            </a:r>
            <a:r>
              <a:rPr lang="en-US" altLang="ko-KR" sz="1600" dirty="0"/>
              <a:t>61</a:t>
            </a:r>
            <a:r>
              <a:rPr lang="ko-KR" altLang="en-US" sz="1600" dirty="0"/>
              <a:t>개 데이터 파일 학습에 사용 </a:t>
            </a:r>
            <a:r>
              <a:rPr lang="en-US" altLang="ko-KR" sz="1600" dirty="0"/>
              <a:t>( </a:t>
            </a:r>
            <a:r>
              <a:rPr lang="ko-KR" altLang="en-US" sz="1600" dirty="0"/>
              <a:t>검증 </a:t>
            </a:r>
            <a:r>
              <a:rPr lang="en-US" altLang="ko-KR" sz="1600" dirty="0"/>
              <a:t>6</a:t>
            </a:r>
            <a:r>
              <a:rPr lang="ko-KR" altLang="en-US" sz="1600" dirty="0"/>
              <a:t>개 </a:t>
            </a:r>
            <a:r>
              <a:rPr lang="en-US" altLang="ko-KR" sz="1600" dirty="0"/>
              <a:t>)</a:t>
            </a:r>
            <a:r>
              <a:rPr lang="ko-KR" altLang="en-US" sz="1600" dirty="0"/>
              <a:t> 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6</a:t>
            </a:r>
            <a:r>
              <a:rPr lang="ko-KR" altLang="en-US" sz="1600" dirty="0"/>
              <a:t>개 </a:t>
            </a:r>
            <a:r>
              <a:rPr lang="en-US" altLang="ko-KR" sz="1600" dirty="0"/>
              <a:t>+ </a:t>
            </a:r>
            <a:r>
              <a:rPr lang="ko-KR" altLang="en-US" sz="1600" dirty="0"/>
              <a:t>학습에서 검증에 사용된 </a:t>
            </a:r>
            <a:r>
              <a:rPr lang="en-US" altLang="ko-KR" sz="1600" dirty="0"/>
              <a:t>2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20230629 ( 43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20230713 ~ 250813 ( 12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2550916 ~ 251006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( 6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466667" y="126666"/>
            <a:ext cx="3598335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Huber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</a:t>
            </a:r>
          </a:p>
        </p:txBody>
      </p:sp>
    </p:spTree>
    <p:extLst>
      <p:ext uri="{BB962C8B-B14F-4D97-AF65-F5344CB8AC3E}">
        <p14:creationId xmlns:p14="http://schemas.microsoft.com/office/powerpoint/2010/main" val="18794243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3403" y="4486328"/>
            <a:ext cx="2683842" cy="1406088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7913" y="1163256"/>
            <a:ext cx="2663321" cy="1400874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>
                <a:latin typeface="+mn-ea"/>
              </a:rPr>
              <a:t>Huber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9108" y="2826551"/>
            <a:ext cx="2648084" cy="1392433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0.9436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0.0119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0.0800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0.1091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0.5280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0.0187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0.1057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0.1368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0.8739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</a:t>
                      </a:r>
                      <a:r>
                        <a:rPr lang="ko-KR" altLang="en-US" sz="1400" dirty="0"/>
                        <a:t> </a:t>
                      </a:r>
                      <a:r>
                        <a:rPr lang="en-US" altLang="ko-KR" sz="1400" dirty="0"/>
                        <a:t>0352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0.1445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0.1878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323231FC-8EAD-48CE-858D-DC3398F1840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25335"/>
            <a:ext cx="2813219" cy="729569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340B0D13-C87B-4AC0-B9FF-B72A6FF789A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4316"/>
            <a:ext cx="2759745" cy="715063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81FF36C2-1AEC-42D1-9262-5EC65618A30C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5A21FE7-BBB0-4F0F-9265-D0AA0C49B197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08C60607-399C-4A71-8BCF-26A4AE4F22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7834"/>
            <a:ext cx="2760371" cy="700756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AFEB4EA7-EF1F-4D00-AEC9-E4E5716C0382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5116769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4062" y="4486456"/>
            <a:ext cx="2662524" cy="1405835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0181" y="1166398"/>
            <a:ext cx="2638784" cy="1394591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</a:t>
            </a:r>
            <a:r>
              <a:rPr lang="en-US" altLang="ko-KR" sz="2000" dirty="0">
                <a:latin typeface="+mj-ea"/>
              </a:rPr>
              <a:t> </a:t>
            </a:r>
            <a:r>
              <a:rPr lang="en-US" altLang="ko-KR" sz="2000" b="1" dirty="0">
                <a:latin typeface="+mn-ea"/>
              </a:rPr>
              <a:t>Huber</a:t>
            </a:r>
            <a:endParaRPr lang="en-US" altLang="ko-KR" sz="2000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6827" y="2832145"/>
            <a:ext cx="2652647" cy="1381243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0.0597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0.0876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0.2157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0.2960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0.8570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0.0143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0.0951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0.1197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0.6947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0.0215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0.1217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0.1467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F38CCEE3-61C5-4A7F-ADEB-944E297E35C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42EBBF7E-21B3-415D-9D34-3A5A71240FD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7228"/>
            <a:ext cx="2759745" cy="70924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75B7ADD7-1A25-4461-B398-5CDFDA8A2657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2AA9BCA-E616-4F53-B2D6-A9A5F1887121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250814</a:t>
            </a:r>
            <a:endParaRPr lang="ko-KR" altLang="en-US" sz="1000" dirty="0"/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E684F68E-F078-47EF-BEE3-83C7143B189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26735"/>
            <a:ext cx="2760371" cy="722954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AD6A0000-0D41-489D-9B39-1492B01A648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6194734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>
                <a:latin typeface="+mn-ea"/>
              </a:rPr>
              <a:t>Huber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6033" y="4486049"/>
            <a:ext cx="2678583" cy="1406648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2096" y="1164450"/>
            <a:ext cx="2674956" cy="139848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3231" y="2816551"/>
            <a:ext cx="2679837" cy="14124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0.8583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0.0864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0.1800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0.2939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0.9114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0.0123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0.0931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0.1113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0.8354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0.1497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0.2952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0.3870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057E6BF9-DFD9-4E23-8251-8654EA5DC6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18728"/>
            <a:ext cx="2813219" cy="742783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C94EA93F-F59C-482F-B16E-C517FF367ED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0790"/>
            <a:ext cx="2759745" cy="70211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5B2180F-C470-4C20-BB25-A04B5366FCEA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A58C66-AB0C-4803-B13B-CF50311EC95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1AAE37F-EC1E-4535-8CEE-DE8214C8339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60" y="1531712"/>
            <a:ext cx="2760371" cy="7130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2B549526-6583-4DBF-B1C3-1A8CCBD73BC8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testdata_200802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9892267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>
                <a:latin typeface="+mn-ea"/>
              </a:rPr>
              <a:t>Huber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1723" y="4482517"/>
            <a:ext cx="2667203" cy="1413712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6181" y="1162248"/>
            <a:ext cx="2646786" cy="140289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7884" y="2824997"/>
            <a:ext cx="2630531" cy="1395540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-0.3854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0.0739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0.1788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0.2720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0.9566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0.0200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0.1153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0.1414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0.7191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0.0974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0.2343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0.3122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53047BD1-3AB9-45C2-A5C1-D89B4A952B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4D1CC508-FCD6-4486-8838-4403BEDBC3B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2586"/>
            <a:ext cx="2759745" cy="69852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3D69D46C-A27D-4E29-B1E3-78421E440EE8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EFF8E4-4FD9-452B-B2DC-1ABEBC12C4B2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59A9B8A6-90C2-4CF8-8123-4D2AD766916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8145"/>
            <a:ext cx="2760371" cy="700135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24A1D03-B909-43A2-A292-0305C5365530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826800021"/>
      </p:ext>
    </p:extLst>
  </p:cSld>
  <p:clrMapOvr>
    <a:masterClrMapping/>
  </p:clrMapOvr>
</p:sld>
</file>

<file path=ppt/theme/theme1.xml><?xml version="1.0" encoding="utf-8"?>
<a:theme xmlns:a="http://schemas.openxmlformats.org/drawingml/2006/main" name="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5302</TotalTime>
  <Words>2698</Words>
  <Application>Microsoft Office PowerPoint</Application>
  <PresentationFormat>와이드스크린</PresentationFormat>
  <Paragraphs>769</Paragraphs>
  <Slides>31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37" baseType="lpstr">
      <vt:lpstr>맑은 고딕</vt:lpstr>
      <vt:lpstr>Arial</vt:lpstr>
      <vt:lpstr>Calibri</vt:lpstr>
      <vt:lpstr>Calibri Light</vt:lpstr>
      <vt:lpstr>Wingdings 2</vt:lpstr>
      <vt:lpstr>HDOfficeLightV0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magpie</dc:creator>
  <cp:lastModifiedBy>magpie</cp:lastModifiedBy>
  <cp:revision>676</cp:revision>
  <dcterms:created xsi:type="dcterms:W3CDTF">2025-11-18T00:02:37Z</dcterms:created>
  <dcterms:modified xsi:type="dcterms:W3CDTF">2026-01-14T06:26:37Z</dcterms:modified>
</cp:coreProperties>
</file>