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663" r:id="rId3"/>
    <p:sldId id="592" r:id="rId4"/>
    <p:sldId id="593" r:id="rId5"/>
    <p:sldId id="643" r:id="rId6"/>
    <p:sldId id="721" r:id="rId7"/>
    <p:sldId id="723" r:id="rId8"/>
    <p:sldId id="748" r:id="rId9"/>
    <p:sldId id="669" r:id="rId10"/>
    <p:sldId id="670" r:id="rId11"/>
    <p:sldId id="671" r:id="rId12"/>
    <p:sldId id="727" r:id="rId13"/>
    <p:sldId id="728" r:id="rId14"/>
    <p:sldId id="753" r:id="rId15"/>
    <p:sldId id="760" r:id="rId16"/>
    <p:sldId id="761" r:id="rId17"/>
    <p:sldId id="762" r:id="rId18"/>
    <p:sldId id="763" r:id="rId19"/>
    <p:sldId id="764" r:id="rId20"/>
    <p:sldId id="765" r:id="rId21"/>
    <p:sldId id="754" r:id="rId22"/>
    <p:sldId id="755" r:id="rId23"/>
    <p:sldId id="756" r:id="rId24"/>
    <p:sldId id="757" r:id="rId25"/>
    <p:sldId id="758" r:id="rId26"/>
    <p:sldId id="75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6336" autoAdjust="0"/>
  </p:normalViewPr>
  <p:slideViewPr>
    <p:cSldViewPr snapToGrid="0">
      <p:cViewPr varScale="1">
        <p:scale>
          <a:sx n="113" d="100"/>
          <a:sy n="113" d="100"/>
        </p:scale>
        <p:origin x="5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3.png"/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12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1.png"/><Relationship Id="rId5" Type="http://schemas.openxmlformats.org/officeDocument/2006/relationships/image" Target="../media/image38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49.png"/><Relationship Id="rId3" Type="http://schemas.openxmlformats.org/officeDocument/2006/relationships/image" Target="../media/image15.png"/><Relationship Id="rId7" Type="http://schemas.openxmlformats.org/officeDocument/2006/relationships/image" Target="../media/image46.png"/><Relationship Id="rId12" Type="http://schemas.openxmlformats.org/officeDocument/2006/relationships/image" Target="../media/image4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26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54.png"/><Relationship Id="rId4" Type="http://schemas.openxmlformats.org/officeDocument/2006/relationships/image" Target="../media/image51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6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6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62.png"/><Relationship Id="rId5" Type="http://schemas.openxmlformats.org/officeDocument/2006/relationships/image" Target="../media/image95.png"/><Relationship Id="rId10" Type="http://schemas.openxmlformats.org/officeDocument/2006/relationships/image" Target="../media/image58.png"/><Relationship Id="rId4" Type="http://schemas.openxmlformats.org/officeDocument/2006/relationships/image" Target="../media/image94.png"/><Relationship Id="rId9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6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75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74.png"/><Relationship Id="rId5" Type="http://schemas.openxmlformats.org/officeDocument/2006/relationships/image" Target="../media/image101.png"/><Relationship Id="rId10" Type="http://schemas.openxmlformats.org/officeDocument/2006/relationships/image" Target="../media/image70.png"/><Relationship Id="rId4" Type="http://schemas.openxmlformats.org/officeDocument/2006/relationships/image" Target="../media/image100.png"/><Relationship Id="rId9" Type="http://schemas.openxmlformats.org/officeDocument/2006/relationships/image" Target="../media/image6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26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108.png"/><Relationship Id="rId4" Type="http://schemas.openxmlformats.org/officeDocument/2006/relationships/image" Target="../media/image105.pn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3044279"/>
            <a:ext cx="6696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AI </a:t>
            </a:r>
            <a:r>
              <a:rPr lang="ko-KR" altLang="en-US" sz="4400" b="1" dirty="0">
                <a:latin typeface="+mj-ea"/>
                <a:ea typeface="+mj-ea"/>
              </a:rPr>
              <a:t>모델 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결론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1C422-1565-448B-BCD7-AE68451E1256}"/>
              </a:ext>
            </a:extLst>
          </p:cNvPr>
          <p:cNvSpPr txBox="1"/>
          <p:nvPr/>
        </p:nvSpPr>
        <p:spPr>
          <a:xfrm>
            <a:off x="1775825" y="3429000"/>
            <a:ext cx="8640350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j-ea"/>
              </a:rPr>
              <a:t>관심수위</a:t>
            </a:r>
            <a:r>
              <a:rPr lang="en-US" altLang="ko-KR" sz="1600" b="1" dirty="0">
                <a:latin typeface="+mj-ea"/>
              </a:rPr>
              <a:t>+MAE </a:t>
            </a:r>
            <a:r>
              <a:rPr lang="ko-KR" altLang="en-US" sz="1600" b="1" dirty="0">
                <a:latin typeface="+mj-ea"/>
              </a:rPr>
              <a:t>모델 </a:t>
            </a:r>
            <a:r>
              <a:rPr lang="en-US" altLang="ko-KR" sz="1600" b="1" dirty="0">
                <a:latin typeface="+mj-ea"/>
              </a:rPr>
              <a:t>:</a:t>
            </a:r>
            <a:r>
              <a:rPr lang="ko-KR" altLang="en-US" sz="1600" b="1" dirty="0">
                <a:latin typeface="+mj-ea"/>
              </a:rPr>
              <a:t> 피크 타이밍</a:t>
            </a:r>
            <a:r>
              <a:rPr lang="en-US" altLang="ko-KR" sz="1600" b="1" dirty="0">
                <a:latin typeface="+mj-ea"/>
              </a:rPr>
              <a:t>·</a:t>
            </a:r>
            <a:r>
              <a:rPr lang="ko-KR" altLang="en-US" sz="1600" b="1" dirty="0">
                <a:latin typeface="+mj-ea"/>
              </a:rPr>
              <a:t>고수위 예측에서 가장 안정적</a:t>
            </a:r>
            <a:endParaRPr lang="en-US" altLang="ko-KR" sz="1600" b="1" dirty="0">
              <a:latin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+mj-ea"/>
              </a:rPr>
              <a:t>2020</a:t>
            </a:r>
            <a:r>
              <a:rPr lang="ko-KR" altLang="en-US" sz="1600" b="1" dirty="0">
                <a:latin typeface="+mj-ea"/>
              </a:rPr>
              <a:t>년 이후 데이터 제한 및 </a:t>
            </a:r>
            <a:r>
              <a:rPr lang="ko-KR" altLang="en-US" sz="1600" b="1" dirty="0" err="1">
                <a:latin typeface="+mj-ea"/>
              </a:rPr>
              <a:t>누적강우</a:t>
            </a:r>
            <a:r>
              <a:rPr lang="ko-KR" altLang="en-US" sz="1600" b="1" dirty="0">
                <a:latin typeface="+mj-ea"/>
              </a:rPr>
              <a:t> 추가 </a:t>
            </a:r>
            <a:r>
              <a:rPr lang="en-US" altLang="ko-KR" sz="1600" b="1" dirty="0">
                <a:latin typeface="+mj-ea"/>
              </a:rPr>
              <a:t>:</a:t>
            </a:r>
            <a:r>
              <a:rPr lang="ko-KR" altLang="en-US" sz="1600" b="1" dirty="0">
                <a:latin typeface="+mj-ea"/>
              </a:rPr>
              <a:t> 일부 사상 설명력은 개선되었지만</a:t>
            </a:r>
            <a:br>
              <a:rPr lang="en-US" altLang="ko-KR" sz="1600" b="1" dirty="0">
                <a:latin typeface="+mj-ea"/>
              </a:rPr>
            </a:br>
            <a:r>
              <a:rPr lang="ko-KR" altLang="en-US" sz="1600" b="1" dirty="0">
                <a:latin typeface="+mj-ea"/>
              </a:rPr>
              <a:t>지점별 일반화 성능 저하로 인해 전체 성능 향상에는 한계</a:t>
            </a:r>
            <a:endParaRPr lang="en-US" altLang="ko-KR" sz="16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5861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관심수위 </a:t>
            </a:r>
            <a:r>
              <a:rPr lang="en-US" altLang="ko-KR" sz="4400" b="1" dirty="0">
                <a:highlight>
                  <a:srgbClr val="FFFF00"/>
                </a:highlight>
                <a:latin typeface="+mj-ea"/>
                <a:ea typeface="+mj-ea"/>
              </a:rPr>
              <a:t>+ MAE</a:t>
            </a:r>
          </a:p>
        </p:txBody>
      </p:sp>
    </p:spTree>
    <p:extLst>
      <p:ext uri="{BB962C8B-B14F-4D97-AF65-F5344CB8AC3E}">
        <p14:creationId xmlns:p14="http://schemas.microsoft.com/office/powerpoint/2010/main" val="306534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367794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MAE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455376"/>
              </p:ext>
            </p:extLst>
          </p:nvPr>
        </p:nvGraphicFramePr>
        <p:xfrm>
          <a:off x="49953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0.9656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0.0072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0.0558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0.0852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0.8748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0.0763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0.1754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0.2763</a:t>
                      </a:r>
                      <a:endParaRPr lang="pt-BR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0.0230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0.1139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0.1516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0.5503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0.2047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0.2509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0.8622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0.0385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0.1486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0.1963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0.8659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0.2258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0.3492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0.7308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0.0217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0.0962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0.1475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0.6749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0.0154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0.0860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0.1244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0.7947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0.0205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0.1047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0.1435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0.9470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0.0244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0.1098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0.1563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0.5087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0.0346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0.1446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0.1861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0.8781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0.0423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0.1589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0.2056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389879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127482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 타이밍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&amp;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크기 가장 정확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모든 실험 대비 가장 안정적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이전 모델 대비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피크값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추적력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고수위 예측 정확도 향상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0">
              <a:buNone/>
            </a:pP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093B28-921A-4568-88EC-560FB8A1325A}"/>
              </a:ext>
            </a:extLst>
          </p:cNvPr>
          <p:cNvSpPr txBox="1"/>
          <p:nvPr/>
        </p:nvSpPr>
        <p:spPr>
          <a:xfrm>
            <a:off x="7111047" y="2958088"/>
            <a:ext cx="3297682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b="1" dirty="0">
                <a:solidFill>
                  <a:schemeClr val="tx2"/>
                </a:solidFill>
              </a:rPr>
              <a:t>+)  1</a:t>
            </a:r>
            <a:r>
              <a:rPr lang="ko-KR" altLang="en-US" sz="1050" b="1" dirty="0">
                <a:solidFill>
                  <a:schemeClr val="tx2"/>
                </a:solidFill>
              </a:rPr>
              <a:t>시간 뒤 </a:t>
            </a:r>
            <a:r>
              <a:rPr lang="en-US" altLang="ko-KR" sz="1050" b="1" dirty="0">
                <a:solidFill>
                  <a:schemeClr val="tx2"/>
                </a:solidFill>
              </a:rPr>
              <a:t>, 3</a:t>
            </a:r>
            <a:r>
              <a:rPr lang="ko-KR" altLang="en-US" sz="1050" b="1" dirty="0">
                <a:solidFill>
                  <a:schemeClr val="tx2"/>
                </a:solidFill>
              </a:rPr>
              <a:t>시간 뒤 시점 예측 결과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오차 </a:t>
            </a:r>
            <a:r>
              <a:rPr lang="en-US" altLang="ko-KR" sz="1050" b="1" dirty="0">
                <a:solidFill>
                  <a:schemeClr val="tx2"/>
                </a:solidFill>
              </a:rPr>
              <a:t>( </a:t>
            </a:r>
            <a:r>
              <a:rPr lang="ko-KR" altLang="en-US" sz="1050" b="1" dirty="0">
                <a:solidFill>
                  <a:schemeClr val="tx2"/>
                </a:solidFill>
              </a:rPr>
              <a:t>정확도</a:t>
            </a:r>
            <a:r>
              <a:rPr lang="en-US" altLang="ko-KR" sz="1050" b="1" dirty="0">
                <a:solidFill>
                  <a:schemeClr val="tx2"/>
                </a:solidFill>
              </a:rPr>
              <a:t> )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C5116E3-D4CD-495A-AE8E-84AF6748A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349860"/>
              </p:ext>
            </p:extLst>
          </p:nvPr>
        </p:nvGraphicFramePr>
        <p:xfrm>
          <a:off x="7111047" y="3429248"/>
          <a:ext cx="4560572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40143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10044396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-0.01 ( 99.3 % )</a:t>
                      </a:r>
                      <a:endParaRPr lang="pt-BR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</a:t>
                      </a:r>
                      <a:r>
                        <a:rPr lang="pt-BR" altLang="ko-KR" sz="1100" dirty="0"/>
                        <a:t> ( </a:t>
                      </a:r>
                      <a:r>
                        <a:rPr lang="en-US" altLang="ko-KR" sz="1100" dirty="0"/>
                        <a:t>99.6 </a:t>
                      </a:r>
                      <a:r>
                        <a:rPr lang="pt-BR" altLang="ko-KR" sz="1100" dirty="0"/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0.00</a:t>
                      </a:r>
                      <a:r>
                        <a:rPr lang="pt-BR" altLang="ko-KR" sz="1100" dirty="0"/>
                        <a:t> ( </a:t>
                      </a:r>
                      <a:r>
                        <a:rPr lang="en-US" altLang="ko-KR" sz="1100" dirty="0"/>
                        <a:t>99.9</a:t>
                      </a:r>
                      <a:r>
                        <a:rPr lang="pt-BR" altLang="ko-KR" sz="1100" dirty="0"/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-0.69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80.7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0.14 ( 93.8 % )</a:t>
                      </a:r>
                      <a:endParaRPr lang="pt-BR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</a:t>
                      </a:r>
                      <a:r>
                        <a:rPr lang="pt-BR" altLang="ko-KR" sz="1100" dirty="0"/>
                        <a:t> ( </a:t>
                      </a:r>
                      <a:r>
                        <a:rPr lang="en-US" altLang="ko-KR" sz="1100" dirty="0"/>
                        <a:t>92.1 </a:t>
                      </a:r>
                      <a:r>
                        <a:rPr lang="pt-BR" altLang="ko-KR" sz="1100" dirty="0"/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0.16</a:t>
                      </a:r>
                      <a:r>
                        <a:rPr lang="pt-BR" altLang="ko-KR" sz="1100" dirty="0"/>
                        <a:t> ( </a:t>
                      </a:r>
                      <a:r>
                        <a:rPr lang="en-US" altLang="ko-KR" sz="1100" dirty="0"/>
                        <a:t>96.5</a:t>
                      </a:r>
                      <a:r>
                        <a:rPr lang="pt-BR" altLang="ko-KR" sz="1100" dirty="0"/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0.20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95.9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-0.54 ( 72.0 % )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0.04</a:t>
                      </a:r>
                      <a:r>
                        <a:rPr lang="pt-BR" altLang="ko-KR" sz="1100" dirty="0"/>
                        <a:t> ( </a:t>
                      </a:r>
                      <a:r>
                        <a:rPr lang="en-US" altLang="ko-KR" sz="1100" dirty="0"/>
                        <a:t>98.1 </a:t>
                      </a:r>
                      <a:r>
                        <a:rPr lang="pt-BR" altLang="ko-KR" sz="1100" dirty="0"/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-0.05</a:t>
                      </a:r>
                      <a:r>
                        <a:rPr lang="pt-BR" altLang="ko-KR" sz="1100" dirty="0"/>
                        <a:t> ( </a:t>
                      </a:r>
                      <a:r>
                        <a:rPr lang="en-US" altLang="ko-KR" sz="1100" dirty="0"/>
                        <a:t>97.6</a:t>
                      </a:r>
                      <a:r>
                        <a:rPr lang="pt-BR" altLang="ko-KR" sz="1100" dirty="0"/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-0.57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87.7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-0.41 ( 75.7 % )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0.00</a:t>
                      </a:r>
                      <a:r>
                        <a:rPr lang="pt-BR" altLang="ko-KR" sz="1100" dirty="0"/>
                        <a:t> ( </a:t>
                      </a:r>
                      <a:r>
                        <a:rPr lang="en-US" altLang="ko-KR" sz="1100" dirty="0"/>
                        <a:t>99.9 </a:t>
                      </a:r>
                      <a:r>
                        <a:rPr lang="pt-BR" altLang="ko-KR" sz="1100" dirty="0"/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98.2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-0.37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87.2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 -0.15 ( 87.4 % )</a:t>
                      </a:r>
                      <a:endParaRPr lang="pt-BR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-0.15</a:t>
                      </a:r>
                      <a:r>
                        <a:rPr lang="pt-BR" altLang="ko-KR" sz="1100" dirty="0"/>
                        <a:t> ( </a:t>
                      </a:r>
                      <a:r>
                        <a:rPr lang="en-US" altLang="ko-KR" sz="1100" dirty="0"/>
                        <a:t>91.7 </a:t>
                      </a:r>
                      <a:r>
                        <a:rPr lang="pt-BR" altLang="ko-KR" sz="1100" dirty="0"/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-0.02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98.9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-0.32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91.5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-0.00 ( 99.7 % )</a:t>
                      </a:r>
                      <a:endParaRPr lang="pt-BR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-0.02</a:t>
                      </a:r>
                      <a:r>
                        <a:rPr lang="pt-BR" altLang="ko-KR" sz="1100" dirty="0"/>
                        <a:t> ( </a:t>
                      </a:r>
                      <a:r>
                        <a:rPr lang="en-US" altLang="ko-KR" sz="1100" dirty="0"/>
                        <a:t>98.5 </a:t>
                      </a:r>
                      <a:r>
                        <a:rPr lang="pt-BR" altLang="ko-KR" sz="1100" dirty="0"/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-0.45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84.2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0.28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90.6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F3FC340-37AD-4DE7-83A2-71EA83CC6186}"/>
              </a:ext>
            </a:extLst>
          </p:cNvPr>
          <p:cNvSpPr txBox="1"/>
          <p:nvPr/>
        </p:nvSpPr>
        <p:spPr>
          <a:xfrm>
            <a:off x="7111047" y="6378188"/>
            <a:ext cx="4810019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50" b="1" dirty="0">
                <a:solidFill>
                  <a:schemeClr val="tx2"/>
                </a:solidFill>
              </a:rPr>
              <a:t>예측수위 </a:t>
            </a:r>
            <a:r>
              <a:rPr lang="en-US" altLang="ko-KR" sz="1050" b="1" dirty="0">
                <a:solidFill>
                  <a:schemeClr val="tx2"/>
                </a:solidFill>
              </a:rPr>
              <a:t>, </a:t>
            </a:r>
            <a:r>
              <a:rPr lang="ko-KR" altLang="en-US" sz="1050" b="1" dirty="0">
                <a:solidFill>
                  <a:schemeClr val="tx2"/>
                </a:solidFill>
              </a:rPr>
              <a:t>오차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3 </a:t>
            </a:r>
            <a:r>
              <a:rPr lang="ko-KR" altLang="en-US" sz="1050" b="1" dirty="0">
                <a:solidFill>
                  <a:schemeClr val="tx2"/>
                </a:solidFill>
              </a:rPr>
              <a:t>자리 반올림 </a:t>
            </a:r>
            <a:r>
              <a:rPr lang="en-US" altLang="ko-KR" sz="1050" b="1" dirty="0">
                <a:solidFill>
                  <a:schemeClr val="tx2"/>
                </a:solidFill>
              </a:rPr>
              <a:t>, </a:t>
            </a:r>
            <a:r>
              <a:rPr lang="ko-KR" altLang="en-US" sz="1050" b="1" dirty="0">
                <a:solidFill>
                  <a:schemeClr val="tx2"/>
                </a:solidFill>
              </a:rPr>
              <a:t>정확도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2</a:t>
            </a:r>
            <a:r>
              <a:rPr lang="ko-KR" altLang="en-US" sz="1050" b="1" dirty="0">
                <a:solidFill>
                  <a:schemeClr val="tx2"/>
                </a:solidFill>
              </a:rPr>
              <a:t> 자리에서 반올림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03589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0.5087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0.7947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2520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616" y="3240449"/>
            <a:ext cx="3227152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5778" y="5271474"/>
            <a:ext cx="323353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0.8622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0.4201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0.9656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92488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0.8781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0.9470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0.6749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4" y="5271474"/>
            <a:ext cx="3192888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5271474"/>
            <a:ext cx="319289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0.8659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0.5503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0.8748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6851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1"/>
            <a:ext cx="9499405" cy="342084"/>
            <a:chOff x="1692739" y="4630163"/>
            <a:chExt cx="8869170" cy="291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7BEAE122-3789-4AE3-8E16-CB00E8021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81" y="3744875"/>
            <a:ext cx="3666890" cy="81848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05" y="4512181"/>
            <a:ext cx="3764611" cy="1984836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CBB692A-AAAD-4933-B40C-4905E8139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152" y="3746384"/>
            <a:ext cx="3666890" cy="81848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955" y="4565785"/>
            <a:ext cx="3780087" cy="198299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AA367BB-235B-436B-BB2A-8B69D38940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527" y="3766473"/>
            <a:ext cx="3670568" cy="81848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863" y="4553776"/>
            <a:ext cx="3780087" cy="1973228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B86AC3FC-9F5F-4B53-ABE0-05F1C177B4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81" y="683300"/>
            <a:ext cx="3631234" cy="8184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67" y="1450606"/>
            <a:ext cx="3780087" cy="1984836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ABF5E94-D2D2-4A42-A3FE-77AD6D9EDF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273" y="684809"/>
            <a:ext cx="3631234" cy="81848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89" y="1503290"/>
            <a:ext cx="3733018" cy="1984836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1AF3CBEF-DE83-4C8F-B316-CCE2BEEE53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526" y="704898"/>
            <a:ext cx="3673423" cy="81848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863" y="1495992"/>
            <a:ext cx="3780087" cy="196564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8032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2705725"/>
            <a:ext cx="6841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</a:rPr>
              <a:t>관심수위 </a:t>
            </a:r>
            <a:r>
              <a:rPr lang="en-US" altLang="ko-KR" sz="4400" b="1" dirty="0">
                <a:latin typeface="+mj-ea"/>
              </a:rPr>
              <a:t>+ MAE </a:t>
            </a:r>
            <a:r>
              <a:rPr lang="en-US" altLang="ko-KR" sz="4400" b="1" dirty="0">
                <a:latin typeface="+mj-ea"/>
                <a:ea typeface="+mj-ea"/>
              </a:rPr>
              <a:t>+</a:t>
            </a:r>
          </a:p>
          <a:p>
            <a:pPr algn="ctr"/>
            <a:r>
              <a:rPr lang="en-US" altLang="ko-KR" sz="4400" b="1" dirty="0">
                <a:highlight>
                  <a:srgbClr val="FFFF00"/>
                </a:highlight>
                <a:latin typeface="+mj-ea"/>
                <a:ea typeface="+mj-ea"/>
              </a:rPr>
              <a:t>2020</a:t>
            </a:r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년 이후 데이터 학습</a:t>
            </a:r>
            <a:endParaRPr lang="en-US" altLang="ko-KR" sz="4400" b="1" dirty="0">
              <a:highlight>
                <a:srgbClr val="FFFF00"/>
              </a:highlight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07428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40</a:t>
            </a:r>
            <a:r>
              <a:rPr lang="ko-KR" altLang="en-US" sz="1600" dirty="0"/>
              <a:t>개 中 </a:t>
            </a:r>
            <a:r>
              <a:rPr lang="en-US" altLang="ko-KR" sz="1600" dirty="0"/>
              <a:t>35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5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( 25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2369075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MAE + 2020</a:t>
            </a:r>
            <a:r>
              <a:rPr lang="ko-KR" altLang="en-US" sz="2000" b="1" dirty="0">
                <a:latin typeface="+mj-ea"/>
              </a:rPr>
              <a:t>년 이후 데이터 학습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568696"/>
              </p:ext>
            </p:extLst>
          </p:nvPr>
        </p:nvGraphicFramePr>
        <p:xfrm>
          <a:off x="49953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0.9513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0.0102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0.0814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0.1013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0.8845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0.0704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0.1797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0.2653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-0.8548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0.2712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-0.1561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0.3550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0.4023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0.8751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0.3701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0.4953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0.8136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0.0610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0.6077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0.1365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0.8213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0.0179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0.2498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0.7835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0.0402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0.1572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0.2006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3910879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128691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최근 패턴 집중 → 소폭 개선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 데이터 감소 → 일반화 성능 저하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지점별 데이터 분리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???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20097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C23E56-5E1A-459D-86BE-232044F641FE}"/>
              </a:ext>
            </a:extLst>
          </p:cNvPr>
          <p:cNvSpPr txBox="1"/>
          <p:nvPr/>
        </p:nvSpPr>
        <p:spPr>
          <a:xfrm>
            <a:off x="-171538" y="2873421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+ 2.5 %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+ 0.5 %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E5835F-5E4D-40B7-8E65-510FB015EF13}"/>
              </a:ext>
            </a:extLst>
          </p:cNvPr>
          <p:cNvSpPr txBox="1"/>
          <p:nvPr/>
        </p:nvSpPr>
        <p:spPr>
          <a:xfrm>
            <a:off x="7111981" y="2957838"/>
            <a:ext cx="354755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b="1" dirty="0">
                <a:solidFill>
                  <a:schemeClr val="tx2"/>
                </a:solidFill>
              </a:rPr>
              <a:t>+)  1</a:t>
            </a:r>
            <a:r>
              <a:rPr lang="ko-KR" altLang="en-US" sz="1050" b="1" dirty="0">
                <a:solidFill>
                  <a:schemeClr val="tx2"/>
                </a:solidFill>
              </a:rPr>
              <a:t>시간 뒤 </a:t>
            </a:r>
            <a:r>
              <a:rPr lang="en-US" altLang="ko-KR" sz="1050" b="1" dirty="0">
                <a:solidFill>
                  <a:schemeClr val="tx2"/>
                </a:solidFill>
              </a:rPr>
              <a:t>, 3</a:t>
            </a:r>
            <a:r>
              <a:rPr lang="ko-KR" altLang="en-US" sz="1050" b="1" dirty="0">
                <a:solidFill>
                  <a:schemeClr val="tx2"/>
                </a:solidFill>
              </a:rPr>
              <a:t>시간 뒤 시점 예측 결과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오차 수위 </a:t>
            </a:r>
            <a:r>
              <a:rPr lang="en-US" altLang="ko-KR" sz="1050" b="1" dirty="0">
                <a:solidFill>
                  <a:schemeClr val="tx2"/>
                </a:solidFill>
              </a:rPr>
              <a:t>( </a:t>
            </a:r>
            <a:r>
              <a:rPr lang="ko-KR" altLang="en-US" sz="1050" b="1" dirty="0">
                <a:solidFill>
                  <a:schemeClr val="tx2"/>
                </a:solidFill>
              </a:rPr>
              <a:t>정확도</a:t>
            </a:r>
            <a:r>
              <a:rPr lang="en-US" altLang="ko-KR" sz="1050" b="1" dirty="0">
                <a:solidFill>
                  <a:schemeClr val="tx2"/>
                </a:solidFill>
              </a:rPr>
              <a:t> )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EB8B96AA-BB21-45CF-BD43-A424432C4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876216"/>
              </p:ext>
            </p:extLst>
          </p:nvPr>
        </p:nvGraphicFramePr>
        <p:xfrm>
          <a:off x="7111982" y="3428998"/>
          <a:ext cx="4560572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40143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10044396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94.9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99.5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98.3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-0.68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81.1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0.22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90.4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0.43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83.0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0.29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93.6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0.30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93.8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-0.50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74.4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-0.08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95.9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96.6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-0.82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82.2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-0.21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87.3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-0.01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99.1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99.4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99.6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-0.09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93.0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-0.10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94.2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0.10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95.0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-0.58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84.7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93.9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94.6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-0.30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89.5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0.21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92.8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C4CEF5E-1F23-493F-9688-333C243F4B5C}"/>
              </a:ext>
            </a:extLst>
          </p:cNvPr>
          <p:cNvSpPr txBox="1"/>
          <p:nvPr/>
        </p:nvSpPr>
        <p:spPr>
          <a:xfrm>
            <a:off x="8170315" y="6377938"/>
            <a:ext cx="3751686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50" b="1" dirty="0">
                <a:solidFill>
                  <a:schemeClr val="tx2"/>
                </a:solidFill>
              </a:rPr>
              <a:t>오차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3 </a:t>
            </a:r>
            <a:r>
              <a:rPr lang="ko-KR" altLang="en-US" sz="1050" b="1" dirty="0">
                <a:solidFill>
                  <a:schemeClr val="tx2"/>
                </a:solidFill>
              </a:rPr>
              <a:t>자리 반올림 </a:t>
            </a:r>
            <a:r>
              <a:rPr lang="en-US" altLang="ko-KR" sz="1050" b="1" dirty="0">
                <a:solidFill>
                  <a:schemeClr val="tx2"/>
                </a:solidFill>
              </a:rPr>
              <a:t>, </a:t>
            </a:r>
            <a:r>
              <a:rPr lang="ko-KR" altLang="en-US" sz="1050" b="1" dirty="0">
                <a:solidFill>
                  <a:schemeClr val="tx2"/>
                </a:solidFill>
              </a:rPr>
              <a:t>정확도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2</a:t>
            </a:r>
            <a:r>
              <a:rPr lang="ko-KR" altLang="en-US" sz="1050" b="1" dirty="0">
                <a:solidFill>
                  <a:schemeClr val="tx2"/>
                </a:solidFill>
              </a:rPr>
              <a:t> 자리에서 반올림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93379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0.7835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0.8213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0.8136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-0.8548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0.9513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21607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0.8840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0.8647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0.6077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4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8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5271474"/>
            <a:ext cx="3195542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-0.1561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0.8845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9709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1"/>
            <a:ext cx="9499405" cy="342084"/>
            <a:chOff x="1692739" y="4630163"/>
            <a:chExt cx="8869170" cy="291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</p:grpSp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10" y="4529572"/>
            <a:ext cx="3750400" cy="1950054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CBB692A-AAAD-4933-B40C-4905E8139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152" y="3746384"/>
            <a:ext cx="3666890" cy="81848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237" y="4578476"/>
            <a:ext cx="3735523" cy="1957613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AA367BB-235B-436B-BB2A-8B69D38940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527" y="3766473"/>
            <a:ext cx="3670568" cy="81848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429" y="4561444"/>
            <a:ext cx="3724954" cy="1957891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B86AC3FC-9F5F-4B53-ABE0-05F1C177B4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81" y="683300"/>
            <a:ext cx="3631234" cy="8184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24" y="1458344"/>
            <a:ext cx="3746772" cy="1969359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ABF5E94-D2D2-4A42-A3FE-77AD6D9EDF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273" y="684809"/>
            <a:ext cx="3631234" cy="81848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717" y="1527110"/>
            <a:ext cx="3696561" cy="1937195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1AF3CBEF-DE83-4C8F-B316-CCE2BEEE53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526" y="704898"/>
            <a:ext cx="3673423" cy="81848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754" y="1502872"/>
            <a:ext cx="3706303" cy="195188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C86B8E9-4D13-4C01-B762-FF0ED8FCC58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8471CB87-E9FE-4394-A53A-4434293B5D1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3744875"/>
            <a:ext cx="3782428" cy="81848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9BAD4C7-3AB4-4918-8021-81A245A69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045" y="3746384"/>
            <a:ext cx="3779997" cy="81848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43CEBDEA-83D2-4E93-92A9-D52D3E64E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791" y="3766473"/>
            <a:ext cx="3772303" cy="818481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2768B23-7F59-4053-AF75-406E141E66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683300"/>
            <a:ext cx="3746772" cy="81848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73AD281D-B16D-4D51-A603-D8BF3D9DC2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735" y="684809"/>
            <a:ext cx="3746772" cy="81848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1BDF9F16-6C7E-4CD5-A669-C59953D5BE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646" y="704898"/>
            <a:ext cx="3772303" cy="81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5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2705725"/>
            <a:ext cx="6841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</a:rPr>
              <a:t>관심수위 </a:t>
            </a:r>
            <a:r>
              <a:rPr lang="en-US" altLang="ko-KR" sz="4400" b="1" dirty="0">
                <a:latin typeface="+mj-ea"/>
              </a:rPr>
              <a:t>+ MAE + </a:t>
            </a:r>
          </a:p>
          <a:p>
            <a:pPr algn="ctr"/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누적 강우 추가</a:t>
            </a:r>
            <a:endParaRPr lang="en-US" altLang="ko-KR" sz="4400" b="1" dirty="0">
              <a:highlight>
                <a:srgbClr val="FFFF00"/>
              </a:highlight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19530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67922" y="3219528"/>
          <a:ext cx="10530246" cy="8280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989999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37564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37564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32814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662403286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1805919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157561"/>
            <a:ext cx="8949270" cy="677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050" dirty="0"/>
              <a:t>( </a:t>
            </a:r>
            <a:r>
              <a:rPr lang="ko-KR" altLang="en-US" sz="1050" dirty="0"/>
              <a:t>누적 강우  →  학습과 예측에 사용 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6E4C02-DE21-4ADE-9F42-7F23287CBF1F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EBFEAE-8552-4863-9B16-E59C54912F41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47692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추가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320591"/>
              </p:ext>
            </p:extLst>
          </p:nvPr>
        </p:nvGraphicFramePr>
        <p:xfrm>
          <a:off x="494706" y="3387772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0.8893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0.0233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0.1222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0.1529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0.7441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0.1561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0.2908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0.3951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-0.6973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0.0673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0.2298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0.2595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0.6399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0.2245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0.9031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0.8559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0.1311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0.2905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0.3621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0.8385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0.0130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0.0713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0.1142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0.5656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0.1076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0.1437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0.7659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0.1271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0.1532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0.9182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0.0377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0.1533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0.1942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0.6406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0.8301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0.0589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0.1976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0.2428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3893966" y="3743079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1270000" y="3743079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/dg)_rf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-171538" y="2873421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-1.9 %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-5.6 %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56EADD-D4E0-482E-B851-9EDEE4B3C949}"/>
              </a:ext>
            </a:extLst>
          </p:cNvPr>
          <p:cNvSpPr txBox="1"/>
          <p:nvPr/>
        </p:nvSpPr>
        <p:spPr>
          <a:xfrm>
            <a:off x="7060246" y="2916612"/>
            <a:ext cx="3709353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b="1" dirty="0">
                <a:solidFill>
                  <a:schemeClr val="tx2"/>
                </a:solidFill>
              </a:rPr>
              <a:t>+)  1</a:t>
            </a:r>
            <a:r>
              <a:rPr lang="ko-KR" altLang="en-US" sz="1050" b="1" dirty="0">
                <a:solidFill>
                  <a:schemeClr val="tx2"/>
                </a:solidFill>
              </a:rPr>
              <a:t>시간 뒤 </a:t>
            </a:r>
            <a:r>
              <a:rPr lang="en-US" altLang="ko-KR" sz="1050" b="1" dirty="0">
                <a:solidFill>
                  <a:schemeClr val="tx2"/>
                </a:solidFill>
              </a:rPr>
              <a:t>, 3</a:t>
            </a:r>
            <a:r>
              <a:rPr lang="ko-KR" altLang="en-US" sz="1050" b="1" dirty="0">
                <a:solidFill>
                  <a:schemeClr val="tx2"/>
                </a:solidFill>
              </a:rPr>
              <a:t>시간 뒤 시점 예측 결과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오차 수위 </a:t>
            </a:r>
            <a:r>
              <a:rPr lang="en-US" altLang="ko-KR" sz="1050" b="1" dirty="0">
                <a:solidFill>
                  <a:schemeClr val="tx2"/>
                </a:solidFill>
              </a:rPr>
              <a:t>( </a:t>
            </a:r>
            <a:r>
              <a:rPr lang="ko-KR" altLang="en-US" sz="1050" b="1" dirty="0">
                <a:solidFill>
                  <a:schemeClr val="tx2"/>
                </a:solidFill>
              </a:rPr>
              <a:t>정확도</a:t>
            </a:r>
            <a:r>
              <a:rPr lang="en-US" altLang="ko-KR" sz="1050" b="1" dirty="0">
                <a:solidFill>
                  <a:schemeClr val="tx2"/>
                </a:solidFill>
              </a:rPr>
              <a:t> )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CF0786-8549-4A86-960F-B478FFF28AF7}"/>
              </a:ext>
            </a:extLst>
          </p:cNvPr>
          <p:cNvSpPr txBox="1"/>
          <p:nvPr/>
        </p:nvSpPr>
        <p:spPr>
          <a:xfrm>
            <a:off x="7111047" y="6378188"/>
            <a:ext cx="4810019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50" b="1" dirty="0">
                <a:solidFill>
                  <a:schemeClr val="tx2"/>
                </a:solidFill>
              </a:rPr>
              <a:t>예측수위 </a:t>
            </a:r>
            <a:r>
              <a:rPr lang="en-US" altLang="ko-KR" sz="1050" b="1" dirty="0">
                <a:solidFill>
                  <a:schemeClr val="tx2"/>
                </a:solidFill>
              </a:rPr>
              <a:t>, </a:t>
            </a:r>
            <a:r>
              <a:rPr lang="ko-KR" altLang="en-US" sz="1050" b="1" dirty="0">
                <a:solidFill>
                  <a:schemeClr val="tx2"/>
                </a:solidFill>
              </a:rPr>
              <a:t>오차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3 </a:t>
            </a:r>
            <a:r>
              <a:rPr lang="ko-KR" altLang="en-US" sz="1050" b="1" dirty="0">
                <a:solidFill>
                  <a:schemeClr val="tx2"/>
                </a:solidFill>
              </a:rPr>
              <a:t>자리 반올림 </a:t>
            </a:r>
            <a:r>
              <a:rPr lang="en-US" altLang="ko-KR" sz="1050" b="1" dirty="0">
                <a:solidFill>
                  <a:schemeClr val="tx2"/>
                </a:solidFill>
              </a:rPr>
              <a:t>, </a:t>
            </a:r>
            <a:r>
              <a:rPr lang="ko-KR" altLang="en-US" sz="1050" b="1" dirty="0">
                <a:solidFill>
                  <a:schemeClr val="tx2"/>
                </a:solidFill>
              </a:rPr>
              <a:t>정확도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2</a:t>
            </a:r>
            <a:r>
              <a:rPr lang="ko-KR" altLang="en-US" sz="1050" b="1" dirty="0">
                <a:solidFill>
                  <a:schemeClr val="tx2"/>
                </a:solidFill>
              </a:rPr>
              <a:t> 자리에서 반올림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DD2370-D167-4107-89DF-7F8756380E95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급격한 상승 사상에는 도움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장시간 완만 상승 사상에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과적합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설명변수 부적합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학습 데이터 감소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변수 증가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=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과적합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076DF0E7-44BA-4914-B463-B345E6D3B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206486"/>
              </p:ext>
            </p:extLst>
          </p:nvPr>
        </p:nvGraphicFramePr>
        <p:xfrm>
          <a:off x="7060247" y="3387772"/>
          <a:ext cx="4560572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40143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10044396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( 97.2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-0.38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( 82.6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( 99.8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-0.88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( 75.6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0.32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( 85.9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( 95.4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( 97.9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0.25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( 94.9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-0.52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( 73.1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( 98.6 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( 98.4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-0.38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( 91.8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-0.25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( 84.9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( 97.8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( 99.3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 99 %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( 88.4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( 91.2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( 99.3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-0.41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 89 %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( 97.7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( 98.3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( 85.9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( 98.2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277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689483"/>
            <a:ext cx="3193671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2689402"/>
            <a:ext cx="3193671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0.6406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0.7659</a:t>
              </a:r>
              <a:r>
                <a:rPr lang="en-US" altLang="ko-KR" sz="1200" b="1" dirty="0"/>
                <a:t> 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 0.8385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3" y="5271474"/>
            <a:ext cx="319367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2" y="2712227"/>
            <a:ext cx="3193671" cy="50539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931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3" y="3240449"/>
            <a:ext cx="319367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0.9031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-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0.6973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0.8893 </a:t>
              </a:r>
              <a:endParaRPr lang="ko-KR" altLang="en-US" sz="1200" b="1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B275787-CB57-4FBF-9BFE-96ABA0EDA1D2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/dg)_rf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48A1701F-1E76-4B9E-ACBC-A99B7B0DD0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4747938"/>
            <a:ext cx="3227450" cy="49754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4A75D3F-9220-497E-9869-54399B35E0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371" y="5271474"/>
            <a:ext cx="3193670" cy="135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86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4747938"/>
            <a:ext cx="3192891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016" y="1247792"/>
            <a:ext cx="3176257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1" y="3240449"/>
            <a:ext cx="3192891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455" y="5271474"/>
            <a:ext cx="3176257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47" y="4747938"/>
            <a:ext cx="3192891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2" y="1254012"/>
            <a:ext cx="3176257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48" y="3240449"/>
            <a:ext cx="3192891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2" y="5271474"/>
            <a:ext cx="3176257" cy="13561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9FA8BA-AD4F-4435-80C7-4447213A425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/dg)_rf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6ED2C04-8E0A-4BF9-91C7-3D11FD606F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8C2957F-BFE7-46CB-B0E3-DA69D6D943D9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0623A4F-078B-4CF1-83C1-D064A38C281B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97735E6-2EDF-4EEC-9516-E21AAF1819F4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108AC27-B639-4545-B705-8D407272E650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0.8301 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77689E3-8560-4022-BFCF-3E7EFAC96ED6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0.9182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BEBB8AD-4C91-4F16-A1DC-34DC4C043DF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0.5656</a:t>
              </a:r>
              <a:r>
                <a:rPr lang="en-US" altLang="ko-KR" sz="1200" b="1" dirty="0"/>
                <a:t> 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09B6C0E-1B9E-483F-BC27-21111E7A34F7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C739523-FC46-4333-8B7E-ACE8D41CAE58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60517DC-3427-47AB-9D67-69C3D683D07B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A6FF8C-2467-4FD0-BA08-BBD5528504D0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80A6C1A-7E95-4417-A16E-9EC9FFD76612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0.8559 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D932177-D6F8-413D-84B4-9732BF30196C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0.6399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4A7D638-1207-469F-8F89-CB6656FE07FB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0.7441</a:t>
              </a:r>
              <a:r>
                <a:rPr lang="en-US" altLang="ko-KR" sz="1200" b="1" dirty="0"/>
                <a:t> 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25503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1"/>
            <a:ext cx="9499405" cy="342084"/>
            <a:chOff x="1692739" y="4630163"/>
            <a:chExt cx="8869170" cy="291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</p:grpSp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87" y="4529572"/>
            <a:ext cx="3691445" cy="195005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985" y="4582300"/>
            <a:ext cx="3732027" cy="1949965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429" y="4566346"/>
            <a:ext cx="3724954" cy="1948086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09" y="1472669"/>
            <a:ext cx="3725402" cy="1940709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403" y="1534677"/>
            <a:ext cx="3675188" cy="192206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301" y="1519113"/>
            <a:ext cx="3673208" cy="191940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8471CB87-E9FE-4394-A53A-4434293B5D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35" y="3744875"/>
            <a:ext cx="3779997" cy="81848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9BAD4C7-3AB4-4918-8021-81A245A69F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162" y="3746384"/>
            <a:ext cx="3782428" cy="81848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43CEBDEA-83D2-4E93-92A9-D52D3E64E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5085" y="3766473"/>
            <a:ext cx="3782428" cy="818481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2768B23-7F59-4053-AF75-406E141E66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51" y="683300"/>
            <a:ext cx="3730881" cy="81848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73AD281D-B16D-4D51-A603-D8BF3D9DC2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709" y="684809"/>
            <a:ext cx="3730881" cy="81848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1BDF9F16-6C7E-4CD5-A669-C59953D5BEE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631" y="704898"/>
            <a:ext cx="3730881" cy="81848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41AB764-8E60-4938-A424-22D2AD19290E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/dg)_rf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3696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2367171"/>
            <a:ext cx="68410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</a:rPr>
              <a:t>관심수위 </a:t>
            </a:r>
            <a:r>
              <a:rPr lang="en-US" altLang="ko-KR" sz="4400" b="1" dirty="0">
                <a:latin typeface="+mj-ea"/>
              </a:rPr>
              <a:t>+ MAE + 2020</a:t>
            </a:r>
            <a:r>
              <a:rPr lang="ko-KR" altLang="en-US" sz="4400" b="1" dirty="0">
                <a:latin typeface="+mj-ea"/>
              </a:rPr>
              <a:t>년 이후 데이터 학습</a:t>
            </a:r>
            <a:endParaRPr lang="en-US" altLang="ko-KR" sz="4400" b="1" dirty="0">
              <a:latin typeface="+mj-ea"/>
            </a:endParaRP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 </a:t>
            </a:r>
            <a:r>
              <a:rPr lang="en-US" altLang="ko-KR" sz="4400" b="1" dirty="0">
                <a:latin typeface="+mj-ea"/>
                <a:ea typeface="+mj-ea"/>
              </a:rPr>
              <a:t>+ </a:t>
            </a:r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누적 강우 추가</a:t>
            </a:r>
            <a:endParaRPr lang="en-US" altLang="ko-KR" sz="4400" b="1" dirty="0">
              <a:highlight>
                <a:srgbClr val="FFFF00"/>
              </a:highlight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84443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873129"/>
              </p:ext>
            </p:extLst>
          </p:nvPr>
        </p:nvGraphicFramePr>
        <p:xfrm>
          <a:off x="867922" y="3219528"/>
          <a:ext cx="10530246" cy="8280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989999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37564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37564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32814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662403286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1805919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157561"/>
            <a:ext cx="8949270" cy="677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050" dirty="0"/>
              <a:t>( </a:t>
            </a:r>
            <a:r>
              <a:rPr lang="ko-KR" altLang="en-US" sz="1050" dirty="0"/>
              <a:t>누적 강우  →  학습과 예측에 사용 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40</a:t>
            </a:r>
            <a:r>
              <a:rPr lang="ko-KR" altLang="en-US" sz="1600" dirty="0"/>
              <a:t>개 中 </a:t>
            </a:r>
            <a:r>
              <a:rPr lang="en-US" altLang="ko-KR" sz="1600" dirty="0"/>
              <a:t>35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5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( 25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2827265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MAE + 2020</a:t>
            </a:r>
            <a:r>
              <a:rPr lang="ko-KR" altLang="en-US" sz="2000" b="1" dirty="0">
                <a:latin typeface="+mj-ea"/>
              </a:rPr>
              <a:t>년 이후 데이터 학습</a:t>
            </a:r>
            <a:r>
              <a:rPr lang="en-US" altLang="ko-KR" sz="2000" b="1" dirty="0">
                <a:latin typeface="+mj-ea"/>
              </a:rPr>
              <a:t> + </a:t>
            </a:r>
            <a:r>
              <a:rPr lang="ko-KR" altLang="en-US" sz="2000" b="1" dirty="0">
                <a:latin typeface="+mj-ea"/>
              </a:rPr>
              <a:t>누적 강우 추가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502591"/>
              </p:ext>
            </p:extLst>
          </p:nvPr>
        </p:nvGraphicFramePr>
        <p:xfrm>
          <a:off x="494706" y="3387772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0.9507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0.0104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0.0669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0.1020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0.8523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0.0900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0.2342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0.3001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0.1744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-0.5266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0.2137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0.4104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0.4623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0.8663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0.1237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0.1934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0.7527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0.3573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0.4743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0.8524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0.1092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0.6739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0.0883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0.1245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0.7764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0.0224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0.1197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0.1497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0.9528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0.1085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0.5660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0.1706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0.2179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3893966" y="3743079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1270000" y="3743079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/dg)_rf20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급격한 상승 사상에는 도움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장시간 완만 상승 사상에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과적합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설명변수 부적합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학습 데이터 감소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변수 증가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=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과적합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-171538" y="2873421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-0.87 %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-25.5 %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56EADD-D4E0-482E-B851-9EDEE4B3C949}"/>
              </a:ext>
            </a:extLst>
          </p:cNvPr>
          <p:cNvSpPr txBox="1"/>
          <p:nvPr/>
        </p:nvSpPr>
        <p:spPr>
          <a:xfrm>
            <a:off x="7060247" y="2916612"/>
            <a:ext cx="3297682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b="1" dirty="0">
                <a:solidFill>
                  <a:schemeClr val="tx2"/>
                </a:solidFill>
              </a:rPr>
              <a:t>+)  1</a:t>
            </a:r>
            <a:r>
              <a:rPr lang="ko-KR" altLang="en-US" sz="1050" b="1" dirty="0">
                <a:solidFill>
                  <a:schemeClr val="tx2"/>
                </a:solidFill>
              </a:rPr>
              <a:t>시간 뒤 </a:t>
            </a:r>
            <a:r>
              <a:rPr lang="en-US" altLang="ko-KR" sz="1050" b="1" dirty="0">
                <a:solidFill>
                  <a:schemeClr val="tx2"/>
                </a:solidFill>
              </a:rPr>
              <a:t>, 3</a:t>
            </a:r>
            <a:r>
              <a:rPr lang="ko-KR" altLang="en-US" sz="1050" b="1" dirty="0">
                <a:solidFill>
                  <a:schemeClr val="tx2"/>
                </a:solidFill>
              </a:rPr>
              <a:t>시간 뒤 시점 예측 결과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오차 </a:t>
            </a:r>
            <a:r>
              <a:rPr lang="en-US" altLang="ko-KR" sz="1050" b="1" dirty="0">
                <a:solidFill>
                  <a:schemeClr val="tx2"/>
                </a:solidFill>
              </a:rPr>
              <a:t>( </a:t>
            </a:r>
            <a:r>
              <a:rPr lang="ko-KR" altLang="en-US" sz="1050" b="1" dirty="0">
                <a:solidFill>
                  <a:schemeClr val="tx2"/>
                </a:solidFill>
              </a:rPr>
              <a:t>정확도</a:t>
            </a:r>
            <a:r>
              <a:rPr lang="en-US" altLang="ko-KR" sz="1050" b="1" dirty="0">
                <a:solidFill>
                  <a:schemeClr val="tx2"/>
                </a:solidFill>
              </a:rPr>
              <a:t> )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DF094C11-ADD8-41D9-BECD-A92B4A948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683712"/>
              </p:ext>
            </p:extLst>
          </p:nvPr>
        </p:nvGraphicFramePr>
        <p:xfrm>
          <a:off x="7060247" y="3387772"/>
          <a:ext cx="4560572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40143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10044396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99.9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-0.08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96.3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97.8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-0.52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85.6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0.28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87.8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97.3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0.24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94.7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0.54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88.9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-0.62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68.2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-0.11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94.1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99.6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-0.62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86.5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-0.20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88.2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-0.09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93.4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99.1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-0.01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99.7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-0.10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92.1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-0.27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84.7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0.07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96.4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-0.29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92.4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0.17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86.2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-0.11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93.0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-0.34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88.0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0.34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88.5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64B6F85-1357-4BE9-9C46-221462FFD297}"/>
              </a:ext>
            </a:extLst>
          </p:cNvPr>
          <p:cNvSpPr txBox="1"/>
          <p:nvPr/>
        </p:nvSpPr>
        <p:spPr>
          <a:xfrm>
            <a:off x="8118580" y="6336712"/>
            <a:ext cx="3751686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50" b="1" dirty="0">
                <a:solidFill>
                  <a:schemeClr val="tx2"/>
                </a:solidFill>
              </a:rPr>
              <a:t>오차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3 </a:t>
            </a:r>
            <a:r>
              <a:rPr lang="ko-KR" altLang="en-US" sz="1050" b="1" dirty="0">
                <a:solidFill>
                  <a:schemeClr val="tx2"/>
                </a:solidFill>
              </a:rPr>
              <a:t>자리 반올림 </a:t>
            </a:r>
            <a:r>
              <a:rPr lang="en-US" altLang="ko-KR" sz="1050" b="1" dirty="0">
                <a:solidFill>
                  <a:schemeClr val="tx2"/>
                </a:solidFill>
              </a:rPr>
              <a:t>, </a:t>
            </a:r>
            <a:r>
              <a:rPr lang="ko-KR" altLang="en-US" sz="1050" b="1" dirty="0">
                <a:solidFill>
                  <a:schemeClr val="tx2"/>
                </a:solidFill>
              </a:rPr>
              <a:t>정확도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2</a:t>
            </a:r>
            <a:r>
              <a:rPr lang="ko-KR" altLang="en-US" sz="1050" b="1" dirty="0">
                <a:solidFill>
                  <a:schemeClr val="tx2"/>
                </a:solidFill>
              </a:rPr>
              <a:t> 자리에서 반올림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79218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0.5660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0.7764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0.8524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4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5271474"/>
            <a:ext cx="3159110" cy="135610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0.8663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0.2329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0.9507</a:t>
              </a:r>
              <a:endParaRPr lang="ko-KR" altLang="en-US" sz="1200" b="1" dirty="0"/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74A75D3F-9220-497E-9869-54399B35E0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52" y="5271474"/>
            <a:ext cx="3192890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E1BD931-7DDF-48DA-B726-056635A9BCE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/dg)_rf20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81FA7FA-DE3D-4CCE-850D-CA11803975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689483"/>
            <a:ext cx="3193671" cy="54258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AAD2037F-DF4F-4342-BE96-B2AC03983B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2689402"/>
            <a:ext cx="3193671" cy="55104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9C19C334-D124-4905-996E-534B71F080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4721949"/>
            <a:ext cx="3227450" cy="54952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01F57E0-CDE7-44EB-891C-A0C7E98A3A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716172"/>
            <a:ext cx="3227450" cy="49277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2E71C2E-7FE6-4714-9296-CF68E43F62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2" y="2712227"/>
            <a:ext cx="3193671" cy="50539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2D10959B-B62D-471F-A785-0519BB7F9FC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4747938"/>
            <a:ext cx="3227450" cy="4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8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0.8631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0.9528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0.6739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1247792"/>
            <a:ext cx="322745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3240449"/>
            <a:ext cx="3192891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5271474"/>
            <a:ext cx="3192891" cy="135610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1254012"/>
            <a:ext cx="3176257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2" y="3240449"/>
            <a:ext cx="3192891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2" y="5271474"/>
            <a:ext cx="3176257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0.7527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-0.5266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0.8523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29CA73-A074-4D2D-94DD-8BC225BA50DE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/dg)_rf20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B2122BB9-47FB-45EC-90F8-4D047CB2E5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707985"/>
            <a:ext cx="3227450" cy="49314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064F5C2-DC10-4883-BBF0-744C9D0E92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2716152"/>
            <a:ext cx="3227450" cy="49754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59091C5-CC1F-4DED-BFEA-603FD5BE45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4747938"/>
            <a:ext cx="3192891" cy="497547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8C6CD84-7FCB-4BB0-8CF0-D7A73E43F2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716406"/>
            <a:ext cx="3227450" cy="48874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C785F6AC-F365-4F4B-A4CA-619DB8C42F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2716152"/>
            <a:ext cx="3227450" cy="49754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B4019152-7D26-4B31-9503-DA6DD83D4E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47" y="4747938"/>
            <a:ext cx="3192891" cy="4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947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1298983" y="6532801"/>
            <a:ext cx="9499405" cy="342084"/>
            <a:chOff x="1692739" y="4630163"/>
            <a:chExt cx="8869170" cy="29138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</p:grpSp>
      <p:pic>
        <p:nvPicPr>
          <p:cNvPr id="36" name="그림 35">
            <a:extLst>
              <a:ext uri="{FF2B5EF4-FFF2-40B4-BE49-F238E27FC236}">
                <a16:creationId xmlns:a16="http://schemas.microsoft.com/office/drawing/2014/main" id="{6D3A2A16-0AB1-47AA-A06D-F5D161DBC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52" y="4529572"/>
            <a:ext cx="3739515" cy="1950054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CBB692A-AAAD-4933-B40C-4905E8139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152" y="3746384"/>
            <a:ext cx="3666890" cy="81848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5DFD987-5307-4F41-AD26-40DE7F61D1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237" y="4582300"/>
            <a:ext cx="3735523" cy="1949965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AA367BB-235B-436B-BB2A-8B69D38940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527" y="3766473"/>
            <a:ext cx="3670568" cy="81848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51FA9F8-7C2C-4CB3-B056-A105AF4156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429" y="4566171"/>
            <a:ext cx="3724954" cy="1948437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2F0E-11D6-4310-807C-69A2959461C4}"/>
              </a:ext>
            </a:extLst>
          </p:cNvPr>
          <p:cNvGrpSpPr/>
          <p:nvPr/>
        </p:nvGrpSpPr>
        <p:grpSpPr>
          <a:xfrm>
            <a:off x="1298983" y="3471228"/>
            <a:ext cx="9499405" cy="293891"/>
            <a:chOff x="1692739" y="4630163"/>
            <a:chExt cx="8869170" cy="25033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2F8350-6FC9-4280-8408-D5851545DBF8}"/>
                </a:ext>
              </a:extLst>
            </p:cNvPr>
            <p:cNvSpPr txBox="1"/>
            <p:nvPr/>
          </p:nvSpPr>
          <p:spPr>
            <a:xfrm>
              <a:off x="9177331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C7D250-964F-4A29-AF87-1F9A5F10DC4D}"/>
                </a:ext>
              </a:extLst>
            </p:cNvPr>
            <p:cNvSpPr txBox="1"/>
            <p:nvPr/>
          </p:nvSpPr>
          <p:spPr>
            <a:xfrm>
              <a:off x="5557847" y="4630163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FA6DFF-BE7D-400F-BB70-24F67F80AF5D}"/>
                </a:ext>
              </a:extLst>
            </p:cNvPr>
            <p:cNvSpPr txBox="1"/>
            <p:nvPr/>
          </p:nvSpPr>
          <p:spPr>
            <a:xfrm>
              <a:off x="1692739" y="4644552"/>
              <a:ext cx="1384578" cy="235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B86AC3FC-9F5F-4B53-ABE0-05F1C177B4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81" y="683300"/>
            <a:ext cx="3631234" cy="8184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881D3EA-BAB2-4FFE-9B2C-7C538C4F4D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09" y="1458344"/>
            <a:ext cx="3725402" cy="1969359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ABF5E94-D2D2-4A42-A3FE-77AD6D9EDF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273" y="684809"/>
            <a:ext cx="3631234" cy="81848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6A9DE1B-0962-4172-B468-DA2532F5F1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717" y="1534677"/>
            <a:ext cx="3696561" cy="1922060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1AF3CBEF-DE83-4C8F-B316-CCE2BEEE53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526" y="704898"/>
            <a:ext cx="3673423" cy="81848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E42A79D-2AB2-4779-AF85-901F95BA92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754" y="1519113"/>
            <a:ext cx="3706303" cy="191940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2348EB6E-8FCB-443A-8FFF-32B3B1B98D66}"/>
              </a:ext>
            </a:extLst>
          </p:cNvPr>
          <p:cNvGrpSpPr/>
          <p:nvPr/>
        </p:nvGrpSpPr>
        <p:grpSpPr>
          <a:xfrm>
            <a:off x="9474199" y="70332"/>
            <a:ext cx="726511" cy="628088"/>
            <a:chOff x="7086600" y="35314"/>
            <a:chExt cx="726511" cy="62808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E7E004D-787B-497D-98B7-6BE555C57B5D}"/>
                </a:ext>
              </a:extLst>
            </p:cNvPr>
            <p:cNvSpPr/>
            <p:nvPr/>
          </p:nvSpPr>
          <p:spPr>
            <a:xfrm>
              <a:off x="7086600" y="307961"/>
              <a:ext cx="84666" cy="84916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0D0A6F5-8FC4-497A-8996-B623A4D3017E}"/>
                </a:ext>
              </a:extLst>
            </p:cNvPr>
            <p:cNvSpPr/>
            <p:nvPr/>
          </p:nvSpPr>
          <p:spPr>
            <a:xfrm>
              <a:off x="7086600" y="100945"/>
              <a:ext cx="84666" cy="84916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8BE7521-8723-43B3-9E32-71FED7B24755}"/>
                </a:ext>
              </a:extLst>
            </p:cNvPr>
            <p:cNvSpPr/>
            <p:nvPr/>
          </p:nvSpPr>
          <p:spPr>
            <a:xfrm>
              <a:off x="7086600" y="513017"/>
              <a:ext cx="84666" cy="8491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54935C-9C71-4149-AC15-B731A996F2CD}"/>
                </a:ext>
              </a:extLst>
            </p:cNvPr>
            <p:cNvSpPr txBox="1"/>
            <p:nvPr/>
          </p:nvSpPr>
          <p:spPr>
            <a:xfrm>
              <a:off x="7319198" y="35314"/>
              <a:ext cx="4910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궁내교</a:t>
              </a:r>
              <a:endParaRPr lang="ko-KR" altLang="en-US" sz="8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8CB579-6837-40A2-A13F-C7D515E14F57}"/>
                </a:ext>
              </a:extLst>
            </p:cNvPr>
            <p:cNvSpPr txBox="1"/>
            <p:nvPr/>
          </p:nvSpPr>
          <p:spPr>
            <a:xfrm>
              <a:off x="7319198" y="242697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 err="1"/>
                <a:t>대곡교</a:t>
              </a:r>
              <a:endParaRPr lang="ko-KR" altLang="en-US" sz="8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E1C385E-C34B-46B9-A478-1F0DC4697610}"/>
                </a:ext>
              </a:extLst>
            </p:cNvPr>
            <p:cNvSpPr txBox="1"/>
            <p:nvPr/>
          </p:nvSpPr>
          <p:spPr>
            <a:xfrm>
              <a:off x="7316352" y="447958"/>
              <a:ext cx="4939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예측</a:t>
              </a:r>
            </a:p>
          </p:txBody>
        </p:sp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8471CB87-E9FE-4394-A53A-4434293B5D1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3744875"/>
            <a:ext cx="3782428" cy="81848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9BAD4C7-3AB4-4918-8021-81A245A69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045" y="3746384"/>
            <a:ext cx="3779997" cy="81848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43CEBDEA-83D2-4E93-92A9-D52D3E64E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791" y="3766473"/>
            <a:ext cx="3772303" cy="818481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2768B23-7F59-4053-AF75-406E141E66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43" y="683300"/>
            <a:ext cx="3746772" cy="81848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73AD281D-B16D-4D51-A603-D8BF3D9DC2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735" y="684809"/>
            <a:ext cx="3746772" cy="81848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1BDF9F16-6C7E-4CD5-A669-C59953D5BE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646" y="704898"/>
            <a:ext cx="3772303" cy="81848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7EDF2CA-0F59-4CF3-9E84-A7E13D5CF3AF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/dg)_rf20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36513294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9573</TotalTime>
  <Words>2630</Words>
  <Application>Microsoft Office PowerPoint</Application>
  <PresentationFormat>와이드스크린</PresentationFormat>
  <Paragraphs>798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나눔고딕</vt:lpstr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1247</cp:revision>
  <dcterms:created xsi:type="dcterms:W3CDTF">2025-11-18T00:02:37Z</dcterms:created>
  <dcterms:modified xsi:type="dcterms:W3CDTF">2026-01-30T08:37:27Z</dcterms:modified>
</cp:coreProperties>
</file>