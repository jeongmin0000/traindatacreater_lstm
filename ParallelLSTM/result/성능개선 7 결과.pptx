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663" r:id="rId3"/>
    <p:sldId id="664" r:id="rId4"/>
    <p:sldId id="666" r:id="rId5"/>
    <p:sldId id="729" r:id="rId6"/>
    <p:sldId id="730" r:id="rId7"/>
    <p:sldId id="669" r:id="rId8"/>
    <p:sldId id="670" r:id="rId9"/>
    <p:sldId id="671" r:id="rId10"/>
    <p:sldId id="727" r:id="rId11"/>
    <p:sldId id="728" r:id="rId12"/>
    <p:sldId id="703" r:id="rId13"/>
    <p:sldId id="731" r:id="rId14"/>
    <p:sldId id="733" r:id="rId15"/>
    <p:sldId id="739" r:id="rId16"/>
    <p:sldId id="740" r:id="rId17"/>
    <p:sldId id="741" r:id="rId18"/>
    <p:sldId id="742" r:id="rId19"/>
    <p:sldId id="743" r:id="rId20"/>
    <p:sldId id="745" r:id="rId21"/>
    <p:sldId id="746" r:id="rId22"/>
    <p:sldId id="747" r:id="rId23"/>
    <p:sldId id="748" r:id="rId24"/>
    <p:sldId id="74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6336" autoAdjust="0"/>
  </p:normalViewPr>
  <p:slideViewPr>
    <p:cSldViewPr snapToGrid="0">
      <p:cViewPr varScale="1">
        <p:scale>
          <a:sx n="113" d="100"/>
          <a:sy n="113" d="100"/>
        </p:scale>
        <p:origin x="5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27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69.png"/><Relationship Id="rId5" Type="http://schemas.openxmlformats.org/officeDocument/2006/relationships/image" Target="../media/image64.png"/><Relationship Id="rId10" Type="http://schemas.openxmlformats.org/officeDocument/2006/relationships/image" Target="../media/image68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19.pn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12" Type="http://schemas.openxmlformats.org/officeDocument/2006/relationships/image" Target="../media/image118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5" Type="http://schemas.openxmlformats.org/officeDocument/2006/relationships/image" Target="../media/image111.png"/><Relationship Id="rId10" Type="http://schemas.openxmlformats.org/officeDocument/2006/relationships/image" Target="../media/image116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5" Type="http://schemas.openxmlformats.org/officeDocument/2006/relationships/image" Target="../media/image123.png"/><Relationship Id="rId10" Type="http://schemas.openxmlformats.org/officeDocument/2006/relationships/image" Target="../media/image128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3" Type="http://schemas.openxmlformats.org/officeDocument/2006/relationships/image" Target="../media/image39.png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139.png"/><Relationship Id="rId5" Type="http://schemas.openxmlformats.org/officeDocument/2006/relationships/image" Target="../media/image134.png"/><Relationship Id="rId10" Type="http://schemas.openxmlformats.org/officeDocument/2006/relationships/image" Target="../media/image138.png"/><Relationship Id="rId4" Type="http://schemas.openxmlformats.org/officeDocument/2006/relationships/image" Target="../media/image133.png"/><Relationship Id="rId9" Type="http://schemas.openxmlformats.org/officeDocument/2006/relationships/image" Target="../media/image13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3" Type="http://schemas.openxmlformats.org/officeDocument/2006/relationships/image" Target="../media/image143.pn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5" Type="http://schemas.openxmlformats.org/officeDocument/2006/relationships/image" Target="../media/image145.png"/><Relationship Id="rId10" Type="http://schemas.openxmlformats.org/officeDocument/2006/relationships/image" Target="../media/image150.png"/><Relationship Id="rId4" Type="http://schemas.openxmlformats.org/officeDocument/2006/relationships/image" Target="../media/image144.png"/><Relationship Id="rId9" Type="http://schemas.openxmlformats.org/officeDocument/2006/relationships/image" Target="../media/image14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165.pn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12" Type="http://schemas.openxmlformats.org/officeDocument/2006/relationships/image" Target="../media/image164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.png"/><Relationship Id="rId11" Type="http://schemas.openxmlformats.org/officeDocument/2006/relationships/image" Target="../media/image163.png"/><Relationship Id="rId5" Type="http://schemas.openxmlformats.org/officeDocument/2006/relationships/image" Target="../media/image157.png"/><Relationship Id="rId10" Type="http://schemas.openxmlformats.org/officeDocument/2006/relationships/image" Target="../media/image162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13" Type="http://schemas.openxmlformats.org/officeDocument/2006/relationships/image" Target="../media/image177.png"/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12" Type="http://schemas.openxmlformats.org/officeDocument/2006/relationships/image" Target="../media/image176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0.png"/><Relationship Id="rId11" Type="http://schemas.openxmlformats.org/officeDocument/2006/relationships/image" Target="../media/image175.png"/><Relationship Id="rId5" Type="http://schemas.openxmlformats.org/officeDocument/2006/relationships/image" Target="../media/image169.png"/><Relationship Id="rId10" Type="http://schemas.openxmlformats.org/officeDocument/2006/relationships/image" Target="../media/image174.png"/><Relationship Id="rId4" Type="http://schemas.openxmlformats.org/officeDocument/2006/relationships/image" Target="../media/image168.png"/><Relationship Id="rId9" Type="http://schemas.openxmlformats.org/officeDocument/2006/relationships/image" Target="../media/image17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13" Type="http://schemas.openxmlformats.org/officeDocument/2006/relationships/image" Target="../media/image189.png"/><Relationship Id="rId3" Type="http://schemas.openxmlformats.org/officeDocument/2006/relationships/image" Target="../media/image179.png"/><Relationship Id="rId7" Type="http://schemas.openxmlformats.org/officeDocument/2006/relationships/image" Target="../media/image183.png"/><Relationship Id="rId12" Type="http://schemas.openxmlformats.org/officeDocument/2006/relationships/image" Target="../media/image188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2.png"/><Relationship Id="rId11" Type="http://schemas.openxmlformats.org/officeDocument/2006/relationships/image" Target="../media/image187.png"/><Relationship Id="rId5" Type="http://schemas.openxmlformats.org/officeDocument/2006/relationships/image" Target="../media/image181.png"/><Relationship Id="rId10" Type="http://schemas.openxmlformats.org/officeDocument/2006/relationships/image" Target="../media/image186.png"/><Relationship Id="rId4" Type="http://schemas.openxmlformats.org/officeDocument/2006/relationships/image" Target="../media/image180.png"/><Relationship Id="rId9" Type="http://schemas.openxmlformats.org/officeDocument/2006/relationships/image" Target="../media/image1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747520" y="3044279"/>
            <a:ext cx="66969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AI </a:t>
            </a:r>
            <a:r>
              <a:rPr lang="ko-KR" altLang="en-US" sz="4400" b="1" dirty="0">
                <a:latin typeface="+mj-ea"/>
                <a:ea typeface="+mj-ea"/>
              </a:rPr>
              <a:t>모델 성능 개선 결과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결론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1C422-1565-448B-BCD7-AE68451E1256}"/>
              </a:ext>
            </a:extLst>
          </p:cNvPr>
          <p:cNvSpPr txBox="1"/>
          <p:nvPr/>
        </p:nvSpPr>
        <p:spPr>
          <a:xfrm>
            <a:off x="1751512" y="3429000"/>
            <a:ext cx="8688975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j-ea"/>
              </a:rPr>
              <a:t>관심수위 </a:t>
            </a:r>
            <a:r>
              <a:rPr lang="en-US" altLang="ko-KR" sz="1600" b="1" dirty="0">
                <a:latin typeface="+mj-ea"/>
              </a:rPr>
              <a:t>+ MAE + 2020</a:t>
            </a:r>
            <a:r>
              <a:rPr lang="ko-KR" altLang="en-US" sz="1600" b="1" dirty="0">
                <a:latin typeface="+mj-ea"/>
              </a:rPr>
              <a:t>년 이후 학습 이 그나마 안정적인 성능</a:t>
            </a:r>
            <a:endParaRPr lang="en-US" altLang="ko-KR" sz="1600" b="1" dirty="0">
              <a:latin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+mj-ea"/>
              </a:rPr>
              <a:t>22.07.12 </a:t>
            </a:r>
            <a:r>
              <a:rPr lang="ko-KR" altLang="en-US" sz="1600" b="1" dirty="0">
                <a:latin typeface="+mj-ea"/>
              </a:rPr>
              <a:t>유형 사상 </a:t>
            </a:r>
            <a:r>
              <a:rPr lang="en-US" altLang="ko-KR" sz="1600" b="1" dirty="0">
                <a:latin typeface="+mj-ea"/>
              </a:rPr>
              <a:t>: </a:t>
            </a:r>
            <a:r>
              <a:rPr lang="ko-KR" altLang="en-US" sz="1600" b="1" dirty="0" err="1">
                <a:latin typeface="+mj-ea"/>
              </a:rPr>
              <a:t>궁내교</a:t>
            </a:r>
            <a:r>
              <a:rPr lang="ko-KR" altLang="en-US" sz="1600" b="1" dirty="0">
                <a:latin typeface="+mj-ea"/>
              </a:rPr>
              <a:t> </a:t>
            </a:r>
            <a:r>
              <a:rPr lang="en-US" altLang="ko-KR" sz="1600" b="1" dirty="0">
                <a:latin typeface="+mj-ea"/>
              </a:rPr>
              <a:t>,</a:t>
            </a:r>
            <a:r>
              <a:rPr lang="ko-KR" altLang="en-US" sz="1600" b="1" dirty="0">
                <a:latin typeface="+mj-ea"/>
              </a:rPr>
              <a:t> </a:t>
            </a:r>
            <a:r>
              <a:rPr lang="ko-KR" altLang="en-US" sz="1600" b="1" dirty="0" err="1">
                <a:latin typeface="+mj-ea"/>
              </a:rPr>
              <a:t>대곡교</a:t>
            </a:r>
            <a:r>
              <a:rPr lang="ko-KR" altLang="en-US" sz="1600" b="1" dirty="0">
                <a:latin typeface="+mj-ea"/>
              </a:rPr>
              <a:t> 두 지점 동시에 성능이 저하</a:t>
            </a:r>
            <a:endParaRPr lang="en-US" altLang="ko-KR" sz="1600" b="1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j-ea"/>
              </a:rPr>
              <a:t>   </a:t>
            </a:r>
            <a:r>
              <a:rPr lang="ko-KR" altLang="en-US" sz="1600" b="1" dirty="0">
                <a:latin typeface="+mj-ea"/>
              </a:rPr>
              <a:t>→ </a:t>
            </a:r>
            <a:r>
              <a:rPr lang="en-US" altLang="ko-KR" sz="1050" b="1" dirty="0">
                <a:latin typeface="+mj-ea"/>
              </a:rPr>
              <a:t>(1) </a:t>
            </a:r>
            <a:r>
              <a:rPr lang="ko-KR" altLang="en-US" sz="1050" b="1" dirty="0">
                <a:latin typeface="+mj-ea"/>
              </a:rPr>
              <a:t>입력 강우</a:t>
            </a:r>
            <a:r>
              <a:rPr lang="en-US" altLang="ko-KR" sz="1050" b="1" dirty="0">
                <a:latin typeface="+mj-ea"/>
              </a:rPr>
              <a:t>/</a:t>
            </a:r>
            <a:r>
              <a:rPr lang="ko-KR" altLang="en-US" sz="1050" b="1" dirty="0">
                <a:latin typeface="+mj-ea"/>
              </a:rPr>
              <a:t>유량</a:t>
            </a:r>
            <a:r>
              <a:rPr lang="en-US" altLang="ko-KR" sz="1050" b="1" dirty="0">
                <a:latin typeface="+mj-ea"/>
              </a:rPr>
              <a:t>/</a:t>
            </a:r>
            <a:r>
              <a:rPr lang="ko-KR" altLang="en-US" sz="1050" b="1" dirty="0">
                <a:latin typeface="+mj-ea"/>
              </a:rPr>
              <a:t>수위 시계열 정합 문제</a:t>
            </a:r>
            <a:r>
              <a:rPr lang="en-US" altLang="ko-KR" sz="1050" b="1" dirty="0">
                <a:latin typeface="+mj-ea"/>
              </a:rPr>
              <a:t>, (2) </a:t>
            </a:r>
            <a:r>
              <a:rPr lang="ko-KR" altLang="en-US" sz="1050" b="1" dirty="0">
                <a:latin typeface="+mj-ea"/>
              </a:rPr>
              <a:t>운영</a:t>
            </a:r>
            <a:r>
              <a:rPr lang="en-US" altLang="ko-KR" sz="1050" b="1" dirty="0">
                <a:latin typeface="+mj-ea"/>
              </a:rPr>
              <a:t>(</a:t>
            </a:r>
            <a:r>
              <a:rPr lang="ko-KR" altLang="en-US" sz="1050" b="1" dirty="0">
                <a:latin typeface="+mj-ea"/>
              </a:rPr>
              <a:t>방류</a:t>
            </a:r>
            <a:r>
              <a:rPr lang="en-US" altLang="ko-KR" sz="1050" b="1" dirty="0">
                <a:latin typeface="+mj-ea"/>
              </a:rPr>
              <a:t>/</a:t>
            </a:r>
            <a:r>
              <a:rPr lang="ko-KR" altLang="en-US" sz="1050" b="1" dirty="0">
                <a:latin typeface="+mj-ea"/>
              </a:rPr>
              <a:t>펌프</a:t>
            </a:r>
            <a:r>
              <a:rPr lang="en-US" altLang="ko-KR" sz="1050" b="1" dirty="0">
                <a:latin typeface="+mj-ea"/>
              </a:rPr>
              <a:t>/</a:t>
            </a:r>
            <a:r>
              <a:rPr lang="ko-KR" altLang="en-US" sz="1050" b="1" dirty="0">
                <a:latin typeface="+mj-ea"/>
              </a:rPr>
              <a:t>수문</a:t>
            </a:r>
            <a:r>
              <a:rPr lang="en-US" altLang="ko-KR" sz="1050" b="1" dirty="0">
                <a:latin typeface="+mj-ea"/>
              </a:rPr>
              <a:t>) </a:t>
            </a:r>
            <a:r>
              <a:rPr lang="ko-KR" altLang="en-US" sz="1050" b="1" dirty="0">
                <a:latin typeface="+mj-ea"/>
              </a:rPr>
              <a:t>개입</a:t>
            </a:r>
            <a:r>
              <a:rPr lang="en-US" altLang="ko-KR" sz="1050" b="1" dirty="0">
                <a:latin typeface="+mj-ea"/>
              </a:rPr>
              <a:t>, (3) </a:t>
            </a:r>
            <a:r>
              <a:rPr lang="ko-KR" altLang="en-US" sz="1050" b="1" dirty="0">
                <a:latin typeface="+mj-ea"/>
              </a:rPr>
              <a:t>센서 이상</a:t>
            </a:r>
            <a:r>
              <a:rPr lang="en-US" altLang="ko-KR" sz="1050" b="1" dirty="0">
                <a:latin typeface="+mj-ea"/>
              </a:rPr>
              <a:t>/</a:t>
            </a:r>
            <a:r>
              <a:rPr lang="ko-KR" altLang="en-US" sz="1050" b="1" dirty="0">
                <a:latin typeface="+mj-ea"/>
              </a:rPr>
              <a:t>결측</a:t>
            </a:r>
            <a:r>
              <a:rPr lang="en-US" altLang="ko-KR" sz="1050" b="1" dirty="0">
                <a:latin typeface="+mj-ea"/>
              </a:rPr>
              <a:t>/</a:t>
            </a:r>
            <a:r>
              <a:rPr lang="ko-KR" altLang="en-US" sz="1050" b="1" dirty="0" err="1">
                <a:latin typeface="+mj-ea"/>
              </a:rPr>
              <a:t>시간오프셋</a:t>
            </a:r>
            <a:r>
              <a:rPr lang="ko-KR" altLang="en-US" sz="1050" b="1" dirty="0">
                <a:latin typeface="+mj-ea"/>
              </a:rPr>
              <a:t> 중 하나</a:t>
            </a:r>
            <a:r>
              <a:rPr lang="en-US" altLang="ko-KR" sz="1050" b="1" dirty="0">
                <a:latin typeface="+mj-ea"/>
              </a:rPr>
              <a:t>(</a:t>
            </a:r>
            <a:r>
              <a:rPr lang="ko-KR" altLang="en-US" sz="1050" b="1" dirty="0">
                <a:latin typeface="+mj-ea"/>
              </a:rPr>
              <a:t>또는 복합</a:t>
            </a:r>
            <a:r>
              <a:rPr lang="en-US" altLang="ko-KR" sz="1050" b="1" dirty="0">
                <a:latin typeface="+mj-ea"/>
              </a:rPr>
              <a:t>) </a:t>
            </a:r>
            <a:r>
              <a:rPr lang="ko-KR" altLang="en-US" sz="1050" b="1" dirty="0">
                <a:latin typeface="+mj-ea"/>
              </a:rPr>
              <a:t>가능성</a:t>
            </a:r>
            <a:endParaRPr lang="en-US" altLang="ko-KR" sz="16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5861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3044279"/>
            <a:ext cx="54355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12</a:t>
            </a:r>
            <a:r>
              <a:rPr lang="ko-KR" altLang="en-US" sz="4400" b="1" dirty="0">
                <a:latin typeface="+mj-ea"/>
                <a:ea typeface="+mj-ea"/>
              </a:rPr>
              <a:t>시간 예측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A6049D-7362-4111-BC96-6F8E3CDCAA3B}"/>
              </a:ext>
            </a:extLst>
          </p:cNvPr>
          <p:cNvSpPr txBox="1"/>
          <p:nvPr/>
        </p:nvSpPr>
        <p:spPr>
          <a:xfrm>
            <a:off x="4356099" y="3813720"/>
            <a:ext cx="3344334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1050" b="1" dirty="0"/>
              <a:t>72</a:t>
            </a:r>
            <a:r>
              <a:rPr lang="ko-KR" altLang="en-US" sz="1050" b="1" dirty="0"/>
              <a:t>시간 예측 후 </a:t>
            </a:r>
            <a:r>
              <a:rPr lang="en-US" altLang="ko-KR" sz="1050" b="1" dirty="0"/>
              <a:t> </a:t>
            </a:r>
            <a:r>
              <a:rPr lang="ko-KR" altLang="en-US" sz="1050" b="1" dirty="0">
                <a:latin typeface="+mj-ea"/>
              </a:rPr>
              <a:t>뒷부분 날리고</a:t>
            </a:r>
            <a:r>
              <a:rPr lang="en-US" altLang="ko-KR" sz="1050" b="1" dirty="0">
                <a:latin typeface="+mj-ea"/>
              </a:rPr>
              <a:t> </a:t>
            </a:r>
            <a:r>
              <a:rPr lang="ko-KR" altLang="en-US" sz="1050" b="1" dirty="0">
                <a:latin typeface="+mj-ea"/>
              </a:rPr>
              <a:t>앞 </a:t>
            </a:r>
            <a:r>
              <a:rPr lang="en-US" altLang="ko-KR" sz="1050" b="1" dirty="0">
                <a:latin typeface="+mj-ea"/>
              </a:rPr>
              <a:t>18</a:t>
            </a:r>
            <a:r>
              <a:rPr lang="ko-KR" altLang="en-US" sz="1050" b="1" dirty="0">
                <a:latin typeface="+mj-ea"/>
              </a:rPr>
              <a:t>시간만 사용</a:t>
            </a:r>
          </a:p>
        </p:txBody>
      </p:sp>
    </p:spTree>
    <p:extLst>
      <p:ext uri="{BB962C8B-B14F-4D97-AF65-F5344CB8AC3E}">
        <p14:creationId xmlns:p14="http://schemas.microsoft.com/office/powerpoint/2010/main" val="1966476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</a:rPr>
              <a:t>12</a:t>
            </a:r>
            <a:r>
              <a:rPr lang="ko-KR" altLang="en-US" sz="2000" b="1" dirty="0">
                <a:latin typeface="+mj-ea"/>
              </a:rPr>
              <a:t>시간 예측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中 앞 </a:t>
            </a:r>
            <a:r>
              <a:rPr lang="en-US" altLang="ko-KR" sz="2000" b="1" dirty="0">
                <a:latin typeface="+mj-ea"/>
              </a:rPr>
              <a:t>3</a:t>
            </a:r>
            <a:r>
              <a:rPr lang="ko-KR" altLang="en-US" sz="2000" b="1" dirty="0">
                <a:latin typeface="+mj-ea"/>
              </a:rPr>
              <a:t>시간</a:t>
            </a:r>
            <a:r>
              <a:rPr lang="en-US" altLang="ko-KR" sz="2000" b="1" dirty="0">
                <a:latin typeface="+mj-ea"/>
              </a:rPr>
              <a:t>  )</a:t>
            </a:r>
            <a:r>
              <a:rPr lang="ko-KR" altLang="en-US" sz="2000" b="1" dirty="0">
                <a:latin typeface="+mj-ea"/>
              </a:rPr>
              <a:t> 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사상별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편차가 매우 큼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특히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 사상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음수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478EF-A400-48AA-B4F2-4325273EA3F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</a:t>
            </a:r>
            <a:r>
              <a:rPr lang="en-US" altLang="ko-KR" sz="1050" b="1" dirty="0" err="1"/>
              <a:t>model_sungnam</a:t>
            </a:r>
            <a:r>
              <a:rPr lang="en-US" altLang="ko-KR" sz="1050" b="1" dirty="0"/>
              <a:t>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/dg)72</a:t>
            </a:r>
            <a:endParaRPr lang="ko-KR" altLang="en-US" sz="1050" b="1" dirty="0">
              <a:latin typeface="+mj-ea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0C768C90-0DD3-49D7-B6B6-D6D368911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935370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0.7961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0.0359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0.1706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0.1896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0.4887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0.1246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0.3344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0.3531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-1.3191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0.0375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0.1938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-1.7001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0.0381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0.1793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0.1953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0.7596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0.1095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0.2473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0.3309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0.8885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0.1440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0.3038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0.3794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0.4878</a:t>
                      </a:r>
                      <a:endParaRPr lang="pt-BR" altLang="ko-KR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0.0606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0.1629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0.2461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0.2750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0.0411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0.1598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0.2028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0.4308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0.0383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0.1521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0.1958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0.8926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0.0597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0.2114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0.2443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0.2319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0.0236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0.1327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0.1539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0.8466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0.0373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0.1475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0.1932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B217E74E-1BF3-4B05-B7BF-729286332818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A04E22E-B969-4573-BA29-D7F77A7E5DEB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6055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689483"/>
            <a:ext cx="3192889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192889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0.2319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-2.8628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0.4878</a:t>
              </a:r>
              <a:endParaRPr lang="pt-BR" altLang="ko-KR" sz="1200" dirty="0">
                <a:solidFill>
                  <a:srgbClr val="FF0000"/>
                </a:solidFill>
              </a:endParaRPr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3" y="3240449"/>
            <a:ext cx="315910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4" y="716172"/>
            <a:ext cx="3192889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40449"/>
            <a:ext cx="315910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9288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0.7596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-1.3191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0.7961</a:t>
              </a:r>
              <a:endParaRPr lang="ko-KR" altLang="en-US" sz="1200" b="1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7AFBB60-82DB-4679-BCED-9171BDD709BE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</a:t>
            </a:r>
            <a:r>
              <a:rPr lang="en-US" altLang="ko-KR" sz="1050" b="1" dirty="0" err="1"/>
              <a:t>model_sungnam</a:t>
            </a:r>
            <a:r>
              <a:rPr lang="en-US" altLang="ko-KR" sz="1050" b="1" dirty="0"/>
              <a:t>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/dg)72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23108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0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0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0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0.8466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0.8926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0.2750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1" y="1247792"/>
            <a:ext cx="3192889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0" y="3240449"/>
            <a:ext cx="319289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728" y="5271474"/>
            <a:ext cx="3195541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684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196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1254012"/>
            <a:ext cx="3192889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3240449"/>
            <a:ext cx="3175422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573" y="5271474"/>
            <a:ext cx="319554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0.8885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-1.7001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0.4887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E719F6-61FC-4CF7-83E3-B08D9A6EC9DF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</a:t>
            </a:r>
            <a:r>
              <a:rPr lang="en-US" altLang="ko-KR" sz="1050" b="1" dirty="0" err="1"/>
              <a:t>model_sungnam</a:t>
            </a:r>
            <a:r>
              <a:rPr lang="en-US" altLang="ko-KR" sz="1050" b="1" dirty="0"/>
              <a:t>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/dg)72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33628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2705725"/>
            <a:ext cx="68410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</a:rPr>
              <a:t>관심수위 </a:t>
            </a:r>
            <a:r>
              <a:rPr lang="en-US" altLang="ko-KR" sz="4400" b="1" dirty="0">
                <a:latin typeface="+mj-ea"/>
              </a:rPr>
              <a:t>+ MAE </a:t>
            </a:r>
            <a:r>
              <a:rPr lang="en-US" altLang="ko-KR" sz="4400" b="1" dirty="0">
                <a:latin typeface="+mj-ea"/>
                <a:ea typeface="+mj-ea"/>
              </a:rPr>
              <a:t>+</a:t>
            </a:r>
          </a:p>
          <a:p>
            <a:pPr algn="ctr"/>
            <a:r>
              <a:rPr lang="en-US" altLang="ko-KR" sz="4400" b="1" dirty="0">
                <a:latin typeface="+mj-ea"/>
                <a:ea typeface="+mj-ea"/>
              </a:rPr>
              <a:t>2020</a:t>
            </a:r>
            <a:r>
              <a:rPr lang="ko-KR" altLang="en-US" sz="4400" b="1" dirty="0">
                <a:latin typeface="+mj-ea"/>
                <a:ea typeface="+mj-ea"/>
              </a:rPr>
              <a:t>년 이후 데이터 학습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07428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40</a:t>
            </a:r>
            <a:r>
              <a:rPr lang="ko-KR" altLang="en-US" sz="1600" dirty="0"/>
              <a:t>개 中 </a:t>
            </a:r>
            <a:r>
              <a:rPr lang="en-US" altLang="ko-KR" sz="1600" dirty="0"/>
              <a:t>35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5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20240920 ( 25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20240921 ~ 250919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86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2369075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+ MAE + 2020</a:t>
            </a:r>
            <a:r>
              <a:rPr lang="ko-KR" altLang="en-US" sz="2000" b="1" dirty="0">
                <a:latin typeface="+mj-ea"/>
              </a:rPr>
              <a:t>년 이후 데이터 학습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최근 패턴 집중 → 소폭 개선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학습 데이터 감소 → 일반화 성능 저하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지점별 데이터 분리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???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E47DB4F7-2462-44BE-BB98-1F123BE9E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159253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0.9513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0.0102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0.0814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0.1013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0.8845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0.0704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0.1797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0.2653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-0.8548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0.2146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0.2712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-0.1561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0.3550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0.4023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0.8751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0.0349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0.7304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0.2453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0.3701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0.4953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0.8136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0.0610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0.6077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0.1365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0.8213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0.0179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0.1338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0.0624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0.2498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0.7835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0.8840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0.0402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0.1572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0.2006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7E30F003-54C4-4759-8DBA-742B94784FAF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BF397FB-3FE6-4BC4-87D4-5B95EF5EAE56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379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0.7835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0.8213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0.8136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0.8751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-0.8548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0.9513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21607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0.8840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0.8647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0.6077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40449"/>
            <a:ext cx="319288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9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4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3240449"/>
            <a:ext cx="319288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2" y="5271474"/>
            <a:ext cx="3195542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0.7304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-0.1561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0.8845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D82F9F-5C5E-443C-934B-0DA7D76B092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9709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11988" y="2367171"/>
            <a:ext cx="696802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관심수위 </a:t>
            </a:r>
            <a:r>
              <a:rPr lang="en-US" altLang="ko-KR" sz="4400" b="1" dirty="0">
                <a:latin typeface="+mj-ea"/>
                <a:ea typeface="+mj-ea"/>
              </a:rPr>
              <a:t>+ MAE +</a:t>
            </a:r>
          </a:p>
          <a:p>
            <a:pPr algn="ctr"/>
            <a:r>
              <a:rPr lang="en-US" altLang="ko-KR" sz="4400" b="1" dirty="0">
                <a:latin typeface="+mj-ea"/>
              </a:rPr>
              <a:t>2020</a:t>
            </a:r>
            <a:r>
              <a:rPr lang="ko-KR" altLang="en-US" sz="4400" b="1" dirty="0">
                <a:latin typeface="+mj-ea"/>
              </a:rPr>
              <a:t>년 이후 데이터 학습</a:t>
            </a:r>
            <a:endParaRPr lang="en-US" altLang="ko-KR" sz="4400" b="1" dirty="0">
              <a:latin typeface="+mj-ea"/>
              <a:ea typeface="+mj-ea"/>
            </a:endParaRPr>
          </a:p>
          <a:p>
            <a:pPr algn="ctr"/>
            <a:r>
              <a:rPr lang="en-US" altLang="ko-KR" sz="4400" b="1" dirty="0">
                <a:latin typeface="+mj-ea"/>
                <a:ea typeface="+mj-ea"/>
              </a:rPr>
              <a:t>10</a:t>
            </a:r>
            <a:r>
              <a:rPr lang="ko-KR" altLang="en-US" sz="4400" b="1" dirty="0">
                <a:latin typeface="+mj-ea"/>
                <a:ea typeface="+mj-ea"/>
              </a:rPr>
              <a:t>분 단위 예측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32924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– 10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분단위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1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93941"/>
            <a:ext cx="3227450" cy="541968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1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0.9478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0.9529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0.9579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1254012"/>
            <a:ext cx="3159109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61115"/>
            <a:ext cx="3159110" cy="131477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1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763" y="5271474"/>
            <a:ext cx="317890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431800" y="1566310"/>
            <a:ext cx="1527487" cy="4587791"/>
            <a:chOff x="431800" y="1566310"/>
            <a:chExt cx="1527487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431800" y="3552110"/>
              <a:ext cx="15274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 (02)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0.9585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0.9513</a:t>
              </a:r>
              <a:endParaRPr lang="ko-KR" altLang="en-US" sz="1200" b="1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0.9138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57687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– 10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분단위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3" y="4721949"/>
            <a:ext cx="3227450" cy="549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3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10" cy="135610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9C19FA8-220D-4B15-8487-975DC610967D}"/>
              </a:ext>
            </a:extLst>
          </p:cNvPr>
          <p:cNvGrpSpPr/>
          <p:nvPr/>
        </p:nvGrpSpPr>
        <p:grpSpPr>
          <a:xfrm>
            <a:off x="440268" y="1566310"/>
            <a:ext cx="1519020" cy="4587791"/>
            <a:chOff x="440268" y="1566310"/>
            <a:chExt cx="1519020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F56134E-9368-4859-8E92-7E31FC6D710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D4CB25-45D4-42CE-83B9-A431903A2473}"/>
                </a:ext>
              </a:extLst>
            </p:cNvPr>
            <p:cNvSpPr txBox="1"/>
            <p:nvPr/>
          </p:nvSpPr>
          <p:spPr>
            <a:xfrm>
              <a:off x="440268" y="3552110"/>
              <a:ext cx="15190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 (16)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8D1359-6CA3-455E-81CF-E757FBEBBFFA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EDD94AC-20B7-4DA9-A214-2022EE648095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-0.4408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9C3997-E3FA-4C95-BDD4-0187C8D40EDB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-0.8548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650C0BE-27C3-41A2-AD79-4CF6A311D51A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-0.7405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2AB0643-9092-4757-A005-B1B65D26EFB7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E8B8124-EB7D-46B4-83C4-906524B5FF34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3890AC1-BED2-4BBB-A749-5B863AD7D07C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453832-B864-4CDA-8FD7-CD3652B9E22E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14C66D5-82B4-405B-B102-299D5AE05F0D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-0.2182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C2EBE-493C-4D5A-AC5A-A5F16D259A9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-0.5463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0FF04C5-E676-43BD-84E4-7E7D82FC92DB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-0.4821</a:t>
              </a:r>
              <a:endParaRPr lang="pt-BR" altLang="ko-KR" sz="1200" dirty="0">
                <a:solidFill>
                  <a:srgbClr val="FF0000"/>
                </a:solidFill>
              </a:endParaRPr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103160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– 10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분단위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4" y="689483"/>
            <a:ext cx="3192888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90897"/>
            <a:ext cx="3227450" cy="54805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3" y="4721949"/>
            <a:ext cx="3227450" cy="549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5" y="716172"/>
            <a:ext cx="3192888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0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10" cy="135610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9C19FA8-220D-4B15-8487-975DC610967D}"/>
              </a:ext>
            </a:extLst>
          </p:cNvPr>
          <p:cNvGrpSpPr/>
          <p:nvPr/>
        </p:nvGrpSpPr>
        <p:grpSpPr>
          <a:xfrm>
            <a:off x="457200" y="1566310"/>
            <a:ext cx="1502087" cy="4587791"/>
            <a:chOff x="457200" y="1566310"/>
            <a:chExt cx="1502087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F56134E-9368-4859-8E92-7E31FC6D710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D4CB25-45D4-42CE-83B9-A431903A2473}"/>
                </a:ext>
              </a:extLst>
            </p:cNvPr>
            <p:cNvSpPr txBox="1"/>
            <p:nvPr/>
          </p:nvSpPr>
          <p:spPr>
            <a:xfrm>
              <a:off x="457200" y="3552110"/>
              <a:ext cx="15020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 (07)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8D1359-6CA3-455E-81CF-E757FBEBBFFA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EDD94AC-20B7-4DA9-A214-2022EE648095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0.9012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9C3997-E3FA-4C95-BDD4-0187C8D40EDB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0.8751</a:t>
              </a:r>
              <a:endParaRPr lang="ko-KR" altLang="en-US" sz="1200" b="1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650C0BE-27C3-41A2-AD79-4CF6A311D51A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0.8657</a:t>
              </a:r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2AB0643-9092-4757-A005-B1B65D26EFB7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E8B8124-EB7D-46B4-83C4-906524B5FF34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3890AC1-BED2-4BBB-A749-5B863AD7D07C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453832-B864-4CDA-8FD7-CD3652B9E22E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14C66D5-82B4-405B-B102-299D5AE05F0D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0.8200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C2EBE-493C-4D5A-AC5A-A5F16D259A9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0.9322</a:t>
              </a:r>
              <a:endParaRPr lang="ko-KR" altLang="en-US" sz="1200" b="1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0FF04C5-E676-43BD-84E4-7E7D82FC92DB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0.9471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473909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– 10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분단위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7833"/>
            <a:ext cx="3227450" cy="494184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1" y="4721949"/>
            <a:ext cx="3227450" cy="549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4" y="1254012"/>
            <a:ext cx="3159109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59846"/>
            <a:ext cx="3159110" cy="131731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0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5271474"/>
            <a:ext cx="3159110" cy="135610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9C19FA8-220D-4B15-8487-975DC610967D}"/>
              </a:ext>
            </a:extLst>
          </p:cNvPr>
          <p:cNvGrpSpPr/>
          <p:nvPr/>
        </p:nvGrpSpPr>
        <p:grpSpPr>
          <a:xfrm>
            <a:off x="440268" y="1566310"/>
            <a:ext cx="1519020" cy="4587791"/>
            <a:chOff x="440268" y="1566310"/>
            <a:chExt cx="1519020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F56134E-9368-4859-8E92-7E31FC6D710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D4CB25-45D4-42CE-83B9-A431903A2473}"/>
                </a:ext>
              </a:extLst>
            </p:cNvPr>
            <p:cNvSpPr txBox="1"/>
            <p:nvPr/>
          </p:nvSpPr>
          <p:spPr>
            <a:xfrm>
              <a:off x="440268" y="3552110"/>
              <a:ext cx="15190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 (18)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8D1359-6CA3-455E-81CF-E757FBEBBFFA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EDD94AC-20B7-4DA9-A214-2022EE648095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0.7844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9C3997-E3FA-4C95-BDD4-0187C8D40EDB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0.8136</a:t>
              </a:r>
              <a:endParaRPr lang="pt-BR" altLang="ko-KR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650C0BE-27C3-41A2-AD79-4CF6A311D51A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0.8064</a:t>
              </a:r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2AB0643-9092-4757-A005-B1B65D26EFB7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E8B8124-EB7D-46B4-83C4-906524B5FF34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3890AC1-BED2-4BBB-A749-5B863AD7D07C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453832-B864-4CDA-8FD7-CD3652B9E22E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14C66D5-82B4-405B-B102-299D5AE05F0D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0.8407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C2EBE-493C-4D5A-AC5A-A5F16D259A9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0.7132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0FF04C5-E676-43BD-84E4-7E7D82FC92DB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0.7748</a:t>
              </a:r>
              <a:endParaRPr lang="pt-BR" altLang="ko-KR" sz="1200" dirty="0">
                <a:solidFill>
                  <a:srgbClr val="FF0000"/>
                </a:solidFill>
              </a:endParaRPr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19664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– 10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분단위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1732"/>
            <a:ext cx="3227450" cy="506386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41551"/>
            <a:ext cx="3159110" cy="135390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3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2712227"/>
            <a:ext cx="3262011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683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3240449"/>
            <a:ext cx="322745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9C19FA8-220D-4B15-8487-975DC610967D}"/>
              </a:ext>
            </a:extLst>
          </p:cNvPr>
          <p:cNvGrpSpPr/>
          <p:nvPr/>
        </p:nvGrpSpPr>
        <p:grpSpPr>
          <a:xfrm>
            <a:off x="431800" y="1566310"/>
            <a:ext cx="1527487" cy="4587791"/>
            <a:chOff x="431800" y="1566310"/>
            <a:chExt cx="1527487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F56134E-9368-4859-8E92-7E31FC6D710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D4CB25-45D4-42CE-83B9-A431903A2473}"/>
                </a:ext>
              </a:extLst>
            </p:cNvPr>
            <p:cNvSpPr txBox="1"/>
            <p:nvPr/>
          </p:nvSpPr>
          <p:spPr>
            <a:xfrm>
              <a:off x="431800" y="3552110"/>
              <a:ext cx="15274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 (17)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8D1359-6CA3-455E-81CF-E757FBEBBFFA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EDD94AC-20B7-4DA9-A214-2022EE648095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0.8073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9C3997-E3FA-4C95-BDD4-0187C8D40EDB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0.8213</a:t>
              </a:r>
              <a:endParaRPr lang="pt-BR" altLang="ko-KR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650C0BE-27C3-41A2-AD79-4CF6A311D51A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0.8512</a:t>
              </a:r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2AB0643-9092-4757-A005-B1B65D26EFB7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E8B8124-EB7D-46B4-83C4-906524B5FF34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3890AC1-BED2-4BBB-A749-5B863AD7D07C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453832-B864-4CDA-8FD7-CD3652B9E22E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14C66D5-82B4-405B-B102-299D5AE05F0D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0.9051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C2EBE-493C-4D5A-AC5A-A5F16D259A9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0.8696</a:t>
              </a:r>
              <a:endParaRPr lang="ko-KR" altLang="en-US" sz="1200" b="1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0FF04C5-E676-43BD-84E4-7E7D82FC92DB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0.8289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198427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– 10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분단위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3" y="4721949"/>
            <a:ext cx="3227450" cy="549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363" y="3240449"/>
            <a:ext cx="31789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3" y="5271474"/>
            <a:ext cx="317890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4745885"/>
            <a:ext cx="3178909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764" y="3240449"/>
            <a:ext cx="317890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3" y="5271474"/>
            <a:ext cx="3178909" cy="135610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9C19FA8-220D-4B15-8487-975DC610967D}"/>
              </a:ext>
            </a:extLst>
          </p:cNvPr>
          <p:cNvGrpSpPr/>
          <p:nvPr/>
        </p:nvGrpSpPr>
        <p:grpSpPr>
          <a:xfrm>
            <a:off x="423333" y="1566310"/>
            <a:ext cx="1535955" cy="4587791"/>
            <a:chOff x="423333" y="1566310"/>
            <a:chExt cx="1535955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F56134E-9368-4859-8E92-7E31FC6D710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D4CB25-45D4-42CE-83B9-A431903A2473}"/>
                </a:ext>
              </a:extLst>
            </p:cNvPr>
            <p:cNvSpPr txBox="1"/>
            <p:nvPr/>
          </p:nvSpPr>
          <p:spPr>
            <a:xfrm>
              <a:off x="423333" y="3552110"/>
              <a:ext cx="15359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250814 (05)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8D1359-6CA3-455E-81CF-E757FBEBBFFA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EDD94AC-20B7-4DA9-A214-2022EE648095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0.7776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9C3997-E3FA-4C95-BDD4-0187C8D40EDB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0.7835</a:t>
              </a:r>
              <a:endParaRPr lang="pt-BR" altLang="ko-KR" sz="1200" dirty="0">
                <a:solidFill>
                  <a:srgbClr val="FF0000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650C0BE-27C3-41A2-AD79-4CF6A311D51A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0.8109</a:t>
              </a:r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2AB0643-9092-4757-A005-B1B65D26EFB7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E8B8124-EB7D-46B4-83C4-906524B5FF34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3890AC1-BED2-4BBB-A749-5B863AD7D07C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453832-B864-4CDA-8FD7-CD3652B9E22E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14C66D5-82B4-405B-B102-299D5AE05F0D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0.6295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C2EBE-493C-4D5A-AC5A-A5F16D259A9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0.7407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0FF04C5-E676-43BD-84E4-7E7D82FC92DB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0.7068</a:t>
              </a:r>
              <a:endParaRPr lang="pt-BR" altLang="ko-KR" sz="1200" dirty="0">
                <a:solidFill>
                  <a:srgbClr val="FF0000"/>
                </a:solidFill>
              </a:endParaRPr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980394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8300"/>
            <a:ext cx="3227450" cy="49325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3" y="4747938"/>
            <a:ext cx="3227450" cy="49754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1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60426"/>
            <a:ext cx="3192889" cy="131615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9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2" y="716406"/>
            <a:ext cx="3227449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3" y="4747938"/>
            <a:ext cx="3227449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52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6" y="3240449"/>
            <a:ext cx="3192888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5271474"/>
            <a:ext cx="3192890" cy="135610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- 10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D82F9F-5C5E-443C-934B-0DA7D76B092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413EE53-3AAC-4330-95BF-309DA4461DF1}"/>
              </a:ext>
            </a:extLst>
          </p:cNvPr>
          <p:cNvGrpSpPr/>
          <p:nvPr/>
        </p:nvGrpSpPr>
        <p:grpSpPr>
          <a:xfrm>
            <a:off x="431800" y="1566310"/>
            <a:ext cx="1527487" cy="4587791"/>
            <a:chOff x="431800" y="1566310"/>
            <a:chExt cx="1527487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B0C091-BDCB-49CF-8B59-96EBBEA80451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8B0BD43-D0A8-48EB-92DE-A681AC1E56B3}"/>
                </a:ext>
              </a:extLst>
            </p:cNvPr>
            <p:cNvSpPr txBox="1"/>
            <p:nvPr/>
          </p:nvSpPr>
          <p:spPr>
            <a:xfrm>
              <a:off x="431800" y="3552110"/>
              <a:ext cx="15274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 (02)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84AEBD0-EADC-4733-9110-313600D22AA8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C4D35E2-DB19-4086-9539-AF249ABF8197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dirty="0"/>
                <a:t>0.9069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0AEC24-39F8-45A3-9703-B88F628BEEA5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0.8845</a:t>
              </a:r>
              <a:endParaRPr lang="pt-BR" altLang="ko-KR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87F950-2953-432D-B0ED-75719A65F96E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0.8834</a:t>
              </a:r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A89C52E-D03C-407A-ADE0-50A3F0825D95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C32D031-E120-46B5-8CD5-855B2E0A4D20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B10B281-DFD2-45E8-A80F-F15CD2DFEFA5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EACAB2-45D0-4F66-B0A8-4E823986A7EC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1B46769-5440-46CA-A6D6-21F300D92A25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0.9249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D43C58-6EE6-4788-845A-6DE34C9793C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0.9201</a:t>
              </a:r>
              <a:endParaRPr lang="ko-KR" altLang="en-US" sz="1200" b="1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30217FE-8285-44A1-A617-C986B5F10C57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0.9173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61022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49" cy="49754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40449"/>
            <a:ext cx="319288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170" y="5271474"/>
            <a:ext cx="3195542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571" y="5271474"/>
            <a:ext cx="3195542" cy="135610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- 10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D82F9F-5C5E-443C-934B-0DA7D76B092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413EE53-3AAC-4330-95BF-309DA4461DF1}"/>
              </a:ext>
            </a:extLst>
          </p:cNvPr>
          <p:cNvGrpSpPr/>
          <p:nvPr/>
        </p:nvGrpSpPr>
        <p:grpSpPr>
          <a:xfrm>
            <a:off x="431800" y="1566310"/>
            <a:ext cx="1527487" cy="4587791"/>
            <a:chOff x="431800" y="1566310"/>
            <a:chExt cx="1527487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B0C091-BDCB-49CF-8B59-96EBBEA80451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8B0BD43-D0A8-48EB-92DE-A681AC1E56B3}"/>
                </a:ext>
              </a:extLst>
            </p:cNvPr>
            <p:cNvSpPr txBox="1"/>
            <p:nvPr/>
          </p:nvSpPr>
          <p:spPr>
            <a:xfrm>
              <a:off x="431800" y="3552110"/>
              <a:ext cx="15274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 (16)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84AEBD0-EADC-4733-9110-313600D22AA8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C4D35E2-DB19-4086-9539-AF249ABF8197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0.0810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0AEC24-39F8-45A3-9703-B88F628BEEA5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-0.1561</a:t>
              </a:r>
              <a:endParaRPr lang="pt-BR" altLang="ko-KR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87F950-2953-432D-B0ED-75719A65F96E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0.3503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A89C52E-D03C-407A-ADE0-50A3F0825D95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C32D031-E120-46B5-8CD5-855B2E0A4D20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B10B281-DFD2-45E8-A80F-F15CD2DFEFA5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EACAB2-45D0-4F66-B0A8-4E823986A7EC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1B46769-5440-46CA-A6D6-21F300D92A25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0.1284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D43C58-6EE6-4788-845A-6DE34C9793C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-0.5470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30217FE-8285-44A1-A617-C986B5F10C57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-0.2738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3582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8300"/>
            <a:ext cx="3227450" cy="49325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1" y="1247792"/>
            <a:ext cx="3192889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42146"/>
            <a:ext cx="3192889" cy="135271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170" y="5271474"/>
            <a:ext cx="3195542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684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1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684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1254012"/>
            <a:ext cx="3192889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6" y="3240449"/>
            <a:ext cx="3192888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571" y="5271474"/>
            <a:ext cx="3195542" cy="135610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- 10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D82F9F-5C5E-443C-934B-0DA7D76B092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413EE53-3AAC-4330-95BF-309DA4461DF1}"/>
              </a:ext>
            </a:extLst>
          </p:cNvPr>
          <p:cNvGrpSpPr/>
          <p:nvPr/>
        </p:nvGrpSpPr>
        <p:grpSpPr>
          <a:xfrm>
            <a:off x="414868" y="1566310"/>
            <a:ext cx="1544420" cy="4587791"/>
            <a:chOff x="414868" y="1566310"/>
            <a:chExt cx="1544420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B0C091-BDCB-49CF-8B59-96EBBEA80451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8B0BD43-D0A8-48EB-92DE-A681AC1E56B3}"/>
                </a:ext>
              </a:extLst>
            </p:cNvPr>
            <p:cNvSpPr txBox="1"/>
            <p:nvPr/>
          </p:nvSpPr>
          <p:spPr>
            <a:xfrm>
              <a:off x="414868" y="3552110"/>
              <a:ext cx="15444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 (07)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84AEBD0-EADC-4733-9110-313600D22AA8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C4D35E2-DB19-4086-9539-AF249ABF8197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0.7413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0AEC24-39F8-45A3-9703-B88F628BEEA5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0.7304</a:t>
              </a:r>
              <a:endParaRPr lang="pt-BR" altLang="ko-KR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87F950-2953-432D-B0ED-75719A65F96E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0.7046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A89C52E-D03C-407A-ADE0-50A3F0825D95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C32D031-E120-46B5-8CD5-855B2E0A4D20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B10B281-DFD2-45E8-A80F-F15CD2DFEFA5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EACAB2-45D0-4F66-B0A8-4E823986A7EC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1B46769-5440-46CA-A6D6-21F300D92A25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0.8056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D43C58-6EE6-4788-845A-6DE34C9793C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0.8028</a:t>
              </a:r>
              <a:endParaRPr lang="ko-KR" altLang="en-US" sz="1200" b="1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30217FE-8285-44A1-A617-C986B5F10C57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0.7840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10570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21344"/>
            <a:ext cx="3227450" cy="487162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0" y="4747938"/>
            <a:ext cx="3227450" cy="49754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1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60426"/>
            <a:ext cx="3192889" cy="131615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729" y="5271474"/>
            <a:ext cx="3195541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684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196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196" y="4747938"/>
            <a:ext cx="3227449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6756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105" y="5271474"/>
            <a:ext cx="3195541" cy="135610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- 10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D82F9F-5C5E-443C-934B-0DA7D76B092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413EE53-3AAC-4330-95BF-309DA4461DF1}"/>
              </a:ext>
            </a:extLst>
          </p:cNvPr>
          <p:cNvGrpSpPr/>
          <p:nvPr/>
        </p:nvGrpSpPr>
        <p:grpSpPr>
          <a:xfrm>
            <a:off x="440268" y="1566310"/>
            <a:ext cx="1519020" cy="4587791"/>
            <a:chOff x="440268" y="1566310"/>
            <a:chExt cx="1519020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B0C091-BDCB-49CF-8B59-96EBBEA80451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8B0BD43-D0A8-48EB-92DE-A681AC1E56B3}"/>
                </a:ext>
              </a:extLst>
            </p:cNvPr>
            <p:cNvSpPr txBox="1"/>
            <p:nvPr/>
          </p:nvSpPr>
          <p:spPr>
            <a:xfrm>
              <a:off x="440268" y="3552110"/>
              <a:ext cx="15190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 (18)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84AEBD0-EADC-4733-9110-313600D22AA8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C4D35E2-DB19-4086-9539-AF249ABF8197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0.6268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0AEC24-39F8-45A3-9703-B88F628BEEA5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0.6077</a:t>
              </a:r>
              <a:endParaRPr lang="pt-BR" altLang="ko-KR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87F950-2953-432D-B0ED-75719A65F96E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0.5765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A89C52E-D03C-407A-ADE0-50A3F0825D95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C32D031-E120-46B5-8CD5-855B2E0A4D20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B10B281-DFD2-45E8-A80F-F15CD2DFEFA5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EACAB2-45D0-4F66-B0A8-4E823986A7EC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1B46769-5440-46CA-A6D6-21F300D92A25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0.1481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D43C58-6EE6-4788-845A-6DE34C9793C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0.5114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30217FE-8285-44A1-A617-C986B5F10C57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0.5821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1795257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7833"/>
            <a:ext cx="3227450" cy="494184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4747938"/>
            <a:ext cx="3227450" cy="49754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1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42146"/>
            <a:ext cx="3192889" cy="135271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729" y="5271474"/>
            <a:ext cx="3195542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684" y="2716152"/>
            <a:ext cx="3227449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683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1254012"/>
            <a:ext cx="3192889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3240449"/>
            <a:ext cx="319288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569" y="5271474"/>
            <a:ext cx="3195542" cy="135610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- 10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D82F9F-5C5E-443C-934B-0DA7D76B092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413EE53-3AAC-4330-95BF-309DA4461DF1}"/>
              </a:ext>
            </a:extLst>
          </p:cNvPr>
          <p:cNvGrpSpPr/>
          <p:nvPr/>
        </p:nvGrpSpPr>
        <p:grpSpPr>
          <a:xfrm>
            <a:off x="440268" y="1566310"/>
            <a:ext cx="1519020" cy="4587791"/>
            <a:chOff x="440268" y="1566310"/>
            <a:chExt cx="1519020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B0C091-BDCB-49CF-8B59-96EBBEA80451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8B0BD43-D0A8-48EB-92DE-A681AC1E56B3}"/>
                </a:ext>
              </a:extLst>
            </p:cNvPr>
            <p:cNvSpPr txBox="1"/>
            <p:nvPr/>
          </p:nvSpPr>
          <p:spPr>
            <a:xfrm>
              <a:off x="440268" y="3552110"/>
              <a:ext cx="15190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 (17)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84AEBD0-EADC-4733-9110-313600D22AA8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C4D35E2-DB19-4086-9539-AF249ABF8197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0.8740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0AEC24-39F8-45A3-9703-B88F628BEEA5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0.8647</a:t>
              </a:r>
              <a:endParaRPr lang="pt-BR" altLang="ko-KR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87F950-2953-432D-B0ED-75719A65F96E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0.8560</a:t>
              </a:r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A89C52E-D03C-407A-ADE0-50A3F0825D95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C32D031-E120-46B5-8CD5-855B2E0A4D20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B10B281-DFD2-45E8-A80F-F15CD2DFEFA5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EACAB2-45D0-4F66-B0A8-4E823986A7EC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1B46769-5440-46CA-A6D6-21F300D92A25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0.9243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D43C58-6EE6-4788-845A-6DE34C9793C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0.9148</a:t>
              </a:r>
              <a:endParaRPr lang="ko-KR" altLang="en-US" sz="1200" b="1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30217FE-8285-44A1-A617-C986B5F10C57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0.9062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638546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707985"/>
            <a:ext cx="3227449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8300"/>
            <a:ext cx="3227450" cy="49325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1" y="1247792"/>
            <a:ext cx="3192889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42146"/>
            <a:ext cx="3192889" cy="135271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170" y="5271474"/>
            <a:ext cx="3195542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684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1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52" y="1254012"/>
            <a:ext cx="3192889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3240449"/>
            <a:ext cx="319288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499" y="5271474"/>
            <a:ext cx="3195542" cy="135610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- 10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D82F9F-5C5E-443C-934B-0DA7D76B092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413EE53-3AAC-4330-95BF-309DA4461DF1}"/>
              </a:ext>
            </a:extLst>
          </p:cNvPr>
          <p:cNvGrpSpPr/>
          <p:nvPr/>
        </p:nvGrpSpPr>
        <p:grpSpPr>
          <a:xfrm>
            <a:off x="431800" y="1566310"/>
            <a:ext cx="1527487" cy="4587791"/>
            <a:chOff x="431800" y="1566310"/>
            <a:chExt cx="1527487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B0C091-BDCB-49CF-8B59-96EBBEA80451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8B0BD43-D0A8-48EB-92DE-A681AC1E56B3}"/>
                </a:ext>
              </a:extLst>
            </p:cNvPr>
            <p:cNvSpPr txBox="1"/>
            <p:nvPr/>
          </p:nvSpPr>
          <p:spPr>
            <a:xfrm>
              <a:off x="431800" y="3552110"/>
              <a:ext cx="15274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250814 (05)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84AEBD0-EADC-4733-9110-313600D22AA8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C4D35E2-DB19-4086-9539-AF249ABF8197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0.7832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0AEC24-39F8-45A3-9703-B88F628BEEA5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0.8840</a:t>
              </a:r>
              <a:endParaRPr lang="pt-BR" altLang="ko-KR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87F950-2953-432D-B0ED-75719A65F96E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0.9033</a:t>
              </a:r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A89C52E-D03C-407A-ADE0-50A3F0825D95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C32D031-E120-46B5-8CD5-855B2E0A4D20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B10B281-DFD2-45E8-A80F-F15CD2DFEFA5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EACAB2-45D0-4F66-B0A8-4E823986A7EC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1B46769-5440-46CA-A6D6-21F300D92A25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0.6646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D43C58-6EE6-4788-845A-6DE34C9793C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0.6061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30217FE-8285-44A1-A617-C986B5F10C57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0.7671</a:t>
              </a:r>
              <a:endParaRPr lang="pt-BR" altLang="ko-KR" sz="1200" dirty="0">
                <a:solidFill>
                  <a:srgbClr val="FF0000"/>
                </a:solidFill>
              </a:endParaRPr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93390475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10148</TotalTime>
  <Words>1341</Words>
  <Application>Microsoft Office PowerPoint</Application>
  <PresentationFormat>와이드스크린</PresentationFormat>
  <Paragraphs>428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나눔고딕</vt:lpstr>
      <vt:lpstr>맑은 고딕</vt:lpstr>
      <vt:lpstr>Arial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1358</cp:revision>
  <dcterms:created xsi:type="dcterms:W3CDTF">2025-11-18T00:02:37Z</dcterms:created>
  <dcterms:modified xsi:type="dcterms:W3CDTF">2026-02-03T01:35:01Z</dcterms:modified>
</cp:coreProperties>
</file>