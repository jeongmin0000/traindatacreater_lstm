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717" r:id="rId3"/>
    <p:sldId id="663" r:id="rId4"/>
    <p:sldId id="664" r:id="rId5"/>
    <p:sldId id="666" r:id="rId6"/>
    <p:sldId id="724" r:id="rId7"/>
    <p:sldId id="725" r:id="rId8"/>
    <p:sldId id="592" r:id="rId9"/>
    <p:sldId id="593" r:id="rId10"/>
    <p:sldId id="643" r:id="rId11"/>
    <p:sldId id="721" r:id="rId12"/>
    <p:sldId id="723" r:id="rId13"/>
    <p:sldId id="703" r:id="rId14"/>
    <p:sldId id="710" r:id="rId15"/>
    <p:sldId id="711" r:id="rId16"/>
    <p:sldId id="735" r:id="rId17"/>
    <p:sldId id="737" r:id="rId18"/>
    <p:sldId id="738" r:id="rId19"/>
    <p:sldId id="739" r:id="rId20"/>
    <p:sldId id="740" r:id="rId21"/>
    <p:sldId id="741" r:id="rId22"/>
    <p:sldId id="685" r:id="rId23"/>
    <p:sldId id="690" r:id="rId24"/>
    <p:sldId id="718" r:id="rId25"/>
    <p:sldId id="719" r:id="rId26"/>
    <p:sldId id="720" r:id="rId27"/>
    <p:sldId id="680" r:id="rId28"/>
    <p:sldId id="681" r:id="rId29"/>
    <p:sldId id="682" r:id="rId30"/>
    <p:sldId id="726" r:id="rId31"/>
    <p:sldId id="669" r:id="rId32"/>
    <p:sldId id="670" r:id="rId33"/>
    <p:sldId id="671" r:id="rId34"/>
    <p:sldId id="727" r:id="rId35"/>
    <p:sldId id="728" r:id="rId36"/>
    <p:sldId id="674" r:id="rId37"/>
    <p:sldId id="679" r:id="rId38"/>
    <p:sldId id="676" r:id="rId39"/>
    <p:sldId id="729" r:id="rId40"/>
    <p:sldId id="730" r:id="rId41"/>
    <p:sldId id="744" r:id="rId42"/>
    <p:sldId id="747" r:id="rId43"/>
    <p:sldId id="745" r:id="rId44"/>
    <p:sldId id="691" r:id="rId45"/>
    <p:sldId id="692" r:id="rId46"/>
    <p:sldId id="693" r:id="rId47"/>
    <p:sldId id="731" r:id="rId48"/>
    <p:sldId id="732" r:id="rId49"/>
    <p:sldId id="697" r:id="rId50"/>
    <p:sldId id="733" r:id="rId51"/>
    <p:sldId id="734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6336" autoAdjust="0"/>
  </p:normalViewPr>
  <p:slideViewPr>
    <p:cSldViewPr snapToGrid="0">
      <p:cViewPr varScale="1">
        <p:scale>
          <a:sx n="113" d="100"/>
          <a:sy n="113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12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7.png"/><Relationship Id="rId3" Type="http://schemas.openxmlformats.org/officeDocument/2006/relationships/image" Target="../media/image15.png"/><Relationship Id="rId7" Type="http://schemas.openxmlformats.org/officeDocument/2006/relationships/image" Target="../media/image34.png"/><Relationship Id="rId12" Type="http://schemas.openxmlformats.org/officeDocument/2006/relationships/image" Target="../media/image3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12" Type="http://schemas.openxmlformats.org/officeDocument/2006/relationships/image" Target="../media/image1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13.png"/><Relationship Id="rId5" Type="http://schemas.openxmlformats.org/officeDocument/2006/relationships/image" Target="../media/image8.png"/><Relationship Id="rId10" Type="http://schemas.openxmlformats.org/officeDocument/2006/relationships/image" Target="../media/image112.png"/><Relationship Id="rId4" Type="http://schemas.openxmlformats.org/officeDocument/2006/relationships/image" Target="../media/image4.png"/><Relationship Id="rId9" Type="http://schemas.openxmlformats.org/officeDocument/2006/relationships/image" Target="../media/image11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3" Type="http://schemas.openxmlformats.org/officeDocument/2006/relationships/image" Target="../media/image15.png"/><Relationship Id="rId7" Type="http://schemas.openxmlformats.org/officeDocument/2006/relationships/image" Target="../media/image22.png"/><Relationship Id="rId12" Type="http://schemas.openxmlformats.org/officeDocument/2006/relationships/image" Target="../media/image1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19.png"/><Relationship Id="rId5" Type="http://schemas.openxmlformats.org/officeDocument/2006/relationships/image" Target="../media/image20.png"/><Relationship Id="rId10" Type="http://schemas.openxmlformats.org/officeDocument/2006/relationships/image" Target="../media/image118.png"/><Relationship Id="rId4" Type="http://schemas.openxmlformats.org/officeDocument/2006/relationships/image" Target="../media/image16.png"/><Relationship Id="rId9" Type="http://schemas.openxmlformats.org/officeDocument/2006/relationships/image" Target="../media/image11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12" Type="http://schemas.openxmlformats.org/officeDocument/2006/relationships/image" Target="../media/image1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25.png"/><Relationship Id="rId5" Type="http://schemas.openxmlformats.org/officeDocument/2006/relationships/image" Target="../media/image8.png"/><Relationship Id="rId10" Type="http://schemas.openxmlformats.org/officeDocument/2006/relationships/image" Target="../media/image124.png"/><Relationship Id="rId4" Type="http://schemas.openxmlformats.org/officeDocument/2006/relationships/image" Target="../media/image4.png"/><Relationship Id="rId9" Type="http://schemas.openxmlformats.org/officeDocument/2006/relationships/image" Target="../media/image12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3.png"/><Relationship Id="rId3" Type="http://schemas.openxmlformats.org/officeDocument/2006/relationships/image" Target="../media/image3.png"/><Relationship Id="rId7" Type="http://schemas.openxmlformats.org/officeDocument/2006/relationships/image" Target="../media/image130.png"/><Relationship Id="rId12" Type="http://schemas.openxmlformats.org/officeDocument/2006/relationships/image" Target="../media/image1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png"/><Relationship Id="rId11" Type="http://schemas.openxmlformats.org/officeDocument/2006/relationships/image" Target="../media/image131.png"/><Relationship Id="rId5" Type="http://schemas.openxmlformats.org/officeDocument/2006/relationships/image" Target="../media/image128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39.png"/><Relationship Id="rId3" Type="http://schemas.openxmlformats.org/officeDocument/2006/relationships/image" Target="../media/image15.png"/><Relationship Id="rId7" Type="http://schemas.openxmlformats.org/officeDocument/2006/relationships/image" Target="../media/image136.png"/><Relationship Id="rId12" Type="http://schemas.openxmlformats.org/officeDocument/2006/relationships/image" Target="../media/image13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11" Type="http://schemas.openxmlformats.org/officeDocument/2006/relationships/image" Target="../media/image137.png"/><Relationship Id="rId5" Type="http://schemas.openxmlformats.org/officeDocument/2006/relationships/image" Target="../media/image134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5.png"/><Relationship Id="rId3" Type="http://schemas.openxmlformats.org/officeDocument/2006/relationships/image" Target="../media/image3.png"/><Relationship Id="rId7" Type="http://schemas.openxmlformats.org/officeDocument/2006/relationships/image" Target="../media/image142.png"/><Relationship Id="rId12" Type="http://schemas.openxmlformats.org/officeDocument/2006/relationships/image" Target="../media/image1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1.png"/><Relationship Id="rId11" Type="http://schemas.openxmlformats.org/officeDocument/2006/relationships/image" Target="../media/image143.png"/><Relationship Id="rId5" Type="http://schemas.openxmlformats.org/officeDocument/2006/relationships/image" Target="../media/image140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51.png"/><Relationship Id="rId3" Type="http://schemas.openxmlformats.org/officeDocument/2006/relationships/image" Target="../media/image15.png"/><Relationship Id="rId7" Type="http://schemas.openxmlformats.org/officeDocument/2006/relationships/image" Target="../media/image148.png"/><Relationship Id="rId12" Type="http://schemas.openxmlformats.org/officeDocument/2006/relationships/image" Target="../media/image15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11" Type="http://schemas.openxmlformats.org/officeDocument/2006/relationships/image" Target="../media/image149.png"/><Relationship Id="rId5" Type="http://schemas.openxmlformats.org/officeDocument/2006/relationships/image" Target="../media/image146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.pn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12" Type="http://schemas.openxmlformats.org/officeDocument/2006/relationships/image" Target="../media/image10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6.png"/><Relationship Id="rId11" Type="http://schemas.openxmlformats.org/officeDocument/2006/relationships/image" Target="../media/image9.png"/><Relationship Id="rId5" Type="http://schemas.openxmlformats.org/officeDocument/2006/relationships/image" Target="../media/image155.png"/><Relationship Id="rId10" Type="http://schemas.openxmlformats.org/officeDocument/2006/relationships/image" Target="../media/image8.png"/><Relationship Id="rId4" Type="http://schemas.openxmlformats.org/officeDocument/2006/relationships/image" Target="../media/image154.png"/><Relationship Id="rId9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2.png"/><Relationship Id="rId3" Type="http://schemas.openxmlformats.org/officeDocument/2006/relationships/image" Target="../media/image159.png"/><Relationship Id="rId7" Type="http://schemas.openxmlformats.org/officeDocument/2006/relationships/image" Target="../media/image163.png"/><Relationship Id="rId12" Type="http://schemas.openxmlformats.org/officeDocument/2006/relationships/image" Target="../media/image21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2.png"/><Relationship Id="rId11" Type="http://schemas.openxmlformats.org/officeDocument/2006/relationships/image" Target="../media/image20.png"/><Relationship Id="rId5" Type="http://schemas.openxmlformats.org/officeDocument/2006/relationships/image" Target="../media/image161.png"/><Relationship Id="rId10" Type="http://schemas.openxmlformats.org/officeDocument/2006/relationships/image" Target="../media/image16.png"/><Relationship Id="rId4" Type="http://schemas.openxmlformats.org/officeDocument/2006/relationships/image" Target="../media/image160.png"/><Relationship Id="rId9" Type="http://schemas.openxmlformats.org/officeDocument/2006/relationships/image" Target="../media/image1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69.png"/><Relationship Id="rId3" Type="http://schemas.openxmlformats.org/officeDocument/2006/relationships/image" Target="../media/image3.png"/><Relationship Id="rId7" Type="http://schemas.openxmlformats.org/officeDocument/2006/relationships/image" Target="../media/image166.png"/><Relationship Id="rId12" Type="http://schemas.openxmlformats.org/officeDocument/2006/relationships/image" Target="../media/image16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png"/><Relationship Id="rId11" Type="http://schemas.openxmlformats.org/officeDocument/2006/relationships/image" Target="../media/image167.png"/><Relationship Id="rId5" Type="http://schemas.openxmlformats.org/officeDocument/2006/relationships/image" Target="../media/image164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75.png"/><Relationship Id="rId3" Type="http://schemas.openxmlformats.org/officeDocument/2006/relationships/image" Target="../media/image15.png"/><Relationship Id="rId7" Type="http://schemas.openxmlformats.org/officeDocument/2006/relationships/image" Target="../media/image172.png"/><Relationship Id="rId12" Type="http://schemas.openxmlformats.org/officeDocument/2006/relationships/image" Target="../media/image17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1.png"/><Relationship Id="rId11" Type="http://schemas.openxmlformats.org/officeDocument/2006/relationships/image" Target="../media/image173.png"/><Relationship Id="rId5" Type="http://schemas.openxmlformats.org/officeDocument/2006/relationships/image" Target="../media/image170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81.png"/><Relationship Id="rId3" Type="http://schemas.openxmlformats.org/officeDocument/2006/relationships/image" Target="../media/image3.png"/><Relationship Id="rId7" Type="http://schemas.openxmlformats.org/officeDocument/2006/relationships/image" Target="../media/image178.png"/><Relationship Id="rId12" Type="http://schemas.openxmlformats.org/officeDocument/2006/relationships/image" Target="../media/image18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7.png"/><Relationship Id="rId11" Type="http://schemas.openxmlformats.org/officeDocument/2006/relationships/image" Target="../media/image179.png"/><Relationship Id="rId5" Type="http://schemas.openxmlformats.org/officeDocument/2006/relationships/image" Target="../media/image17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87.png"/><Relationship Id="rId3" Type="http://schemas.openxmlformats.org/officeDocument/2006/relationships/image" Target="../media/image15.png"/><Relationship Id="rId7" Type="http://schemas.openxmlformats.org/officeDocument/2006/relationships/image" Target="../media/image184.png"/><Relationship Id="rId12" Type="http://schemas.openxmlformats.org/officeDocument/2006/relationships/image" Target="../media/image18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3.png"/><Relationship Id="rId11" Type="http://schemas.openxmlformats.org/officeDocument/2006/relationships/image" Target="../media/image185.png"/><Relationship Id="rId5" Type="http://schemas.openxmlformats.org/officeDocument/2006/relationships/image" Target="../media/image182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747520" y="3044279"/>
            <a:ext cx="66969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AI </a:t>
            </a:r>
            <a:r>
              <a:rPr lang="ko-KR" altLang="en-US" sz="4400" b="1" dirty="0">
                <a:latin typeface="+mj-ea"/>
                <a:ea typeface="+mj-ea"/>
              </a:rPr>
              <a:t>모델 성능 개선 결과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아직 남은 것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E1E5AB-3F86-4026-A404-76277B4F6D66}"/>
              </a:ext>
            </a:extLst>
          </p:cNvPr>
          <p:cNvSpPr txBox="1"/>
          <p:nvPr/>
        </p:nvSpPr>
        <p:spPr>
          <a:xfrm>
            <a:off x="2368491" y="2836333"/>
            <a:ext cx="8640350" cy="1891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j-ea"/>
              </a:rPr>
              <a:t>관측 예측 하나 그래프로</a:t>
            </a:r>
            <a:endParaRPr lang="en-US" altLang="ko-KR" sz="1600" b="1" dirty="0">
              <a:latin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latin typeface="+mj-ea"/>
              </a:rPr>
              <a:t>대곡교</a:t>
            </a:r>
            <a:r>
              <a:rPr lang="ko-KR" altLang="en-US" sz="1600" b="1" dirty="0">
                <a:latin typeface="+mj-ea"/>
              </a:rPr>
              <a:t> </a:t>
            </a:r>
            <a:r>
              <a:rPr lang="ko-KR" altLang="en-US" sz="1600" b="1" dirty="0" err="1">
                <a:latin typeface="+mj-ea"/>
              </a:rPr>
              <a:t>궁내교</a:t>
            </a:r>
            <a:r>
              <a:rPr lang="ko-KR" altLang="en-US" sz="1600" b="1" dirty="0">
                <a:latin typeface="+mj-ea"/>
              </a:rPr>
              <a:t> 수위 같이 그려서 비교</a:t>
            </a:r>
            <a:endParaRPr lang="en-US" altLang="ko-KR" sz="1600" b="1" dirty="0">
              <a:latin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>
              <a:latin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+mj-ea"/>
              </a:rPr>
              <a:t>3</a:t>
            </a:r>
            <a:r>
              <a:rPr lang="ko-KR" altLang="en-US" sz="1600" b="1" dirty="0">
                <a:latin typeface="+mj-ea"/>
              </a:rPr>
              <a:t>시간 예측 </a:t>
            </a:r>
            <a:r>
              <a:rPr lang="en-US" altLang="ko-KR" sz="1600" b="1" dirty="0">
                <a:latin typeface="+mj-ea"/>
              </a:rPr>
              <a:t>R2 </a:t>
            </a:r>
            <a:r>
              <a:rPr lang="ko-KR" altLang="en-US" sz="1600" b="1" dirty="0">
                <a:latin typeface="+mj-ea"/>
              </a:rPr>
              <a:t>한번 확인</a:t>
            </a:r>
            <a:endParaRPr lang="en-US" altLang="ko-KR" sz="1600" b="1" dirty="0">
              <a:latin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+mj-ea"/>
              </a:rPr>
              <a:t>23</a:t>
            </a:r>
            <a:r>
              <a:rPr lang="ko-KR" altLang="en-US" sz="1600" b="1" dirty="0">
                <a:latin typeface="+mj-ea"/>
              </a:rPr>
              <a:t>년</a:t>
            </a:r>
            <a:r>
              <a:rPr lang="en-US" altLang="ko-KR" sz="1600" b="1" dirty="0">
                <a:latin typeface="+mj-ea"/>
              </a:rPr>
              <a:t>, 24</a:t>
            </a:r>
            <a:r>
              <a:rPr lang="ko-KR" altLang="en-US" sz="1600" b="1" dirty="0">
                <a:latin typeface="+mj-ea"/>
              </a:rPr>
              <a:t>년</a:t>
            </a:r>
            <a:r>
              <a:rPr lang="en-US" altLang="ko-KR" sz="1600" b="1" dirty="0">
                <a:latin typeface="+mj-ea"/>
              </a:rPr>
              <a:t>, 25</a:t>
            </a:r>
            <a:r>
              <a:rPr lang="ko-KR" altLang="en-US" sz="1600" b="1" dirty="0">
                <a:latin typeface="+mj-ea"/>
              </a:rPr>
              <a:t>년은 시점을 좀 앞으로 </a:t>
            </a:r>
            <a:r>
              <a:rPr lang="ko-KR" altLang="en-US" sz="1600" b="1" dirty="0" err="1">
                <a:latin typeface="+mj-ea"/>
              </a:rPr>
              <a:t>땡겨</a:t>
            </a:r>
            <a:endParaRPr lang="ko-KR" altLang="en-US" sz="16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5154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결론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1C422-1565-448B-BCD7-AE68451E1256}"/>
              </a:ext>
            </a:extLst>
          </p:cNvPr>
          <p:cNvSpPr txBox="1"/>
          <p:nvPr/>
        </p:nvSpPr>
        <p:spPr>
          <a:xfrm>
            <a:off x="1775825" y="3234266"/>
            <a:ext cx="864035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j-ea"/>
              </a:rPr>
              <a:t>관심 강우</a:t>
            </a:r>
            <a:r>
              <a:rPr lang="en-US" altLang="ko-KR" sz="1600" b="1" dirty="0">
                <a:latin typeface="+mj-ea"/>
              </a:rPr>
              <a:t>+MAE </a:t>
            </a:r>
            <a:r>
              <a:rPr lang="ko-KR" altLang="en-US" sz="1600" b="1" dirty="0">
                <a:latin typeface="+mj-ea"/>
              </a:rPr>
              <a:t>가 가장 안정적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+mj-ea"/>
              </a:rPr>
              <a:t>20</a:t>
            </a:r>
            <a:r>
              <a:rPr lang="ko-KR" altLang="en-US" sz="1600" b="1" dirty="0">
                <a:latin typeface="+mj-ea"/>
              </a:rPr>
              <a:t>년 이후 학습 모델</a:t>
            </a:r>
            <a:r>
              <a:rPr lang="en-US" altLang="ko-KR" sz="1600" b="1" dirty="0">
                <a:latin typeface="+mj-ea"/>
              </a:rPr>
              <a:t>: </a:t>
            </a:r>
            <a:r>
              <a:rPr lang="ko-KR" altLang="en-US" sz="1600" b="1" dirty="0">
                <a:latin typeface="+mj-ea"/>
              </a:rPr>
              <a:t>최신성우수</a:t>
            </a:r>
            <a:r>
              <a:rPr lang="en-US" altLang="ko-KR" sz="1600" b="1" dirty="0">
                <a:latin typeface="+mj-ea"/>
              </a:rPr>
              <a:t>, 22</a:t>
            </a:r>
            <a:r>
              <a:rPr lang="ko-KR" altLang="en-US" sz="1600" b="1" dirty="0">
                <a:latin typeface="+mj-ea"/>
              </a:rPr>
              <a:t>년 이벤트 음수</a:t>
            </a:r>
          </a:p>
        </p:txBody>
      </p:sp>
    </p:spTree>
    <p:extLst>
      <p:ext uri="{BB962C8B-B14F-4D97-AF65-F5344CB8AC3E}">
        <p14:creationId xmlns:p14="http://schemas.microsoft.com/office/powerpoint/2010/main" val="3458616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3044279"/>
            <a:ext cx="5435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72</a:t>
            </a:r>
            <a:r>
              <a:rPr lang="ko-KR" altLang="en-US" sz="4400" b="1" dirty="0">
                <a:latin typeface="+mj-ea"/>
                <a:ea typeface="+mj-ea"/>
              </a:rPr>
              <a:t>시간 예측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A6049D-7362-4111-BC96-6F8E3CDCAA3B}"/>
              </a:ext>
            </a:extLst>
          </p:cNvPr>
          <p:cNvSpPr txBox="1"/>
          <p:nvPr/>
        </p:nvSpPr>
        <p:spPr>
          <a:xfrm>
            <a:off x="4356099" y="3813720"/>
            <a:ext cx="3344334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1050" b="1" dirty="0"/>
              <a:t>72</a:t>
            </a:r>
            <a:r>
              <a:rPr lang="ko-KR" altLang="en-US" sz="1050" b="1" dirty="0"/>
              <a:t>시간 예측 후 </a:t>
            </a:r>
            <a:r>
              <a:rPr lang="en-US" altLang="ko-KR" sz="1050" b="1" dirty="0"/>
              <a:t> </a:t>
            </a:r>
            <a:r>
              <a:rPr lang="ko-KR" altLang="en-US" sz="1050" b="1" dirty="0">
                <a:latin typeface="+mj-ea"/>
              </a:rPr>
              <a:t>뒷부분 날리고</a:t>
            </a:r>
            <a:r>
              <a:rPr lang="en-US" altLang="ko-KR" sz="1050" b="1" dirty="0">
                <a:latin typeface="+mj-ea"/>
              </a:rPr>
              <a:t> </a:t>
            </a:r>
            <a:r>
              <a:rPr lang="ko-KR" altLang="en-US" sz="1050" b="1" dirty="0">
                <a:latin typeface="+mj-ea"/>
              </a:rPr>
              <a:t>앞 </a:t>
            </a:r>
            <a:r>
              <a:rPr lang="en-US" altLang="ko-KR" sz="1050" b="1" dirty="0">
                <a:latin typeface="+mj-ea"/>
              </a:rPr>
              <a:t>36</a:t>
            </a:r>
            <a:r>
              <a:rPr lang="ko-KR" altLang="en-US" sz="1050" b="1" dirty="0">
                <a:latin typeface="+mj-ea"/>
              </a:rPr>
              <a:t>시간만 예측</a:t>
            </a:r>
          </a:p>
        </p:txBody>
      </p:sp>
    </p:spTree>
    <p:extLst>
      <p:ext uri="{BB962C8B-B14F-4D97-AF65-F5344CB8AC3E}">
        <p14:creationId xmlns:p14="http://schemas.microsoft.com/office/powerpoint/2010/main" val="1966476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</a:rPr>
              <a:t>72</a:t>
            </a:r>
            <a:r>
              <a:rPr lang="ko-KR" altLang="en-US" sz="2000" b="1" dirty="0">
                <a:latin typeface="+mj-ea"/>
              </a:rPr>
              <a:t>시간 예측 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62168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0.8759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0.0262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0.0960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0.1619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0.9934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0.0039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0.0495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0.0631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-1.9263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0.1161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0.3101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0.3407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-0.4222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0.1991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0.4156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0.4462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0.7968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0.0568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0.1515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0.7761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0.2037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0.3916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0.4514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0.6043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0.0320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0.1075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0.1789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0.2256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0.0368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0.1918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0.4520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0.2344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0.8822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0.0543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0.1855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0.2331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0.8114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0.0132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0.0951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0.1153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0.7106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0.1004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0.2621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0.3169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음수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다수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MAE/RMSE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모두 가장 큼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78738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- 62.3% )  ,  </a:t>
            </a:r>
            <a:r>
              <a:rPr lang="ko-KR" altLang="en-US" dirty="0" err="1"/>
              <a:t>대곡교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- 33.9%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478EF-A400-48AA-B4F2-4325273EA3F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</a:t>
            </a:r>
            <a:r>
              <a:rPr lang="en-US" altLang="ko-KR" sz="1050" b="1" dirty="0" err="1"/>
              <a:t>model_sungnam</a:t>
            </a:r>
            <a:r>
              <a:rPr lang="en-US" altLang="ko-KR" sz="1050" b="1" dirty="0"/>
              <a:t>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/dg)72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16055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0.8114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0.4520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0.6043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2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0.7968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-1.9263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0.8759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A2A58F6-1571-4C9A-BF15-77D7AAEEE80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</a:t>
            </a:r>
            <a:r>
              <a:rPr lang="en-US" altLang="ko-KR" sz="1050" b="1" dirty="0" err="1"/>
              <a:t>model_sungnam</a:t>
            </a:r>
            <a:r>
              <a:rPr lang="en-US" altLang="ko-KR" sz="1050" b="1" dirty="0"/>
              <a:t>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/dg)72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72619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0.7106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0.8822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0.2256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0449"/>
            <a:ext cx="319289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5271474"/>
            <a:ext cx="3192888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0.7761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-0.4222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0.9934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B516A0-9E44-44FC-AA7A-4EC9558A648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</a:t>
            </a:r>
            <a:r>
              <a:rPr lang="en-US" altLang="ko-KR" sz="1050" b="1" dirty="0" err="1"/>
              <a:t>model_sungnam</a:t>
            </a:r>
            <a:r>
              <a:rPr lang="en-US" altLang="ko-KR" sz="1050" b="1" dirty="0"/>
              <a:t>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/dg)72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2176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3044279"/>
            <a:ext cx="5435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highlight>
                  <a:srgbClr val="FFFF00"/>
                </a:highlight>
                <a:latin typeface="+mj-ea"/>
                <a:ea typeface="+mj-ea"/>
              </a:rPr>
              <a:t>관심수위 </a:t>
            </a:r>
            <a:r>
              <a:rPr lang="en-US" altLang="ko-KR" sz="4400" b="1" dirty="0">
                <a:highlight>
                  <a:srgbClr val="FFFF00"/>
                </a:highlight>
                <a:latin typeface="+mj-ea"/>
                <a:ea typeface="+mj-ea"/>
              </a:rPr>
              <a:t>+ MAE</a:t>
            </a:r>
          </a:p>
        </p:txBody>
      </p:sp>
    </p:spTree>
    <p:extLst>
      <p:ext uri="{BB962C8B-B14F-4D97-AF65-F5344CB8AC3E}">
        <p14:creationId xmlns:p14="http://schemas.microsoft.com/office/powerpoint/2010/main" val="3065346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3677941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+ MAE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449658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0.9656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0.0072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0.0558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0.0852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0.8748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0.0763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0.1754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0.2763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0.0230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0.1139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0.1516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0.5503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0.0629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0.2509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0.8622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0.0385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0.1963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0.2258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0.3492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0.7308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0.0962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0.1475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0.6749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0.0860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0.1244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0.0205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0.9470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0.0244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0.1098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0.1563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0.5087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0.0423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0.1589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0.2056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피크 타이밍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&amp;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크기 가장 정확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모든 실험 대비 가장 안정적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이전 모델 대비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피크값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추적력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고수위 예측 정확도 향상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4625" indent="0">
              <a:buNone/>
            </a:pP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3589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0.5087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0.7947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0.7308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2520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616" y="3240449"/>
            <a:ext cx="3227152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5778" y="5271474"/>
            <a:ext cx="323353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0.8622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0.4201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0.9656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92488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0.8781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0.9470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0.6749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3240449"/>
            <a:ext cx="319288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4" y="5271474"/>
            <a:ext cx="3192888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5271474"/>
            <a:ext cx="319289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0.8659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0.5503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0.8748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6851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11988" y="2705725"/>
            <a:ext cx="69680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관심수위 </a:t>
            </a:r>
            <a:r>
              <a:rPr lang="en-US" altLang="ko-KR" sz="4400" b="1" dirty="0">
                <a:latin typeface="+mj-ea"/>
                <a:ea typeface="+mj-ea"/>
              </a:rPr>
              <a:t>+ MAE</a:t>
            </a:r>
          </a:p>
          <a:p>
            <a:pPr algn="ctr"/>
            <a:r>
              <a:rPr lang="en-US" altLang="ko-KR" sz="4400" b="1" dirty="0">
                <a:latin typeface="+mj-ea"/>
                <a:ea typeface="+mj-ea"/>
              </a:rPr>
              <a:t>1</a:t>
            </a:r>
            <a:r>
              <a:rPr lang="ko-KR" altLang="en-US" sz="4400" b="1" dirty="0">
                <a:latin typeface="+mj-ea"/>
                <a:ea typeface="+mj-ea"/>
              </a:rPr>
              <a:t>시간 단위 예측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32924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+ MAE 1</a:t>
            </a:r>
            <a:r>
              <a:rPr lang="ko-KR" altLang="en-US" sz="2000" b="1" dirty="0">
                <a:latin typeface="+mj-ea"/>
              </a:rPr>
              <a:t>시간 단위 예측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42400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 Lead time sensitivity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낮음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 이동에 강건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1400" b="1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궁내교보다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Lead-time sensitivity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큼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특히 후행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시간에서 성능 급락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peak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위치가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±1h shift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되어도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비슷하게 유지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720763-343A-4A25-BAC3-5D5833244E5B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4BC8555-88BC-43AA-B0D0-E89D3D4C3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36443"/>
              </p:ext>
            </p:extLst>
          </p:nvPr>
        </p:nvGraphicFramePr>
        <p:xfrm>
          <a:off x="5603343" y="2605601"/>
          <a:ext cx="6402384" cy="40614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51205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482917">
                  <a:extLst>
                    <a:ext uri="{9D8B030D-6E8A-4147-A177-3AD203B41FA5}">
                      <a16:colId xmlns:a16="http://schemas.microsoft.com/office/drawing/2014/main" val="780052470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궁내교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Test data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time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20.08.02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01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0.9627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0.0085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0.0656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0.0656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0.8421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0.0716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0.1783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0.2676</a:t>
                      </a:r>
                      <a:endParaRPr lang="pt-BR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02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0.9656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0.0072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0.0558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0.0852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0.8748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0.0763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0.1754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0.2763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2694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03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0.8581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0.0236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0.1028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0.1538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0.8667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0.0633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0.2096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0.2517</a:t>
                      </a:r>
                      <a:endParaRPr lang="pt-BR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9274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22.07.12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15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0.8698</a:t>
                      </a:r>
                      <a:endParaRPr lang="en-US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0.0108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0.0845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0.1041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0.9276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0.0271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0.1433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0.1648</a:t>
                      </a:r>
                      <a:endParaRPr lang="ko-KR" altLang="en-US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16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0.0230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0.1139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0.1516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0.5503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0.0629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0.2509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08217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17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0.7777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0.0148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0.0844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0.1218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0.3852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0.1563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0.3768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0.3953</a:t>
                      </a:r>
                      <a:endParaRPr lang="pt-BR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49749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23.07.11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06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0.8966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0.0368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0.1150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0.1920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0.8208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0.1877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0.2735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0.4333</a:t>
                      </a:r>
                      <a:endParaRPr lang="ko-KR" altLang="en-US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07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0.8622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0.0385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0.1963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0.2258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0.3492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0473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08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0.8323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0.0351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0.1005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0.1874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0.9018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0.0779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0.2423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0.2791</a:t>
                      </a:r>
                      <a:endParaRPr lang="ko-KR" altLang="en-US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50228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47D86C-79DE-4B3D-A2D6-5A764D1BA978}"/>
              </a:ext>
            </a:extLst>
          </p:cNvPr>
          <p:cNvSpPr/>
          <p:nvPr/>
        </p:nvSpPr>
        <p:spPr>
          <a:xfrm>
            <a:off x="6828737" y="2963337"/>
            <a:ext cx="660400" cy="371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971287-AAE6-40BB-A0F5-25DB65107EDD}"/>
              </a:ext>
            </a:extLst>
          </p:cNvPr>
          <p:cNvSpPr/>
          <p:nvPr/>
        </p:nvSpPr>
        <p:spPr>
          <a:xfrm>
            <a:off x="9417231" y="2963337"/>
            <a:ext cx="660400" cy="371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7588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+ MAE 1</a:t>
            </a:r>
            <a:r>
              <a:rPr lang="ko-KR" altLang="en-US" sz="2000" b="1" dirty="0">
                <a:latin typeface="+mj-ea"/>
              </a:rPr>
              <a:t>시간 단위 예측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720763-343A-4A25-BAC3-5D5833244E5B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5F8B177-AFE9-4DC7-AD46-F80052E6E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003981"/>
              </p:ext>
            </p:extLst>
          </p:nvPr>
        </p:nvGraphicFramePr>
        <p:xfrm>
          <a:off x="5603341" y="2615313"/>
          <a:ext cx="6402384" cy="40614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51205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482917">
                  <a:extLst>
                    <a:ext uri="{9D8B030D-6E8A-4147-A177-3AD203B41FA5}">
                      <a16:colId xmlns:a16="http://schemas.microsoft.com/office/drawing/2014/main" val="780052470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궁내교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Test data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time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17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0.6247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0.0329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0.0925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0.1816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0.6779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0.0171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0.1038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0.1311</a:t>
                      </a:r>
                      <a:endParaRPr lang="pt-BR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18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0.7308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0.0962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0.1475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0.6749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0.0860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0.1244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2694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19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0.7209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0.0217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0.0892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0.1475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0.4809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0.0191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0.1026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0.1385</a:t>
                      </a:r>
                      <a:endParaRPr lang="pt-BR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9274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25.07.16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16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0.7968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0.0283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0.1263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0.1684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0.9713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0.0168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0.1071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0.1298</a:t>
                      </a:r>
                      <a:endParaRPr lang="ko-KR" altLang="en-US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17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0.0205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0.9470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0.0244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0.1098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0.1563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08217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18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0.8285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0.0174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0.1056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0.1319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0.9366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0.0201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0.1147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0.1419</a:t>
                      </a:r>
                      <a:endParaRPr lang="pt-BR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49749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25.08.14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04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0.7630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0.0277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0.1195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0.1665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0.8931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0.0489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0.1846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0.2211</a:t>
                      </a:r>
                      <a:endParaRPr lang="ko-KR" altLang="en-US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05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0.5087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0.0423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0.1589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0.2056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0473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06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0.6803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0.0131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0.0906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0.1146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0.6361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0.0707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0.2163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0.2659</a:t>
                      </a:r>
                      <a:endParaRPr lang="ko-KR" altLang="en-US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50228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5543A98-ED3C-4FE5-A394-FCE5A01D5211}"/>
              </a:ext>
            </a:extLst>
          </p:cNvPr>
          <p:cNvSpPr/>
          <p:nvPr/>
        </p:nvSpPr>
        <p:spPr>
          <a:xfrm>
            <a:off x="6828737" y="2963337"/>
            <a:ext cx="660400" cy="371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9AE703-8E58-45C1-B836-F467BBF7E3B6}"/>
              </a:ext>
            </a:extLst>
          </p:cNvPr>
          <p:cNvSpPr/>
          <p:nvPr/>
        </p:nvSpPr>
        <p:spPr>
          <a:xfrm>
            <a:off x="9417231" y="2963337"/>
            <a:ext cx="660400" cy="371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7B9857-F487-47DE-9A42-8A1E807D04AF}"/>
              </a:ext>
            </a:extLst>
          </p:cNvPr>
          <p:cNvSpPr txBox="1"/>
          <p:nvPr/>
        </p:nvSpPr>
        <p:spPr>
          <a:xfrm>
            <a:off x="499533" y="1389410"/>
            <a:ext cx="9042400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 Lead time sensitivity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낮음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 이동에 강건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1400" b="1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궁내교보다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Lead-time sensitivity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큼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특히 후행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시간에서 성능 급락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peak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위치가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±1h shift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되어도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비슷하게 유지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6152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1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시간 단위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616" y="689483"/>
            <a:ext cx="3206693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2693941"/>
            <a:ext cx="3275495" cy="54196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4721949"/>
            <a:ext cx="323353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231467" y="1473154"/>
            <a:ext cx="1625543" cy="4647191"/>
            <a:chOff x="6231467" y="1473154"/>
            <a:chExt cx="1625543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( 17 )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231467" y="3478697"/>
              <a:ext cx="1618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 ( 16 )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( 15 )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0.7777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0.4201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0.8698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43" y="3240449"/>
            <a:ext cx="323352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98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980" y="716172"/>
            <a:ext cx="3206693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603" y="4745885"/>
            <a:ext cx="323353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763" y="3240449"/>
            <a:ext cx="31789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3232" y="5271474"/>
            <a:ext cx="2580891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330200" y="1566310"/>
            <a:ext cx="1629087" cy="4587791"/>
            <a:chOff x="330200" y="1566310"/>
            <a:chExt cx="1629087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( 03 )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330200" y="3552110"/>
              <a:ext cx="16290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 ( 02 )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( 01 )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0.8581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68867" y="3879471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0.9656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0.9627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39407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1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시간 단위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616" y="689483"/>
            <a:ext cx="3227151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9" y="2689402"/>
            <a:ext cx="325399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18" y="4721949"/>
            <a:ext cx="325399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231467" y="1473154"/>
            <a:ext cx="1625543" cy="4647191"/>
            <a:chOff x="6231467" y="1473154"/>
            <a:chExt cx="1625543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( 19 )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231467" y="3478697"/>
              <a:ext cx="1618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 ( 18 )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( 17 )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0.7209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0.7308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0.6247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54012"/>
            <a:ext cx="315910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657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97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716172"/>
            <a:ext cx="315911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2712227"/>
            <a:ext cx="315911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144" y="4745885"/>
            <a:ext cx="325399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355600" y="1566310"/>
            <a:ext cx="1603687" cy="4587791"/>
            <a:chOff x="355600" y="1566310"/>
            <a:chExt cx="1603687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( 08 )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355600" y="3552110"/>
              <a:ext cx="16036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 ( 07 )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( 06 )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0.8323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0.8622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0.8622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25537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1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시간 단위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9" y="689483"/>
            <a:ext cx="323353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2689402"/>
            <a:ext cx="323353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4721949"/>
            <a:ext cx="323353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256867" y="1473154"/>
            <a:ext cx="1600143" cy="4647191"/>
            <a:chOff x="6256867" y="1473154"/>
            <a:chExt cx="1600143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( 06 )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256867" y="3478697"/>
              <a:ext cx="15932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250814 ( 05 )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( 04 )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0.6803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0.5087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0.7630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9" y="1254012"/>
            <a:ext cx="315910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98" y="5271474"/>
            <a:ext cx="317890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4" y="4745885"/>
            <a:ext cx="3227449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09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40449"/>
            <a:ext cx="315910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364068" y="1566310"/>
            <a:ext cx="1595220" cy="4587791"/>
            <a:chOff x="364068" y="1566310"/>
            <a:chExt cx="15952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( 18 )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364068" y="3552110"/>
              <a:ext cx="15952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 ( 17 )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( 16 )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0.8285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0.7947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0.7968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81349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시간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689483"/>
            <a:ext cx="323353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2693941"/>
            <a:ext cx="3233530" cy="54196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4721949"/>
            <a:ext cx="323353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231467" y="1473154"/>
            <a:ext cx="1625543" cy="4647191"/>
            <a:chOff x="6231467" y="1473154"/>
            <a:chExt cx="1625543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( 17 )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231467" y="3478697"/>
              <a:ext cx="1618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 ( 16 )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( 15 )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0.3852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0.5503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0.9276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3240449"/>
            <a:ext cx="323353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98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142" y="716172"/>
            <a:ext cx="323353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142" y="2712227"/>
            <a:ext cx="323353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604" y="4745885"/>
            <a:ext cx="3233529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2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763" y="3240449"/>
            <a:ext cx="317890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142" y="5271474"/>
            <a:ext cx="3184991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330200" y="1566310"/>
            <a:ext cx="1629087" cy="4587791"/>
            <a:chOff x="330200" y="1566310"/>
            <a:chExt cx="1629087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( 03 )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330200" y="3552110"/>
              <a:ext cx="16290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 ( 02 )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( 01 )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0.8667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68867" y="3879471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0.8748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0.8421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110920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시간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9" y="689483"/>
            <a:ext cx="323353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239" y="2689402"/>
            <a:ext cx="3233529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4721949"/>
            <a:ext cx="323353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223000" y="1473154"/>
            <a:ext cx="1634010" cy="4647191"/>
            <a:chOff x="6223000" y="1473154"/>
            <a:chExt cx="1634010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( 19 )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223000" y="3478697"/>
              <a:ext cx="16271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 ( 18 )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( 17 )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0.4809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0.6749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0.6779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264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9" y="3240449"/>
            <a:ext cx="315910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464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522" y="716172"/>
            <a:ext cx="3227151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143" y="2712227"/>
            <a:ext cx="323353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603" y="4745885"/>
            <a:ext cx="323353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825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763" y="3240449"/>
            <a:ext cx="31789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144" y="5271474"/>
            <a:ext cx="318499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355600" y="1566310"/>
            <a:ext cx="1603687" cy="4587791"/>
            <a:chOff x="355600" y="1566310"/>
            <a:chExt cx="1603687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( 08 )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355600" y="3552110"/>
              <a:ext cx="16036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 ( 07 )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( 06 )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0.9018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0.8659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0.8208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7439661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시간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241" y="689483"/>
            <a:ext cx="3233528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315" y="2689402"/>
            <a:ext cx="3227454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4721949"/>
            <a:ext cx="3233529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256867" y="1473154"/>
            <a:ext cx="1600143" cy="4647191"/>
            <a:chOff x="6256867" y="1473154"/>
            <a:chExt cx="1600143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( 06 )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256867" y="3478697"/>
              <a:ext cx="15932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250814 ( 05 )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( 04 )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0.6361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0.8781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0.8931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3240449"/>
            <a:ext cx="3179571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738" y="5271474"/>
            <a:ext cx="317957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151" y="716172"/>
            <a:ext cx="3233529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143" y="2712227"/>
            <a:ext cx="323353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603" y="4745885"/>
            <a:ext cx="323353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02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101" y="3240449"/>
            <a:ext cx="3179571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143" y="5271474"/>
            <a:ext cx="318499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364068" y="1566310"/>
            <a:ext cx="1595220" cy="4587791"/>
            <a:chOff x="364068" y="1566310"/>
            <a:chExt cx="15952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( 18 )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364068" y="3552110"/>
              <a:ext cx="15952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 ( 17 )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( 16 )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0.9366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0.9470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0.9713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88193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3044279"/>
            <a:ext cx="6841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유량 예측 모델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75356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7780867" y="126666"/>
            <a:ext cx="4284136" cy="3095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유량 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( 1.45 – 200.45 )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( 3.93 – 712.55 )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수위 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유량 </a:t>
            </a:r>
            <a:r>
              <a:rPr lang="ko-KR" altLang="en-US" sz="900" b="1" dirty="0" err="1">
                <a:latin typeface="+mn-ea"/>
              </a:rPr>
              <a:t>곡선식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: 23</a:t>
            </a:r>
            <a:r>
              <a:rPr lang="ko-KR" altLang="en-US" sz="900" b="1" dirty="0">
                <a:latin typeface="+mn-ea"/>
              </a:rPr>
              <a:t>년 </a:t>
            </a:r>
            <a:r>
              <a:rPr lang="en-US" altLang="ko-KR" sz="900" b="1" dirty="0">
                <a:latin typeface="+mn-ea"/>
              </a:rPr>
              <a:t>11</a:t>
            </a:r>
            <a:r>
              <a:rPr lang="ko-KR" altLang="en-US" sz="900" b="1" dirty="0">
                <a:latin typeface="+mn-ea"/>
              </a:rPr>
              <a:t>월 이후 </a:t>
            </a:r>
            <a:r>
              <a:rPr lang="en-US" altLang="ko-KR" sz="900" b="1" dirty="0">
                <a:latin typeface="+mn-ea"/>
              </a:rPr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2659324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유량 예측 모델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유량 비교 </a:t>
            </a:r>
            <a:r>
              <a:rPr lang="en-US" altLang="ko-KR" sz="2000" b="1" dirty="0">
                <a:latin typeface="+mj-ea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평균적으로 안정적이나 특정 이벤트 성능 저하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22.07.12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 유독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안맞음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음수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1E3F0B-DA34-47B0-B4F4-88DEB1CB6C7E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/dg)_flow</a:t>
            </a:r>
            <a:endParaRPr lang="ko-KR" altLang="en-US" sz="1050" b="1" dirty="0">
              <a:latin typeface="+mj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18E859D-EBD2-4A84-8D67-C7F09C6F1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602149"/>
              </p:ext>
            </p:extLst>
          </p:nvPr>
        </p:nvGraphicFramePr>
        <p:xfrm>
          <a:off x="4614334" y="3429000"/>
          <a:ext cx="709366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810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8799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874539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797077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797077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2955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946318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719613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797077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0.9470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133.2941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7.6087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11.5453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0.8104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2119.8319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31.4251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46.0416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-0.3192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1225.0217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27.96738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35.0003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0.9411</a:t>
                      </a:r>
                      <a:endParaRPr lang="en-US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849.6534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22.2570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29.14881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0.9153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187.9712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10.4154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13.71025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0.7145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8592.75005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69.7216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92.6970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0.7854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99.3442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6.1220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9.9671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0.7932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92.4420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6.9991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9.6146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0.7869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113.8457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8.1333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10.6698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0.8734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916.8551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24.9128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30.2796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0.7481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88.8281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7.2954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9.4248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0.9158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666.7448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22.7927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25.8214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5422724" y="3784018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8572325" y="3784018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5E48DA-1670-4B12-BDEF-4C0FF83218E0}"/>
              </a:ext>
            </a:extLst>
          </p:cNvPr>
          <p:cNvSpPr txBox="1"/>
          <p:nvPr/>
        </p:nvSpPr>
        <p:spPr>
          <a:xfrm>
            <a:off x="5018529" y="2914649"/>
            <a:ext cx="6978738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- 9%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▲ 개선  </a:t>
            </a:r>
            <a:r>
              <a:rPr lang="en-US" altLang="ko-KR" dirty="0"/>
              <a:t>( + 5.4%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57551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13AD81-9D77-4840-BEEF-57179F7C5A87}"/>
              </a:ext>
            </a:extLst>
          </p:cNvPr>
          <p:cNvSpPr txBox="1"/>
          <p:nvPr/>
        </p:nvSpPr>
        <p:spPr>
          <a:xfrm>
            <a:off x="6465564" y="5849826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0.7481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404A7A-A932-4ACE-8BE0-B47CF0C2724C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/dg)_flow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125198F-8746-4EC8-9127-ED14E04C6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EE802461-7193-48D2-A821-585D8FB12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56BF6FC6-35CF-4854-92EE-A8ADFA96DB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5F2F23C9-24C8-4398-94A2-E097686031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7FDCB0B-0442-452D-BC2C-1A4EDA2737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A3D65E91-0AA2-4B9A-B4B8-76CFC4B89B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013117C8-4176-482F-818A-C866CF9CFA74}"/>
              </a:ext>
            </a:extLst>
          </p:cNvPr>
          <p:cNvGrpSpPr/>
          <p:nvPr/>
        </p:nvGrpSpPr>
        <p:grpSpPr>
          <a:xfrm>
            <a:off x="6465564" y="1473154"/>
            <a:ext cx="1391446" cy="4307814"/>
            <a:chOff x="6465564" y="1473154"/>
            <a:chExt cx="1391446" cy="4307814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AF0D9F-0741-4151-8172-1548A2DC27B5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F711CC2-4CA1-44AE-B532-5B43FEE7E4F2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2F7180D-A4E7-432D-9332-F8328637ACBF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3A8A96A-3191-4C3F-9706-2F23CE2DF8DB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0.7869</a:t>
              </a:r>
              <a:endParaRPr lang="ko-KR" altLang="en-US" sz="1200" b="1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B975A15-CF8B-4F70-9F3F-A7437F945E66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0.7854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74" name="그림 73">
            <a:extLst>
              <a:ext uri="{FF2B5EF4-FFF2-40B4-BE49-F238E27FC236}">
                <a16:creationId xmlns:a16="http://schemas.microsoft.com/office/drawing/2014/main" id="{1ED12E98-A7E9-4FAA-848E-A2EBDE3160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09" cy="1315789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B8DDE25B-0B7D-400D-ADB4-3B047A70EE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3240449"/>
            <a:ext cx="3159109" cy="1356107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ED40514F-CC25-414C-967F-6945DB2DC1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74D50CF0-0404-495A-B36E-82F503E2347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09" cy="1315789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4393125A-4E1D-4749-89CA-2D7FF309470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5" y="3240449"/>
            <a:ext cx="3159108" cy="1356107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D647DB1E-4BB7-467B-B507-4E1DD16A9CE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10" cy="1356107"/>
          </a:xfrm>
          <a:prstGeom prst="rect">
            <a:avLst/>
          </a:prstGeom>
        </p:spPr>
      </p:pic>
      <p:grpSp>
        <p:nvGrpSpPr>
          <p:cNvPr id="80" name="그룹 79">
            <a:extLst>
              <a:ext uri="{FF2B5EF4-FFF2-40B4-BE49-F238E27FC236}">
                <a16:creationId xmlns:a16="http://schemas.microsoft.com/office/drawing/2014/main" id="{EAF7470D-3E5C-4DC9-A280-09902B03997D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D77FCF9-7CC9-4A4C-8D53-1389C5AD2CE7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E8FBBFF-5435-49BA-BFEE-84040DE2DD99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A7A8045-5D6C-40D0-80F8-086A248470EB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5BDF1EB-B53C-4F2E-BC88-94547FD54D03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0.9153</a:t>
              </a:r>
              <a:endParaRPr lang="ko-KR" altLang="en-US" sz="1200" b="1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2A72304-192F-45C2-BECD-6C677814D76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-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0.3192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CB6D6F7-4BCE-4F2D-9A99-031D4501E27F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0.9470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57035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141CDB-06C4-4F00-8552-80DEA93712EA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/dg)_flow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C72D7B55-5C18-4619-8689-9F39CE0B9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F1359B1E-622B-4DF2-A9AB-EE603F6D8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B0B5158-CE58-4204-942B-CE53441AF7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D79E458F-C1B1-47BC-ADCB-9A700BF221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3527CF5C-BC2D-4EE1-8BD8-051A49A502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1211DAA2-EEA8-4D0F-8EA2-F62E25CEDE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grpSp>
        <p:nvGrpSpPr>
          <p:cNvPr id="87" name="그룹 86">
            <a:extLst>
              <a:ext uri="{FF2B5EF4-FFF2-40B4-BE49-F238E27FC236}">
                <a16:creationId xmlns:a16="http://schemas.microsoft.com/office/drawing/2014/main" id="{DEBAD6BE-6CC0-4B64-A312-AE468035344D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63C2725-DB92-418E-99C6-8E8FA330A5CF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F011E77-E8AE-4E8B-89BA-F131A652890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F1ECEB1-7EB7-47E2-B87E-89E52828E8F0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A2AA154-0658-4412-863E-FEBE16F39172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0.9158</a:t>
              </a:r>
              <a:endParaRPr lang="ko-KR" altLang="en-US" sz="1200" b="1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B821D59-CE73-420F-A863-BEE2E8597809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0.8734</a:t>
              </a:r>
              <a:endParaRPr lang="ko-KR" altLang="en-US" sz="1200" b="1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1A0AB5C-D075-4538-9A9A-F5DC2DAC0215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0.7932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94" name="그림 93">
            <a:extLst>
              <a:ext uri="{FF2B5EF4-FFF2-40B4-BE49-F238E27FC236}">
                <a16:creationId xmlns:a16="http://schemas.microsoft.com/office/drawing/2014/main" id="{82652E45-8D6A-4262-95FE-9C1D6C1425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1247792"/>
            <a:ext cx="3192890" cy="1315789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8FEEE663-3125-488A-AA03-918B364514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3240449"/>
            <a:ext cx="3192890" cy="1356107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AA625B5F-72F1-42AA-B68B-53A3C68EB5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9B31B99C-774B-4D43-AC60-8D3F074D74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1254012"/>
            <a:ext cx="3192890" cy="1315789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EE5889F8-0F9E-4DC8-87E1-4A8E218F12F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51" y="3240449"/>
            <a:ext cx="3192890" cy="1356107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2AF9C198-14DD-4FF6-B28E-40A5087AB78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92890" cy="1356107"/>
          </a:xfrm>
          <a:prstGeom prst="rect">
            <a:avLst/>
          </a:prstGeom>
        </p:spPr>
      </p:pic>
      <p:grpSp>
        <p:nvGrpSpPr>
          <p:cNvPr id="100" name="그룹 99">
            <a:extLst>
              <a:ext uri="{FF2B5EF4-FFF2-40B4-BE49-F238E27FC236}">
                <a16:creationId xmlns:a16="http://schemas.microsoft.com/office/drawing/2014/main" id="{8D9A8DF0-930F-4177-91FF-DD29BFDFF5E9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765CC294-474E-49B4-BED0-1EF8A8056620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EE90E51-C325-4A8B-83B6-E9AAA4CA5884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042E071-E761-4129-919E-FE9E49F3AD61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A87481E-8E46-4334-AD83-655CE5F30758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0.7145</a:t>
              </a:r>
              <a:endParaRPr lang="ko-KR" altLang="en-US" sz="1200" b="1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B7C8F69-00D3-42EA-94EB-9FFAA81091B0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0.9411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0C1092D-6AB1-4770-A0ED-D8EE54B725A6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0.8104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50043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3044279"/>
            <a:ext cx="5435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 err="1">
                <a:latin typeface="+mj-ea"/>
                <a:ea typeface="+mj-ea"/>
              </a:rPr>
              <a:t>대곡교</a:t>
            </a:r>
            <a:r>
              <a:rPr lang="ko-KR" altLang="en-US" sz="4400" b="1" dirty="0">
                <a:latin typeface="+mj-ea"/>
                <a:ea typeface="+mj-ea"/>
              </a:rPr>
              <a:t> 컬럼 제외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75123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348273"/>
              </p:ext>
            </p:extLst>
          </p:nvPr>
        </p:nvGraphicFramePr>
        <p:xfrm>
          <a:off x="1210731" y="3219528"/>
          <a:ext cx="5475923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60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7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55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( 42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20230629 56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20084494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latin typeface="+mj-ea"/>
              </a:rPr>
              <a:t>대곡교</a:t>
            </a:r>
            <a:r>
              <a:rPr lang="ko-KR" altLang="en-US" sz="2000" b="1" dirty="0">
                <a:latin typeface="+mj-ea"/>
              </a:rPr>
              <a:t> 컬럼 제외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064171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0.8253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0.0369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0.1334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0.1922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-1.2836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0.0906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0.2571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0.3010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0.9267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0.0204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0.7720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0.1358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0.4997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0.0501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0.1578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0.2240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0.7909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0.0918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/dg)_none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정보 제거 →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예측에도 악영향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하류 수위 상관성이 존재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- 17.5% )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0183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13AD81-9D77-4840-BEEF-57179F7C5A87}"/>
              </a:ext>
            </a:extLst>
          </p:cNvPr>
          <p:cNvSpPr txBox="1"/>
          <p:nvPr/>
        </p:nvSpPr>
        <p:spPr>
          <a:xfrm>
            <a:off x="6465564" y="581472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0.7909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125198F-8746-4EC8-9127-ED14E04C6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EE802461-7193-48D2-A821-585D8FB12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56BF6FC6-35CF-4854-92EE-A8ADFA96DB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5F2F23C9-24C8-4398-94A2-E097686031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7FDCB0B-0442-452D-BC2C-1A4EDA2737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A3D65E91-0AA2-4B9A-B4B8-76CFC4B89B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013117C8-4176-482F-818A-C866CF9CFA74}"/>
              </a:ext>
            </a:extLst>
          </p:cNvPr>
          <p:cNvGrpSpPr/>
          <p:nvPr/>
        </p:nvGrpSpPr>
        <p:grpSpPr>
          <a:xfrm>
            <a:off x="6465564" y="1473154"/>
            <a:ext cx="1391446" cy="4307814"/>
            <a:chOff x="6465564" y="1473154"/>
            <a:chExt cx="1391446" cy="4307814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AF0D9F-0741-4151-8172-1548A2DC27B5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F711CC2-4CA1-44AE-B532-5B43FEE7E4F2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2F7180D-A4E7-432D-9332-F8328637ACBF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3A8A96A-3191-4C3F-9706-2F23CE2DF8DB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0.4997</a:t>
              </a:r>
              <a:endParaRPr lang="ko-KR" altLang="en-US" sz="1200" b="1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B975A15-CF8B-4F70-9F3F-A7437F945E66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0.7720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74" name="그림 73">
            <a:extLst>
              <a:ext uri="{FF2B5EF4-FFF2-40B4-BE49-F238E27FC236}">
                <a16:creationId xmlns:a16="http://schemas.microsoft.com/office/drawing/2014/main" id="{1ED12E98-A7E9-4FAA-848E-A2EBDE3160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10" cy="1315789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B8DDE25B-0B7D-400D-ADB4-3B047A70EE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467" y="3240449"/>
            <a:ext cx="3155805" cy="1356107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ED40514F-CC25-414C-967F-6945DB2DC1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74D50CF0-0404-495A-B36E-82F503E2347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4393125A-4E1D-4749-89CA-2D7FF309470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09" cy="1356107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D647DB1E-4BB7-467B-B507-4E1DD16A9CE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09" cy="1356107"/>
          </a:xfrm>
          <a:prstGeom prst="rect">
            <a:avLst/>
          </a:prstGeom>
        </p:spPr>
      </p:pic>
      <p:grpSp>
        <p:nvGrpSpPr>
          <p:cNvPr id="80" name="그룹 79">
            <a:extLst>
              <a:ext uri="{FF2B5EF4-FFF2-40B4-BE49-F238E27FC236}">
                <a16:creationId xmlns:a16="http://schemas.microsoft.com/office/drawing/2014/main" id="{EAF7470D-3E5C-4DC9-A280-09902B03997D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D77FCF9-7CC9-4A4C-8D53-1389C5AD2CE7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E8FBBFF-5435-49BA-BFEE-84040DE2DD99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A7A8045-5D6C-40D0-80F8-086A248470EB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5BDF1EB-B53C-4F2E-BC88-94547FD54D03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0.9267</a:t>
              </a:r>
              <a:endParaRPr lang="ko-KR" altLang="en-US" sz="1200" b="1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2A72304-192F-45C2-BECD-6C677814D76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-1.2836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CB6D6F7-4BCE-4F2D-9A99-031D4501E27F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0.8253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13E51A5-0EE5-4FD5-969C-A321866CA53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/dg)_none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245616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3044279"/>
            <a:ext cx="6841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2020</a:t>
            </a:r>
            <a:r>
              <a:rPr lang="ko-KR" altLang="en-US" sz="4400" b="1" dirty="0">
                <a:latin typeface="+mj-ea"/>
                <a:ea typeface="+mj-ea"/>
              </a:rPr>
              <a:t>년 이후 데이터 학습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074280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40</a:t>
            </a:r>
            <a:r>
              <a:rPr lang="ko-KR" altLang="en-US" sz="1600" dirty="0"/>
              <a:t>개 中 </a:t>
            </a:r>
            <a:r>
              <a:rPr lang="en-US" altLang="ko-KR" sz="1600" dirty="0"/>
              <a:t>34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20240920 ( 24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20240921 ~ 250919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23690753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</a:rPr>
              <a:t>2020</a:t>
            </a:r>
            <a:r>
              <a:rPr lang="ko-KR" altLang="en-US" sz="2000" b="1" dirty="0">
                <a:latin typeface="+mj-ea"/>
              </a:rPr>
              <a:t>년 이후 데이터 학습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022449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0.9513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0.0102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0.0814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0.1013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0.8845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0.0704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0.1797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0.2653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-0.8548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0.2712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-0.1561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0.3550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0.4023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0.8751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0.7304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0.2453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0.3701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0.4953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0.8136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0.0610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0.6077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0.1365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0.8213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0.0179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0.1338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0.0624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0.2498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0.7835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0.8840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0.0402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0.1572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0.2006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최근 패턴 집중 → 소폭 개선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학습 데이터 감소 → 일반화 성능 저하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지점별 데이터 분리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???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▲ 개선  </a:t>
            </a:r>
            <a:r>
              <a:rPr lang="en-US" altLang="ko-KR" dirty="0"/>
              <a:t>( + 2.5 %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▲ 개선  </a:t>
            </a:r>
            <a:r>
              <a:rPr lang="en-US" altLang="ko-KR" dirty="0"/>
              <a:t>( + 0.5 %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33793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0.7835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0.8213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0.8136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0.8751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-0.8548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0.9513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21607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0.8840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0.8647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0.6077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0449"/>
            <a:ext cx="319288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4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40449"/>
            <a:ext cx="319288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2" y="5271474"/>
            <a:ext cx="3195542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0.7304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-0.1561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0.8845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D82F9F-5C5E-443C-934B-0DA7D76B092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9709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3044279"/>
            <a:ext cx="6841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3</a:t>
            </a:r>
            <a:r>
              <a:rPr lang="ko-KR" altLang="en-US" sz="4400" b="1" dirty="0">
                <a:latin typeface="+mj-ea"/>
                <a:ea typeface="+mj-ea"/>
              </a:rPr>
              <a:t>시간 예측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407178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30420266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</a:rPr>
              <a:t>3</a:t>
            </a:r>
            <a:r>
              <a:rPr lang="ko-KR" altLang="en-US" sz="2000" b="1" dirty="0">
                <a:latin typeface="+mj-ea"/>
              </a:rPr>
              <a:t>시간 예측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176497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0.5417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0.0184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0.1049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0.1359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0.4341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/>
                        <a:t>0.0495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/>
                        <a:t>0.1670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/>
                        <a:t>0.2225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0.8669</a:t>
                      </a:r>
                      <a:endParaRPr lang="en-US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0.0795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0.0921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0.9659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0.0042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0.0452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0.0651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0.9006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0.0563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0.7131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0.1341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0.3316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0.3663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0.5351</a:t>
                      </a:r>
                      <a:endParaRPr lang="pt-BR" altLang="ko-KR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0.0014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0.0333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-4.2174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0.0347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0.1570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0.1863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0.6605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0.1165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0.7288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0.0379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0.1619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0.1947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0.2037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0.0287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0.1493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0.1695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0.8953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0.0140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0.0854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0.1186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이벤트별 변동성 가장 큼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대곡교에서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-4.21 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발생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기준으로는 손해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- 13.4%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-26.5%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6487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0.2037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0.6605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0.5351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65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658" y="3240449"/>
            <a:ext cx="315910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9288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0.9006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0.8669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0.5417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4B974EA-9D74-40CE-B5FC-A983C2F579D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184922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0.8953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0.7288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-4.2174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3240449"/>
            <a:ext cx="319289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54012"/>
            <a:ext cx="3192889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5271474"/>
            <a:ext cx="319288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0.7131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0.9659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0.4341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F36F4F-CEB0-4E64-B6B8-57448DFFD3CB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631382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</a:rPr>
              <a:t>3</a:t>
            </a:r>
            <a:r>
              <a:rPr lang="ko-KR" altLang="en-US" sz="2000" b="1" dirty="0">
                <a:latin typeface="+mj-ea"/>
              </a:rPr>
              <a:t>시간 예측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예측 시작 시점 </a:t>
            </a:r>
            <a:r>
              <a:rPr lang="en-US" altLang="ko-KR" sz="2000" b="1" dirty="0">
                <a:latin typeface="+mj-ea"/>
              </a:rPr>
              <a:t>-1</a:t>
            </a:r>
            <a:r>
              <a:rPr lang="ko-KR" altLang="en-US" sz="2000" b="1" dirty="0">
                <a:latin typeface="+mj-ea"/>
              </a:rPr>
              <a:t>시간 </a:t>
            </a:r>
            <a:r>
              <a:rPr lang="en-US" altLang="ko-KR" sz="2000" b="1" dirty="0">
                <a:latin typeface="+mj-ea"/>
              </a:rPr>
              <a:t> )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104815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0.8214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0.0315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0.1508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0.1774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0.9113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0.0216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0.1275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0.1470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-0.3291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0.0215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0.1190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0.1467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-0.1308</a:t>
                      </a:r>
                      <a:endParaRPr lang="en-US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0.0159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0.1264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0.9196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0.0107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0.7288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0.3182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0.3538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0.7568</a:t>
                      </a:r>
                      <a:endParaRPr lang="pt-BR" altLang="ko-KR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0.0911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0.1122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0.5679</a:t>
                      </a:r>
                      <a:endParaRPr lang="pt-BR" altLang="ko-KR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0.0911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0.1122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0.9456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0.0045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0.0528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0.0671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0.5949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0.0571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0.2051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0.2390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-0.9700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0.0607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0.2157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0.2464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0.8942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0.0257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0.1387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0.1604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이벤트별 변동성 가장 큼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대곡교에서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-4.21 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발생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기준으로는 손해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- 13.4%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-26.5%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2106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-0.9700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0.9456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0.7568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6" y="1247792"/>
            <a:ext cx="3192888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4" y="3240449"/>
            <a:ext cx="319288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89" cy="135610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9288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0.9196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-0.3291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0.8214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1F36F4F-CEB0-4E64-B6B8-57448DFFD3CB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7C6BFB-20A7-43B0-90D8-1F7A246BB2B1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E330ADC7-5411-4D38-8863-F9B7C91073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9C81B944-E542-455B-92C0-27BEBDE3E8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29BE6D5B-BC93-466C-847A-0645A0B818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83E87A0-CD57-4F57-92C4-A02C985E38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800CEF64-0372-449C-B3C8-A2BAA38564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4A81F736-890D-487E-AEA3-87DBAFD1CFD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493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0.8942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0.5949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0.5679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0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2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0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0244" y="5271474"/>
            <a:ext cx="319288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0.7288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-0.1308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0.9113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4B974EA-9D74-40CE-B5FC-A983C2F579D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1B2D2B-8083-44DF-8ED3-5FB121DE62C9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FA178A2C-983E-4C84-A289-6CC4F0CAF6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17350F9F-F0CB-4B9B-BBE3-E6CB451673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89F72EDA-F404-4FED-95A6-C86631F570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5090526C-ACFD-4894-A654-6209385E45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0C6D0FA9-C1E2-4963-9DD4-1CD5F0B8659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4B6D5AA4-0C24-4C8C-8285-4B2E0825A28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816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1495427" y="3044279"/>
            <a:ext cx="92011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데이터 편집 </a:t>
            </a:r>
            <a:r>
              <a:rPr lang="en-US" altLang="ko-KR" sz="4400" b="1" dirty="0">
                <a:latin typeface="+mj-ea"/>
                <a:ea typeface="+mj-ea"/>
              </a:rPr>
              <a:t>( </a:t>
            </a:r>
            <a:r>
              <a:rPr lang="ko-KR" altLang="en-US" sz="4400" b="1" dirty="0">
                <a:latin typeface="+mj-ea"/>
                <a:ea typeface="+mj-ea"/>
              </a:rPr>
              <a:t>수위 </a:t>
            </a:r>
            <a:r>
              <a:rPr lang="en-US" altLang="ko-KR" sz="4400" b="1" dirty="0">
                <a:latin typeface="+mj-ea"/>
                <a:ea typeface="+mj-ea"/>
              </a:rPr>
              <a:t>X 0.98 , x 1.02 )</a:t>
            </a:r>
          </a:p>
        </p:txBody>
      </p:sp>
    </p:spTree>
    <p:extLst>
      <p:ext uri="{BB962C8B-B14F-4D97-AF65-F5344CB8AC3E}">
        <p14:creationId xmlns:p14="http://schemas.microsoft.com/office/powerpoint/2010/main" val="23560086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15289418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데이터 편집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수위 </a:t>
            </a:r>
            <a:r>
              <a:rPr lang="en-US" altLang="ko-KR" sz="2000" b="1" dirty="0">
                <a:latin typeface="+mj-ea"/>
              </a:rPr>
              <a:t>X 0.98 )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714196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0.8492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0.8492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0.1350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0.1785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0.8579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0.0867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0.1858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0.2944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0.0283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0.1397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0.1682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0.7718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0.1560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0.1787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0.8814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0.1257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0.1821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0.1596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0.3170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0.3995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0.8244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0.0142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0.0692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0.1191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0.5221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0.0227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0.1072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0.1507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0.7627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0.0238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0.1369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0.1542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0.9736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0.0856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0.1103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0.4144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0.0412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0.1441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0.7718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0.0791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0.2257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0.2813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/dg)_0.98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편향 보정 효과는 있음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기준으로는 손해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- 6.2%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- 1.5%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43275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6201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0.4144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0.7627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0.8244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617" y="1254012"/>
            <a:ext cx="3248656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617" y="3240449"/>
            <a:ext cx="3248655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362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1254012"/>
            <a:ext cx="322745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3240449"/>
            <a:ext cx="322745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0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0.8814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0.2864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0.8492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E14F8A6-20CE-49E2-BD79-C59F90EEE76A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/dg)_0.98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475043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0.7718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0.9736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0.5221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3240449"/>
            <a:ext cx="319289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54012"/>
            <a:ext cx="3179833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9" y="5271474"/>
            <a:ext cx="319289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0.8246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0.7718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0.8579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1E6732-9D3A-4CB5-BA62-8F52B8805B67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/dg)_0.98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51023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데이터 편집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수위 </a:t>
            </a:r>
            <a:r>
              <a:rPr lang="en-US" altLang="ko-KR" sz="2000" b="1" dirty="0">
                <a:latin typeface="+mj-ea"/>
              </a:rPr>
              <a:t>X 1.02 )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150922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0.7922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0.0439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0.1592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0.2096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0.8688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0.0800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0.1656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0.2829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0.0390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0.1680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0.1976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0.5974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0.0563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0.2138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0.2374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0.8994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0.1677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0.8086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0.1741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0.3343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0.4173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0.8400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0.0691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0.1137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0.4905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0.0242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0.1556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0.8186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0.1220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0.1348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0.9726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0.1124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0.4433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0.0392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0.1474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0.7639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0.2862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/dg)_1.02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과대보정 → 분산 증가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peak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근처에서 불안정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- 11.1%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▼저하   </a:t>
            </a:r>
            <a:r>
              <a:rPr lang="en-US" altLang="ko-KR" dirty="0"/>
              <a:t>( - 6.1%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39371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0.4433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0.8186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0.8400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696" y="3240449"/>
            <a:ext cx="315910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5" y="5271474"/>
            <a:ext cx="3159108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09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40449"/>
            <a:ext cx="315910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004" y="5271474"/>
            <a:ext cx="3159108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0.8994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0.0156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0.7922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5D1288C-6DC8-48E0-BC34-82E5CF448E5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/dg)_1.02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219059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0.7639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0.9726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0.4905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0449"/>
            <a:ext cx="319289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5271474"/>
            <a:ext cx="3195542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0.8086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0.5974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0.8688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BD50C4-77EC-4577-B0B7-2672EF83669E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/dg)_1.02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05739733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8618</TotalTime>
  <Words>3829</Words>
  <Application>Microsoft Office PowerPoint</Application>
  <PresentationFormat>와이드스크린</PresentationFormat>
  <Paragraphs>1452</Paragraphs>
  <Slides>51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8" baseType="lpstr">
      <vt:lpstr>나눔고딕</vt:lpstr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1138</cp:revision>
  <dcterms:created xsi:type="dcterms:W3CDTF">2025-11-18T00:02:37Z</dcterms:created>
  <dcterms:modified xsi:type="dcterms:W3CDTF">2026-01-26T04:19:42Z</dcterms:modified>
</cp:coreProperties>
</file>