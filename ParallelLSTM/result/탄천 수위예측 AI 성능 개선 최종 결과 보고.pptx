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1" r:id="rId3"/>
    <p:sldId id="803" r:id="rId4"/>
    <p:sldId id="671" r:id="rId5"/>
    <p:sldId id="804" r:id="rId6"/>
    <p:sldId id="758" r:id="rId7"/>
    <p:sldId id="759" r:id="rId8"/>
    <p:sldId id="762" r:id="rId9"/>
    <p:sldId id="763" r:id="rId10"/>
    <p:sldId id="670" r:id="rId11"/>
    <p:sldId id="727" r:id="rId12"/>
    <p:sldId id="755" r:id="rId13"/>
    <p:sldId id="756" r:id="rId14"/>
    <p:sldId id="750" r:id="rId15"/>
    <p:sldId id="752" r:id="rId16"/>
    <p:sldId id="753" r:id="rId17"/>
    <p:sldId id="754" r:id="rId18"/>
    <p:sldId id="802" r:id="rId19"/>
    <p:sldId id="663" r:id="rId20"/>
    <p:sldId id="771" r:id="rId21"/>
    <p:sldId id="801" r:id="rId22"/>
    <p:sldId id="800" r:id="rId23"/>
    <p:sldId id="731" r:id="rId24"/>
    <p:sldId id="733" r:id="rId25"/>
    <p:sldId id="739" r:id="rId26"/>
    <p:sldId id="740" r:id="rId27"/>
    <p:sldId id="741" r:id="rId28"/>
    <p:sldId id="742" r:id="rId29"/>
    <p:sldId id="797" r:id="rId30"/>
    <p:sldId id="796" r:id="rId31"/>
    <p:sldId id="798" r:id="rId32"/>
    <p:sldId id="79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2.png"/><Relationship Id="rId3" Type="http://schemas.openxmlformats.org/officeDocument/2006/relationships/image" Target="../media/image30.png"/><Relationship Id="rId7" Type="http://schemas.openxmlformats.org/officeDocument/2006/relationships/image" Target="../media/image39.png"/><Relationship Id="rId12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목차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6701452" y="2370667"/>
            <a:ext cx="4838614" cy="3948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000" b="1" dirty="0">
                <a:latin typeface="+mj-ea"/>
              </a:rPr>
              <a:t>Parallel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LSTM </a:t>
            </a:r>
            <a:r>
              <a:rPr lang="ko-KR" altLang="en-US" sz="2000" b="1" dirty="0">
                <a:latin typeface="+mj-ea"/>
              </a:rPr>
              <a:t>성능 개선 비교 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</a:rPr>
              <a:t>학습 데이터 및 예측 결과 정리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  <a:ea typeface="+mj-ea"/>
              </a:rPr>
              <a:t>현재 기준 최적 모델 분석</a:t>
            </a:r>
            <a:br>
              <a:rPr lang="en-US" altLang="ko-KR" sz="2000" b="1" dirty="0">
                <a:latin typeface="+mj-ea"/>
                <a:ea typeface="+mj-ea"/>
              </a:rPr>
            </a:br>
            <a:r>
              <a:rPr lang="en-US" altLang="ko-KR" sz="1000" b="1" dirty="0">
                <a:latin typeface="+mj-ea"/>
                <a:ea typeface="+mj-ea"/>
              </a:rPr>
              <a:t>(</a:t>
            </a:r>
            <a:r>
              <a:rPr lang="en-US" altLang="ko-KR" sz="1000" b="1" dirty="0">
                <a:latin typeface="+mj-ea"/>
              </a:rPr>
              <a:t>10</a:t>
            </a:r>
            <a:r>
              <a:rPr lang="ko-KR" altLang="en-US" sz="1000" b="1" dirty="0">
                <a:latin typeface="+mj-ea"/>
              </a:rPr>
              <a:t>분 단위 분석  </a:t>
            </a:r>
            <a:r>
              <a:rPr lang="en-US" altLang="ko-KR" sz="1000" b="1" dirty="0">
                <a:latin typeface="+mj-ea"/>
              </a:rPr>
              <a:t>&amp; </a:t>
            </a:r>
            <a:r>
              <a:rPr lang="en-US" altLang="ko-KR" sz="1000" b="1" dirty="0">
                <a:latin typeface="+mj-ea"/>
                <a:ea typeface="+mj-ea"/>
              </a:rPr>
              <a:t>1 , 3 </a:t>
            </a:r>
            <a:r>
              <a:rPr lang="ko-KR" altLang="en-US" sz="1000" b="1" dirty="0">
                <a:latin typeface="+mj-ea"/>
                <a:ea typeface="+mj-ea"/>
              </a:rPr>
              <a:t>시간 뒤 시점 수위 오차 및 정확도 </a:t>
            </a:r>
            <a:r>
              <a:rPr lang="en-US" altLang="ko-KR" sz="1000" b="1" dirty="0"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721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eriod"/>
            </a:pPr>
            <a:r>
              <a:rPr lang="en-US" altLang="ko-KR" sz="4400" b="1" dirty="0">
                <a:latin typeface="+mj-ea"/>
              </a:rPr>
              <a:t>Parallel</a:t>
            </a:r>
            <a:r>
              <a:rPr lang="ko-KR" altLang="en-US" sz="4400" b="1" dirty="0">
                <a:latin typeface="+mj-ea"/>
              </a:rPr>
              <a:t> </a:t>
            </a:r>
            <a:r>
              <a:rPr lang="en-US" altLang="ko-KR" sz="4400" b="1" dirty="0">
                <a:latin typeface="+mj-ea"/>
              </a:rPr>
              <a:t>LSTM </a:t>
            </a:r>
          </a:p>
          <a:p>
            <a:pPr algn="ctr"/>
            <a:r>
              <a:rPr lang="ko-KR" altLang="en-US" sz="4400" b="1" dirty="0">
                <a:latin typeface="+mj-ea"/>
              </a:rPr>
              <a:t>성능 개선 비교 </a:t>
            </a:r>
            <a:r>
              <a:rPr lang="en-US" altLang="ko-KR" sz="4400" b="1" dirty="0">
                <a:latin typeface="+mj-ea"/>
              </a:rPr>
              <a:t> 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09747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R2 </a:t>
            </a:r>
            <a:r>
              <a:rPr lang="ko-KR" altLang="en-US" sz="2000" b="1" dirty="0">
                <a:latin typeface="+mj-ea"/>
              </a:rPr>
              <a:t>비교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22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testdata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→ 소폭 개선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47DB4F7-2462-44BE-BB98-1F123BE9E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113869"/>
              </p:ext>
            </p:extLst>
          </p:nvPr>
        </p:nvGraphicFramePr>
        <p:xfrm>
          <a:off x="436841" y="3429000"/>
          <a:ext cx="1599819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관심수위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534A426-D9FC-4ADA-AE30-FDB64376C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97321"/>
              </p:ext>
            </p:extLst>
          </p:nvPr>
        </p:nvGraphicFramePr>
        <p:xfrm>
          <a:off x="4324027" y="3429000"/>
          <a:ext cx="348767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26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27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0.7867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0.9083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0.7582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0.5427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0.8498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0.8559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0.8676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0.5879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0.5575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F397FB-3FE6-4BC4-87D4-5B95EF5EAE56}"/>
              </a:ext>
            </a:extLst>
          </p:cNvPr>
          <p:cNvSpPr/>
          <p:nvPr/>
        </p:nvSpPr>
        <p:spPr>
          <a:xfrm>
            <a:off x="436841" y="4529666"/>
            <a:ext cx="11318318" cy="364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2161567-86C0-4660-AF04-8D45ED95E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052162"/>
              </p:ext>
            </p:extLst>
          </p:nvPr>
        </p:nvGraphicFramePr>
        <p:xfrm>
          <a:off x="8267485" y="3429000"/>
          <a:ext cx="348767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25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학습데이터 </a:t>
                      </a:r>
                      <a:r>
                        <a:rPr lang="en-US" altLang="ko-KR" sz="1200" b="1" dirty="0"/>
                        <a:t>26</a:t>
                      </a:r>
                      <a:r>
                        <a:rPr lang="ko-KR" altLang="en-US" sz="1200" b="1" dirty="0"/>
                        <a:t>개 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0.7813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0.9212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22.09.16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0.6915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0.8567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0.9074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0.7770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0.6983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0.8023</a:t>
                      </a:r>
                      <a:endParaRPr lang="pt-BR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0.8277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8F5993-26BF-4A47-9FC3-5A238716F02D}"/>
              </a:ext>
            </a:extLst>
          </p:cNvPr>
          <p:cNvSpPr txBox="1"/>
          <p:nvPr/>
        </p:nvSpPr>
        <p:spPr>
          <a:xfrm>
            <a:off x="436841" y="3118134"/>
            <a:ext cx="1958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관심수위 </a:t>
            </a:r>
            <a:r>
              <a:rPr lang="en-US" altLang="ko-KR" sz="1200" b="1" dirty="0">
                <a:latin typeface="+mj-ea"/>
              </a:rPr>
              <a:t>( 20</a:t>
            </a:r>
            <a:r>
              <a:rPr lang="ko-KR" altLang="en-US" sz="1200" b="1" dirty="0">
                <a:latin typeface="+mj-ea"/>
              </a:rPr>
              <a:t>년 이후</a:t>
            </a:r>
            <a:r>
              <a:rPr lang="en-US" altLang="ko-KR" sz="1200" b="1" dirty="0">
                <a:latin typeface="+mj-ea"/>
              </a:rPr>
              <a:t>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D0817-AFDC-42FA-99FC-072C5EFF1246}"/>
              </a:ext>
            </a:extLst>
          </p:cNvPr>
          <p:cNvSpPr txBox="1"/>
          <p:nvPr/>
        </p:nvSpPr>
        <p:spPr>
          <a:xfrm>
            <a:off x="470683" y="2650067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R2 </a:t>
            </a:r>
            <a:r>
              <a:rPr lang="ko-KR" altLang="en-US" sz="1200" b="1" dirty="0">
                <a:latin typeface="+mj-ea"/>
              </a:rPr>
              <a:t>평가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17009-0F3A-418C-9699-FB44E033DF60}"/>
              </a:ext>
            </a:extLst>
          </p:cNvPr>
          <p:cNvSpPr txBox="1"/>
          <p:nvPr/>
        </p:nvSpPr>
        <p:spPr>
          <a:xfrm>
            <a:off x="4320220" y="3118133"/>
            <a:ext cx="2214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+</a:t>
            </a:r>
            <a:r>
              <a:rPr lang="ko-KR" altLang="en-US" sz="1200" b="1" dirty="0">
                <a:latin typeface="+mj-ea"/>
              </a:rPr>
              <a:t> 학습데이터 </a:t>
            </a:r>
            <a:r>
              <a:rPr lang="en-US" altLang="ko-KR" sz="1200" b="1" dirty="0">
                <a:latin typeface="+mj-ea"/>
              </a:rPr>
              <a:t>22</a:t>
            </a:r>
            <a:r>
              <a:rPr lang="ko-KR" altLang="en-US" sz="1200" b="1" dirty="0">
                <a:latin typeface="+mj-ea"/>
              </a:rPr>
              <a:t>년 </a:t>
            </a:r>
            <a:r>
              <a:rPr lang="en-US" altLang="ko-KR" sz="1200" b="1" dirty="0">
                <a:latin typeface="+mj-ea"/>
              </a:rPr>
              <a:t>8</a:t>
            </a:r>
            <a:r>
              <a:rPr lang="ko-KR" altLang="en-US" sz="1200" b="1" dirty="0">
                <a:latin typeface="+mj-ea"/>
              </a:rPr>
              <a:t>월</a:t>
            </a:r>
            <a:r>
              <a:rPr lang="en-US" altLang="ko-KR" sz="1200" b="1" dirty="0">
                <a:latin typeface="+mj-ea"/>
              </a:rPr>
              <a:t>14</a:t>
            </a:r>
            <a:r>
              <a:rPr lang="ko-KR" altLang="en-US" sz="1200" b="1" dirty="0">
                <a:latin typeface="+mj-ea"/>
              </a:rPr>
              <a:t>일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0F889-2BD9-48DA-AF85-481ACEB396B9}"/>
              </a:ext>
            </a:extLst>
          </p:cNvPr>
          <p:cNvSpPr txBox="1"/>
          <p:nvPr/>
        </p:nvSpPr>
        <p:spPr>
          <a:xfrm>
            <a:off x="8267485" y="3118133"/>
            <a:ext cx="22148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+</a:t>
            </a:r>
            <a:r>
              <a:rPr lang="ko-KR" altLang="en-US" sz="1200" b="1" dirty="0">
                <a:latin typeface="+mj-ea"/>
              </a:rPr>
              <a:t> 학습데이터 </a:t>
            </a:r>
            <a:r>
              <a:rPr lang="en-US" altLang="ko-KR" sz="1200" b="1" dirty="0">
                <a:latin typeface="+mj-ea"/>
              </a:rPr>
              <a:t>22</a:t>
            </a:r>
            <a:r>
              <a:rPr lang="ko-KR" altLang="en-US" sz="1200" b="1" dirty="0">
                <a:latin typeface="+mj-ea"/>
              </a:rPr>
              <a:t>년 </a:t>
            </a:r>
            <a:r>
              <a:rPr lang="en-US" altLang="ko-KR" sz="1200" b="1" dirty="0">
                <a:latin typeface="+mj-ea"/>
              </a:rPr>
              <a:t>9</a:t>
            </a:r>
            <a:r>
              <a:rPr lang="ko-KR" altLang="en-US" sz="1200" b="1" dirty="0">
                <a:latin typeface="+mj-ea"/>
              </a:rPr>
              <a:t>월</a:t>
            </a:r>
            <a:r>
              <a:rPr lang="en-US" altLang="ko-KR" sz="1200" b="1" dirty="0">
                <a:latin typeface="+mj-ea"/>
              </a:rPr>
              <a:t>16</a:t>
            </a:r>
            <a:r>
              <a:rPr lang="ko-KR" altLang="en-US" sz="1200" b="1" dirty="0">
                <a:latin typeface="+mj-ea"/>
              </a:rPr>
              <a:t>일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21D6C-1868-4B9D-9978-4CDF2A9AAB66}"/>
              </a:ext>
            </a:extLst>
          </p:cNvPr>
          <p:cNvSpPr txBox="1"/>
          <p:nvPr/>
        </p:nvSpPr>
        <p:spPr>
          <a:xfrm>
            <a:off x="-89792" y="4565077"/>
            <a:ext cx="496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+mj-ea"/>
              </a:rPr>
              <a:t>변경</a:t>
            </a:r>
            <a:endParaRPr lang="en-US" altLang="ko-KR" sz="1000" b="1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10F950-3E36-4F7F-987B-53C13A3D89BE}"/>
              </a:ext>
            </a:extLst>
          </p:cNvPr>
          <p:cNvSpPr txBox="1"/>
          <p:nvPr/>
        </p:nvSpPr>
        <p:spPr>
          <a:xfrm>
            <a:off x="10187279" y="6509076"/>
            <a:ext cx="698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Best</a:t>
            </a:r>
            <a:r>
              <a:rPr lang="ko-KR" altLang="en-US" sz="1000" b="1" dirty="0">
                <a:solidFill>
                  <a:schemeClr val="accent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D57AC8-AE2B-4454-8AE0-CC2D1922BFA7}"/>
              </a:ext>
            </a:extLst>
          </p:cNvPr>
          <p:cNvSpPr txBox="1"/>
          <p:nvPr/>
        </p:nvSpPr>
        <p:spPr>
          <a:xfrm>
            <a:off x="760998" y="6509076"/>
            <a:ext cx="698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1"/>
                </a:solidFill>
                <a:latin typeface="+mj-ea"/>
              </a:rPr>
              <a:t>기존</a:t>
            </a:r>
            <a:endParaRPr lang="en-US" altLang="ko-KR" sz="1000" b="1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F830F8-4860-485F-964B-07FF51DDCF49}"/>
              </a:ext>
            </a:extLst>
          </p:cNvPr>
          <p:cNvSpPr/>
          <p:nvPr/>
        </p:nvSpPr>
        <p:spPr>
          <a:xfrm>
            <a:off x="1236750" y="3784598"/>
            <a:ext cx="799909" cy="25933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C09B9E6-D235-470F-BD29-6EB53273BD68}"/>
              </a:ext>
            </a:extLst>
          </p:cNvPr>
          <p:cNvSpPr/>
          <p:nvPr/>
        </p:nvSpPr>
        <p:spPr>
          <a:xfrm>
            <a:off x="10424461" y="3784598"/>
            <a:ext cx="1330698" cy="25933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FFEB7F0-C933-452A-9993-B5674E6E8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725823"/>
              </p:ext>
            </p:extLst>
          </p:nvPr>
        </p:nvGraphicFramePr>
        <p:xfrm>
          <a:off x="2264618" y="3429000"/>
          <a:ext cx="167760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905192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관심수위</a:t>
                      </a:r>
                      <a:r>
                        <a:rPr lang="en-US" altLang="ko-KR" sz="1200" b="1" dirty="0"/>
                        <a:t>2</a:t>
                      </a:r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22.09.16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0.9318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F28967-0B82-4F92-9EF2-2172376DF311}"/>
              </a:ext>
            </a:extLst>
          </p:cNvPr>
          <p:cNvSpPr/>
          <p:nvPr/>
        </p:nvSpPr>
        <p:spPr>
          <a:xfrm>
            <a:off x="3069188" y="3784598"/>
            <a:ext cx="873036" cy="259334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AFB56C-2099-4C57-9F2A-4795455E4E79}"/>
              </a:ext>
            </a:extLst>
          </p:cNvPr>
          <p:cNvSpPr txBox="1"/>
          <p:nvPr/>
        </p:nvSpPr>
        <p:spPr>
          <a:xfrm>
            <a:off x="2593503" y="6509077"/>
            <a:ext cx="698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Best</a:t>
            </a:r>
            <a:r>
              <a:rPr lang="ko-KR" altLang="en-US" sz="1000" b="1" dirty="0">
                <a:solidFill>
                  <a:schemeClr val="accent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accent1"/>
                </a:solidFill>
                <a:latin typeface="+mj-ea"/>
              </a:rPr>
              <a:t>1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CB937F0-2A56-4F08-BD8C-2B558B97FCE3}"/>
              </a:ext>
            </a:extLst>
          </p:cNvPr>
          <p:cNvCxnSpPr>
            <a:cxnSpLocks/>
          </p:cNvCxnSpPr>
          <p:nvPr/>
        </p:nvCxnSpPr>
        <p:spPr>
          <a:xfrm>
            <a:off x="4114800" y="3183467"/>
            <a:ext cx="0" cy="319447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C308CE-191C-48F3-9CB1-D6328C9FD726}"/>
              </a:ext>
            </a:extLst>
          </p:cNvPr>
          <p:cNvCxnSpPr>
            <a:cxnSpLocks/>
          </p:cNvCxnSpPr>
          <p:nvPr/>
        </p:nvCxnSpPr>
        <p:spPr>
          <a:xfrm>
            <a:off x="8043332" y="3183467"/>
            <a:ext cx="0" cy="319447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9F1B96A-11E9-4C3B-84DB-0B3019DDA896}"/>
              </a:ext>
            </a:extLst>
          </p:cNvPr>
          <p:cNvSpPr txBox="1"/>
          <p:nvPr/>
        </p:nvSpPr>
        <p:spPr>
          <a:xfrm>
            <a:off x="1010707" y="6509076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5"/>
                </a:solidFill>
                <a:latin typeface="+mj-ea"/>
              </a:rPr>
              <a:t>평균 </a:t>
            </a:r>
            <a:r>
              <a:rPr lang="en-US" altLang="ko-KR" sz="1000" b="1" dirty="0">
                <a:solidFill>
                  <a:schemeClr val="accent5"/>
                </a:solidFill>
                <a:latin typeface="+mj-ea"/>
              </a:rPr>
              <a:t>: 0.57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0B203-3AE3-4AFC-83BF-87EAC468F767}"/>
              </a:ext>
            </a:extLst>
          </p:cNvPr>
          <p:cNvSpPr txBox="1"/>
          <p:nvPr/>
        </p:nvSpPr>
        <p:spPr>
          <a:xfrm>
            <a:off x="2911060" y="6509076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5"/>
                </a:solidFill>
                <a:latin typeface="+mj-ea"/>
              </a:rPr>
              <a:t>평균 </a:t>
            </a:r>
            <a:r>
              <a:rPr lang="en-US" altLang="ko-KR" sz="1000" b="1" dirty="0">
                <a:solidFill>
                  <a:schemeClr val="accent5"/>
                </a:solidFill>
                <a:latin typeface="+mj-ea"/>
              </a:rPr>
              <a:t>: 0.86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79008C-C02B-41DF-94F5-88D39125BFC5}"/>
              </a:ext>
            </a:extLst>
          </p:cNvPr>
          <p:cNvSpPr txBox="1"/>
          <p:nvPr/>
        </p:nvSpPr>
        <p:spPr>
          <a:xfrm>
            <a:off x="5222903" y="6509077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03649A-73EB-46AA-BB4A-331D9D50AB07}"/>
              </a:ext>
            </a:extLst>
          </p:cNvPr>
          <p:cNvSpPr txBox="1"/>
          <p:nvPr/>
        </p:nvSpPr>
        <p:spPr>
          <a:xfrm>
            <a:off x="6593179" y="6509077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B13F04-8A5F-42ED-AB63-CD53292F9A8A}"/>
              </a:ext>
            </a:extLst>
          </p:cNvPr>
          <p:cNvSpPr txBox="1"/>
          <p:nvPr/>
        </p:nvSpPr>
        <p:spPr>
          <a:xfrm>
            <a:off x="9166361" y="6509077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5CAE65-575F-4F52-BBA6-A0D2909A1347}"/>
              </a:ext>
            </a:extLst>
          </p:cNvPr>
          <p:cNvSpPr txBox="1"/>
          <p:nvPr/>
        </p:nvSpPr>
        <p:spPr>
          <a:xfrm>
            <a:off x="10536637" y="6498322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accent5"/>
                </a:solidFill>
                <a:latin typeface="+mj-ea"/>
              </a:rPr>
              <a:t>평균 </a:t>
            </a:r>
            <a:r>
              <a:rPr lang="en-US" altLang="ko-KR" sz="1000" b="1" dirty="0">
                <a:solidFill>
                  <a:schemeClr val="accent5"/>
                </a:solidFill>
                <a:latin typeface="+mj-ea"/>
              </a:rPr>
              <a:t>: 0.82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A2E2A-BEE8-4F92-9A6D-021E9C1F18C4}"/>
              </a:ext>
            </a:extLst>
          </p:cNvPr>
          <p:cNvSpPr txBox="1"/>
          <p:nvPr/>
        </p:nvSpPr>
        <p:spPr>
          <a:xfrm>
            <a:off x="604096" y="509326"/>
            <a:ext cx="3074353" cy="303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평균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자리 반올림 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5F591A-B612-4AFF-94FA-5F51829D56CD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2. </a:t>
            </a:r>
            <a:r>
              <a:rPr lang="ko-KR" altLang="en-US" sz="4400" b="1" dirty="0">
                <a:latin typeface="+mj-ea"/>
              </a:rPr>
              <a:t>학습 데이터 및 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ko-KR" altLang="en-US" sz="4400" b="1" dirty="0">
                <a:latin typeface="+mj-ea"/>
              </a:rPr>
              <a:t>예측 결과 정리</a:t>
            </a:r>
            <a:endParaRPr lang="en-US" altLang="ko-KR" sz="4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5124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5168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 </a:t>
            </a:r>
            <a:r>
              <a:rPr lang="en-US" altLang="ko-KR" sz="3200" b="1" dirty="0">
                <a:latin typeface="+mj-ea"/>
                <a:ea typeface="+mj-ea"/>
              </a:rPr>
              <a:t>- </a:t>
            </a:r>
            <a:r>
              <a:rPr lang="ko-KR" altLang="en-US" sz="3200" b="1" dirty="0">
                <a:latin typeface="+mj-ea"/>
                <a:ea typeface="+mj-ea"/>
              </a:rPr>
              <a:t>관심수위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333519"/>
              </p:ext>
            </p:extLst>
          </p:nvPr>
        </p:nvGraphicFramePr>
        <p:xfrm>
          <a:off x="1210731" y="334653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640166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5856F-2549-414E-9158-BA0DD82AD17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7B1C3A-8109-4863-9D19-622D9CA06CF2}"/>
              </a:ext>
            </a:extLst>
          </p:cNvPr>
          <p:cNvSpPr/>
          <p:nvPr/>
        </p:nvSpPr>
        <p:spPr>
          <a:xfrm>
            <a:off x="1320797" y="1469284"/>
            <a:ext cx="87376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데이터 학습 </a:t>
            </a:r>
            <a:r>
              <a:rPr lang="en-US" altLang="ko-KR" sz="1600" b="1" dirty="0">
                <a:latin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543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B2DB36-E14B-4C04-905B-301A07101D5D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0.57</a:t>
            </a:r>
          </a:p>
        </p:txBody>
      </p:sp>
    </p:spTree>
    <p:extLst>
      <p:ext uri="{BB962C8B-B14F-4D97-AF65-F5344CB8AC3E}">
        <p14:creationId xmlns:p14="http://schemas.microsoft.com/office/powerpoint/2010/main" val="175504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中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  <a:r>
              <a:rPr lang="en-US" altLang="ko-KR" sz="1600" dirty="0"/>
              <a:t>+ </a:t>
            </a:r>
            <a:r>
              <a:rPr lang="ko-KR" altLang="en-US" sz="1600" dirty="0"/>
              <a:t>그 외 </a:t>
            </a:r>
            <a:r>
              <a:rPr lang="en-US" altLang="ko-KR" sz="1600" b="1" dirty="0"/>
              <a:t>220916 </a:t>
            </a:r>
            <a:r>
              <a:rPr lang="en-US" altLang="ko-KR" sz="1600" dirty="0"/>
              <a:t>1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869FA-2F00-4FCB-AA59-1D8EB41723D6}"/>
              </a:ext>
            </a:extLst>
          </p:cNvPr>
          <p:cNvSpPr txBox="1"/>
          <p:nvPr/>
        </p:nvSpPr>
        <p:spPr>
          <a:xfrm>
            <a:off x="622386" y="850612"/>
            <a:ext cx="5168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 </a:t>
            </a:r>
            <a:r>
              <a:rPr lang="en-US" altLang="ko-KR" sz="3200" b="1" dirty="0">
                <a:latin typeface="+mj-ea"/>
                <a:ea typeface="+mj-ea"/>
              </a:rPr>
              <a:t>- </a:t>
            </a:r>
            <a:r>
              <a:rPr lang="ko-KR" altLang="en-US" sz="3200" b="1" dirty="0">
                <a:latin typeface="+mj-ea"/>
                <a:ea typeface="+mj-ea"/>
              </a:rPr>
              <a:t>관심수위 </a:t>
            </a:r>
            <a:r>
              <a:rPr lang="en-US" altLang="ko-KR" sz="3200" b="1" dirty="0">
                <a:latin typeface="+mj-ea"/>
                <a:ea typeface="+mj-ea"/>
              </a:rPr>
              <a:t>2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BE811-32EF-4FBD-9230-994A50C1B08F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4721AF-3D17-4F9A-8919-D0B6B6433C1E}"/>
              </a:ext>
            </a:extLst>
          </p:cNvPr>
          <p:cNvSpPr/>
          <p:nvPr/>
        </p:nvSpPr>
        <p:spPr>
          <a:xfrm>
            <a:off x="1109130" y="1467381"/>
            <a:ext cx="87376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데이터 학습 </a:t>
            </a:r>
            <a:r>
              <a:rPr lang="en-US" altLang="ko-KR" sz="1600" b="1" dirty="0">
                <a:latin typeface="+mj-ea"/>
              </a:rPr>
              <a:t>)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E77754-E1BA-4BB2-8538-C1C74E645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184613"/>
              </p:ext>
            </p:extLst>
          </p:nvPr>
        </p:nvGraphicFramePr>
        <p:xfrm>
          <a:off x="1210731" y="334653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8B247AC-1D8A-4D9C-BC74-DC335CD142D5}"/>
              </a:ext>
            </a:extLst>
          </p:cNvPr>
          <p:cNvSpPr txBox="1"/>
          <p:nvPr/>
        </p:nvSpPr>
        <p:spPr>
          <a:xfrm>
            <a:off x="1109130" y="2640166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</p:spTree>
    <p:extLst>
      <p:ext uri="{BB962C8B-B14F-4D97-AF65-F5344CB8AC3E}">
        <p14:creationId xmlns:p14="http://schemas.microsoft.com/office/powerpoint/2010/main" val="207739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017" y="2689402"/>
            <a:ext cx="3173062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0.9318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EA4F4F-1E2E-45F9-A412-3B32847A9788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0.86</a:t>
            </a:r>
          </a:p>
        </p:txBody>
      </p:sp>
    </p:spTree>
    <p:extLst>
      <p:ext uri="{BB962C8B-B14F-4D97-AF65-F5344CB8AC3E}">
        <p14:creationId xmlns:p14="http://schemas.microsoft.com/office/powerpoint/2010/main" val="276418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5" y="850612"/>
            <a:ext cx="6701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- 22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8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14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( 26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37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4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( 3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  <a:r>
              <a:rPr lang="en-US" altLang="ko-KR" sz="1600" dirty="0"/>
              <a:t>+ </a:t>
            </a:r>
            <a:r>
              <a:rPr lang="ko-KR" altLang="en-US" sz="1600" dirty="0"/>
              <a:t>그 외 </a:t>
            </a:r>
            <a:r>
              <a:rPr lang="en-US" altLang="ko-KR" sz="1600" b="1" dirty="0"/>
              <a:t>220814 </a:t>
            </a:r>
            <a:r>
              <a:rPr lang="en-US" altLang="ko-KR" sz="1600" dirty="0"/>
              <a:t>1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20240919 ( 26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20240920 ~ 250917 84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C6530C-4821-4D57-A07D-77D402F1565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/dg)_20_1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744BC-4C21-46D4-9958-8587D8AA3131}"/>
              </a:ext>
            </a:extLst>
          </p:cNvPr>
          <p:cNvSpPr/>
          <p:nvPr/>
        </p:nvSpPr>
        <p:spPr>
          <a:xfrm>
            <a:off x="728127" y="1467381"/>
            <a:ext cx="87376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데이터 학습 </a:t>
            </a:r>
            <a:r>
              <a:rPr lang="en-US" altLang="ko-KR" sz="1600" b="1" dirty="0">
                <a:latin typeface="+mj-ea"/>
              </a:rPr>
              <a:t>+ 22</a:t>
            </a:r>
            <a:r>
              <a:rPr lang="ko-KR" altLang="en-US" sz="1600" b="1" dirty="0">
                <a:latin typeface="+mj-ea"/>
              </a:rPr>
              <a:t>년 학습데이터 변경 </a:t>
            </a:r>
            <a:r>
              <a:rPr lang="en-US" altLang="ko-KR" sz="1600" b="1" dirty="0">
                <a:latin typeface="+mj-ea"/>
              </a:rPr>
              <a:t>)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1C68B4A-3F10-4D41-8789-0A7EE9FE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184613"/>
              </p:ext>
            </p:extLst>
          </p:nvPr>
        </p:nvGraphicFramePr>
        <p:xfrm>
          <a:off x="1210731" y="334653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89BA30F-5949-4E34-AC11-2C18BEC5DB1E}"/>
              </a:ext>
            </a:extLst>
          </p:cNvPr>
          <p:cNvSpPr txBox="1"/>
          <p:nvPr/>
        </p:nvSpPr>
        <p:spPr>
          <a:xfrm>
            <a:off x="1109130" y="2640166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0.5575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0.9540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0.8676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5271474"/>
            <a:ext cx="31591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49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2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3" y="5271474"/>
            <a:ext cx="31591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220814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0.7582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0.7867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/dg)_20_1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FEA3C0-7A92-4E39-8FB9-F822CE6F766B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250917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295A1-6C91-41C8-89F5-D3B68BD4814D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37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4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( 3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  <a:r>
              <a:rPr lang="en-US" altLang="ko-KR" sz="1600" dirty="0"/>
              <a:t>+ </a:t>
            </a:r>
            <a:r>
              <a:rPr lang="ko-KR" altLang="en-US" sz="1600" dirty="0"/>
              <a:t>그 외 </a:t>
            </a:r>
            <a:r>
              <a:rPr lang="en-US" altLang="ko-KR" sz="1600" b="1" dirty="0"/>
              <a:t>220814 </a:t>
            </a:r>
            <a:r>
              <a:rPr lang="en-US" altLang="ko-KR" sz="1600" dirty="0"/>
              <a:t>1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7260E-997A-4BC2-8E3C-8BE056FBC731}"/>
              </a:ext>
            </a:extLst>
          </p:cNvPr>
          <p:cNvSpPr txBox="1"/>
          <p:nvPr/>
        </p:nvSpPr>
        <p:spPr>
          <a:xfrm>
            <a:off x="622385" y="850612"/>
            <a:ext cx="6684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- 22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8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14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( 27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6837A5-9416-4877-9E51-34F230DE296F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FDC097-0599-4384-B041-174220D69BBE}"/>
              </a:ext>
            </a:extLst>
          </p:cNvPr>
          <p:cNvSpPr/>
          <p:nvPr/>
        </p:nvSpPr>
        <p:spPr>
          <a:xfrm>
            <a:off x="728127" y="1467381"/>
            <a:ext cx="87376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데이터 학습 </a:t>
            </a:r>
            <a:r>
              <a:rPr lang="en-US" altLang="ko-KR" sz="1600" b="1" dirty="0">
                <a:latin typeface="+mj-ea"/>
              </a:rPr>
              <a:t>+ 22</a:t>
            </a:r>
            <a:r>
              <a:rPr lang="ko-KR" altLang="en-US" sz="1600" b="1" dirty="0">
                <a:latin typeface="+mj-ea"/>
              </a:rPr>
              <a:t>년 학습데이터 변경 </a:t>
            </a:r>
            <a:r>
              <a:rPr lang="en-US" altLang="ko-KR" sz="1600" b="1" dirty="0">
                <a:latin typeface="+mj-ea"/>
              </a:rPr>
              <a:t>)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3D9E12A-D7B0-4B1D-B46F-513A91551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184613"/>
              </p:ext>
            </p:extLst>
          </p:nvPr>
        </p:nvGraphicFramePr>
        <p:xfrm>
          <a:off x="1210731" y="334653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EE940D-8924-4EC9-BDAE-00182BACC2D8}"/>
              </a:ext>
            </a:extLst>
          </p:cNvPr>
          <p:cNvSpPr txBox="1"/>
          <p:nvPr/>
        </p:nvSpPr>
        <p:spPr>
          <a:xfrm>
            <a:off x="1109130" y="2640166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</p:spTree>
    <p:extLst>
      <p:ext uri="{BB962C8B-B14F-4D97-AF65-F5344CB8AC3E}">
        <p14:creationId xmlns:p14="http://schemas.microsoft.com/office/powerpoint/2010/main" val="246872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0.7810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0.5879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0.7590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223" y="1254012"/>
            <a:ext cx="3159110" cy="13157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939" y="3240449"/>
            <a:ext cx="3161444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220814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0.5427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0.9083</a:t>
              </a:r>
              <a:endParaRPr lang="ko-KR" altLang="en-US" sz="1200" b="1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EFE41C0-8707-4B1E-8189-625BA509854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98F76C4-9EEA-437D-BB65-156184EF27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2689402"/>
            <a:ext cx="3227450" cy="55104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A99A4D2-B0FD-4DA6-999F-D4F18680D3A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3240449"/>
            <a:ext cx="3159110" cy="135610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4D03622-1E2B-48FD-B936-6FF978B2A564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0.74</a:t>
            </a:r>
          </a:p>
        </p:txBody>
      </p:sp>
    </p:spTree>
    <p:extLst>
      <p:ext uri="{BB962C8B-B14F-4D97-AF65-F5344CB8AC3E}">
        <p14:creationId xmlns:p14="http://schemas.microsoft.com/office/powerpoint/2010/main" val="368443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36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20240919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20240920 ~ 250917 84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4187B-D422-428E-8D46-B38F155583B4}"/>
              </a:ext>
            </a:extLst>
          </p:cNvPr>
          <p:cNvSpPr txBox="1"/>
          <p:nvPr/>
        </p:nvSpPr>
        <p:spPr>
          <a:xfrm>
            <a:off x="622385" y="850612"/>
            <a:ext cx="6675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- 22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9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16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( 25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86DF2-FD79-41A3-A0E6-7417EDDB6A9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453816-AAD5-4596-9CC4-742ADE35FE34}"/>
              </a:ext>
            </a:extLst>
          </p:cNvPr>
          <p:cNvSpPr/>
          <p:nvPr/>
        </p:nvSpPr>
        <p:spPr>
          <a:xfrm>
            <a:off x="728127" y="1467381"/>
            <a:ext cx="87376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데이터 학습 </a:t>
            </a:r>
            <a:r>
              <a:rPr lang="en-US" altLang="ko-KR" sz="1600" b="1" dirty="0">
                <a:latin typeface="+mj-ea"/>
              </a:rPr>
              <a:t>+ 22</a:t>
            </a:r>
            <a:r>
              <a:rPr lang="ko-KR" altLang="en-US" sz="1600" b="1" dirty="0">
                <a:latin typeface="+mj-ea"/>
              </a:rPr>
              <a:t>년 학습데이터 변경 </a:t>
            </a:r>
            <a:r>
              <a:rPr lang="en-US" altLang="ko-KR" sz="1600" b="1" dirty="0">
                <a:latin typeface="+mj-ea"/>
              </a:rPr>
              <a:t>)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445F94-C27C-48B7-952C-3D578BDB7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184613"/>
              </p:ext>
            </p:extLst>
          </p:nvPr>
        </p:nvGraphicFramePr>
        <p:xfrm>
          <a:off x="1210731" y="334653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B8A21CB-2C01-4F0D-BA44-C0E558D5CEA8}"/>
              </a:ext>
            </a:extLst>
          </p:cNvPr>
          <p:cNvSpPr txBox="1"/>
          <p:nvPr/>
        </p:nvSpPr>
        <p:spPr>
          <a:xfrm>
            <a:off x="1109130" y="2640166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</p:spTree>
    <p:extLst>
      <p:ext uri="{BB962C8B-B14F-4D97-AF65-F5344CB8AC3E}">
        <p14:creationId xmlns:p14="http://schemas.microsoft.com/office/powerpoint/2010/main" val="19116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5" y="2689402"/>
            <a:ext cx="319288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0.8023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0.8692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0.7770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0.8567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0.6915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0.7813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EFE41C0-8707-4B1E-8189-625BA509854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363FD0-DE64-47B8-99C3-DCC3E09A3BCF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0.80</a:t>
            </a:r>
          </a:p>
        </p:txBody>
      </p:sp>
    </p:spTree>
    <p:extLst>
      <p:ext uri="{BB962C8B-B14F-4D97-AF65-F5344CB8AC3E}">
        <p14:creationId xmlns:p14="http://schemas.microsoft.com/office/powerpoint/2010/main" val="371733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41</a:t>
            </a:r>
            <a:r>
              <a:rPr lang="ko-KR" altLang="en-US" sz="1600" dirty="0"/>
              <a:t>개 中 </a:t>
            </a:r>
            <a:r>
              <a:rPr lang="en-US" altLang="ko-KR" sz="1600" dirty="0"/>
              <a:t>36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250917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F6D3A-0B99-45E3-AF97-920C81A8F26C}"/>
              </a:ext>
            </a:extLst>
          </p:cNvPr>
          <p:cNvSpPr txBox="1"/>
          <p:nvPr/>
        </p:nvSpPr>
        <p:spPr>
          <a:xfrm>
            <a:off x="622385" y="850612"/>
            <a:ext cx="6692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</a:rPr>
              <a:t>학습데이터 </a:t>
            </a:r>
            <a:r>
              <a:rPr lang="en-US" altLang="ko-KR" sz="3200" b="1" dirty="0">
                <a:latin typeface="+mj-ea"/>
              </a:rPr>
              <a:t>- 22</a:t>
            </a:r>
            <a:r>
              <a:rPr lang="ko-KR" altLang="en-US" sz="3200" b="1" dirty="0">
                <a:latin typeface="+mj-ea"/>
              </a:rPr>
              <a:t>년 </a:t>
            </a:r>
            <a:r>
              <a:rPr lang="en-US" altLang="ko-KR" sz="3200" b="1" dirty="0">
                <a:latin typeface="+mj-ea"/>
              </a:rPr>
              <a:t>9</a:t>
            </a:r>
            <a:r>
              <a:rPr lang="ko-KR" altLang="en-US" sz="3200" b="1" dirty="0">
                <a:latin typeface="+mj-ea"/>
              </a:rPr>
              <a:t>월</a:t>
            </a:r>
            <a:r>
              <a:rPr lang="en-US" altLang="ko-KR" sz="3200" b="1" dirty="0">
                <a:latin typeface="+mj-ea"/>
              </a:rPr>
              <a:t>16</a:t>
            </a:r>
            <a:r>
              <a:rPr lang="ko-KR" altLang="en-US" sz="3200" b="1" dirty="0">
                <a:latin typeface="+mj-ea"/>
              </a:rPr>
              <a:t>일 </a:t>
            </a:r>
            <a:r>
              <a:rPr lang="en-US" altLang="ko-KR" sz="3200" b="1" dirty="0">
                <a:latin typeface="+mj-ea"/>
              </a:rPr>
              <a:t>( 26</a:t>
            </a:r>
            <a:r>
              <a:rPr lang="ko-KR" altLang="en-US" sz="3200" b="1" dirty="0">
                <a:latin typeface="+mj-ea"/>
              </a:rPr>
              <a:t>개</a:t>
            </a:r>
            <a:r>
              <a:rPr lang="en-US" altLang="ko-KR" sz="3200" b="1" dirty="0">
                <a:latin typeface="+mj-ea"/>
              </a:rPr>
              <a:t> )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9E46C-B6F5-4CF3-8D61-C13928729B84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/dg)_20_4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0E749C-6DCA-4DF1-8FE5-117A2E246E93}"/>
              </a:ext>
            </a:extLst>
          </p:cNvPr>
          <p:cNvSpPr/>
          <p:nvPr/>
        </p:nvSpPr>
        <p:spPr>
          <a:xfrm>
            <a:off x="728127" y="1467381"/>
            <a:ext cx="87376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</a:rPr>
              <a:t>( </a:t>
            </a: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데이터 학습 </a:t>
            </a:r>
            <a:r>
              <a:rPr lang="en-US" altLang="ko-KR" sz="1600" b="1" dirty="0">
                <a:latin typeface="+mj-ea"/>
              </a:rPr>
              <a:t>+ 22</a:t>
            </a:r>
            <a:r>
              <a:rPr lang="ko-KR" altLang="en-US" sz="1600" b="1" dirty="0">
                <a:latin typeface="+mj-ea"/>
              </a:rPr>
              <a:t>년 학습데이터 변경 </a:t>
            </a:r>
            <a:r>
              <a:rPr lang="en-US" altLang="ko-KR" sz="1600" b="1" dirty="0">
                <a:latin typeface="+mj-ea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060D637-5270-419A-BBFA-D538936F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184613"/>
              </p:ext>
            </p:extLst>
          </p:nvPr>
        </p:nvGraphicFramePr>
        <p:xfrm>
          <a:off x="1210731" y="334653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300714F-0549-4E5A-81A2-2BCB989BAE5B}"/>
              </a:ext>
            </a:extLst>
          </p:cNvPr>
          <p:cNvSpPr txBox="1"/>
          <p:nvPr/>
        </p:nvSpPr>
        <p:spPr>
          <a:xfrm>
            <a:off x="1109130" y="2640166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</p:spTree>
    <p:extLst>
      <p:ext uri="{BB962C8B-B14F-4D97-AF65-F5344CB8AC3E}">
        <p14:creationId xmlns:p14="http://schemas.microsoft.com/office/powerpoint/2010/main" val="1394382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5" y="2689402"/>
            <a:ext cx="319288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0.8277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0.6983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5" y="3240449"/>
            <a:ext cx="31789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3240449"/>
            <a:ext cx="31789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0.9074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0.7218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0.9212</a:t>
              </a:r>
              <a:endParaRPr lang="ko-KR" altLang="en-US" sz="1200" b="1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EFE41C0-8707-4B1E-8189-625BA509854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/dg)_20_4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9C239D-DFEF-4302-B3FF-A7026E13055C}"/>
              </a:ext>
            </a:extLst>
          </p:cNvPr>
          <p:cNvSpPr txBox="1"/>
          <p:nvPr/>
        </p:nvSpPr>
        <p:spPr>
          <a:xfrm>
            <a:off x="137916" y="681955"/>
            <a:ext cx="1218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+mj-ea"/>
              </a:rPr>
              <a:t>평균 </a:t>
            </a:r>
            <a:r>
              <a:rPr lang="en-US" altLang="ko-KR" sz="1000" b="1" dirty="0">
                <a:latin typeface="+mj-ea"/>
              </a:rPr>
              <a:t>: 0.82</a:t>
            </a:r>
          </a:p>
        </p:txBody>
      </p:sp>
    </p:spTree>
    <p:extLst>
      <p:ext uri="{BB962C8B-B14F-4D97-AF65-F5344CB8AC3E}">
        <p14:creationId xmlns:p14="http://schemas.microsoft.com/office/powerpoint/2010/main" val="330265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3. </a:t>
            </a:r>
            <a:r>
              <a:rPr lang="ko-KR" altLang="en-US" sz="4400" b="1" dirty="0">
                <a:latin typeface="+mj-ea"/>
                <a:ea typeface="+mj-ea"/>
              </a:rPr>
              <a:t>결론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1578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913205" y="2895601"/>
            <a:ext cx="10365590" cy="2476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b="1" dirty="0">
                <a:latin typeface="+mj-ea"/>
              </a:rPr>
              <a:t>2020</a:t>
            </a:r>
            <a:r>
              <a:rPr lang="ko-KR" altLang="en-US" sz="1600" b="1" dirty="0">
                <a:latin typeface="+mj-ea"/>
              </a:rPr>
              <a:t>년 이후 관심수위 데이터를 학습한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기존 결과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(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예측 데이터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: 22.07.12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→ 학습에서 제외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 )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 보다</a:t>
            </a:r>
            <a:r>
              <a:rPr lang="en-US" altLang="ko-KR" sz="1600" b="1" dirty="0">
                <a:latin typeface="+mj-ea"/>
              </a:rPr>
              <a:t> 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j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1600" b="1" dirty="0">
                <a:latin typeface="+mj-ea"/>
              </a:rPr>
              <a:t>2020</a:t>
            </a:r>
            <a:r>
              <a:rPr lang="ko-KR" altLang="en-US" sz="1600" b="1" dirty="0">
                <a:latin typeface="+mj-ea"/>
              </a:rPr>
              <a:t>년 이후 관심수위 데이터를 학습한 기존 모델을 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예측 할 때만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년 예측 데이터를 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22.09.16</a:t>
            </a: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으로 변경</a:t>
            </a:r>
            <a:r>
              <a:rPr lang="en-US" altLang="ko-KR" sz="1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	 ( </a:t>
            </a:r>
            <a:r>
              <a:rPr lang="ko-KR" altLang="en-US" sz="1600" b="1" dirty="0">
                <a:latin typeface="+mj-ea"/>
              </a:rPr>
              <a:t>학습데이터는 </a:t>
            </a:r>
            <a:r>
              <a:rPr lang="en-US" altLang="ko-KR" sz="1600" b="1" dirty="0">
                <a:latin typeface="+mj-ea"/>
              </a:rPr>
              <a:t>26</a:t>
            </a:r>
            <a:r>
              <a:rPr lang="ko-KR" altLang="en-US" sz="1600" b="1" dirty="0">
                <a:latin typeface="+mj-ea"/>
              </a:rPr>
              <a:t>개 검증에 </a:t>
            </a:r>
            <a:r>
              <a:rPr lang="en-US" altLang="ko-KR" sz="1600" b="1" dirty="0">
                <a:latin typeface="+mj-ea"/>
              </a:rPr>
              <a:t>7</a:t>
            </a:r>
            <a:r>
              <a:rPr lang="ko-KR" altLang="en-US" sz="1600" b="1" dirty="0">
                <a:latin typeface="+mj-ea"/>
              </a:rPr>
              <a:t>개 테스트에 </a:t>
            </a:r>
            <a:r>
              <a:rPr lang="en-US" altLang="ko-KR" sz="1600" b="1" dirty="0">
                <a:latin typeface="+mj-ea"/>
              </a:rPr>
              <a:t>3</a:t>
            </a:r>
            <a:r>
              <a:rPr lang="ko-KR" altLang="en-US" sz="1600" b="1" dirty="0">
                <a:latin typeface="+mj-ea"/>
              </a:rPr>
              <a:t>개 를 사용 </a:t>
            </a:r>
            <a:r>
              <a:rPr lang="en-US" altLang="ko-KR" sz="1600" b="1" dirty="0">
                <a:latin typeface="+mj-ea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ko-KR" altLang="en-US" sz="1600" b="1" dirty="0">
                <a:solidFill>
                  <a:schemeClr val="accent5"/>
                </a:solidFill>
                <a:latin typeface="+mj-ea"/>
              </a:rPr>
              <a:t>→ 성능 개선 효과가 있음</a:t>
            </a:r>
            <a:endParaRPr lang="en-US" altLang="ko-KR" sz="1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0890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1C286A4-223F-4361-A376-48566B88985A}"/>
              </a:ext>
            </a:extLst>
          </p:cNvPr>
          <p:cNvSpPr txBox="1"/>
          <p:nvPr/>
        </p:nvSpPr>
        <p:spPr>
          <a:xfrm>
            <a:off x="5729855" y="3028252"/>
            <a:ext cx="5598544" cy="2717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다봉형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이상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플래토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계단식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급격한 상승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기저수위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예측 시작 직전 수위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가 이벤트 중간에 비정상적으로 이동 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배수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펌프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지류 </a:t>
            </a:r>
            <a:r>
              <a:rPr lang="en-US" altLang="ko-KR" sz="1000" b="1" dirty="0">
                <a:latin typeface="+mn-ea"/>
              </a:rPr>
              <a:t>· </a:t>
            </a:r>
            <a:r>
              <a:rPr lang="ko-KR" altLang="en-US" sz="1000" b="1" dirty="0">
                <a:latin typeface="+mn-ea"/>
              </a:rPr>
              <a:t>역류 영향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상태가 다른데 같은 강우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수위 반응을 강요 하는 상황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동일 강우라도 수위 반응이 달라짐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선행 포화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저류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 err="1">
                <a:latin typeface="+mn-ea"/>
              </a:rPr>
              <a:t>관거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 err="1">
                <a:latin typeface="+mn-ea"/>
              </a:rPr>
              <a:t>우수토실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하천 시설물 운영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 err="1">
                <a:latin typeface="+mn-ea"/>
              </a:rPr>
              <a:t>역수위</a:t>
            </a:r>
            <a:r>
              <a:rPr lang="ko-KR" altLang="en-US" sz="1000" b="1" dirty="0">
                <a:latin typeface="+mn-ea"/>
              </a:rPr>
              <a:t> 영향 등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5A95E7-CF75-48CD-BD88-83C2EE39136A}"/>
              </a:ext>
            </a:extLst>
          </p:cNvPr>
          <p:cNvSpPr txBox="1"/>
          <p:nvPr/>
        </p:nvSpPr>
        <p:spPr>
          <a:xfrm>
            <a:off x="1223518" y="3028252"/>
            <a:ext cx="3746415" cy="258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주로 </a:t>
            </a:r>
            <a:r>
              <a:rPr lang="en-US" altLang="ko-KR" sz="1000" b="1" dirty="0"/>
              <a:t>20.08.02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단봉형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상승</a:t>
            </a:r>
            <a:r>
              <a:rPr lang="en-US" altLang="ko-KR" sz="1000" b="1" dirty="0">
                <a:latin typeface="+mn-ea"/>
              </a:rPr>
              <a:t>/</a:t>
            </a:r>
            <a:r>
              <a:rPr lang="ko-KR" altLang="en-US" sz="1000" b="1" dirty="0">
                <a:latin typeface="+mn-ea"/>
              </a:rPr>
              <a:t>하강이 비교적 매끈한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+mn-ea"/>
              </a:rPr>
              <a:t>6</a:t>
            </a:r>
            <a:r>
              <a:rPr lang="ko-KR" altLang="en-US" sz="1000" b="1" dirty="0">
                <a:latin typeface="+mn-ea"/>
              </a:rPr>
              <a:t>시간 윈도우 내에 주요 상승이 다 들어오는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기저수위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예측 시작 직전 수위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가 안정적인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선행강우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수위 상태가 “ 학습에서 흔히 본 ” 범위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이때 </a:t>
            </a:r>
            <a:r>
              <a:rPr lang="en-US" altLang="ko-KR" sz="1000" b="1" dirty="0">
                <a:latin typeface="+mn-ea"/>
              </a:rPr>
              <a:t>Lag </a:t>
            </a:r>
            <a:r>
              <a:rPr lang="en-US" altLang="ko-KR" sz="1000" b="1" u="sng" dirty="0"/>
              <a:t>( </a:t>
            </a:r>
            <a:r>
              <a:rPr lang="ko-KR" altLang="en-US" sz="1000" b="1" u="sng" dirty="0"/>
              <a:t>지연시간 </a:t>
            </a:r>
            <a:r>
              <a:rPr lang="en-US" altLang="ko-KR" sz="1000" b="1" u="sng" dirty="0"/>
              <a:t>)</a:t>
            </a:r>
            <a:r>
              <a:rPr lang="en-US" altLang="ko-KR" sz="1000" b="1" dirty="0">
                <a:latin typeface="+mn-ea"/>
              </a:rPr>
              <a:t> ≈ 0 ~ ± 20 </a:t>
            </a:r>
            <a:r>
              <a:rPr lang="ko-KR" altLang="en-US" sz="1000" b="1" dirty="0">
                <a:latin typeface="+mn-ea"/>
              </a:rPr>
              <a:t>분 </a:t>
            </a:r>
            <a:r>
              <a:rPr lang="en-US" altLang="ko-KR" sz="1000" b="1" dirty="0">
                <a:latin typeface="+mn-ea"/>
              </a:rPr>
              <a:t>,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 Amplitude 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도 대체로 </a:t>
            </a:r>
            <a:r>
              <a:rPr lang="en-US" altLang="ko-KR" sz="1000" b="1" dirty="0">
                <a:latin typeface="+mn-ea"/>
              </a:rPr>
              <a:t>0.95 ~ 1.05 </a:t>
            </a:r>
            <a:r>
              <a:rPr lang="ko-KR" altLang="en-US" sz="1000" b="1" dirty="0">
                <a:latin typeface="+mn-ea"/>
              </a:rPr>
              <a:t>근처로 유지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C6024-8E0D-419A-86FC-54F64736DF27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예측 구간 별 특징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5253E-1A55-4A26-8870-C695ED7B36D8}"/>
              </a:ext>
            </a:extLst>
          </p:cNvPr>
          <p:cNvSpPr txBox="1"/>
          <p:nvPr/>
        </p:nvSpPr>
        <p:spPr>
          <a:xfrm>
            <a:off x="1223518" y="2230721"/>
            <a:ext cx="2078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j-ea"/>
              </a:rPr>
              <a:t>예측 잘 맞는 구간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91322-A0A6-4C9F-8633-BF75C6327AAF}"/>
              </a:ext>
            </a:extLst>
          </p:cNvPr>
          <p:cNvSpPr txBox="1"/>
          <p:nvPr/>
        </p:nvSpPr>
        <p:spPr>
          <a:xfrm>
            <a:off x="5729855" y="2230721"/>
            <a:ext cx="2078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j-ea"/>
              </a:rPr>
              <a:t>예측이 잘 틀리는 구간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22947B5-ED37-40A9-9D62-0A527ADD2EDD}"/>
              </a:ext>
            </a:extLst>
          </p:cNvPr>
          <p:cNvCxnSpPr>
            <a:cxnSpLocks/>
          </p:cNvCxnSpPr>
          <p:nvPr/>
        </p:nvCxnSpPr>
        <p:spPr>
          <a:xfrm>
            <a:off x="5291667" y="2354906"/>
            <a:ext cx="0" cy="31456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700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4. </a:t>
            </a:r>
            <a:r>
              <a:rPr lang="ko-KR" altLang="en-US" sz="4400" b="1" dirty="0">
                <a:latin typeface="+mj-ea"/>
                <a:ea typeface="+mj-ea"/>
              </a:rPr>
              <a:t>추가 분석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08411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1710310" y="2828835"/>
            <a:ext cx="877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</a:rPr>
              <a:t>4-1. 10</a:t>
            </a:r>
            <a:r>
              <a:rPr lang="ko-KR" altLang="en-US" sz="4400" b="1" dirty="0">
                <a:latin typeface="+mj-ea"/>
              </a:rPr>
              <a:t>분 단위 분석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en-US" altLang="ko-KR" sz="2800" b="1" dirty="0">
                <a:latin typeface="+mj-ea"/>
              </a:rPr>
              <a:t>( </a:t>
            </a:r>
            <a:r>
              <a:rPr lang="ko-KR" altLang="en-US" sz="2800" b="1" dirty="0">
                <a:latin typeface="+mj-ea"/>
              </a:rPr>
              <a:t>가장 성능이 좋은 모델 </a:t>
            </a:r>
            <a:r>
              <a:rPr lang="en-US" altLang="ko-KR" sz="2800" b="1" dirty="0">
                <a:latin typeface="+mj-ea"/>
              </a:rPr>
              <a:t>)</a:t>
            </a:r>
            <a:r>
              <a:rPr lang="ko-KR" altLang="en-US" sz="2800" b="1" dirty="0">
                <a:latin typeface="+mj-ea"/>
              </a:rPr>
              <a:t> </a:t>
            </a:r>
            <a:endParaRPr lang="en-US" altLang="ko-KR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9207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10</a:t>
            </a:r>
            <a:r>
              <a:rPr lang="ko-KR" altLang="en-US" sz="2000" b="1" dirty="0" err="1">
                <a:latin typeface="+mj-ea"/>
              </a:rPr>
              <a:t>분단위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93941"/>
            <a:ext cx="3227450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0.9478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61115"/>
            <a:ext cx="3159110" cy="13147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1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5271474"/>
            <a:ext cx="317890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(02)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0.9138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57687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4745885"/>
            <a:ext cx="322744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1254012"/>
            <a:ext cx="3164931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3240449"/>
            <a:ext cx="3161444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736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 (18)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0.9642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0.9318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0.9021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0.9638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0.9491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0.9618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E36DD713-30ED-4B60-80EE-AA9292BB3A5A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10</a:t>
            </a:r>
            <a:r>
              <a:rPr lang="ko-KR" altLang="en-US" sz="2000" b="1" dirty="0" err="1">
                <a:latin typeface="+mj-ea"/>
              </a:rPr>
              <a:t>분단위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3160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689483"/>
            <a:ext cx="3192888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90897"/>
            <a:ext cx="3227450" cy="54805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5" y="716172"/>
            <a:ext cx="3192888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57200" y="1566310"/>
            <a:ext cx="1502087" cy="4587791"/>
            <a:chOff x="457200" y="1566310"/>
            <a:chExt cx="15020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57200" y="3552110"/>
              <a:ext cx="1502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 (07)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0.9012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0.8657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0.8200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0.9322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962F2BD-4BB7-47C0-8147-A8DD5CD03702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10</a:t>
            </a:r>
            <a:r>
              <a:rPr lang="ko-KR" altLang="en-US" sz="2000" b="1" dirty="0" err="1">
                <a:latin typeface="+mj-ea"/>
              </a:rPr>
              <a:t>분단위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3909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7833"/>
            <a:ext cx="3227450" cy="49418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59846"/>
            <a:ext cx="3159110" cy="13173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5271474"/>
            <a:ext cx="31591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(18)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0.7844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0.8064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0.8407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0.7132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0.7748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42451BD-72B2-4E7B-8C8D-9D1930FE4A6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10</a:t>
            </a:r>
            <a:r>
              <a:rPr lang="ko-KR" altLang="en-US" sz="2000" b="1" dirty="0" err="1">
                <a:latin typeface="+mj-ea"/>
              </a:rPr>
              <a:t>분단위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9664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1732"/>
            <a:ext cx="3227450" cy="50638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1551"/>
            <a:ext cx="3159110" cy="135390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3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2712227"/>
            <a:ext cx="3262011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3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3240449"/>
            <a:ext cx="322745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(17)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0.8073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0.8512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0.9051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0.8696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1638618-6465-470C-A780-90DB89000401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10</a:t>
            </a:r>
            <a:r>
              <a:rPr lang="ko-KR" altLang="en-US" sz="2000" b="1" dirty="0" err="1">
                <a:latin typeface="+mj-ea"/>
              </a:rPr>
              <a:t>분단위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8427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3" y="3240449"/>
            <a:ext cx="31789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3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4745885"/>
            <a:ext cx="317890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4" y="3240449"/>
            <a:ext cx="31789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3" y="5271474"/>
            <a:ext cx="3178909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23333" y="1566310"/>
            <a:ext cx="1535955" cy="4587791"/>
            <a:chOff x="423333" y="1566310"/>
            <a:chExt cx="1535955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23333" y="3552110"/>
              <a:ext cx="15359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(05)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0.7776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pt-BR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0.8109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0.6295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0.7407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0.7068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8D4578D-E9B7-4DAA-A8FC-36F91B042CAE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10</a:t>
            </a:r>
            <a:r>
              <a:rPr lang="ko-KR" altLang="en-US" sz="2000" b="1" dirty="0" err="1">
                <a:latin typeface="+mj-ea"/>
              </a:rPr>
              <a:t>분단위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0394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1697610" y="2828835"/>
            <a:ext cx="8796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</a:rPr>
              <a:t>4-2.</a:t>
            </a:r>
            <a:r>
              <a:rPr lang="ko-KR" altLang="en-US" sz="4400" b="1" dirty="0">
                <a:latin typeface="+mj-ea"/>
              </a:rPr>
              <a:t> 오차 분석</a:t>
            </a:r>
            <a:endParaRPr lang="ko-KR" altLang="en-US" sz="4400" dirty="0">
              <a:latin typeface="+mj-ea"/>
            </a:endParaRPr>
          </a:p>
          <a:p>
            <a:pPr algn="ctr"/>
            <a:r>
              <a:rPr lang="en-US" altLang="ko-KR" sz="2800" b="1" dirty="0">
                <a:latin typeface="+mj-ea"/>
              </a:rPr>
              <a:t>( </a:t>
            </a:r>
            <a:r>
              <a:rPr lang="ko-KR" altLang="en-US" sz="2800" b="1" dirty="0">
                <a:latin typeface="+mj-ea"/>
              </a:rPr>
              <a:t>가장 성능이 좋은 모델 </a:t>
            </a:r>
            <a:r>
              <a:rPr lang="en-US" altLang="ko-KR" sz="2800" b="1" dirty="0">
                <a:latin typeface="+mj-ea"/>
              </a:rPr>
              <a:t>)</a:t>
            </a:r>
            <a:r>
              <a:rPr lang="ko-KR" altLang="en-US" sz="2800" b="1" dirty="0">
                <a:latin typeface="+mj-ea"/>
              </a:rPr>
              <a:t> </a:t>
            </a:r>
            <a:endParaRPr lang="en-US" altLang="ko-KR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18825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5651852-02DD-4707-8B49-FF05B1E853AC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r>
              <a:rPr lang="ko-KR" altLang="en-US" sz="2000" b="1" dirty="0">
                <a:latin typeface="+mj-ea"/>
              </a:rPr>
              <a:t> 오차 </a:t>
            </a:r>
            <a:r>
              <a:rPr lang="en-US" altLang="ko-KR" sz="2000" b="1" dirty="0">
                <a:latin typeface="+mj-ea"/>
              </a:rPr>
              <a:t>, </a:t>
            </a:r>
            <a:r>
              <a:rPr lang="ko-KR" altLang="en-US" sz="2000" b="1" dirty="0">
                <a:latin typeface="+mj-ea"/>
              </a:rPr>
              <a:t>정확도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A724284-476A-4F2E-9D19-15387F796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748876"/>
              </p:ext>
            </p:extLst>
          </p:nvPr>
        </p:nvGraphicFramePr>
        <p:xfrm>
          <a:off x="6587883" y="3449990"/>
          <a:ext cx="149288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464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7464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1</a:t>
                      </a:r>
                      <a:r>
                        <a:rPr lang="ko-KR" altLang="en-US" sz="1100" b="1" dirty="0"/>
                        <a:t>시간 </a:t>
                      </a:r>
                      <a:r>
                        <a:rPr lang="en-US" altLang="ko-KR" sz="1100" b="1" dirty="0"/>
                        <a:t>( </a:t>
                      </a:r>
                      <a:r>
                        <a:rPr lang="ko-KR" altLang="en-US" sz="1100" b="1" dirty="0" err="1"/>
                        <a:t>궁내교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/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관측수위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예측수위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1.37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1.16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1.14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1.94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1.44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1.67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1.46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1.23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1.14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1.24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1.32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A3BF1D6-0ADA-4199-B42C-C7A8BD747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945637"/>
              </p:ext>
            </p:extLst>
          </p:nvPr>
        </p:nvGraphicFramePr>
        <p:xfrm>
          <a:off x="4677314" y="3457496"/>
          <a:ext cx="182880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0095">
                  <a:extLst>
                    <a:ext uri="{9D8B030D-6E8A-4147-A177-3AD203B41FA5}">
                      <a16:colId xmlns:a16="http://schemas.microsoft.com/office/drawing/2014/main" val="2826471191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 오차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22.09.16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 ( 97.1 %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-0.50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74.4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87.3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B2FD21C-9B5B-4333-BD69-C7DB3332FDDF}"/>
              </a:ext>
            </a:extLst>
          </p:cNvPr>
          <p:cNvSpPr txBox="1"/>
          <p:nvPr/>
        </p:nvSpPr>
        <p:spPr>
          <a:xfrm>
            <a:off x="857663" y="1363729"/>
            <a:ext cx="1683199" cy="29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예측수위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관측수위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정확도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7A5899A-49F1-4476-87E3-6202AAE68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342668"/>
              </p:ext>
            </p:extLst>
          </p:nvPr>
        </p:nvGraphicFramePr>
        <p:xfrm>
          <a:off x="10162718" y="3429000"/>
          <a:ext cx="149288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464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7464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시간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( </a:t>
                      </a:r>
                      <a:r>
                        <a:rPr lang="ko-KR" altLang="en-US" sz="1100" b="1" dirty="0" err="1"/>
                        <a:t>궁내교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관측수위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예측수위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2.16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2.17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1.93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1.82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1.85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1.77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1.36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1.35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1.79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1.69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1.57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EB14DAC-5B0B-41B8-A847-EC95F64C2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134023"/>
              </p:ext>
            </p:extLst>
          </p:nvPr>
        </p:nvGraphicFramePr>
        <p:xfrm>
          <a:off x="8246579" y="3429000"/>
          <a:ext cx="182880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0095">
                  <a:extLst>
                    <a:ext uri="{9D8B030D-6E8A-4147-A177-3AD203B41FA5}">
                      <a16:colId xmlns:a16="http://schemas.microsoft.com/office/drawing/2014/main" val="2826471191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궁내교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 오차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22.09.16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-0.11 ( 94.4 %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95.9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-0.10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AE31737-65F2-4FF6-98B0-131BEBAEE677}"/>
              </a:ext>
            </a:extLst>
          </p:cNvPr>
          <p:cNvSpPr txBox="1"/>
          <p:nvPr/>
        </p:nvSpPr>
        <p:spPr>
          <a:xfrm>
            <a:off x="4677314" y="3031611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1</a:t>
            </a:r>
            <a:r>
              <a:rPr lang="ko-KR" altLang="en-US" sz="1200" b="1" dirty="0">
                <a:latin typeface="+mj-ea"/>
              </a:rPr>
              <a:t>시간 뒤 시점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D7BCC6-9A36-48EB-914A-E1805C345705}"/>
              </a:ext>
            </a:extLst>
          </p:cNvPr>
          <p:cNvSpPr txBox="1"/>
          <p:nvPr/>
        </p:nvSpPr>
        <p:spPr>
          <a:xfrm>
            <a:off x="8246579" y="3031611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3</a:t>
            </a:r>
            <a:r>
              <a:rPr lang="ko-KR" altLang="en-US" sz="1200" b="1" dirty="0">
                <a:latin typeface="+mj-ea"/>
              </a:rPr>
              <a:t>시간 뒤 시점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0EB8B4-D5DD-4FC9-9F77-805533BEC28D}"/>
              </a:ext>
            </a:extLst>
          </p:cNvPr>
          <p:cNvSpPr txBox="1"/>
          <p:nvPr/>
        </p:nvSpPr>
        <p:spPr>
          <a:xfrm>
            <a:off x="876194" y="1672424"/>
            <a:ext cx="3074353" cy="303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오차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자리 반올림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정확도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자리에서 반올림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1257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5651852-02DD-4707-8B49-FF05B1E853AC}"/>
              </a:ext>
            </a:extLst>
          </p:cNvPr>
          <p:cNvSpPr txBox="1"/>
          <p:nvPr/>
        </p:nvSpPr>
        <p:spPr>
          <a:xfrm>
            <a:off x="304921" y="292651"/>
            <a:ext cx="3783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1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시간 뒤 오차들로 구한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r2</a:t>
            </a:r>
            <a:endParaRPr lang="ko-KR" altLang="en-US" sz="2000" b="1" dirty="0">
              <a:latin typeface="+mj-ea"/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B5201D55-575D-40DE-BB24-813907707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712" y="686683"/>
            <a:ext cx="3026167" cy="508749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B5AE5F7-B8DB-47C7-8961-439578E41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711" y="2687130"/>
            <a:ext cx="3026168" cy="516681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CE7B8039-3D48-49A4-BD65-A36E6038F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996" y="4719582"/>
            <a:ext cx="3026168" cy="515254"/>
          </a:xfrm>
          <a:prstGeom prst="rect">
            <a:avLst/>
          </a:prstGeom>
        </p:spPr>
      </p:pic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51F76BE3-3D0D-49FB-B856-92F211F01219}"/>
              </a:ext>
            </a:extLst>
          </p:cNvPr>
          <p:cNvGrpSpPr/>
          <p:nvPr/>
        </p:nvGrpSpPr>
        <p:grpSpPr>
          <a:xfrm>
            <a:off x="7103826" y="1623164"/>
            <a:ext cx="1391446" cy="4647191"/>
            <a:chOff x="6465564" y="1473154"/>
            <a:chExt cx="1391446" cy="4647191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E76725D-1B2E-40AE-8582-789EDB14B92C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0D7AC44-EFB5-468E-9067-1C75C6FE632E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F2EED86-951B-4972-82BC-1E824C4FF32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FE0EE56-9CED-4D50-875E-47CF07C0B706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B348669-45B3-4735-8F3E-00CC17098265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0.9030</a:t>
              </a:r>
              <a:endParaRPr lang="ko-KR" altLang="en-US" sz="1200" b="1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2AF2275-D7C6-48C6-910A-FDD98EE8CEF0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0.8541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119" name="그림 118">
            <a:extLst>
              <a:ext uri="{FF2B5EF4-FFF2-40B4-BE49-F238E27FC236}">
                <a16:creationId xmlns:a16="http://schemas.microsoft.com/office/drawing/2014/main" id="{F8548029-035D-4B3A-B31A-34CD4315FE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791" y="1299434"/>
            <a:ext cx="2962089" cy="1233729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DE123E3E-2F81-44C8-B198-8863BD4D87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226" y="3301649"/>
            <a:ext cx="2980653" cy="1245005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0E21E30D-DFAB-4624-93CA-16B177F565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10" y="5319411"/>
            <a:ext cx="2980653" cy="1271532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B9957CC5-816D-4E80-BE19-73F1AEE431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082" y="680664"/>
            <a:ext cx="3026167" cy="462042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4684501B-8D90-4DA9-AE5F-9EE14D93A5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645" y="2677506"/>
            <a:ext cx="3026168" cy="473878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10DE06BC-D917-4458-9BEC-25C58DB3D9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644" y="4710931"/>
            <a:ext cx="3026167" cy="470367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520B5BD0-1169-4348-BF9C-462C2E1B32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161" y="1263162"/>
            <a:ext cx="2962089" cy="1233729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835726D5-15FD-4BAB-BF12-82DF0CE173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160" y="3258784"/>
            <a:ext cx="2980652" cy="1271532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DAD3DC5B-59EA-48FE-98A4-95C59AD2D1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159" y="5289809"/>
            <a:ext cx="2980653" cy="1271532"/>
          </a:xfrm>
          <a:prstGeom prst="rect">
            <a:avLst/>
          </a:prstGeom>
        </p:spPr>
      </p:pic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B962990-1D38-48D3-BDA6-164449241C64}"/>
              </a:ext>
            </a:extLst>
          </p:cNvPr>
          <p:cNvGrpSpPr/>
          <p:nvPr/>
        </p:nvGrpSpPr>
        <p:grpSpPr>
          <a:xfrm>
            <a:off x="2147697" y="1652766"/>
            <a:ext cx="1290420" cy="4587791"/>
            <a:chOff x="668867" y="1566310"/>
            <a:chExt cx="1290420" cy="4587791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B950E10-0CFF-43AD-9D5B-B54484CCEFCC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0096800-91FC-4B85-9B64-9CC91FE378D1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AEE1C99-24CC-4385-8692-8C89B9CDD3C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8E3E728-D09F-4ED2-8DB6-BC1B53B69E86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0.8098</a:t>
              </a:r>
              <a:endParaRPr lang="ko-KR" altLang="en-US" sz="12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A025944-FF5A-413B-8BAF-59585C13A7F4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0.9701</a:t>
              </a:r>
              <a:endParaRPr lang="ko-KR" altLang="en-US" sz="1200" b="1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1726C60-02B7-4603-8F53-CF4C5CD2BCF8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0.9526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90104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그림 56">
            <a:extLst>
              <a:ext uri="{FF2B5EF4-FFF2-40B4-BE49-F238E27FC236}">
                <a16:creationId xmlns:a16="http://schemas.microsoft.com/office/drawing/2014/main" id="{16DD0B20-8A52-4E56-813D-B54865480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413" y="686683"/>
            <a:ext cx="2977627" cy="50874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8494230-747B-412A-A0A4-72EBE6720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07" y="2687130"/>
            <a:ext cx="2980655" cy="5166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432C5A7-3900-4A27-BE2C-D1C43A75E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995" y="4719582"/>
            <a:ext cx="3026167" cy="515254"/>
          </a:xfrm>
          <a:prstGeom prst="rect">
            <a:avLst/>
          </a:prstGeom>
        </p:spPr>
      </p:pic>
      <p:grpSp>
        <p:nvGrpSpPr>
          <p:cNvPr id="60" name="그룹 59">
            <a:extLst>
              <a:ext uri="{FF2B5EF4-FFF2-40B4-BE49-F238E27FC236}">
                <a16:creationId xmlns:a16="http://schemas.microsoft.com/office/drawing/2014/main" id="{2A7AEE24-1877-4BC0-B8AC-5F44B5696A19}"/>
              </a:ext>
            </a:extLst>
          </p:cNvPr>
          <p:cNvGrpSpPr/>
          <p:nvPr/>
        </p:nvGrpSpPr>
        <p:grpSpPr>
          <a:xfrm>
            <a:off x="7103826" y="1623164"/>
            <a:ext cx="1391446" cy="4647191"/>
            <a:chOff x="6465564" y="1473154"/>
            <a:chExt cx="1391446" cy="464719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D8BE94A-DAD3-47CA-AECD-3CA141E78ABD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AC066C1-FBD1-48AB-9A3E-0EEF1956171F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B57B49E-E14D-4FAC-BBA3-3EF33B336E59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5D7E6E-39F0-433E-A5CB-DC0BD588B7CB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0.6611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9B28673-7F23-452A-A396-7C1601459122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0.6422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BD304F7-DED3-4F1A-8E42-9FB3CCCB380D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0.0422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AD2271EB-400F-46C3-8CD1-A032291DA4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953" y="1299434"/>
            <a:ext cx="2962088" cy="1233729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D7D9C918-66E5-48AC-90D1-C603B11F83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385" y="3288386"/>
            <a:ext cx="2980655" cy="1271532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18F65D6-BDD3-4848-9246-8CB11E625C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07" y="5319411"/>
            <a:ext cx="2980655" cy="1271532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43006E43-5AD7-44BB-864C-E6661F5806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622" y="694130"/>
            <a:ext cx="2977627" cy="462042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52F124F-0839-4388-BAB8-337C0A3C72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594" y="2677506"/>
            <a:ext cx="2980655" cy="473878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4C3D0FBF-50D7-442D-A114-97F8248040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082" y="4710931"/>
            <a:ext cx="3026167" cy="470367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56B576C-38EB-4406-9277-C18A7AA42D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162" y="1283298"/>
            <a:ext cx="2962088" cy="1233729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964B0627-CB4A-4DAB-9B75-A106C2CC8B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594" y="3258784"/>
            <a:ext cx="2980655" cy="127153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575A27B0-AE54-48BF-A1E9-2F32FECE94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594" y="5289809"/>
            <a:ext cx="2980655" cy="1271532"/>
          </a:xfrm>
          <a:prstGeom prst="rect">
            <a:avLst/>
          </a:prstGeom>
        </p:spPr>
      </p:pic>
      <p:grpSp>
        <p:nvGrpSpPr>
          <p:cNvPr id="76" name="그룹 75">
            <a:extLst>
              <a:ext uri="{FF2B5EF4-FFF2-40B4-BE49-F238E27FC236}">
                <a16:creationId xmlns:a16="http://schemas.microsoft.com/office/drawing/2014/main" id="{B13CD486-062C-43DA-A054-C153C46207F2}"/>
              </a:ext>
            </a:extLst>
          </p:cNvPr>
          <p:cNvGrpSpPr/>
          <p:nvPr/>
        </p:nvGrpSpPr>
        <p:grpSpPr>
          <a:xfrm>
            <a:off x="2147697" y="1652766"/>
            <a:ext cx="1290420" cy="4587791"/>
            <a:chOff x="668867" y="1566310"/>
            <a:chExt cx="1290420" cy="458779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4D2F72B-EA20-4E41-B626-1D2AABD3E6CF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B84A1E9-83C0-4E68-A7B7-0904BCE1DCD4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220916</a:t>
              </a:r>
              <a:endParaRPr lang="ko-KR" altLang="en-US" sz="1200" b="1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14A96A0-6D80-41FD-844A-358E93D356EE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0324607-24D7-4728-B498-482111FADC5D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7DF65B6-322B-4BDB-A4FA-34A98ADF9AC4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0.9717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CA2CAC4-3932-4CFA-B591-BC53DEEB122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0.8563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685525C-12C6-4B1D-A6BB-1E5BBFBE7896}"/>
              </a:ext>
            </a:extLst>
          </p:cNvPr>
          <p:cNvSpPr txBox="1"/>
          <p:nvPr/>
        </p:nvSpPr>
        <p:spPr>
          <a:xfrm>
            <a:off x="304921" y="292651"/>
            <a:ext cx="3783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3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시간 뒤 오차들로 구한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r2</a:t>
            </a:r>
            <a:endParaRPr lang="ko-KR" altLang="en-US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32100550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10723</TotalTime>
  <Words>2453</Words>
  <Application>Microsoft Office PowerPoint</Application>
  <PresentationFormat>와이드스크린</PresentationFormat>
  <Paragraphs>682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나눔고딕</vt:lpstr>
      <vt:lpstr>맑은 고딕</vt:lpstr>
      <vt:lpstr>Arial</vt:lpstr>
      <vt:lpstr>Calibri</vt:lpstr>
      <vt:lpstr>Calibri Light</vt:lpstr>
      <vt:lpstr>Consolas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1520</cp:revision>
  <dcterms:created xsi:type="dcterms:W3CDTF">2025-11-18T00:02:37Z</dcterms:created>
  <dcterms:modified xsi:type="dcterms:W3CDTF">2026-02-09T00:37:07Z</dcterms:modified>
</cp:coreProperties>
</file>