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0" r:id="rId2"/>
    <p:sldId id="279" r:id="rId3"/>
    <p:sldId id="336" r:id="rId4"/>
    <p:sldId id="261" r:id="rId5"/>
    <p:sldId id="278" r:id="rId6"/>
    <p:sldId id="301" r:id="rId7"/>
    <p:sldId id="269" r:id="rId8"/>
    <p:sldId id="266" r:id="rId9"/>
    <p:sldId id="267" r:id="rId10"/>
    <p:sldId id="268" r:id="rId11"/>
    <p:sldId id="259" r:id="rId12"/>
    <p:sldId id="281" r:id="rId13"/>
    <p:sldId id="270" r:id="rId14"/>
    <p:sldId id="271" r:id="rId15"/>
    <p:sldId id="273" r:id="rId16"/>
    <p:sldId id="274" r:id="rId17"/>
    <p:sldId id="276" r:id="rId18"/>
    <p:sldId id="280" r:id="rId19"/>
    <p:sldId id="288" r:id="rId20"/>
    <p:sldId id="289" r:id="rId21"/>
    <p:sldId id="290" r:id="rId22"/>
    <p:sldId id="291" r:id="rId23"/>
    <p:sldId id="302" r:id="rId24"/>
    <p:sldId id="306" r:id="rId25"/>
    <p:sldId id="303" r:id="rId26"/>
    <p:sldId id="295" r:id="rId27"/>
    <p:sldId id="296" r:id="rId28"/>
    <p:sldId id="297" r:id="rId29"/>
    <p:sldId id="304" r:id="rId30"/>
    <p:sldId id="299" r:id="rId31"/>
    <p:sldId id="305" r:id="rId32"/>
    <p:sldId id="307" r:id="rId33"/>
    <p:sldId id="309" r:id="rId34"/>
    <p:sldId id="314" r:id="rId35"/>
    <p:sldId id="310" r:id="rId36"/>
    <p:sldId id="311" r:id="rId37"/>
    <p:sldId id="312" r:id="rId38"/>
    <p:sldId id="313" r:id="rId39"/>
    <p:sldId id="315" r:id="rId40"/>
    <p:sldId id="317" r:id="rId41"/>
    <p:sldId id="318" r:id="rId42"/>
    <p:sldId id="319" r:id="rId43"/>
    <p:sldId id="320" r:id="rId44"/>
    <p:sldId id="366" r:id="rId45"/>
    <p:sldId id="368" r:id="rId46"/>
    <p:sldId id="352" r:id="rId47"/>
    <p:sldId id="353" r:id="rId48"/>
    <p:sldId id="354" r:id="rId49"/>
    <p:sldId id="355" r:id="rId50"/>
    <p:sldId id="356" r:id="rId51"/>
    <p:sldId id="357" r:id="rId52"/>
    <p:sldId id="370" r:id="rId53"/>
    <p:sldId id="359" r:id="rId54"/>
    <p:sldId id="360" r:id="rId55"/>
    <p:sldId id="361" r:id="rId56"/>
    <p:sldId id="371" r:id="rId57"/>
    <p:sldId id="363" r:id="rId58"/>
    <p:sldId id="372" r:id="rId59"/>
    <p:sldId id="365" r:id="rId60"/>
    <p:sldId id="346" r:id="rId61"/>
    <p:sldId id="347" r:id="rId62"/>
    <p:sldId id="373" r:id="rId63"/>
    <p:sldId id="374" r:id="rId64"/>
    <p:sldId id="375" r:id="rId65"/>
    <p:sldId id="2934" r:id="rId66"/>
    <p:sldId id="2944" r:id="rId67"/>
    <p:sldId id="2936" r:id="rId68"/>
    <p:sldId id="2945" r:id="rId69"/>
    <p:sldId id="2937" r:id="rId70"/>
    <p:sldId id="2938" r:id="rId71"/>
    <p:sldId id="2946" r:id="rId72"/>
    <p:sldId id="2939" r:id="rId73"/>
    <p:sldId id="2947" r:id="rId7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FECB4D8-DB02-4DC6-A0A2-4F2EBAE1DC90}" styleName="보통 스타일 1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0505E3EF-67EA-436B-97B2-0124C06EBD24}" styleName="보통 스타일 4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352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83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agpie\Downloads\AI%20&#49884;&#48044;&#47112;&#51060;&#53552;%20&#47784;&#45944;\&#51088;&#47308;\&#49457;&#45224;&#49884;%20&#53444;&#52380;%20&#49688;&#50948;%20&#50696;&#52769;%20&#54617;&#49845;%20&#51088;&#47308;%20(&#44417;&#45236;&#44368;,%20&#45824;&#44257;&#44368;)\&#44160;&#51613;&#45936;&#51060;&#53552;36\&#49884;&#44036;&#45800;&#50948;%20&#48156;&#54364;&#51088;&#47308;\20230711_07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agpie\Downloads\AI%20&#49884;&#48044;&#47112;&#51060;&#53552;%20&#47784;&#45944;\&#51088;&#47308;\&#49457;&#45224;&#49884;%20&#53444;&#52380;%20&#49688;&#50948;%20&#50696;&#52769;%20&#54617;&#49845;%20&#51088;&#47308;%20(&#44417;&#45236;&#44368;,%20&#45824;&#44257;&#44368;)\&#44160;&#51613;&#45936;&#51060;&#53552;36\&#49884;&#44036;&#45800;&#50948;%20&#48156;&#54364;&#51088;&#47308;\20230711_08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agpie\Downloads\AI%20&#49884;&#48044;&#47112;&#51060;&#53552;%20&#47784;&#45944;\&#51088;&#47308;\&#49457;&#45224;&#49884;%20&#53444;&#52380;%20&#49688;&#50948;%20&#50696;&#52769;%20&#54617;&#49845;%20&#51088;&#47308;%20(&#44417;&#45236;&#44368;,%20&#45824;&#44257;&#44368;)\&#44160;&#51613;&#45936;&#51060;&#53552;36\&#49884;&#44036;&#45800;&#50948;%20&#48156;&#54364;&#51088;&#47308;\20230711_09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agpie\Downloads\AI%20&#49884;&#48044;&#47112;&#51060;&#53552;%20&#47784;&#45944;\&#51088;&#47308;\&#49457;&#45224;&#49884;%20&#53444;&#52380;%20&#49688;&#50948;%20&#50696;&#52769;%20&#54617;&#49845;%20&#51088;&#47308;%20(&#44417;&#45236;&#44368;,%20&#45824;&#44257;&#44368;)\&#44160;&#51613;&#45936;&#51060;&#53552;36\&#49884;&#44036;&#45800;&#50948;%20&#48156;&#54364;&#51088;&#47308;\20230711_10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agpie\Downloads\AI%20&#49884;&#48044;&#47112;&#51060;&#53552;%20&#47784;&#45944;\&#51088;&#47308;\&#49457;&#45224;&#49884;%20&#53444;&#52380;%20&#49688;&#50948;%20&#50696;&#52769;%20&#54617;&#49845;%20&#51088;&#47308;%20(&#44417;&#45236;&#44368;,%20&#45824;&#44257;&#44368;)\&#44160;&#51613;&#45936;&#51060;&#53552;36\&#49884;&#44036;&#45800;&#50948;%20&#48156;&#54364;&#51088;&#47308;\20250814_04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agpie\Downloads\AI%20&#49884;&#48044;&#47112;&#51060;&#53552;%20&#47784;&#45944;\&#51088;&#47308;\&#49457;&#45224;&#49884;%20&#53444;&#52380;%20&#49688;&#50948;%20&#50696;&#52769;%20&#54617;&#49845;%20&#51088;&#47308;%20(&#44417;&#45236;&#44368;,%20&#45824;&#44257;&#44368;)\&#44160;&#51613;&#45936;&#51060;&#53552;36\&#49884;&#44036;&#45800;&#50948;%20&#48156;&#54364;&#51088;&#47308;\20250814_05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agpie\Downloads\AI%20&#49884;&#48044;&#47112;&#51060;&#53552;%20&#47784;&#45944;\&#51088;&#47308;\&#49457;&#45224;&#49884;%20&#53444;&#52380;%20&#49688;&#50948;%20&#50696;&#52769;%20&#54617;&#49845;%20&#51088;&#47308;%20(&#44417;&#45236;&#44368;,%20&#45824;&#44257;&#44368;)\&#44160;&#51613;&#45936;&#51060;&#53552;36\&#49884;&#44036;&#45800;&#50948;%20&#48156;&#54364;&#51088;&#47308;\20250814_06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agpie\Downloads\AI%20&#49884;&#48044;&#47112;&#51060;&#53552;%20&#47784;&#45944;\&#51088;&#47308;\&#49457;&#45224;&#49884;%20&#53444;&#52380;%20&#49688;&#50948;%20&#50696;&#52769;%20&#54617;&#49845;%20&#51088;&#47308;%20(&#44417;&#45236;&#44368;,%20&#45824;&#44257;&#44368;)\&#44160;&#51613;&#45936;&#51060;&#53552;36\&#49884;&#44036;&#45800;&#50948;%20&#48156;&#54364;&#51088;&#47308;\20250814_07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agpie\Downloads\AI%20&#49884;&#48044;&#47112;&#51060;&#53552;%20&#47784;&#45944;\&#51088;&#47308;\&#49457;&#45224;&#49884;%20&#53444;&#52380;%20&#49688;&#50948;%20&#50696;&#52769;%20&#54617;&#49845;%20&#51088;&#47308;%20(&#44417;&#45236;&#44368;,%20&#45824;&#44257;&#44368;)\&#44160;&#51613;&#45936;&#51060;&#53552;36\&#49884;&#44036;&#45800;&#50948;%20&#48156;&#54364;&#51088;&#47308;\20230711_07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agpie\Downloads\AI%20&#49884;&#48044;&#47112;&#51060;&#53552;%20&#47784;&#45944;\&#51088;&#47308;\&#49457;&#45224;&#49884;%20&#53444;&#52380;%20&#49688;&#50948;%20&#50696;&#52769;%20&#54617;&#49845;%20&#51088;&#47308;%20(&#44417;&#45236;&#44368;,%20&#45824;&#44257;&#44368;)\&#44160;&#51613;&#45936;&#51060;&#53552;36\&#49884;&#44036;&#45800;&#50948;%20&#48156;&#54364;&#51088;&#47308;\20230711_08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agpie\Downloads\AI%20&#49884;&#48044;&#47112;&#51060;&#53552;%20&#47784;&#45944;\&#51088;&#47308;\&#49457;&#45224;&#49884;%20&#53444;&#52380;%20&#49688;&#50948;%20&#50696;&#52769;%20&#54617;&#49845;%20&#51088;&#47308;%20(&#44417;&#45236;&#44368;,%20&#45824;&#44257;&#44368;)\&#44160;&#51613;&#45936;&#51060;&#53552;36\&#49884;&#44036;&#45800;&#50948;%20&#48156;&#54364;&#51088;&#47308;\20230711_09.xlsx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agpie\Downloads\AI%20&#49884;&#48044;&#47112;&#51060;&#53552;%20&#47784;&#45944;\&#51088;&#47308;\&#49457;&#45224;&#49884;%20&#53444;&#52380;%20&#49688;&#50948;%20&#50696;&#52769;%20&#54617;&#49845;%20&#51088;&#47308;%20(&#44417;&#45236;&#44368;,%20&#45824;&#44257;&#44368;)\&#44160;&#51613;&#45936;&#51060;&#53552;36\&#49884;&#44036;&#45800;&#50948;%20&#48156;&#54364;&#51088;&#47308;\20230711_10.xlsx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agpie\Downloads\AI%20&#49884;&#48044;&#47112;&#51060;&#53552;%20&#47784;&#45944;\&#51088;&#47308;\&#49457;&#45224;&#49884;%20&#53444;&#52380;%20&#49688;&#50948;%20&#50696;&#52769;%20&#54617;&#49845;%20&#51088;&#47308;%20(&#44417;&#45236;&#44368;,%20&#45824;&#44257;&#44368;)\&#44160;&#51613;&#45936;&#51060;&#53552;36\&#49884;&#44036;&#45800;&#50948;%20&#48156;&#54364;&#51088;&#47308;\20250814_04.xlsx" TargetMode="External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agpie\Downloads\AI%20&#49884;&#48044;&#47112;&#51060;&#53552;%20&#47784;&#45944;\&#51088;&#47308;\&#49457;&#45224;&#49884;%20&#53444;&#52380;%20&#49688;&#50948;%20&#50696;&#52769;%20&#54617;&#49845;%20&#51088;&#47308;%20(&#44417;&#45236;&#44368;,%20&#45824;&#44257;&#44368;)\&#44160;&#51613;&#45936;&#51060;&#53552;36\&#49884;&#44036;&#45800;&#50948;%20&#48156;&#54364;&#51088;&#47308;\20250814_05.xlsx" TargetMode="External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agpie\Downloads\AI%20&#49884;&#48044;&#47112;&#51060;&#53552;%20&#47784;&#45944;\&#51088;&#47308;\&#49457;&#45224;&#49884;%20&#53444;&#52380;%20&#49688;&#50948;%20&#50696;&#52769;%20&#54617;&#49845;%20&#51088;&#47308;%20(&#44417;&#45236;&#44368;,%20&#45824;&#44257;&#44368;)\&#44160;&#51613;&#45936;&#51060;&#53552;36\&#49884;&#44036;&#45800;&#50948;%20&#48156;&#54364;&#51088;&#47308;\20250814_06.xlsx" TargetMode="External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agpie\Downloads\AI%20&#49884;&#48044;&#47112;&#51060;&#53552;%20&#47784;&#45944;\&#51088;&#47308;\&#49457;&#45224;&#49884;%20&#53444;&#52380;%20&#49688;&#50948;%20&#50696;&#52769;%20&#54617;&#49845;%20&#51088;&#47308;%20(&#44417;&#45236;&#44368;,%20&#45824;&#44257;&#44368;)\&#44160;&#51613;&#45936;&#51060;&#53552;36\&#49884;&#44036;&#45800;&#50948;%20&#48156;&#54364;&#51088;&#47308;\20250814_07.xlsx" TargetMode="External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/>
              <a:t>20230711</a:t>
            </a:r>
            <a:r>
              <a:rPr lang="en-US" altLang="ko-KR" baseline="0"/>
              <a:t> 07</a:t>
            </a:r>
            <a:r>
              <a:rPr lang="ko-KR" altLang="en-US" baseline="0"/>
              <a:t>시 궁내교</a:t>
            </a:r>
            <a:endParaRPr lang="ko-KR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유역강우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val>
            <c:numRef>
              <c:f>'20230711_07'!$M$38:$M$73</c:f>
              <c:numCache>
                <c:formatCode>General</c:formatCode>
                <c:ptCount val="36"/>
                <c:pt idx="0">
                  <c:v>0.45100000000000001</c:v>
                </c:pt>
                <c:pt idx="1">
                  <c:v>4.6210000000000004</c:v>
                </c:pt>
                <c:pt idx="2">
                  <c:v>4.5709999999999997</c:v>
                </c:pt>
                <c:pt idx="3">
                  <c:v>8.68</c:v>
                </c:pt>
                <c:pt idx="4">
                  <c:v>8.9390000000000001</c:v>
                </c:pt>
                <c:pt idx="5">
                  <c:v>10.010999999999999</c:v>
                </c:pt>
                <c:pt idx="6">
                  <c:v>8.7929999999999993</c:v>
                </c:pt>
                <c:pt idx="7">
                  <c:v>5.7450000000000001</c:v>
                </c:pt>
                <c:pt idx="8">
                  <c:v>7.7210000000000001</c:v>
                </c:pt>
                <c:pt idx="9">
                  <c:v>8.0239999999999991</c:v>
                </c:pt>
                <c:pt idx="10">
                  <c:v>1.8779999999999999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6.0999999999999999E-2</c:v>
                </c:pt>
                <c:pt idx="16">
                  <c:v>0</c:v>
                </c:pt>
                <c:pt idx="17">
                  <c:v>0</c:v>
                </c:pt>
                <c:pt idx="18">
                  <c:v>6.0999999999999999E-2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BDF-44E0-B390-4374C6B6B6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28099856"/>
        <c:axId val="530413120"/>
      </c:barChart>
      <c:lineChart>
        <c:grouping val="standard"/>
        <c:varyColors val="0"/>
        <c:ser>
          <c:idx val="3"/>
          <c:order val="1"/>
          <c:tx>
            <c:v>관측수위</c:v>
          </c:tx>
          <c:spPr>
            <a:ln w="2222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val>
            <c:numRef>
              <c:f>'20230711_07'!$H$38:$H$73</c:f>
              <c:numCache>
                <c:formatCode>General</c:formatCode>
                <c:ptCount val="36"/>
                <c:pt idx="0">
                  <c:v>0.83</c:v>
                </c:pt>
                <c:pt idx="1">
                  <c:v>0.83</c:v>
                </c:pt>
                <c:pt idx="2">
                  <c:v>0.83</c:v>
                </c:pt>
                <c:pt idx="3">
                  <c:v>0.83</c:v>
                </c:pt>
                <c:pt idx="4">
                  <c:v>0.84</c:v>
                </c:pt>
                <c:pt idx="5">
                  <c:v>1.1299999999999999</c:v>
                </c:pt>
                <c:pt idx="6">
                  <c:v>1.94</c:v>
                </c:pt>
                <c:pt idx="7">
                  <c:v>2.2200000000000002</c:v>
                </c:pt>
                <c:pt idx="8">
                  <c:v>2.37</c:v>
                </c:pt>
                <c:pt idx="9">
                  <c:v>2.48</c:v>
                </c:pt>
                <c:pt idx="10">
                  <c:v>2.52</c:v>
                </c:pt>
                <c:pt idx="11">
                  <c:v>2.48</c:v>
                </c:pt>
                <c:pt idx="12">
                  <c:v>2.4</c:v>
                </c:pt>
                <c:pt idx="13">
                  <c:v>2.33</c:v>
                </c:pt>
                <c:pt idx="14">
                  <c:v>2.2599999999999998</c:v>
                </c:pt>
                <c:pt idx="15">
                  <c:v>2.17</c:v>
                </c:pt>
                <c:pt idx="16">
                  <c:v>2.09</c:v>
                </c:pt>
                <c:pt idx="17">
                  <c:v>1.98</c:v>
                </c:pt>
                <c:pt idx="18">
                  <c:v>1.85</c:v>
                </c:pt>
                <c:pt idx="19">
                  <c:v>1.75</c:v>
                </c:pt>
                <c:pt idx="20">
                  <c:v>1.67</c:v>
                </c:pt>
                <c:pt idx="21">
                  <c:v>1.6</c:v>
                </c:pt>
                <c:pt idx="22">
                  <c:v>1.54</c:v>
                </c:pt>
                <c:pt idx="23">
                  <c:v>1.48</c:v>
                </c:pt>
                <c:pt idx="24">
                  <c:v>1.44</c:v>
                </c:pt>
                <c:pt idx="25">
                  <c:v>1.4</c:v>
                </c:pt>
                <c:pt idx="26">
                  <c:v>1.37</c:v>
                </c:pt>
                <c:pt idx="27">
                  <c:v>1.35</c:v>
                </c:pt>
                <c:pt idx="28">
                  <c:v>1.33</c:v>
                </c:pt>
                <c:pt idx="29">
                  <c:v>1.32</c:v>
                </c:pt>
                <c:pt idx="30">
                  <c:v>1.3</c:v>
                </c:pt>
                <c:pt idx="31">
                  <c:v>1.28</c:v>
                </c:pt>
                <c:pt idx="32">
                  <c:v>1.27</c:v>
                </c:pt>
                <c:pt idx="33">
                  <c:v>1.26</c:v>
                </c:pt>
                <c:pt idx="34">
                  <c:v>1.25</c:v>
                </c:pt>
                <c:pt idx="35">
                  <c:v>1.24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BDF-44E0-B390-4374C6B6B6AD}"/>
            </c:ext>
          </c:extLst>
        </c:ser>
        <c:ser>
          <c:idx val="1"/>
          <c:order val="2"/>
          <c:tx>
            <c:v>예측수위 (MAE)</c:v>
          </c:tx>
          <c:spPr>
            <a:ln w="2222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'20230711_07'!$N$38:$N$73</c:f>
              <c:numCache>
                <c:formatCode>0.00</c:formatCode>
                <c:ptCount val="36"/>
                <c:pt idx="0">
                  <c:v>0.92558366000000003</c:v>
                </c:pt>
                <c:pt idx="1">
                  <c:v>0.76817579999999996</c:v>
                </c:pt>
                <c:pt idx="2">
                  <c:v>0.94516829999999996</c:v>
                </c:pt>
                <c:pt idx="3">
                  <c:v>0.94998389999999999</c:v>
                </c:pt>
                <c:pt idx="4">
                  <c:v>1.0144142</c:v>
                </c:pt>
                <c:pt idx="5">
                  <c:v>1.1967886999999999</c:v>
                </c:pt>
                <c:pt idx="6">
                  <c:v>1.4125991</c:v>
                </c:pt>
                <c:pt idx="7">
                  <c:v>1.5841584</c:v>
                </c:pt>
                <c:pt idx="8">
                  <c:v>1.8421915</c:v>
                </c:pt>
                <c:pt idx="9">
                  <c:v>2.0725555</c:v>
                </c:pt>
                <c:pt idx="10">
                  <c:v>2.2515287000000002</c:v>
                </c:pt>
                <c:pt idx="11">
                  <c:v>2.2340347999999999</c:v>
                </c:pt>
                <c:pt idx="12">
                  <c:v>2.284211</c:v>
                </c:pt>
                <c:pt idx="13">
                  <c:v>2.2328796</c:v>
                </c:pt>
                <c:pt idx="14">
                  <c:v>2.2415075</c:v>
                </c:pt>
                <c:pt idx="15">
                  <c:v>2.1752056999999998</c:v>
                </c:pt>
                <c:pt idx="16">
                  <c:v>2.0993396999999998</c:v>
                </c:pt>
                <c:pt idx="17">
                  <c:v>2.0184118999999998</c:v>
                </c:pt>
                <c:pt idx="18">
                  <c:v>1.8234977999999999</c:v>
                </c:pt>
                <c:pt idx="19">
                  <c:v>1.7730117000000001</c:v>
                </c:pt>
                <c:pt idx="20">
                  <c:v>1.6803056999999999</c:v>
                </c:pt>
                <c:pt idx="21">
                  <c:v>1.584363</c:v>
                </c:pt>
                <c:pt idx="22">
                  <c:v>1.5550439</c:v>
                </c:pt>
                <c:pt idx="23">
                  <c:v>1.5706754999999999</c:v>
                </c:pt>
                <c:pt idx="24">
                  <c:v>1.4717305000000001</c:v>
                </c:pt>
                <c:pt idx="25">
                  <c:v>1.4351015</c:v>
                </c:pt>
                <c:pt idx="26">
                  <c:v>1.3408998000000001</c:v>
                </c:pt>
                <c:pt idx="27">
                  <c:v>1.3064172000000001</c:v>
                </c:pt>
                <c:pt idx="28">
                  <c:v>1.3013349999999999</c:v>
                </c:pt>
                <c:pt idx="29">
                  <c:v>1.2822465000000001</c:v>
                </c:pt>
                <c:pt idx="30">
                  <c:v>1.2411771</c:v>
                </c:pt>
                <c:pt idx="31">
                  <c:v>1.2062267</c:v>
                </c:pt>
                <c:pt idx="32">
                  <c:v>1.1879204999999999</c:v>
                </c:pt>
                <c:pt idx="33">
                  <c:v>1.1438535000000001</c:v>
                </c:pt>
                <c:pt idx="34">
                  <c:v>1.1092682</c:v>
                </c:pt>
                <c:pt idx="35">
                  <c:v>1.1061051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BDF-44E0-B390-4374C6B6B6AD}"/>
            </c:ext>
          </c:extLst>
        </c:ser>
        <c:ser>
          <c:idx val="2"/>
          <c:order val="3"/>
          <c:tx>
            <c:v>예측수위 (MSE)</c:v>
          </c:tx>
          <c:spPr>
            <a:ln w="2222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val>
            <c:numRef>
              <c:f>'20230711_07'!$P$38:$P$73</c:f>
              <c:numCache>
                <c:formatCode>0.00</c:formatCode>
                <c:ptCount val="36"/>
                <c:pt idx="0">
                  <c:v>0.74356540000000004</c:v>
                </c:pt>
                <c:pt idx="1">
                  <c:v>0.76813536999999998</c:v>
                </c:pt>
                <c:pt idx="2">
                  <c:v>0.84330640000000001</c:v>
                </c:pt>
                <c:pt idx="3">
                  <c:v>0.89365660000000002</c:v>
                </c:pt>
                <c:pt idx="4">
                  <c:v>1.1121962999999999</c:v>
                </c:pt>
                <c:pt idx="5">
                  <c:v>1.3933502</c:v>
                </c:pt>
                <c:pt idx="6">
                  <c:v>1.6671218999999999</c:v>
                </c:pt>
                <c:pt idx="7">
                  <c:v>1.8624384</c:v>
                </c:pt>
                <c:pt idx="8">
                  <c:v>2.1488871999999999</c:v>
                </c:pt>
                <c:pt idx="9">
                  <c:v>2.2391155</c:v>
                </c:pt>
                <c:pt idx="10">
                  <c:v>2.2837312000000001</c:v>
                </c:pt>
                <c:pt idx="11">
                  <c:v>2.2948816000000001</c:v>
                </c:pt>
                <c:pt idx="12">
                  <c:v>2.2882159999999998</c:v>
                </c:pt>
                <c:pt idx="13">
                  <c:v>2.2624035</c:v>
                </c:pt>
                <c:pt idx="14">
                  <c:v>2.1442714</c:v>
                </c:pt>
                <c:pt idx="15">
                  <c:v>2.0813415000000002</c:v>
                </c:pt>
                <c:pt idx="16">
                  <c:v>1.9958317000000001</c:v>
                </c:pt>
                <c:pt idx="17">
                  <c:v>1.8346058000000001</c:v>
                </c:pt>
                <c:pt idx="18">
                  <c:v>1.6586097</c:v>
                </c:pt>
                <c:pt idx="19">
                  <c:v>1.5082374999999999</c:v>
                </c:pt>
                <c:pt idx="20">
                  <c:v>1.4353370999999999</c:v>
                </c:pt>
                <c:pt idx="21">
                  <c:v>1.4303087999999999</c:v>
                </c:pt>
                <c:pt idx="22">
                  <c:v>1.4463828999999999</c:v>
                </c:pt>
                <c:pt idx="23">
                  <c:v>1.4303838</c:v>
                </c:pt>
                <c:pt idx="24">
                  <c:v>1.3960785</c:v>
                </c:pt>
                <c:pt idx="25">
                  <c:v>1.408336</c:v>
                </c:pt>
                <c:pt idx="26">
                  <c:v>1.4040094999999999</c:v>
                </c:pt>
                <c:pt idx="27">
                  <c:v>1.3562768000000001</c:v>
                </c:pt>
                <c:pt idx="28">
                  <c:v>1.314041</c:v>
                </c:pt>
                <c:pt idx="29">
                  <c:v>1.2872925</c:v>
                </c:pt>
                <c:pt idx="30">
                  <c:v>1.3175466</c:v>
                </c:pt>
                <c:pt idx="31">
                  <c:v>1.3251748999999999</c:v>
                </c:pt>
                <c:pt idx="32">
                  <c:v>1.3162598999999999</c:v>
                </c:pt>
                <c:pt idx="33">
                  <c:v>1.2424025999999999</c:v>
                </c:pt>
                <c:pt idx="34">
                  <c:v>1.2759670000000001</c:v>
                </c:pt>
                <c:pt idx="35">
                  <c:v>1.3140721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FBDF-44E0-B390-4374C6B6B6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98807840"/>
        <c:axId val="530411872"/>
      </c:lineChart>
      <c:catAx>
        <c:axId val="398807840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30411872"/>
        <c:crosses val="autoZero"/>
        <c:auto val="1"/>
        <c:lblAlgn val="ctr"/>
        <c:lblOffset val="100"/>
        <c:noMultiLvlLbl val="0"/>
      </c:catAx>
      <c:valAx>
        <c:axId val="5304118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98807840"/>
        <c:crosses val="autoZero"/>
        <c:crossBetween val="between"/>
      </c:valAx>
      <c:valAx>
        <c:axId val="530413120"/>
        <c:scaling>
          <c:orientation val="maxMin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28099856"/>
        <c:crosses val="max"/>
        <c:crossBetween val="between"/>
      </c:valAx>
      <c:catAx>
        <c:axId val="528099856"/>
        <c:scaling>
          <c:orientation val="minMax"/>
        </c:scaling>
        <c:delete val="1"/>
        <c:axPos val="t"/>
        <c:majorTickMark val="out"/>
        <c:minorTickMark val="none"/>
        <c:tickLblPos val="nextTo"/>
        <c:crossAx val="530413120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7.0382550220438128E-2"/>
          <c:y val="0.82231624961470562"/>
          <c:w val="0.88260099840461115"/>
          <c:h val="0.149905941472618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/>
              <a:t>20230711</a:t>
            </a:r>
            <a:r>
              <a:rPr lang="en-US" altLang="ko-KR" baseline="0"/>
              <a:t> 08</a:t>
            </a:r>
            <a:r>
              <a:rPr lang="ko-KR" altLang="en-US" baseline="0"/>
              <a:t>시 궁내교</a:t>
            </a:r>
            <a:endParaRPr lang="ko-KR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유역강우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val>
            <c:numRef>
              <c:f>'20230711_08'!$M$38:$M$73</c:f>
              <c:numCache>
                <c:formatCode>General</c:formatCode>
                <c:ptCount val="36"/>
                <c:pt idx="0">
                  <c:v>8.7929999999999993</c:v>
                </c:pt>
                <c:pt idx="1">
                  <c:v>5.7450000000000001</c:v>
                </c:pt>
                <c:pt idx="2">
                  <c:v>7.7210000000000001</c:v>
                </c:pt>
                <c:pt idx="3">
                  <c:v>8.0239999999999991</c:v>
                </c:pt>
                <c:pt idx="4">
                  <c:v>1.8779999999999999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6.0999999999999999E-2</c:v>
                </c:pt>
                <c:pt idx="10">
                  <c:v>0</c:v>
                </c:pt>
                <c:pt idx="11">
                  <c:v>0</c:v>
                </c:pt>
                <c:pt idx="12">
                  <c:v>6.0999999999999999E-2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0.45100000000000001</c:v>
                </c:pt>
                <c:pt idx="31">
                  <c:v>2.39</c:v>
                </c:pt>
                <c:pt idx="32">
                  <c:v>0.75600000000000001</c:v>
                </c:pt>
                <c:pt idx="33">
                  <c:v>0.67100000000000004</c:v>
                </c:pt>
                <c:pt idx="34">
                  <c:v>1.488</c:v>
                </c:pt>
                <c:pt idx="35">
                  <c:v>2.1960000000000002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668-4DD9-99A5-305DBEA5D1D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28099856"/>
        <c:axId val="530413120"/>
      </c:barChart>
      <c:lineChart>
        <c:grouping val="standard"/>
        <c:varyColors val="0"/>
        <c:ser>
          <c:idx val="3"/>
          <c:order val="1"/>
          <c:tx>
            <c:v>관측수위</c:v>
          </c:tx>
          <c:spPr>
            <a:ln w="2222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val>
            <c:numRef>
              <c:f>'20230711_08'!$H$38:$H$73</c:f>
              <c:numCache>
                <c:formatCode>General</c:formatCode>
                <c:ptCount val="36"/>
                <c:pt idx="0">
                  <c:v>1.94</c:v>
                </c:pt>
                <c:pt idx="1">
                  <c:v>2.2200000000000002</c:v>
                </c:pt>
                <c:pt idx="2">
                  <c:v>2.37</c:v>
                </c:pt>
                <c:pt idx="3">
                  <c:v>2.48</c:v>
                </c:pt>
                <c:pt idx="4">
                  <c:v>2.52</c:v>
                </c:pt>
                <c:pt idx="5">
                  <c:v>2.48</c:v>
                </c:pt>
                <c:pt idx="6">
                  <c:v>2.4</c:v>
                </c:pt>
                <c:pt idx="7">
                  <c:v>2.33</c:v>
                </c:pt>
                <c:pt idx="8">
                  <c:v>2.2599999999999998</c:v>
                </c:pt>
                <c:pt idx="9">
                  <c:v>2.17</c:v>
                </c:pt>
                <c:pt idx="10">
                  <c:v>2.09</c:v>
                </c:pt>
                <c:pt idx="11">
                  <c:v>1.98</c:v>
                </c:pt>
                <c:pt idx="12">
                  <c:v>1.85</c:v>
                </c:pt>
                <c:pt idx="13">
                  <c:v>1.75</c:v>
                </c:pt>
                <c:pt idx="14">
                  <c:v>1.67</c:v>
                </c:pt>
                <c:pt idx="15">
                  <c:v>1.6</c:v>
                </c:pt>
                <c:pt idx="16">
                  <c:v>1.54</c:v>
                </c:pt>
                <c:pt idx="17">
                  <c:v>1.48</c:v>
                </c:pt>
                <c:pt idx="18">
                  <c:v>1.44</c:v>
                </c:pt>
                <c:pt idx="19">
                  <c:v>1.4</c:v>
                </c:pt>
                <c:pt idx="20">
                  <c:v>1.37</c:v>
                </c:pt>
                <c:pt idx="21">
                  <c:v>1.35</c:v>
                </c:pt>
                <c:pt idx="22">
                  <c:v>1.33</c:v>
                </c:pt>
                <c:pt idx="23">
                  <c:v>1.32</c:v>
                </c:pt>
                <c:pt idx="24">
                  <c:v>1.3</c:v>
                </c:pt>
                <c:pt idx="25">
                  <c:v>1.28</c:v>
                </c:pt>
                <c:pt idx="26">
                  <c:v>1.27</c:v>
                </c:pt>
                <c:pt idx="27">
                  <c:v>1.26</c:v>
                </c:pt>
                <c:pt idx="28">
                  <c:v>1.25</c:v>
                </c:pt>
                <c:pt idx="29">
                  <c:v>1.24</c:v>
                </c:pt>
                <c:pt idx="30">
                  <c:v>1.23</c:v>
                </c:pt>
                <c:pt idx="31">
                  <c:v>1.22</c:v>
                </c:pt>
                <c:pt idx="32">
                  <c:v>1.21</c:v>
                </c:pt>
                <c:pt idx="33">
                  <c:v>1.21</c:v>
                </c:pt>
                <c:pt idx="34">
                  <c:v>1.24</c:v>
                </c:pt>
                <c:pt idx="35">
                  <c:v>1.26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668-4DD9-99A5-305DBEA5D1D9}"/>
            </c:ext>
          </c:extLst>
        </c:ser>
        <c:ser>
          <c:idx val="1"/>
          <c:order val="2"/>
          <c:tx>
            <c:v>예측수위 (MAE)</c:v>
          </c:tx>
          <c:spPr>
            <a:ln w="2222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'20230711_08'!$N$38:$N$73</c:f>
              <c:numCache>
                <c:formatCode>0.00</c:formatCode>
                <c:ptCount val="36"/>
                <c:pt idx="0">
                  <c:v>1.3603122000000001</c:v>
                </c:pt>
                <c:pt idx="1">
                  <c:v>1.7570775999999999</c:v>
                </c:pt>
                <c:pt idx="2">
                  <c:v>2.0683609999999999</c:v>
                </c:pt>
                <c:pt idx="3">
                  <c:v>2.1205343999999999</c:v>
                </c:pt>
                <c:pt idx="4">
                  <c:v>2.3837497000000001</c:v>
                </c:pt>
                <c:pt idx="5">
                  <c:v>2.3653206999999998</c:v>
                </c:pt>
                <c:pt idx="6">
                  <c:v>2.3126283000000001</c:v>
                </c:pt>
                <c:pt idx="7">
                  <c:v>2.2131530000000001</c:v>
                </c:pt>
                <c:pt idx="8">
                  <c:v>2.2642066000000001</c:v>
                </c:pt>
                <c:pt idx="9">
                  <c:v>2.078643</c:v>
                </c:pt>
                <c:pt idx="10">
                  <c:v>2.0037069999999999</c:v>
                </c:pt>
                <c:pt idx="11">
                  <c:v>1.9377626999999999</c:v>
                </c:pt>
                <c:pt idx="12">
                  <c:v>1.7627771000000001</c:v>
                </c:pt>
                <c:pt idx="13">
                  <c:v>1.6426574</c:v>
                </c:pt>
                <c:pt idx="14">
                  <c:v>1.5652903</c:v>
                </c:pt>
                <c:pt idx="15">
                  <c:v>1.4675176999999999</c:v>
                </c:pt>
                <c:pt idx="16">
                  <c:v>1.3908963000000001</c:v>
                </c:pt>
                <c:pt idx="17">
                  <c:v>1.3421383</c:v>
                </c:pt>
                <c:pt idx="18">
                  <c:v>1.2752574999999999</c:v>
                </c:pt>
                <c:pt idx="19">
                  <c:v>1.3157232999999999</c:v>
                </c:pt>
                <c:pt idx="20">
                  <c:v>1.3666673</c:v>
                </c:pt>
                <c:pt idx="21">
                  <c:v>1.3496644</c:v>
                </c:pt>
                <c:pt idx="22">
                  <c:v>1.3554850000000001</c:v>
                </c:pt>
                <c:pt idx="23">
                  <c:v>1.2846569999999999</c:v>
                </c:pt>
                <c:pt idx="24">
                  <c:v>1.2918236000000001</c:v>
                </c:pt>
                <c:pt idx="25">
                  <c:v>1.3161894000000001</c:v>
                </c:pt>
                <c:pt idx="26">
                  <c:v>1.3240694</c:v>
                </c:pt>
                <c:pt idx="27">
                  <c:v>1.3694762</c:v>
                </c:pt>
                <c:pt idx="28">
                  <c:v>1.3593751000000001</c:v>
                </c:pt>
                <c:pt idx="29">
                  <c:v>1.3431027</c:v>
                </c:pt>
                <c:pt idx="30">
                  <c:v>1.3144697999999999</c:v>
                </c:pt>
                <c:pt idx="31">
                  <c:v>1.3141967000000001</c:v>
                </c:pt>
                <c:pt idx="32">
                  <c:v>1.2830987</c:v>
                </c:pt>
                <c:pt idx="33">
                  <c:v>1.2842108999999999</c:v>
                </c:pt>
                <c:pt idx="34">
                  <c:v>1.2913646000000001</c:v>
                </c:pt>
                <c:pt idx="35">
                  <c:v>1.2856084999999999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668-4DD9-99A5-305DBEA5D1D9}"/>
            </c:ext>
          </c:extLst>
        </c:ser>
        <c:ser>
          <c:idx val="2"/>
          <c:order val="3"/>
          <c:tx>
            <c:v>예측수위 (MSE)</c:v>
          </c:tx>
          <c:spPr>
            <a:ln w="2222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val>
            <c:numRef>
              <c:f>'20230711_08'!$P$38:$P$73</c:f>
              <c:numCache>
                <c:formatCode>0.00</c:formatCode>
                <c:ptCount val="36"/>
                <c:pt idx="0">
                  <c:v>1.6095184</c:v>
                </c:pt>
                <c:pt idx="1">
                  <c:v>1.9225460999999999</c:v>
                </c:pt>
                <c:pt idx="2">
                  <c:v>2.1851992999999998</c:v>
                </c:pt>
                <c:pt idx="3">
                  <c:v>2.3378952000000002</c:v>
                </c:pt>
                <c:pt idx="4">
                  <c:v>2.6237005999999998</c:v>
                </c:pt>
                <c:pt idx="5">
                  <c:v>2.588946</c:v>
                </c:pt>
                <c:pt idx="6">
                  <c:v>2.5099024999999999</c:v>
                </c:pt>
                <c:pt idx="7">
                  <c:v>2.3494828000000001</c:v>
                </c:pt>
                <c:pt idx="8">
                  <c:v>2.3902296999999999</c:v>
                </c:pt>
                <c:pt idx="9">
                  <c:v>2.1285683999999998</c:v>
                </c:pt>
                <c:pt idx="10">
                  <c:v>1.9533020000000001</c:v>
                </c:pt>
                <c:pt idx="11">
                  <c:v>1.7742255</c:v>
                </c:pt>
                <c:pt idx="12">
                  <c:v>1.6719362</c:v>
                </c:pt>
                <c:pt idx="13">
                  <c:v>1.5498365000000001</c:v>
                </c:pt>
                <c:pt idx="14">
                  <c:v>1.5266808000000001</c:v>
                </c:pt>
                <c:pt idx="15">
                  <c:v>1.4695374000000001</c:v>
                </c:pt>
                <c:pt idx="16">
                  <c:v>1.4394878</c:v>
                </c:pt>
                <c:pt idx="17">
                  <c:v>1.4780260000000001</c:v>
                </c:pt>
                <c:pt idx="18">
                  <c:v>1.4058200999999999</c:v>
                </c:pt>
                <c:pt idx="19">
                  <c:v>1.3113433000000001</c:v>
                </c:pt>
                <c:pt idx="20">
                  <c:v>1.2337408999999999</c:v>
                </c:pt>
                <c:pt idx="21">
                  <c:v>1.2906823000000001</c:v>
                </c:pt>
                <c:pt idx="22">
                  <c:v>1.3760664</c:v>
                </c:pt>
                <c:pt idx="23">
                  <c:v>1.3362533999999999</c:v>
                </c:pt>
                <c:pt idx="24">
                  <c:v>1.341958</c:v>
                </c:pt>
                <c:pt idx="25">
                  <c:v>1.3716203</c:v>
                </c:pt>
                <c:pt idx="26">
                  <c:v>1.3921863000000001</c:v>
                </c:pt>
                <c:pt idx="27">
                  <c:v>1.4236553999999999</c:v>
                </c:pt>
                <c:pt idx="28">
                  <c:v>1.3709</c:v>
                </c:pt>
                <c:pt idx="29">
                  <c:v>1.3895660999999999</c:v>
                </c:pt>
                <c:pt idx="30">
                  <c:v>1.3302573</c:v>
                </c:pt>
                <c:pt idx="31">
                  <c:v>1.3689256999999999</c:v>
                </c:pt>
                <c:pt idx="32">
                  <c:v>1.3613124000000001</c:v>
                </c:pt>
                <c:pt idx="33">
                  <c:v>1.3479152999999999</c:v>
                </c:pt>
                <c:pt idx="34">
                  <c:v>1.2970193999999999</c:v>
                </c:pt>
                <c:pt idx="35">
                  <c:v>1.3828047999999999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1668-4DD9-99A5-305DBEA5D1D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98807840"/>
        <c:axId val="530411872"/>
      </c:lineChart>
      <c:catAx>
        <c:axId val="398807840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30411872"/>
        <c:crosses val="autoZero"/>
        <c:auto val="1"/>
        <c:lblAlgn val="ctr"/>
        <c:lblOffset val="100"/>
        <c:noMultiLvlLbl val="0"/>
      </c:catAx>
      <c:valAx>
        <c:axId val="5304118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98807840"/>
        <c:crosses val="autoZero"/>
        <c:crossBetween val="between"/>
      </c:valAx>
      <c:valAx>
        <c:axId val="530413120"/>
        <c:scaling>
          <c:orientation val="maxMin"/>
          <c:max val="12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28099856"/>
        <c:crosses val="max"/>
        <c:crossBetween val="between"/>
      </c:valAx>
      <c:catAx>
        <c:axId val="528099856"/>
        <c:scaling>
          <c:orientation val="minMax"/>
        </c:scaling>
        <c:delete val="1"/>
        <c:axPos val="t"/>
        <c:majorTickMark val="out"/>
        <c:minorTickMark val="none"/>
        <c:tickLblPos val="nextTo"/>
        <c:crossAx val="530413120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7.0382550220438128E-2"/>
          <c:y val="0.82231624961470562"/>
          <c:w val="0.88260099840461115"/>
          <c:h val="0.149905941472618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/>
              <a:t>20230711</a:t>
            </a:r>
            <a:r>
              <a:rPr lang="en-US" altLang="ko-KR" baseline="0"/>
              <a:t> 09</a:t>
            </a:r>
            <a:r>
              <a:rPr lang="ko-KR" altLang="en-US" baseline="0"/>
              <a:t>시 궁내교</a:t>
            </a:r>
            <a:endParaRPr lang="ko-KR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유역강우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'20230711_09'!$A$38:$A$73</c:f>
              <c:numCache>
                <c:formatCode>m/d/yyyy\ h:mm</c:formatCode>
                <c:ptCount val="36"/>
                <c:pt idx="0">
                  <c:v>45118.409722222219</c:v>
                </c:pt>
                <c:pt idx="1">
                  <c:v>45118.416666666664</c:v>
                </c:pt>
                <c:pt idx="2">
                  <c:v>45118.423611111109</c:v>
                </c:pt>
                <c:pt idx="3">
                  <c:v>45118.430555555555</c:v>
                </c:pt>
                <c:pt idx="4">
                  <c:v>45118.4375</c:v>
                </c:pt>
                <c:pt idx="5">
                  <c:v>45118.444444444445</c:v>
                </c:pt>
                <c:pt idx="6">
                  <c:v>45118.451388888891</c:v>
                </c:pt>
                <c:pt idx="7">
                  <c:v>45118.458333333336</c:v>
                </c:pt>
                <c:pt idx="8">
                  <c:v>45118.465277777781</c:v>
                </c:pt>
                <c:pt idx="9">
                  <c:v>45118.472222222219</c:v>
                </c:pt>
                <c:pt idx="10">
                  <c:v>45118.479166666664</c:v>
                </c:pt>
                <c:pt idx="11">
                  <c:v>45118.486111111109</c:v>
                </c:pt>
                <c:pt idx="12">
                  <c:v>45118.493055555555</c:v>
                </c:pt>
                <c:pt idx="13">
                  <c:v>45118.5</c:v>
                </c:pt>
                <c:pt idx="14">
                  <c:v>45118.506944444445</c:v>
                </c:pt>
                <c:pt idx="15">
                  <c:v>45118.513888888891</c:v>
                </c:pt>
                <c:pt idx="16">
                  <c:v>45118.520833333336</c:v>
                </c:pt>
                <c:pt idx="17">
                  <c:v>45118.527777777781</c:v>
                </c:pt>
                <c:pt idx="18">
                  <c:v>45118.534722222219</c:v>
                </c:pt>
                <c:pt idx="19">
                  <c:v>45118.541666666664</c:v>
                </c:pt>
                <c:pt idx="20">
                  <c:v>45118.548611111109</c:v>
                </c:pt>
                <c:pt idx="21">
                  <c:v>45118.555555555555</c:v>
                </c:pt>
                <c:pt idx="22">
                  <c:v>45118.5625</c:v>
                </c:pt>
                <c:pt idx="23">
                  <c:v>45118.569444444445</c:v>
                </c:pt>
                <c:pt idx="24">
                  <c:v>45118.576388888891</c:v>
                </c:pt>
                <c:pt idx="25">
                  <c:v>45118.583333333336</c:v>
                </c:pt>
                <c:pt idx="26">
                  <c:v>45118.590277777781</c:v>
                </c:pt>
                <c:pt idx="27">
                  <c:v>45118.597222222219</c:v>
                </c:pt>
                <c:pt idx="28">
                  <c:v>45118.604166666664</c:v>
                </c:pt>
                <c:pt idx="29">
                  <c:v>45118.611111111109</c:v>
                </c:pt>
                <c:pt idx="30">
                  <c:v>45118.618055555555</c:v>
                </c:pt>
                <c:pt idx="31">
                  <c:v>45118.625</c:v>
                </c:pt>
                <c:pt idx="32">
                  <c:v>45118.631944444445</c:v>
                </c:pt>
                <c:pt idx="33">
                  <c:v>45118.638888888891</c:v>
                </c:pt>
                <c:pt idx="34">
                  <c:v>45118.645833333336</c:v>
                </c:pt>
                <c:pt idx="35">
                  <c:v>45118.652777777781</c:v>
                </c:pt>
              </c:numCache>
            </c:numRef>
          </c:cat>
          <c:val>
            <c:numRef>
              <c:f>'20230711_09'!$M$38:$M$73</c:f>
              <c:numCache>
                <c:formatCode>General</c:formatCode>
                <c:ptCount val="3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6.0999999999999999E-2</c:v>
                </c:pt>
                <c:pt idx="4">
                  <c:v>0</c:v>
                </c:pt>
                <c:pt idx="5">
                  <c:v>0</c:v>
                </c:pt>
                <c:pt idx="6">
                  <c:v>6.0999999999999999E-2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0.45100000000000001</c:v>
                </c:pt>
                <c:pt idx="25">
                  <c:v>2.39</c:v>
                </c:pt>
                <c:pt idx="26">
                  <c:v>0.75600000000000001</c:v>
                </c:pt>
                <c:pt idx="27">
                  <c:v>0.67100000000000004</c:v>
                </c:pt>
                <c:pt idx="28">
                  <c:v>1.488</c:v>
                </c:pt>
                <c:pt idx="29">
                  <c:v>2.1960000000000002</c:v>
                </c:pt>
                <c:pt idx="30">
                  <c:v>0.36599999999999999</c:v>
                </c:pt>
                <c:pt idx="31">
                  <c:v>0.48799999999999999</c:v>
                </c:pt>
                <c:pt idx="32">
                  <c:v>1.0369999999999999</c:v>
                </c:pt>
                <c:pt idx="33">
                  <c:v>0.54900000000000004</c:v>
                </c:pt>
                <c:pt idx="34">
                  <c:v>0.48799999999999999</c:v>
                </c:pt>
                <c:pt idx="3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AB8-46E5-A19E-9B0E02FF7B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28099856"/>
        <c:axId val="530413120"/>
      </c:barChart>
      <c:lineChart>
        <c:grouping val="standard"/>
        <c:varyColors val="0"/>
        <c:ser>
          <c:idx val="3"/>
          <c:order val="1"/>
          <c:tx>
            <c:v>관측수위</c:v>
          </c:tx>
          <c:spPr>
            <a:ln w="2222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val>
            <c:numRef>
              <c:f>'20230711_09'!$H$38:$H$73</c:f>
              <c:numCache>
                <c:formatCode>General</c:formatCode>
                <c:ptCount val="36"/>
                <c:pt idx="0">
                  <c:v>2.4</c:v>
                </c:pt>
                <c:pt idx="1">
                  <c:v>2.33</c:v>
                </c:pt>
                <c:pt idx="2">
                  <c:v>2.2599999999999998</c:v>
                </c:pt>
                <c:pt idx="3">
                  <c:v>2.17</c:v>
                </c:pt>
                <c:pt idx="4">
                  <c:v>2.09</c:v>
                </c:pt>
                <c:pt idx="5">
                  <c:v>1.98</c:v>
                </c:pt>
                <c:pt idx="6">
                  <c:v>1.85</c:v>
                </c:pt>
                <c:pt idx="7">
                  <c:v>1.75</c:v>
                </c:pt>
                <c:pt idx="8">
                  <c:v>1.67</c:v>
                </c:pt>
                <c:pt idx="9">
                  <c:v>1.6</c:v>
                </c:pt>
                <c:pt idx="10">
                  <c:v>1.54</c:v>
                </c:pt>
                <c:pt idx="11">
                  <c:v>1.48</c:v>
                </c:pt>
                <c:pt idx="12">
                  <c:v>1.44</c:v>
                </c:pt>
                <c:pt idx="13">
                  <c:v>1.4</c:v>
                </c:pt>
                <c:pt idx="14">
                  <c:v>1.37</c:v>
                </c:pt>
                <c:pt idx="15">
                  <c:v>1.35</c:v>
                </c:pt>
                <c:pt idx="16">
                  <c:v>1.33</c:v>
                </c:pt>
                <c:pt idx="17">
                  <c:v>1.32</c:v>
                </c:pt>
                <c:pt idx="18">
                  <c:v>1.3</c:v>
                </c:pt>
                <c:pt idx="19">
                  <c:v>1.28</c:v>
                </c:pt>
                <c:pt idx="20">
                  <c:v>1.27</c:v>
                </c:pt>
                <c:pt idx="21">
                  <c:v>1.26</c:v>
                </c:pt>
                <c:pt idx="22">
                  <c:v>1.25</c:v>
                </c:pt>
                <c:pt idx="23">
                  <c:v>1.24</c:v>
                </c:pt>
                <c:pt idx="24">
                  <c:v>1.23</c:v>
                </c:pt>
                <c:pt idx="25">
                  <c:v>1.22</c:v>
                </c:pt>
                <c:pt idx="26">
                  <c:v>1.21</c:v>
                </c:pt>
                <c:pt idx="27">
                  <c:v>1.21</c:v>
                </c:pt>
                <c:pt idx="28">
                  <c:v>1.24</c:v>
                </c:pt>
                <c:pt idx="29">
                  <c:v>1.26</c:v>
                </c:pt>
                <c:pt idx="30">
                  <c:v>1.33</c:v>
                </c:pt>
                <c:pt idx="31">
                  <c:v>1.34</c:v>
                </c:pt>
                <c:pt idx="32">
                  <c:v>1.34</c:v>
                </c:pt>
                <c:pt idx="33">
                  <c:v>1.34</c:v>
                </c:pt>
                <c:pt idx="34">
                  <c:v>1.34</c:v>
                </c:pt>
                <c:pt idx="35">
                  <c:v>1.34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AB8-46E5-A19E-9B0E02FF7BDD}"/>
            </c:ext>
          </c:extLst>
        </c:ser>
        <c:ser>
          <c:idx val="1"/>
          <c:order val="2"/>
          <c:tx>
            <c:v>예측수위 (MAE)</c:v>
          </c:tx>
          <c:spPr>
            <a:ln w="2222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'20230711_09'!$N$38:$N$73</c:f>
              <c:numCache>
                <c:formatCode>0.00</c:formatCode>
                <c:ptCount val="36"/>
                <c:pt idx="0">
                  <c:v>2.4325410999999999</c:v>
                </c:pt>
                <c:pt idx="1">
                  <c:v>2.3827372000000002</c:v>
                </c:pt>
                <c:pt idx="2">
                  <c:v>2.3313828000000001</c:v>
                </c:pt>
                <c:pt idx="3">
                  <c:v>2.2715230000000002</c:v>
                </c:pt>
                <c:pt idx="4">
                  <c:v>2.1659533999999998</c:v>
                </c:pt>
                <c:pt idx="5">
                  <c:v>2.0785303000000002</c:v>
                </c:pt>
                <c:pt idx="6">
                  <c:v>1.9960605</c:v>
                </c:pt>
                <c:pt idx="7">
                  <c:v>1.87541</c:v>
                </c:pt>
                <c:pt idx="8">
                  <c:v>1.7672478</c:v>
                </c:pt>
                <c:pt idx="9">
                  <c:v>1.7230595</c:v>
                </c:pt>
                <c:pt idx="10">
                  <c:v>1.6409836</c:v>
                </c:pt>
                <c:pt idx="11">
                  <c:v>1.5346507</c:v>
                </c:pt>
                <c:pt idx="12">
                  <c:v>1.4711097</c:v>
                </c:pt>
                <c:pt idx="13">
                  <c:v>1.4622219999999999</c:v>
                </c:pt>
                <c:pt idx="14">
                  <c:v>1.4374302999999999</c:v>
                </c:pt>
                <c:pt idx="15">
                  <c:v>1.4448993000000001</c:v>
                </c:pt>
                <c:pt idx="16">
                  <c:v>1.4422398999999999</c:v>
                </c:pt>
                <c:pt idx="17">
                  <c:v>1.4411242</c:v>
                </c:pt>
                <c:pt idx="18">
                  <c:v>1.4572537999999999</c:v>
                </c:pt>
                <c:pt idx="19">
                  <c:v>1.513884</c:v>
                </c:pt>
                <c:pt idx="20">
                  <c:v>1.5533604999999999</c:v>
                </c:pt>
                <c:pt idx="21">
                  <c:v>1.5048714000000001</c:v>
                </c:pt>
                <c:pt idx="22">
                  <c:v>1.4799747000000001</c:v>
                </c:pt>
                <c:pt idx="23">
                  <c:v>1.4513119999999999</c:v>
                </c:pt>
                <c:pt idx="24">
                  <c:v>1.4668028</c:v>
                </c:pt>
                <c:pt idx="25">
                  <c:v>1.5111494000000001</c:v>
                </c:pt>
                <c:pt idx="26">
                  <c:v>1.5043526</c:v>
                </c:pt>
                <c:pt idx="27">
                  <c:v>1.4869466</c:v>
                </c:pt>
                <c:pt idx="28">
                  <c:v>1.4228243</c:v>
                </c:pt>
                <c:pt idx="29">
                  <c:v>1.4119872</c:v>
                </c:pt>
                <c:pt idx="30">
                  <c:v>1.4576753</c:v>
                </c:pt>
                <c:pt idx="31">
                  <c:v>1.4893080999999999</c:v>
                </c:pt>
                <c:pt idx="32">
                  <c:v>1.4590620999999999</c:v>
                </c:pt>
                <c:pt idx="33">
                  <c:v>1.4958142999999999</c:v>
                </c:pt>
                <c:pt idx="34">
                  <c:v>1.4997332000000001</c:v>
                </c:pt>
                <c:pt idx="35">
                  <c:v>1.4628451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AB8-46E5-A19E-9B0E02FF7BDD}"/>
            </c:ext>
          </c:extLst>
        </c:ser>
        <c:ser>
          <c:idx val="2"/>
          <c:order val="3"/>
          <c:tx>
            <c:v>예측수위 (MSE)</c:v>
          </c:tx>
          <c:spPr>
            <a:ln w="2222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val>
            <c:numRef>
              <c:f>'20230711_09'!$P$38:$P$73</c:f>
              <c:numCache>
                <c:formatCode>0.00</c:formatCode>
                <c:ptCount val="36"/>
                <c:pt idx="0">
                  <c:v>2.6746354000000001</c:v>
                </c:pt>
                <c:pt idx="1">
                  <c:v>2.7773604000000001</c:v>
                </c:pt>
                <c:pt idx="2">
                  <c:v>2.8502998000000002</c:v>
                </c:pt>
                <c:pt idx="3">
                  <c:v>2.5821812</c:v>
                </c:pt>
                <c:pt idx="4">
                  <c:v>2.4249852000000001</c:v>
                </c:pt>
                <c:pt idx="5">
                  <c:v>2.2067627999999999</c:v>
                </c:pt>
                <c:pt idx="6">
                  <c:v>2.0777177999999998</c:v>
                </c:pt>
                <c:pt idx="7">
                  <c:v>1.9199497999999999</c:v>
                </c:pt>
                <c:pt idx="8">
                  <c:v>1.6942364000000001</c:v>
                </c:pt>
                <c:pt idx="9">
                  <c:v>1.5187716</c:v>
                </c:pt>
                <c:pt idx="10">
                  <c:v>1.4515145</c:v>
                </c:pt>
                <c:pt idx="11">
                  <c:v>1.4307557</c:v>
                </c:pt>
                <c:pt idx="12">
                  <c:v>1.4469727999999999</c:v>
                </c:pt>
                <c:pt idx="13">
                  <c:v>1.4511105</c:v>
                </c:pt>
                <c:pt idx="14">
                  <c:v>1.4483583</c:v>
                </c:pt>
                <c:pt idx="15">
                  <c:v>1.4891232999999999</c:v>
                </c:pt>
                <c:pt idx="16">
                  <c:v>1.4833715999999999</c:v>
                </c:pt>
                <c:pt idx="17">
                  <c:v>1.480809</c:v>
                </c:pt>
                <c:pt idx="18">
                  <c:v>1.3789214000000001</c:v>
                </c:pt>
                <c:pt idx="19">
                  <c:v>1.2871832000000001</c:v>
                </c:pt>
                <c:pt idx="20">
                  <c:v>1.1880747</c:v>
                </c:pt>
                <c:pt idx="21">
                  <c:v>1.2144032</c:v>
                </c:pt>
                <c:pt idx="22">
                  <c:v>1.3178053000000001</c:v>
                </c:pt>
                <c:pt idx="23">
                  <c:v>1.3700496</c:v>
                </c:pt>
                <c:pt idx="24">
                  <c:v>1.4061482000000001</c:v>
                </c:pt>
                <c:pt idx="25">
                  <c:v>1.3907893</c:v>
                </c:pt>
                <c:pt idx="26">
                  <c:v>1.4094572000000001</c:v>
                </c:pt>
                <c:pt idx="27">
                  <c:v>1.4720051000000001</c:v>
                </c:pt>
                <c:pt idx="28">
                  <c:v>1.509117</c:v>
                </c:pt>
                <c:pt idx="29">
                  <c:v>1.5540004999999999</c:v>
                </c:pt>
                <c:pt idx="30">
                  <c:v>1.4460735</c:v>
                </c:pt>
                <c:pt idx="31">
                  <c:v>1.4112201</c:v>
                </c:pt>
                <c:pt idx="32">
                  <c:v>1.3306427000000001</c:v>
                </c:pt>
                <c:pt idx="33">
                  <c:v>1.3717355</c:v>
                </c:pt>
                <c:pt idx="34">
                  <c:v>1.3833028000000001</c:v>
                </c:pt>
                <c:pt idx="35">
                  <c:v>1.3772057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AB8-46E5-A19E-9B0E02FF7B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98807840"/>
        <c:axId val="530411872"/>
      </c:lineChart>
      <c:catAx>
        <c:axId val="398807840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30411872"/>
        <c:crosses val="autoZero"/>
        <c:auto val="1"/>
        <c:lblAlgn val="ctr"/>
        <c:lblOffset val="100"/>
        <c:noMultiLvlLbl val="0"/>
      </c:catAx>
      <c:valAx>
        <c:axId val="5304118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98807840"/>
        <c:crosses val="autoZero"/>
        <c:crossBetween val="between"/>
      </c:valAx>
      <c:valAx>
        <c:axId val="530413120"/>
        <c:scaling>
          <c:orientation val="maxMin"/>
          <c:max val="12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28099856"/>
        <c:crosses val="max"/>
        <c:crossBetween val="between"/>
      </c:valAx>
      <c:dateAx>
        <c:axId val="528099856"/>
        <c:scaling>
          <c:orientation val="minMax"/>
        </c:scaling>
        <c:delete val="1"/>
        <c:axPos val="t"/>
        <c:numFmt formatCode="m/d/yyyy\ h:mm" sourceLinked="1"/>
        <c:majorTickMark val="out"/>
        <c:minorTickMark val="none"/>
        <c:tickLblPos val="nextTo"/>
        <c:crossAx val="530413120"/>
        <c:crosses val="autoZero"/>
        <c:auto val="1"/>
        <c:lblOffset val="100"/>
        <c:baseTimeUnit val="days"/>
      </c:date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7.0382550220438128E-2"/>
          <c:y val="0.82231624961470562"/>
          <c:w val="0.88260099840461115"/>
          <c:h val="0.149905941472618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/>
              <a:t>20230711</a:t>
            </a:r>
            <a:r>
              <a:rPr lang="en-US" altLang="ko-KR" baseline="0"/>
              <a:t> 10</a:t>
            </a:r>
            <a:r>
              <a:rPr lang="ko-KR" altLang="en-US" baseline="0"/>
              <a:t>시 궁내교</a:t>
            </a:r>
            <a:endParaRPr lang="ko-KR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유역강우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'[1]20230711_09'!$A$38:$A$73</c:f>
              <c:numCache>
                <c:formatCode>General</c:formatCode>
                <c:ptCount val="3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</c:numCache>
            </c:numRef>
          </c:cat>
          <c:val>
            <c:numRef>
              <c:f>'20230711_10'!$M$38:$M$73</c:f>
              <c:numCache>
                <c:formatCode>General</c:formatCode>
                <c:ptCount val="36"/>
                <c:pt idx="0">
                  <c:v>6.0999999999999999E-2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0.45100000000000001</c:v>
                </c:pt>
                <c:pt idx="19">
                  <c:v>2.39</c:v>
                </c:pt>
                <c:pt idx="20">
                  <c:v>0.75600000000000001</c:v>
                </c:pt>
                <c:pt idx="21">
                  <c:v>0.67100000000000004</c:v>
                </c:pt>
                <c:pt idx="22">
                  <c:v>1.488</c:v>
                </c:pt>
                <c:pt idx="23">
                  <c:v>2.1960000000000002</c:v>
                </c:pt>
                <c:pt idx="24">
                  <c:v>0.36599999999999999</c:v>
                </c:pt>
                <c:pt idx="25">
                  <c:v>0.48799999999999999</c:v>
                </c:pt>
                <c:pt idx="26">
                  <c:v>1.0369999999999999</c:v>
                </c:pt>
                <c:pt idx="27">
                  <c:v>0.54900000000000004</c:v>
                </c:pt>
                <c:pt idx="28">
                  <c:v>0.48799999999999999</c:v>
                </c:pt>
                <c:pt idx="29">
                  <c:v>0</c:v>
                </c:pt>
                <c:pt idx="30">
                  <c:v>6.0999999999999999E-2</c:v>
                </c:pt>
                <c:pt idx="31">
                  <c:v>0.57299999999999995</c:v>
                </c:pt>
                <c:pt idx="32">
                  <c:v>1.1459999999999999</c:v>
                </c:pt>
                <c:pt idx="33">
                  <c:v>0.91500000000000004</c:v>
                </c:pt>
                <c:pt idx="34">
                  <c:v>8.109</c:v>
                </c:pt>
                <c:pt idx="35">
                  <c:v>3.669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00A-4FDF-AA92-10BACE85895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28099856"/>
        <c:axId val="530413120"/>
      </c:barChart>
      <c:lineChart>
        <c:grouping val="standard"/>
        <c:varyColors val="0"/>
        <c:ser>
          <c:idx val="3"/>
          <c:order val="1"/>
          <c:tx>
            <c:v>관측수위</c:v>
          </c:tx>
          <c:spPr>
            <a:ln w="2222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val>
            <c:numRef>
              <c:f>'20230711_10'!$H$38:$H$73</c:f>
              <c:numCache>
                <c:formatCode>General</c:formatCode>
                <c:ptCount val="36"/>
                <c:pt idx="0">
                  <c:v>1.85</c:v>
                </c:pt>
                <c:pt idx="1">
                  <c:v>1.75</c:v>
                </c:pt>
                <c:pt idx="2">
                  <c:v>1.67</c:v>
                </c:pt>
                <c:pt idx="3">
                  <c:v>1.6</c:v>
                </c:pt>
                <c:pt idx="4">
                  <c:v>1.54</c:v>
                </c:pt>
                <c:pt idx="5">
                  <c:v>1.48</c:v>
                </c:pt>
                <c:pt idx="6">
                  <c:v>1.44</c:v>
                </c:pt>
                <c:pt idx="7">
                  <c:v>1.4</c:v>
                </c:pt>
                <c:pt idx="8">
                  <c:v>1.37</c:v>
                </c:pt>
                <c:pt idx="9">
                  <c:v>1.35</c:v>
                </c:pt>
                <c:pt idx="10">
                  <c:v>1.33</c:v>
                </c:pt>
                <c:pt idx="11">
                  <c:v>1.32</c:v>
                </c:pt>
                <c:pt idx="12">
                  <c:v>1.3</c:v>
                </c:pt>
                <c:pt idx="13">
                  <c:v>1.28</c:v>
                </c:pt>
                <c:pt idx="14">
                  <c:v>1.27</c:v>
                </c:pt>
                <c:pt idx="15">
                  <c:v>1.26</c:v>
                </c:pt>
                <c:pt idx="16">
                  <c:v>1.25</c:v>
                </c:pt>
                <c:pt idx="17">
                  <c:v>1.24</c:v>
                </c:pt>
                <c:pt idx="18">
                  <c:v>1.23</c:v>
                </c:pt>
                <c:pt idx="19">
                  <c:v>1.22</c:v>
                </c:pt>
                <c:pt idx="20">
                  <c:v>1.21</c:v>
                </c:pt>
                <c:pt idx="21">
                  <c:v>1.21</c:v>
                </c:pt>
                <c:pt idx="22">
                  <c:v>1.24</c:v>
                </c:pt>
                <c:pt idx="23">
                  <c:v>1.26</c:v>
                </c:pt>
                <c:pt idx="24">
                  <c:v>1.33</c:v>
                </c:pt>
                <c:pt idx="25">
                  <c:v>1.34</c:v>
                </c:pt>
                <c:pt idx="26">
                  <c:v>1.34</c:v>
                </c:pt>
                <c:pt idx="27">
                  <c:v>1.34</c:v>
                </c:pt>
                <c:pt idx="28">
                  <c:v>1.34</c:v>
                </c:pt>
                <c:pt idx="29">
                  <c:v>1.34</c:v>
                </c:pt>
                <c:pt idx="30">
                  <c:v>1.33</c:v>
                </c:pt>
                <c:pt idx="31">
                  <c:v>1.32</c:v>
                </c:pt>
                <c:pt idx="32">
                  <c:v>1.3</c:v>
                </c:pt>
                <c:pt idx="33">
                  <c:v>1.28</c:v>
                </c:pt>
                <c:pt idx="34">
                  <c:v>1.28</c:v>
                </c:pt>
                <c:pt idx="35">
                  <c:v>1.35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00A-4FDF-AA92-10BACE85895B}"/>
            </c:ext>
          </c:extLst>
        </c:ser>
        <c:ser>
          <c:idx val="1"/>
          <c:order val="2"/>
          <c:tx>
            <c:v>예측수위 (MAE)</c:v>
          </c:tx>
          <c:spPr>
            <a:ln w="2222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'20230711_10'!$N$38:$N$73</c:f>
              <c:numCache>
                <c:formatCode>0.00</c:formatCode>
                <c:ptCount val="36"/>
                <c:pt idx="0">
                  <c:v>1.9234549000000001</c:v>
                </c:pt>
                <c:pt idx="1">
                  <c:v>1.8279825000000001</c:v>
                </c:pt>
                <c:pt idx="2">
                  <c:v>1.7372867000000001</c:v>
                </c:pt>
                <c:pt idx="3">
                  <c:v>1.7321669</c:v>
                </c:pt>
                <c:pt idx="4">
                  <c:v>1.6654962</c:v>
                </c:pt>
                <c:pt idx="5">
                  <c:v>1.6298973999999999</c:v>
                </c:pt>
                <c:pt idx="6">
                  <c:v>1.5896204</c:v>
                </c:pt>
                <c:pt idx="7">
                  <c:v>1.5271355</c:v>
                </c:pt>
                <c:pt idx="8">
                  <c:v>1.4666029</c:v>
                </c:pt>
                <c:pt idx="9">
                  <c:v>1.4826619999999999</c:v>
                </c:pt>
                <c:pt idx="10">
                  <c:v>1.4652826000000001</c:v>
                </c:pt>
                <c:pt idx="11">
                  <c:v>1.4256451999999999</c:v>
                </c:pt>
                <c:pt idx="12">
                  <c:v>1.4117525</c:v>
                </c:pt>
                <c:pt idx="13">
                  <c:v>1.4089719999999999</c:v>
                </c:pt>
                <c:pt idx="14">
                  <c:v>1.3991492000000001</c:v>
                </c:pt>
                <c:pt idx="15">
                  <c:v>1.4123942</c:v>
                </c:pt>
                <c:pt idx="16">
                  <c:v>1.4145854</c:v>
                </c:pt>
                <c:pt idx="17">
                  <c:v>1.4130343999999999</c:v>
                </c:pt>
                <c:pt idx="18">
                  <c:v>1.3838648</c:v>
                </c:pt>
                <c:pt idx="19">
                  <c:v>1.3363997999999999</c:v>
                </c:pt>
                <c:pt idx="20">
                  <c:v>1.3000041</c:v>
                </c:pt>
                <c:pt idx="21">
                  <c:v>1.27525</c:v>
                </c:pt>
                <c:pt idx="22">
                  <c:v>1.2901237999999999</c:v>
                </c:pt>
                <c:pt idx="23">
                  <c:v>1.3252641000000001</c:v>
                </c:pt>
                <c:pt idx="24">
                  <c:v>1.3796636</c:v>
                </c:pt>
                <c:pt idx="25">
                  <c:v>1.4153552</c:v>
                </c:pt>
                <c:pt idx="26">
                  <c:v>1.4197605</c:v>
                </c:pt>
                <c:pt idx="27">
                  <c:v>1.4523159999999999</c:v>
                </c:pt>
                <c:pt idx="28">
                  <c:v>1.4750794</c:v>
                </c:pt>
                <c:pt idx="29">
                  <c:v>1.4611213999999999</c:v>
                </c:pt>
                <c:pt idx="30">
                  <c:v>1.4911973000000001</c:v>
                </c:pt>
                <c:pt idx="31">
                  <c:v>1.4801991999999999</c:v>
                </c:pt>
                <c:pt idx="32">
                  <c:v>1.4877659999999999</c:v>
                </c:pt>
                <c:pt idx="33">
                  <c:v>1.523568</c:v>
                </c:pt>
                <c:pt idx="34">
                  <c:v>1.5456166</c:v>
                </c:pt>
                <c:pt idx="35">
                  <c:v>1.6163419999999999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00A-4FDF-AA92-10BACE85895B}"/>
            </c:ext>
          </c:extLst>
        </c:ser>
        <c:ser>
          <c:idx val="2"/>
          <c:order val="3"/>
          <c:tx>
            <c:v>예측수위 (MSE)</c:v>
          </c:tx>
          <c:spPr>
            <a:ln w="2222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val>
            <c:numRef>
              <c:f>'20230711_10'!$P$38:$P$73</c:f>
              <c:numCache>
                <c:formatCode>0.00</c:formatCode>
                <c:ptCount val="36"/>
                <c:pt idx="0">
                  <c:v>1.8694037999999999</c:v>
                </c:pt>
                <c:pt idx="1">
                  <c:v>1.8220698</c:v>
                </c:pt>
                <c:pt idx="2">
                  <c:v>1.7668326000000001</c:v>
                </c:pt>
                <c:pt idx="3">
                  <c:v>1.7029585</c:v>
                </c:pt>
                <c:pt idx="4">
                  <c:v>1.6575325999999999</c:v>
                </c:pt>
                <c:pt idx="5">
                  <c:v>1.6218585000000001</c:v>
                </c:pt>
                <c:pt idx="6">
                  <c:v>1.6048704</c:v>
                </c:pt>
                <c:pt idx="7">
                  <c:v>1.5797034999999999</c:v>
                </c:pt>
                <c:pt idx="8">
                  <c:v>1.5498562</c:v>
                </c:pt>
                <c:pt idx="9">
                  <c:v>1.5045556</c:v>
                </c:pt>
                <c:pt idx="10">
                  <c:v>1.4846599</c:v>
                </c:pt>
                <c:pt idx="11">
                  <c:v>1.4358736999999999</c:v>
                </c:pt>
                <c:pt idx="12">
                  <c:v>1.4707532000000001</c:v>
                </c:pt>
                <c:pt idx="13">
                  <c:v>1.503125</c:v>
                </c:pt>
                <c:pt idx="14">
                  <c:v>1.4874246</c:v>
                </c:pt>
                <c:pt idx="15">
                  <c:v>1.4814833000000001</c:v>
                </c:pt>
                <c:pt idx="16">
                  <c:v>1.457403</c:v>
                </c:pt>
                <c:pt idx="17">
                  <c:v>1.4352898999999999</c:v>
                </c:pt>
                <c:pt idx="18">
                  <c:v>1.4345174999999999</c:v>
                </c:pt>
                <c:pt idx="19">
                  <c:v>1.410642</c:v>
                </c:pt>
                <c:pt idx="20">
                  <c:v>1.4002949</c:v>
                </c:pt>
                <c:pt idx="21">
                  <c:v>1.4341927000000001</c:v>
                </c:pt>
                <c:pt idx="22">
                  <c:v>1.4485857</c:v>
                </c:pt>
                <c:pt idx="23">
                  <c:v>1.4619031</c:v>
                </c:pt>
                <c:pt idx="24">
                  <c:v>1.4911616999999999</c:v>
                </c:pt>
                <c:pt idx="25">
                  <c:v>1.5257392000000001</c:v>
                </c:pt>
                <c:pt idx="26">
                  <c:v>1.5368891</c:v>
                </c:pt>
                <c:pt idx="27">
                  <c:v>1.5166341999999999</c:v>
                </c:pt>
                <c:pt idx="28">
                  <c:v>1.4855046000000001</c:v>
                </c:pt>
                <c:pt idx="29">
                  <c:v>1.5158404000000001</c:v>
                </c:pt>
                <c:pt idx="30">
                  <c:v>1.4243021</c:v>
                </c:pt>
                <c:pt idx="31">
                  <c:v>1.4359709000000001</c:v>
                </c:pt>
                <c:pt idx="32">
                  <c:v>1.3569960000000001</c:v>
                </c:pt>
                <c:pt idx="33">
                  <c:v>1.3806461000000001</c:v>
                </c:pt>
                <c:pt idx="34">
                  <c:v>1.4345943000000001</c:v>
                </c:pt>
                <c:pt idx="35">
                  <c:v>1.5338794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C00A-4FDF-AA92-10BACE85895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98807840"/>
        <c:axId val="530411872"/>
      </c:lineChart>
      <c:catAx>
        <c:axId val="398807840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30411872"/>
        <c:crosses val="autoZero"/>
        <c:auto val="1"/>
        <c:lblAlgn val="ctr"/>
        <c:lblOffset val="100"/>
        <c:noMultiLvlLbl val="0"/>
      </c:catAx>
      <c:valAx>
        <c:axId val="530411872"/>
        <c:scaling>
          <c:orientation val="minMax"/>
          <c:max val="3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98807840"/>
        <c:crosses val="autoZero"/>
        <c:crossBetween val="between"/>
      </c:valAx>
      <c:valAx>
        <c:axId val="530413120"/>
        <c:scaling>
          <c:orientation val="maxMin"/>
          <c:max val="12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28099856"/>
        <c:crosses val="max"/>
        <c:crossBetween val="between"/>
      </c:valAx>
      <c:catAx>
        <c:axId val="528099856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530413120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7.0382550220438128E-2"/>
          <c:y val="0.82231624961470562"/>
          <c:w val="0.88260099840461115"/>
          <c:h val="0.149905941472618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/>
              <a:t>250814</a:t>
            </a:r>
            <a:r>
              <a:rPr lang="en-US" altLang="ko-KR" baseline="0"/>
              <a:t> 04</a:t>
            </a:r>
            <a:r>
              <a:rPr lang="ko-KR" altLang="en-US" baseline="0"/>
              <a:t>시 궁내교</a:t>
            </a:r>
            <a:endParaRPr lang="ko-KR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유역강우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'[1]20230711_09'!$A$38:$A$73</c:f>
              <c:numCache>
                <c:formatCode>General</c:formatCode>
                <c:ptCount val="3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</c:numCache>
            </c:numRef>
          </c:cat>
          <c:val>
            <c:numRef>
              <c:f>'20250814_04'!$K$38:$K$73</c:f>
              <c:numCache>
                <c:formatCode>General</c:formatCode>
                <c:ptCount val="36"/>
                <c:pt idx="0">
                  <c:v>0</c:v>
                </c:pt>
                <c:pt idx="1">
                  <c:v>0.48799999999999999</c:v>
                </c:pt>
                <c:pt idx="2">
                  <c:v>0.93899999999999995</c:v>
                </c:pt>
                <c:pt idx="3">
                  <c:v>0.54900000000000004</c:v>
                </c:pt>
                <c:pt idx="4">
                  <c:v>0</c:v>
                </c:pt>
                <c:pt idx="5">
                  <c:v>1.952</c:v>
                </c:pt>
                <c:pt idx="6">
                  <c:v>0.61</c:v>
                </c:pt>
                <c:pt idx="7">
                  <c:v>3.109</c:v>
                </c:pt>
                <c:pt idx="8">
                  <c:v>2.8170000000000002</c:v>
                </c:pt>
                <c:pt idx="9">
                  <c:v>4.9610000000000003</c:v>
                </c:pt>
                <c:pt idx="10">
                  <c:v>1.353</c:v>
                </c:pt>
                <c:pt idx="11">
                  <c:v>0.90200000000000002</c:v>
                </c:pt>
                <c:pt idx="12">
                  <c:v>1.671</c:v>
                </c:pt>
                <c:pt idx="13">
                  <c:v>0.45100000000000001</c:v>
                </c:pt>
                <c:pt idx="14">
                  <c:v>0.54900000000000004</c:v>
                </c:pt>
                <c:pt idx="15">
                  <c:v>0.45100000000000001</c:v>
                </c:pt>
                <c:pt idx="16">
                  <c:v>1.9390000000000001</c:v>
                </c:pt>
                <c:pt idx="17">
                  <c:v>1.4510000000000001</c:v>
                </c:pt>
                <c:pt idx="18">
                  <c:v>2.8650000000000002</c:v>
                </c:pt>
                <c:pt idx="19">
                  <c:v>6.0999999999999999E-2</c:v>
                </c:pt>
                <c:pt idx="20">
                  <c:v>0</c:v>
                </c:pt>
                <c:pt idx="21">
                  <c:v>0.54900000000000004</c:v>
                </c:pt>
                <c:pt idx="22">
                  <c:v>0.51200000000000001</c:v>
                </c:pt>
                <c:pt idx="23">
                  <c:v>2.6469999999999998</c:v>
                </c:pt>
                <c:pt idx="24">
                  <c:v>9.1479999999999997</c:v>
                </c:pt>
                <c:pt idx="25">
                  <c:v>6.5839999999999996</c:v>
                </c:pt>
                <c:pt idx="26">
                  <c:v>0.45100000000000001</c:v>
                </c:pt>
                <c:pt idx="27">
                  <c:v>0.45100000000000001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E96-4A8C-85FE-535AD47FD34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28099856"/>
        <c:axId val="530413120"/>
      </c:barChart>
      <c:lineChart>
        <c:grouping val="standard"/>
        <c:varyColors val="0"/>
        <c:ser>
          <c:idx val="3"/>
          <c:order val="1"/>
          <c:tx>
            <c:v>관측수위</c:v>
          </c:tx>
          <c:spPr>
            <a:ln w="2222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val>
            <c:numRef>
              <c:f>'20250814_04'!$H$38:$H$73</c:f>
              <c:numCache>
                <c:formatCode>General</c:formatCode>
                <c:ptCount val="36"/>
                <c:pt idx="0">
                  <c:v>0.91</c:v>
                </c:pt>
                <c:pt idx="1">
                  <c:v>0.91</c:v>
                </c:pt>
                <c:pt idx="2">
                  <c:v>0.92</c:v>
                </c:pt>
                <c:pt idx="3">
                  <c:v>0.93</c:v>
                </c:pt>
                <c:pt idx="4">
                  <c:v>0.94</c:v>
                </c:pt>
                <c:pt idx="5">
                  <c:v>0.95</c:v>
                </c:pt>
                <c:pt idx="6">
                  <c:v>0.96</c:v>
                </c:pt>
                <c:pt idx="7">
                  <c:v>0.97</c:v>
                </c:pt>
                <c:pt idx="8">
                  <c:v>1</c:v>
                </c:pt>
                <c:pt idx="9">
                  <c:v>1.1100000000000001</c:v>
                </c:pt>
                <c:pt idx="10">
                  <c:v>1.2</c:v>
                </c:pt>
                <c:pt idx="11">
                  <c:v>1.22</c:v>
                </c:pt>
                <c:pt idx="12">
                  <c:v>1.24</c:v>
                </c:pt>
                <c:pt idx="13">
                  <c:v>1.34</c:v>
                </c:pt>
                <c:pt idx="14">
                  <c:v>1.4</c:v>
                </c:pt>
                <c:pt idx="15">
                  <c:v>1.4</c:v>
                </c:pt>
                <c:pt idx="16">
                  <c:v>1.42</c:v>
                </c:pt>
                <c:pt idx="17">
                  <c:v>1.47</c:v>
                </c:pt>
                <c:pt idx="18">
                  <c:v>1.51</c:v>
                </c:pt>
                <c:pt idx="19">
                  <c:v>1.51</c:v>
                </c:pt>
                <c:pt idx="20">
                  <c:v>1.5</c:v>
                </c:pt>
                <c:pt idx="21">
                  <c:v>1.48</c:v>
                </c:pt>
                <c:pt idx="22">
                  <c:v>1.51</c:v>
                </c:pt>
                <c:pt idx="23">
                  <c:v>1.57</c:v>
                </c:pt>
                <c:pt idx="24">
                  <c:v>1.57</c:v>
                </c:pt>
                <c:pt idx="25">
                  <c:v>1.66</c:v>
                </c:pt>
                <c:pt idx="26">
                  <c:v>1.74</c:v>
                </c:pt>
                <c:pt idx="27">
                  <c:v>1.76</c:v>
                </c:pt>
                <c:pt idx="28">
                  <c:v>1.82</c:v>
                </c:pt>
                <c:pt idx="29">
                  <c:v>1.93</c:v>
                </c:pt>
                <c:pt idx="30">
                  <c:v>2.0099999999999998</c:v>
                </c:pt>
                <c:pt idx="31">
                  <c:v>2.0099999999999998</c:v>
                </c:pt>
                <c:pt idx="32">
                  <c:v>1.9</c:v>
                </c:pt>
                <c:pt idx="33">
                  <c:v>1.79</c:v>
                </c:pt>
                <c:pt idx="34">
                  <c:v>1.68</c:v>
                </c:pt>
                <c:pt idx="35">
                  <c:v>1.6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E96-4A8C-85FE-535AD47FD347}"/>
            </c:ext>
          </c:extLst>
        </c:ser>
        <c:ser>
          <c:idx val="1"/>
          <c:order val="2"/>
          <c:tx>
            <c:v>예측수위 (MAE)</c:v>
          </c:tx>
          <c:spPr>
            <a:ln w="2222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'20250814_04'!$L$38:$L$73</c:f>
              <c:numCache>
                <c:formatCode>0.00</c:formatCode>
                <c:ptCount val="36"/>
                <c:pt idx="0">
                  <c:v>0.90379876000000003</c:v>
                </c:pt>
                <c:pt idx="1">
                  <c:v>0.92138874999999998</c:v>
                </c:pt>
                <c:pt idx="2">
                  <c:v>0.92006825999999997</c:v>
                </c:pt>
                <c:pt idx="3">
                  <c:v>0.95234799999999997</c:v>
                </c:pt>
                <c:pt idx="4">
                  <c:v>0.98941789999999996</c:v>
                </c:pt>
                <c:pt idx="5">
                  <c:v>0.98911099999999996</c:v>
                </c:pt>
                <c:pt idx="6">
                  <c:v>0.99160515999999999</c:v>
                </c:pt>
                <c:pt idx="7">
                  <c:v>0.9807304</c:v>
                </c:pt>
                <c:pt idx="8">
                  <c:v>0.99765800000000004</c:v>
                </c:pt>
                <c:pt idx="9">
                  <c:v>1.0253627999999999</c:v>
                </c:pt>
                <c:pt idx="10">
                  <c:v>1.0759113</c:v>
                </c:pt>
                <c:pt idx="11">
                  <c:v>1.1222068999999999</c:v>
                </c:pt>
                <c:pt idx="12">
                  <c:v>1.2169943000000001</c:v>
                </c:pt>
                <c:pt idx="13">
                  <c:v>1.280958</c:v>
                </c:pt>
                <c:pt idx="14">
                  <c:v>1.4025335000000001</c:v>
                </c:pt>
                <c:pt idx="15">
                  <c:v>1.4892665</c:v>
                </c:pt>
                <c:pt idx="16">
                  <c:v>1.5029832000000001</c:v>
                </c:pt>
                <c:pt idx="17">
                  <c:v>1.524224</c:v>
                </c:pt>
                <c:pt idx="18">
                  <c:v>1.5142484</c:v>
                </c:pt>
                <c:pt idx="19">
                  <c:v>1.5082865999999999</c:v>
                </c:pt>
                <c:pt idx="20">
                  <c:v>1.4642329000000001</c:v>
                </c:pt>
                <c:pt idx="21">
                  <c:v>1.3957462</c:v>
                </c:pt>
                <c:pt idx="22">
                  <c:v>1.3695968000000001</c:v>
                </c:pt>
                <c:pt idx="23">
                  <c:v>1.3730023</c:v>
                </c:pt>
                <c:pt idx="24">
                  <c:v>1.3857231000000001</c:v>
                </c:pt>
                <c:pt idx="25">
                  <c:v>1.4294207000000001</c:v>
                </c:pt>
                <c:pt idx="26">
                  <c:v>1.4528551999999999</c:v>
                </c:pt>
                <c:pt idx="27">
                  <c:v>1.5100454999999999</c:v>
                </c:pt>
                <c:pt idx="28">
                  <c:v>1.5485294999999999</c:v>
                </c:pt>
                <c:pt idx="29">
                  <c:v>1.6001749000000001</c:v>
                </c:pt>
                <c:pt idx="30">
                  <c:v>1.6287126999999999</c:v>
                </c:pt>
                <c:pt idx="31">
                  <c:v>1.6232103</c:v>
                </c:pt>
                <c:pt idx="32">
                  <c:v>1.5947164</c:v>
                </c:pt>
                <c:pt idx="33">
                  <c:v>1.5321639</c:v>
                </c:pt>
                <c:pt idx="34">
                  <c:v>1.4796901</c:v>
                </c:pt>
                <c:pt idx="35">
                  <c:v>1.4595937999999999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E96-4A8C-85FE-535AD47FD347}"/>
            </c:ext>
          </c:extLst>
        </c:ser>
        <c:ser>
          <c:idx val="2"/>
          <c:order val="3"/>
          <c:tx>
            <c:v>예측수위 (MSE)</c:v>
          </c:tx>
          <c:spPr>
            <a:ln w="2222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val>
            <c:numRef>
              <c:f>'20250814_04'!$N$38:$N$73</c:f>
              <c:numCache>
                <c:formatCode>0.00</c:formatCode>
                <c:ptCount val="36"/>
                <c:pt idx="0">
                  <c:v>0.91493833000000002</c:v>
                </c:pt>
                <c:pt idx="1">
                  <c:v>0.92185859999999997</c:v>
                </c:pt>
                <c:pt idx="2">
                  <c:v>0.94879159999999996</c:v>
                </c:pt>
                <c:pt idx="3">
                  <c:v>0.92900190000000005</c:v>
                </c:pt>
                <c:pt idx="4">
                  <c:v>0.94702417000000005</c:v>
                </c:pt>
                <c:pt idx="5">
                  <c:v>0.94993439999999996</c:v>
                </c:pt>
                <c:pt idx="6">
                  <c:v>1.0017967000000001</c:v>
                </c:pt>
                <c:pt idx="7">
                  <c:v>1.0144656999999999</c:v>
                </c:pt>
                <c:pt idx="8">
                  <c:v>1.0428740000000001</c:v>
                </c:pt>
                <c:pt idx="9">
                  <c:v>1.0575334000000001</c:v>
                </c:pt>
                <c:pt idx="10">
                  <c:v>1.1116611999999999</c:v>
                </c:pt>
                <c:pt idx="11">
                  <c:v>1.1661049999999999</c:v>
                </c:pt>
                <c:pt idx="12">
                  <c:v>1.2458752</c:v>
                </c:pt>
                <c:pt idx="13">
                  <c:v>1.3043903999999999</c:v>
                </c:pt>
                <c:pt idx="14">
                  <c:v>1.3907398</c:v>
                </c:pt>
                <c:pt idx="15">
                  <c:v>1.4611253</c:v>
                </c:pt>
                <c:pt idx="16">
                  <c:v>1.5504469999999999</c:v>
                </c:pt>
                <c:pt idx="17">
                  <c:v>1.5831898</c:v>
                </c:pt>
                <c:pt idx="18">
                  <c:v>1.6029222999999999</c:v>
                </c:pt>
                <c:pt idx="19">
                  <c:v>1.5788321000000001</c:v>
                </c:pt>
                <c:pt idx="20">
                  <c:v>1.5857315999999999</c:v>
                </c:pt>
                <c:pt idx="21">
                  <c:v>1.6077678</c:v>
                </c:pt>
                <c:pt idx="22">
                  <c:v>1.5842347999999999</c:v>
                </c:pt>
                <c:pt idx="23">
                  <c:v>1.5716721</c:v>
                </c:pt>
                <c:pt idx="24">
                  <c:v>1.5717679</c:v>
                </c:pt>
                <c:pt idx="25">
                  <c:v>1.6205050999999999</c:v>
                </c:pt>
                <c:pt idx="26">
                  <c:v>1.6675401999999999</c:v>
                </c:pt>
                <c:pt idx="27">
                  <c:v>1.6934098</c:v>
                </c:pt>
                <c:pt idx="28">
                  <c:v>1.7541869000000001</c:v>
                </c:pt>
                <c:pt idx="29">
                  <c:v>1.8060187000000001</c:v>
                </c:pt>
                <c:pt idx="30">
                  <c:v>1.8509651</c:v>
                </c:pt>
                <c:pt idx="31">
                  <c:v>1.8562194000000001</c:v>
                </c:pt>
                <c:pt idx="32">
                  <c:v>1.8583449000000001</c:v>
                </c:pt>
                <c:pt idx="33">
                  <c:v>1.8406336000000001</c:v>
                </c:pt>
                <c:pt idx="34">
                  <c:v>1.7436187999999999</c:v>
                </c:pt>
                <c:pt idx="35">
                  <c:v>1.6561881000000001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6E96-4A8C-85FE-535AD47FD34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98807840"/>
        <c:axId val="530411872"/>
      </c:lineChart>
      <c:catAx>
        <c:axId val="398807840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30411872"/>
        <c:crosses val="autoZero"/>
        <c:auto val="1"/>
        <c:lblAlgn val="ctr"/>
        <c:lblOffset val="100"/>
        <c:noMultiLvlLbl val="0"/>
      </c:catAx>
      <c:valAx>
        <c:axId val="5304118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98807840"/>
        <c:crosses val="autoZero"/>
        <c:crossBetween val="between"/>
      </c:valAx>
      <c:valAx>
        <c:axId val="530413120"/>
        <c:scaling>
          <c:orientation val="maxMin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28099856"/>
        <c:crosses val="max"/>
        <c:crossBetween val="between"/>
      </c:valAx>
      <c:catAx>
        <c:axId val="528099856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530413120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7.0382550220438128E-2"/>
          <c:y val="0.82231624961470562"/>
          <c:w val="0.88260099840461115"/>
          <c:h val="0.149905941472618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/>
              <a:t>250814</a:t>
            </a:r>
            <a:r>
              <a:rPr lang="en-US" altLang="ko-KR" baseline="0"/>
              <a:t> 05</a:t>
            </a:r>
            <a:r>
              <a:rPr lang="ko-KR" altLang="en-US" baseline="0"/>
              <a:t>시 궁내교</a:t>
            </a:r>
            <a:endParaRPr lang="ko-KR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유역강우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'[1]20230711_09'!$A$38:$A$73</c:f>
              <c:numCache>
                <c:formatCode>General</c:formatCode>
                <c:ptCount val="3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</c:numCache>
            </c:numRef>
          </c:cat>
          <c:val>
            <c:numRef>
              <c:f>'20250814_05'!$K$38:$K$73</c:f>
              <c:numCache>
                <c:formatCode>General</c:formatCode>
                <c:ptCount val="36"/>
                <c:pt idx="0">
                  <c:v>0.61</c:v>
                </c:pt>
                <c:pt idx="1">
                  <c:v>3.109</c:v>
                </c:pt>
                <c:pt idx="2">
                  <c:v>2.8170000000000002</c:v>
                </c:pt>
                <c:pt idx="3">
                  <c:v>4.9610000000000003</c:v>
                </c:pt>
                <c:pt idx="4">
                  <c:v>1.353</c:v>
                </c:pt>
                <c:pt idx="5">
                  <c:v>0.90200000000000002</c:v>
                </c:pt>
                <c:pt idx="6">
                  <c:v>1.671</c:v>
                </c:pt>
                <c:pt idx="7">
                  <c:v>0.45100000000000001</c:v>
                </c:pt>
                <c:pt idx="8">
                  <c:v>0.54900000000000004</c:v>
                </c:pt>
                <c:pt idx="9">
                  <c:v>0.45100000000000001</c:v>
                </c:pt>
                <c:pt idx="10">
                  <c:v>1.9390000000000001</c:v>
                </c:pt>
                <c:pt idx="11">
                  <c:v>1.4510000000000001</c:v>
                </c:pt>
                <c:pt idx="12">
                  <c:v>2.8650000000000002</c:v>
                </c:pt>
                <c:pt idx="13">
                  <c:v>6.0999999999999999E-2</c:v>
                </c:pt>
                <c:pt idx="14">
                  <c:v>0</c:v>
                </c:pt>
                <c:pt idx="15">
                  <c:v>0.54900000000000004</c:v>
                </c:pt>
                <c:pt idx="16">
                  <c:v>0.51200000000000001</c:v>
                </c:pt>
                <c:pt idx="17">
                  <c:v>2.6469999999999998</c:v>
                </c:pt>
                <c:pt idx="18">
                  <c:v>9.1479999999999997</c:v>
                </c:pt>
                <c:pt idx="19">
                  <c:v>6.5839999999999996</c:v>
                </c:pt>
                <c:pt idx="20">
                  <c:v>0.45100000000000001</c:v>
                </c:pt>
                <c:pt idx="21">
                  <c:v>0.45100000000000001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6.0999999999999999E-2</c:v>
                </c:pt>
                <c:pt idx="33">
                  <c:v>0.93899999999999995</c:v>
                </c:pt>
                <c:pt idx="34">
                  <c:v>0</c:v>
                </c:pt>
                <c:pt idx="3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24B-4B58-ACD5-5B448E929B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28099856"/>
        <c:axId val="530413120"/>
      </c:barChart>
      <c:lineChart>
        <c:grouping val="standard"/>
        <c:varyColors val="0"/>
        <c:ser>
          <c:idx val="3"/>
          <c:order val="1"/>
          <c:tx>
            <c:v>관측수위</c:v>
          </c:tx>
          <c:spPr>
            <a:ln w="2222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val>
            <c:numRef>
              <c:f>'20250814_05'!$H$38:$H$73</c:f>
              <c:numCache>
                <c:formatCode>General</c:formatCode>
                <c:ptCount val="36"/>
                <c:pt idx="0">
                  <c:v>0.96</c:v>
                </c:pt>
                <c:pt idx="1">
                  <c:v>0.97</c:v>
                </c:pt>
                <c:pt idx="2">
                  <c:v>1</c:v>
                </c:pt>
                <c:pt idx="3">
                  <c:v>1.1100000000000001</c:v>
                </c:pt>
                <c:pt idx="4">
                  <c:v>1.2</c:v>
                </c:pt>
                <c:pt idx="5">
                  <c:v>1.22</c:v>
                </c:pt>
                <c:pt idx="6">
                  <c:v>1.24</c:v>
                </c:pt>
                <c:pt idx="7">
                  <c:v>1.34</c:v>
                </c:pt>
                <c:pt idx="8">
                  <c:v>1.4</c:v>
                </c:pt>
                <c:pt idx="9">
                  <c:v>1.4</c:v>
                </c:pt>
                <c:pt idx="10">
                  <c:v>1.42</c:v>
                </c:pt>
                <c:pt idx="11">
                  <c:v>1.47</c:v>
                </c:pt>
                <c:pt idx="12">
                  <c:v>1.51</c:v>
                </c:pt>
                <c:pt idx="13">
                  <c:v>1.51</c:v>
                </c:pt>
                <c:pt idx="14">
                  <c:v>1.5</c:v>
                </c:pt>
                <c:pt idx="15">
                  <c:v>1.48</c:v>
                </c:pt>
                <c:pt idx="16">
                  <c:v>1.51</c:v>
                </c:pt>
                <c:pt idx="17">
                  <c:v>1.57</c:v>
                </c:pt>
                <c:pt idx="18">
                  <c:v>1.57</c:v>
                </c:pt>
                <c:pt idx="19">
                  <c:v>1.66</c:v>
                </c:pt>
                <c:pt idx="20">
                  <c:v>1.74</c:v>
                </c:pt>
                <c:pt idx="21">
                  <c:v>1.76</c:v>
                </c:pt>
                <c:pt idx="22">
                  <c:v>1.82</c:v>
                </c:pt>
                <c:pt idx="23">
                  <c:v>1.93</c:v>
                </c:pt>
                <c:pt idx="24">
                  <c:v>2.0099999999999998</c:v>
                </c:pt>
                <c:pt idx="25">
                  <c:v>2.0099999999999998</c:v>
                </c:pt>
                <c:pt idx="26">
                  <c:v>1.9</c:v>
                </c:pt>
                <c:pt idx="27">
                  <c:v>1.79</c:v>
                </c:pt>
                <c:pt idx="28">
                  <c:v>1.68</c:v>
                </c:pt>
                <c:pt idx="29">
                  <c:v>1.6</c:v>
                </c:pt>
                <c:pt idx="30">
                  <c:v>1.55</c:v>
                </c:pt>
                <c:pt idx="31">
                  <c:v>1.53</c:v>
                </c:pt>
                <c:pt idx="32">
                  <c:v>1.5</c:v>
                </c:pt>
                <c:pt idx="33">
                  <c:v>1.46</c:v>
                </c:pt>
                <c:pt idx="34">
                  <c:v>1.43</c:v>
                </c:pt>
                <c:pt idx="35">
                  <c:v>1.4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24B-4B58-ACD5-5B448E929B57}"/>
            </c:ext>
          </c:extLst>
        </c:ser>
        <c:ser>
          <c:idx val="1"/>
          <c:order val="2"/>
          <c:tx>
            <c:v>예측수위 (MAE)</c:v>
          </c:tx>
          <c:spPr>
            <a:ln w="2222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'20250814_05'!$L$38:$L$73</c:f>
              <c:numCache>
                <c:formatCode>0.00</c:formatCode>
                <c:ptCount val="36"/>
                <c:pt idx="0">
                  <c:v>0.97827995000000001</c:v>
                </c:pt>
                <c:pt idx="1">
                  <c:v>0.97772669999999995</c:v>
                </c:pt>
                <c:pt idx="2">
                  <c:v>1.0130239000000001</c:v>
                </c:pt>
                <c:pt idx="3">
                  <c:v>1.0317546</c:v>
                </c:pt>
                <c:pt idx="4">
                  <c:v>1.0703285</c:v>
                </c:pt>
                <c:pt idx="5">
                  <c:v>1.1157699000000001</c:v>
                </c:pt>
                <c:pt idx="6">
                  <c:v>1.1976038</c:v>
                </c:pt>
                <c:pt idx="7">
                  <c:v>1.2980266</c:v>
                </c:pt>
                <c:pt idx="8">
                  <c:v>1.4752452</c:v>
                </c:pt>
                <c:pt idx="9">
                  <c:v>1.5839871999999999</c:v>
                </c:pt>
                <c:pt idx="10">
                  <c:v>1.5922626</c:v>
                </c:pt>
                <c:pt idx="11">
                  <c:v>1.5480803999999999</c:v>
                </c:pt>
                <c:pt idx="12">
                  <c:v>1.542143</c:v>
                </c:pt>
                <c:pt idx="13">
                  <c:v>1.5269547999999999</c:v>
                </c:pt>
                <c:pt idx="14">
                  <c:v>1.5080750000000001</c:v>
                </c:pt>
                <c:pt idx="15">
                  <c:v>1.4597266</c:v>
                </c:pt>
                <c:pt idx="16">
                  <c:v>1.4438261999999999</c:v>
                </c:pt>
                <c:pt idx="17">
                  <c:v>1.4205692999999999</c:v>
                </c:pt>
                <c:pt idx="18">
                  <c:v>1.4381200000000001</c:v>
                </c:pt>
                <c:pt idx="19">
                  <c:v>1.4843268000000001</c:v>
                </c:pt>
                <c:pt idx="20">
                  <c:v>1.5560514999999999</c:v>
                </c:pt>
                <c:pt idx="21">
                  <c:v>1.6033036000000001</c:v>
                </c:pt>
                <c:pt idx="22">
                  <c:v>1.6445921999999999</c:v>
                </c:pt>
                <c:pt idx="23">
                  <c:v>1.6892962</c:v>
                </c:pt>
                <c:pt idx="24">
                  <c:v>1.6398096</c:v>
                </c:pt>
                <c:pt idx="25">
                  <c:v>1.6137682</c:v>
                </c:pt>
                <c:pt idx="26">
                  <c:v>1.5234156999999999</c:v>
                </c:pt>
                <c:pt idx="27">
                  <c:v>1.4962783</c:v>
                </c:pt>
                <c:pt idx="28">
                  <c:v>1.505484</c:v>
                </c:pt>
                <c:pt idx="29">
                  <c:v>1.4988295</c:v>
                </c:pt>
                <c:pt idx="30">
                  <c:v>1.4386019000000001</c:v>
                </c:pt>
                <c:pt idx="31">
                  <c:v>1.4069841000000001</c:v>
                </c:pt>
                <c:pt idx="32">
                  <c:v>1.3760804</c:v>
                </c:pt>
                <c:pt idx="33">
                  <c:v>1.3620117</c:v>
                </c:pt>
                <c:pt idx="34">
                  <c:v>1.3247062000000001</c:v>
                </c:pt>
                <c:pt idx="35">
                  <c:v>1.3182839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24B-4B58-ACD5-5B448E929B57}"/>
            </c:ext>
          </c:extLst>
        </c:ser>
        <c:ser>
          <c:idx val="2"/>
          <c:order val="3"/>
          <c:tx>
            <c:v>예측수위 (MSE)</c:v>
          </c:tx>
          <c:spPr>
            <a:ln w="2222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val>
            <c:numRef>
              <c:f>'20250814_05'!$N$38:$N$73</c:f>
              <c:numCache>
                <c:formatCode>0.00</c:formatCode>
                <c:ptCount val="36"/>
                <c:pt idx="0">
                  <c:v>0.98050696000000004</c:v>
                </c:pt>
                <c:pt idx="1">
                  <c:v>1.0087514</c:v>
                </c:pt>
                <c:pt idx="2">
                  <c:v>1.0292680999999999</c:v>
                </c:pt>
                <c:pt idx="3">
                  <c:v>1.0293901000000001</c:v>
                </c:pt>
                <c:pt idx="4">
                  <c:v>1.1089331</c:v>
                </c:pt>
                <c:pt idx="5">
                  <c:v>1.1828928000000001</c:v>
                </c:pt>
                <c:pt idx="6">
                  <c:v>1.3117105</c:v>
                </c:pt>
                <c:pt idx="7">
                  <c:v>1.4037112</c:v>
                </c:pt>
                <c:pt idx="8">
                  <c:v>1.5285173999999999</c:v>
                </c:pt>
                <c:pt idx="9">
                  <c:v>1.5838743</c:v>
                </c:pt>
                <c:pt idx="10">
                  <c:v>1.5650305</c:v>
                </c:pt>
                <c:pt idx="11">
                  <c:v>1.5064468</c:v>
                </c:pt>
                <c:pt idx="12">
                  <c:v>1.4834669</c:v>
                </c:pt>
                <c:pt idx="13">
                  <c:v>1.4827185000000001</c:v>
                </c:pt>
                <c:pt idx="14">
                  <c:v>1.5039119000000001</c:v>
                </c:pt>
                <c:pt idx="15">
                  <c:v>1.4588056</c:v>
                </c:pt>
                <c:pt idx="16">
                  <c:v>1.4367483999999999</c:v>
                </c:pt>
                <c:pt idx="17">
                  <c:v>1.4188254</c:v>
                </c:pt>
                <c:pt idx="18">
                  <c:v>1.4585606</c:v>
                </c:pt>
                <c:pt idx="19">
                  <c:v>1.5208216999999999</c:v>
                </c:pt>
                <c:pt idx="20">
                  <c:v>1.6033192999999999</c:v>
                </c:pt>
                <c:pt idx="21">
                  <c:v>1.7292824</c:v>
                </c:pt>
                <c:pt idx="22">
                  <c:v>1.8048966</c:v>
                </c:pt>
                <c:pt idx="23">
                  <c:v>1.8331649999999999</c:v>
                </c:pt>
                <c:pt idx="24">
                  <c:v>1.803741</c:v>
                </c:pt>
                <c:pt idx="25">
                  <c:v>1.7588026999999999</c:v>
                </c:pt>
                <c:pt idx="26">
                  <c:v>1.6933905</c:v>
                </c:pt>
                <c:pt idx="27">
                  <c:v>1.6458071000000001</c:v>
                </c:pt>
                <c:pt idx="28">
                  <c:v>1.6499588000000001</c:v>
                </c:pt>
                <c:pt idx="29">
                  <c:v>1.6622186000000001</c:v>
                </c:pt>
                <c:pt idx="30">
                  <c:v>1.6178306</c:v>
                </c:pt>
                <c:pt idx="31">
                  <c:v>1.5719155</c:v>
                </c:pt>
                <c:pt idx="32">
                  <c:v>1.5378982999999999</c:v>
                </c:pt>
                <c:pt idx="33">
                  <c:v>1.5240214000000001</c:v>
                </c:pt>
                <c:pt idx="34">
                  <c:v>1.4260173</c:v>
                </c:pt>
                <c:pt idx="35">
                  <c:v>1.3936366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824B-4B58-ACD5-5B448E929B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98807840"/>
        <c:axId val="530411872"/>
      </c:lineChart>
      <c:catAx>
        <c:axId val="398807840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30411872"/>
        <c:crosses val="autoZero"/>
        <c:auto val="1"/>
        <c:lblAlgn val="ctr"/>
        <c:lblOffset val="100"/>
        <c:noMultiLvlLbl val="0"/>
      </c:catAx>
      <c:valAx>
        <c:axId val="5304118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98807840"/>
        <c:crosses val="autoZero"/>
        <c:crossBetween val="between"/>
      </c:valAx>
      <c:valAx>
        <c:axId val="530413120"/>
        <c:scaling>
          <c:orientation val="maxMin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28099856"/>
        <c:crosses val="max"/>
        <c:crossBetween val="between"/>
      </c:valAx>
      <c:catAx>
        <c:axId val="528099856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530413120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7.0382550220438128E-2"/>
          <c:y val="0.82231624961470562"/>
          <c:w val="0.88260099840461115"/>
          <c:h val="0.149905941472618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/>
              <a:t>250814</a:t>
            </a:r>
            <a:r>
              <a:rPr lang="en-US" altLang="ko-KR" baseline="0"/>
              <a:t> 06</a:t>
            </a:r>
            <a:r>
              <a:rPr lang="ko-KR" altLang="en-US" baseline="0"/>
              <a:t>시 궁내교</a:t>
            </a:r>
            <a:endParaRPr lang="ko-KR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유역강우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'[1]20230711_09'!$A$38:$A$73</c:f>
              <c:numCache>
                <c:formatCode>General</c:formatCode>
                <c:ptCount val="3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</c:numCache>
            </c:numRef>
          </c:cat>
          <c:val>
            <c:numRef>
              <c:f>'20250814_06'!$K$38:$K$73</c:f>
              <c:numCache>
                <c:formatCode>General</c:formatCode>
                <c:ptCount val="36"/>
                <c:pt idx="0">
                  <c:v>1.671</c:v>
                </c:pt>
                <c:pt idx="1">
                  <c:v>0.45100000000000001</c:v>
                </c:pt>
                <c:pt idx="2">
                  <c:v>0.54900000000000004</c:v>
                </c:pt>
                <c:pt idx="3">
                  <c:v>0.45100000000000001</c:v>
                </c:pt>
                <c:pt idx="4">
                  <c:v>1.9390000000000001</c:v>
                </c:pt>
                <c:pt idx="5">
                  <c:v>1.4510000000000001</c:v>
                </c:pt>
                <c:pt idx="6">
                  <c:v>2.8650000000000002</c:v>
                </c:pt>
                <c:pt idx="7">
                  <c:v>6.0999999999999999E-2</c:v>
                </c:pt>
                <c:pt idx="8">
                  <c:v>0</c:v>
                </c:pt>
                <c:pt idx="9">
                  <c:v>0.54900000000000004</c:v>
                </c:pt>
                <c:pt idx="10">
                  <c:v>0.51200000000000001</c:v>
                </c:pt>
                <c:pt idx="11">
                  <c:v>2.6469999999999998</c:v>
                </c:pt>
                <c:pt idx="12">
                  <c:v>9.1479999999999997</c:v>
                </c:pt>
                <c:pt idx="13">
                  <c:v>6.5839999999999996</c:v>
                </c:pt>
                <c:pt idx="14">
                  <c:v>0.45100000000000001</c:v>
                </c:pt>
                <c:pt idx="15">
                  <c:v>0.45100000000000001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6.0999999999999999E-2</c:v>
                </c:pt>
                <c:pt idx="27">
                  <c:v>0.93899999999999995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2C5-48E0-9F85-9051B397532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28099856"/>
        <c:axId val="530413120"/>
      </c:barChart>
      <c:lineChart>
        <c:grouping val="standard"/>
        <c:varyColors val="0"/>
        <c:ser>
          <c:idx val="3"/>
          <c:order val="1"/>
          <c:tx>
            <c:v>관측수위</c:v>
          </c:tx>
          <c:spPr>
            <a:ln w="2222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val>
            <c:numRef>
              <c:f>'20250814_06'!$H$38:$H$73</c:f>
              <c:numCache>
                <c:formatCode>General</c:formatCode>
                <c:ptCount val="36"/>
                <c:pt idx="0">
                  <c:v>1.24</c:v>
                </c:pt>
                <c:pt idx="1">
                  <c:v>1.34</c:v>
                </c:pt>
                <c:pt idx="2">
                  <c:v>1.4</c:v>
                </c:pt>
                <c:pt idx="3">
                  <c:v>1.4</c:v>
                </c:pt>
                <c:pt idx="4">
                  <c:v>1.42</c:v>
                </c:pt>
                <c:pt idx="5">
                  <c:v>1.47</c:v>
                </c:pt>
                <c:pt idx="6">
                  <c:v>1.51</c:v>
                </c:pt>
                <c:pt idx="7">
                  <c:v>1.51</c:v>
                </c:pt>
                <c:pt idx="8">
                  <c:v>1.5</c:v>
                </c:pt>
                <c:pt idx="9">
                  <c:v>1.48</c:v>
                </c:pt>
                <c:pt idx="10">
                  <c:v>1.51</c:v>
                </c:pt>
                <c:pt idx="11">
                  <c:v>1.57</c:v>
                </c:pt>
                <c:pt idx="12">
                  <c:v>1.57</c:v>
                </c:pt>
                <c:pt idx="13">
                  <c:v>1.66</c:v>
                </c:pt>
                <c:pt idx="14">
                  <c:v>1.74</c:v>
                </c:pt>
                <c:pt idx="15">
                  <c:v>1.76</c:v>
                </c:pt>
                <c:pt idx="16">
                  <c:v>1.82</c:v>
                </c:pt>
                <c:pt idx="17">
                  <c:v>1.93</c:v>
                </c:pt>
                <c:pt idx="18">
                  <c:v>2.0099999999999998</c:v>
                </c:pt>
                <c:pt idx="19">
                  <c:v>2.0099999999999998</c:v>
                </c:pt>
                <c:pt idx="20">
                  <c:v>1.9</c:v>
                </c:pt>
                <c:pt idx="21">
                  <c:v>1.79</c:v>
                </c:pt>
                <c:pt idx="22">
                  <c:v>1.68</c:v>
                </c:pt>
                <c:pt idx="23">
                  <c:v>1.6</c:v>
                </c:pt>
                <c:pt idx="24">
                  <c:v>1.55</c:v>
                </c:pt>
                <c:pt idx="25">
                  <c:v>1.53</c:v>
                </c:pt>
                <c:pt idx="26">
                  <c:v>1.5</c:v>
                </c:pt>
                <c:pt idx="27">
                  <c:v>1.46</c:v>
                </c:pt>
                <c:pt idx="28">
                  <c:v>1.43</c:v>
                </c:pt>
                <c:pt idx="29">
                  <c:v>1.4</c:v>
                </c:pt>
                <c:pt idx="30">
                  <c:v>1.38</c:v>
                </c:pt>
                <c:pt idx="31">
                  <c:v>1.36</c:v>
                </c:pt>
                <c:pt idx="32">
                  <c:v>1.35</c:v>
                </c:pt>
                <c:pt idx="33">
                  <c:v>1.33</c:v>
                </c:pt>
                <c:pt idx="34">
                  <c:v>1.31</c:v>
                </c:pt>
                <c:pt idx="35">
                  <c:v>1.29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2C5-48E0-9F85-9051B3975322}"/>
            </c:ext>
          </c:extLst>
        </c:ser>
        <c:ser>
          <c:idx val="1"/>
          <c:order val="2"/>
          <c:tx>
            <c:v>예측수위 (MAE)</c:v>
          </c:tx>
          <c:spPr>
            <a:ln w="2222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'20250814_06'!$L$38:$L$73</c:f>
              <c:numCache>
                <c:formatCode>0.00</c:formatCode>
                <c:ptCount val="36"/>
                <c:pt idx="0">
                  <c:v>1.2300243</c:v>
                </c:pt>
                <c:pt idx="1">
                  <c:v>1.3947792000000001</c:v>
                </c:pt>
                <c:pt idx="2">
                  <c:v>1.5186976000000001</c:v>
                </c:pt>
                <c:pt idx="3">
                  <c:v>1.5510071999999999</c:v>
                </c:pt>
                <c:pt idx="4">
                  <c:v>1.6737831999999999</c:v>
                </c:pt>
                <c:pt idx="5">
                  <c:v>1.6599237</c:v>
                </c:pt>
                <c:pt idx="6">
                  <c:v>1.6570383</c:v>
                </c:pt>
                <c:pt idx="7">
                  <c:v>1.6329273</c:v>
                </c:pt>
                <c:pt idx="8">
                  <c:v>1.6962904000000001</c:v>
                </c:pt>
                <c:pt idx="9">
                  <c:v>1.6326365</c:v>
                </c:pt>
                <c:pt idx="10">
                  <c:v>1.5733288999999999</c:v>
                </c:pt>
                <c:pt idx="11">
                  <c:v>1.5386504999999999</c:v>
                </c:pt>
                <c:pt idx="12">
                  <c:v>1.5150645</c:v>
                </c:pt>
                <c:pt idx="13">
                  <c:v>1.5036718</c:v>
                </c:pt>
                <c:pt idx="14">
                  <c:v>1.5159416999999999</c:v>
                </c:pt>
                <c:pt idx="15">
                  <c:v>1.5584714</c:v>
                </c:pt>
                <c:pt idx="16">
                  <c:v>1.5874760000000001</c:v>
                </c:pt>
                <c:pt idx="17">
                  <c:v>1.6187266</c:v>
                </c:pt>
                <c:pt idx="18">
                  <c:v>1.6608704000000001</c:v>
                </c:pt>
                <c:pt idx="19">
                  <c:v>1.6946459</c:v>
                </c:pt>
                <c:pt idx="20">
                  <c:v>1.7326177</c:v>
                </c:pt>
                <c:pt idx="21">
                  <c:v>1.6805782</c:v>
                </c:pt>
                <c:pt idx="22">
                  <c:v>1.6572608</c:v>
                </c:pt>
                <c:pt idx="23">
                  <c:v>1.6210358</c:v>
                </c:pt>
                <c:pt idx="24">
                  <c:v>1.5289105000000001</c:v>
                </c:pt>
                <c:pt idx="25">
                  <c:v>1.5198172000000001</c:v>
                </c:pt>
                <c:pt idx="26">
                  <c:v>1.4739529</c:v>
                </c:pt>
                <c:pt idx="27">
                  <c:v>1.4735819999999999</c:v>
                </c:pt>
                <c:pt idx="28">
                  <c:v>1.4481331</c:v>
                </c:pt>
                <c:pt idx="29">
                  <c:v>1.4329966999999999</c:v>
                </c:pt>
                <c:pt idx="30">
                  <c:v>1.403316</c:v>
                </c:pt>
                <c:pt idx="31">
                  <c:v>1.4083194000000001</c:v>
                </c:pt>
                <c:pt idx="32">
                  <c:v>1.3664978999999999</c:v>
                </c:pt>
                <c:pt idx="33">
                  <c:v>1.3319072000000001</c:v>
                </c:pt>
                <c:pt idx="34">
                  <c:v>1.3096085</c:v>
                </c:pt>
                <c:pt idx="35">
                  <c:v>1.3052933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2C5-48E0-9F85-9051B3975322}"/>
            </c:ext>
          </c:extLst>
        </c:ser>
        <c:ser>
          <c:idx val="2"/>
          <c:order val="3"/>
          <c:tx>
            <c:v>예측수위 (MSE)</c:v>
          </c:tx>
          <c:spPr>
            <a:ln w="2222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val>
            <c:numRef>
              <c:f>'20250814_06'!$N$38:$N$73</c:f>
              <c:numCache>
                <c:formatCode>0.00</c:formatCode>
                <c:ptCount val="36"/>
                <c:pt idx="0">
                  <c:v>1.355631</c:v>
                </c:pt>
                <c:pt idx="1">
                  <c:v>1.4849554</c:v>
                </c:pt>
                <c:pt idx="2">
                  <c:v>1.6237166999999999</c:v>
                </c:pt>
                <c:pt idx="3">
                  <c:v>1.6284428</c:v>
                </c:pt>
                <c:pt idx="4">
                  <c:v>1.7260019</c:v>
                </c:pt>
                <c:pt idx="5">
                  <c:v>1.7014320999999999</c:v>
                </c:pt>
                <c:pt idx="6">
                  <c:v>1.6739712</c:v>
                </c:pt>
                <c:pt idx="7">
                  <c:v>1.5794573000000001</c:v>
                </c:pt>
                <c:pt idx="8">
                  <c:v>1.6316113000000001</c:v>
                </c:pt>
                <c:pt idx="9">
                  <c:v>1.5197210000000001</c:v>
                </c:pt>
                <c:pt idx="10">
                  <c:v>1.5033677000000001</c:v>
                </c:pt>
                <c:pt idx="11">
                  <c:v>1.4590394</c:v>
                </c:pt>
                <c:pt idx="12">
                  <c:v>1.4510512</c:v>
                </c:pt>
                <c:pt idx="13">
                  <c:v>1.460661</c:v>
                </c:pt>
                <c:pt idx="14">
                  <c:v>1.4882858000000001</c:v>
                </c:pt>
                <c:pt idx="15">
                  <c:v>1.5616926</c:v>
                </c:pt>
                <c:pt idx="16">
                  <c:v>1.6383513000000001</c:v>
                </c:pt>
                <c:pt idx="17">
                  <c:v>1.7120138</c:v>
                </c:pt>
                <c:pt idx="18">
                  <c:v>1.7552388000000001</c:v>
                </c:pt>
                <c:pt idx="19">
                  <c:v>1.7463584000000001</c:v>
                </c:pt>
                <c:pt idx="20">
                  <c:v>1.7086581000000001</c:v>
                </c:pt>
                <c:pt idx="21">
                  <c:v>1.7093394</c:v>
                </c:pt>
                <c:pt idx="22">
                  <c:v>1.7075008</c:v>
                </c:pt>
                <c:pt idx="23">
                  <c:v>1.6948905000000001</c:v>
                </c:pt>
                <c:pt idx="24">
                  <c:v>1.6516663</c:v>
                </c:pt>
                <c:pt idx="25">
                  <c:v>1.6437716</c:v>
                </c:pt>
                <c:pt idx="26">
                  <c:v>1.595143</c:v>
                </c:pt>
                <c:pt idx="27">
                  <c:v>1.5820304000000001</c:v>
                </c:pt>
                <c:pt idx="28">
                  <c:v>1.5459118000000001</c:v>
                </c:pt>
                <c:pt idx="29">
                  <c:v>1.5602267999999999</c:v>
                </c:pt>
                <c:pt idx="30">
                  <c:v>1.497349</c:v>
                </c:pt>
                <c:pt idx="31">
                  <c:v>1.4791977000000001</c:v>
                </c:pt>
                <c:pt idx="32">
                  <c:v>1.4183494000000001</c:v>
                </c:pt>
                <c:pt idx="33">
                  <c:v>1.3982855000000001</c:v>
                </c:pt>
                <c:pt idx="34">
                  <c:v>1.3183617999999999</c:v>
                </c:pt>
                <c:pt idx="35">
                  <c:v>1.3144944999999999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02C5-48E0-9F85-9051B397532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98807840"/>
        <c:axId val="530411872"/>
      </c:lineChart>
      <c:catAx>
        <c:axId val="398807840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30411872"/>
        <c:crosses val="autoZero"/>
        <c:auto val="1"/>
        <c:lblAlgn val="ctr"/>
        <c:lblOffset val="100"/>
        <c:noMultiLvlLbl val="0"/>
      </c:catAx>
      <c:valAx>
        <c:axId val="5304118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98807840"/>
        <c:crosses val="autoZero"/>
        <c:crossBetween val="between"/>
      </c:valAx>
      <c:valAx>
        <c:axId val="530413120"/>
        <c:scaling>
          <c:orientation val="maxMin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28099856"/>
        <c:crosses val="max"/>
        <c:crossBetween val="between"/>
      </c:valAx>
      <c:catAx>
        <c:axId val="528099856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530413120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7.0382550220438128E-2"/>
          <c:y val="0.82231624961470562"/>
          <c:w val="0.88260099840461115"/>
          <c:h val="0.149905941472618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/>
              <a:t>250814</a:t>
            </a:r>
            <a:r>
              <a:rPr lang="en-US" altLang="ko-KR" baseline="0"/>
              <a:t> 07</a:t>
            </a:r>
            <a:r>
              <a:rPr lang="ko-KR" altLang="en-US" baseline="0"/>
              <a:t>시 궁내교</a:t>
            </a:r>
            <a:endParaRPr lang="ko-KR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유역강우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'[1]20230711_09'!$A$38:$A$73</c:f>
              <c:numCache>
                <c:formatCode>General</c:formatCode>
                <c:ptCount val="3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</c:numCache>
            </c:numRef>
          </c:cat>
          <c:val>
            <c:numRef>
              <c:f>'20250814_07'!$K$38:$K$73</c:f>
              <c:numCache>
                <c:formatCode>General</c:formatCode>
                <c:ptCount val="36"/>
                <c:pt idx="0">
                  <c:v>2.8650000000000002</c:v>
                </c:pt>
                <c:pt idx="1">
                  <c:v>6.0999999999999999E-2</c:v>
                </c:pt>
                <c:pt idx="2">
                  <c:v>0</c:v>
                </c:pt>
                <c:pt idx="3">
                  <c:v>0.54900000000000004</c:v>
                </c:pt>
                <c:pt idx="4">
                  <c:v>0.51200000000000001</c:v>
                </c:pt>
                <c:pt idx="5">
                  <c:v>2.6469999999999998</c:v>
                </c:pt>
                <c:pt idx="6">
                  <c:v>9.1479999999999997</c:v>
                </c:pt>
                <c:pt idx="7">
                  <c:v>6.5839999999999996</c:v>
                </c:pt>
                <c:pt idx="8">
                  <c:v>0.45100000000000001</c:v>
                </c:pt>
                <c:pt idx="9">
                  <c:v>0.45100000000000001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6.0999999999999999E-2</c:v>
                </c:pt>
                <c:pt idx="21">
                  <c:v>0.93899999999999995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F11-428B-B42A-2454A9A35D5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28099856"/>
        <c:axId val="530413120"/>
      </c:barChart>
      <c:lineChart>
        <c:grouping val="standard"/>
        <c:varyColors val="0"/>
        <c:ser>
          <c:idx val="3"/>
          <c:order val="1"/>
          <c:tx>
            <c:v>관측수위</c:v>
          </c:tx>
          <c:spPr>
            <a:ln w="2222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val>
            <c:numRef>
              <c:f>'20250814_07'!$H$38:$H$73</c:f>
              <c:numCache>
                <c:formatCode>General</c:formatCode>
                <c:ptCount val="36"/>
                <c:pt idx="0">
                  <c:v>1.51</c:v>
                </c:pt>
                <c:pt idx="1">
                  <c:v>1.51</c:v>
                </c:pt>
                <c:pt idx="2">
                  <c:v>1.5</c:v>
                </c:pt>
                <c:pt idx="3">
                  <c:v>1.48</c:v>
                </c:pt>
                <c:pt idx="4">
                  <c:v>1.51</c:v>
                </c:pt>
                <c:pt idx="5">
                  <c:v>1.57</c:v>
                </c:pt>
                <c:pt idx="6">
                  <c:v>1.57</c:v>
                </c:pt>
                <c:pt idx="7">
                  <c:v>1.66</c:v>
                </c:pt>
                <c:pt idx="8">
                  <c:v>1.74</c:v>
                </c:pt>
                <c:pt idx="9">
                  <c:v>1.76</c:v>
                </c:pt>
                <c:pt idx="10">
                  <c:v>1.82</c:v>
                </c:pt>
                <c:pt idx="11">
                  <c:v>1.93</c:v>
                </c:pt>
                <c:pt idx="12">
                  <c:v>2.0099999999999998</c:v>
                </c:pt>
                <c:pt idx="13">
                  <c:v>2.0099999999999998</c:v>
                </c:pt>
                <c:pt idx="14">
                  <c:v>1.9</c:v>
                </c:pt>
                <c:pt idx="15">
                  <c:v>1.79</c:v>
                </c:pt>
                <c:pt idx="16">
                  <c:v>1.68</c:v>
                </c:pt>
                <c:pt idx="17">
                  <c:v>1.6</c:v>
                </c:pt>
                <c:pt idx="18">
                  <c:v>1.55</c:v>
                </c:pt>
                <c:pt idx="19">
                  <c:v>1.53</c:v>
                </c:pt>
                <c:pt idx="20">
                  <c:v>1.5</c:v>
                </c:pt>
                <c:pt idx="21">
                  <c:v>1.46</c:v>
                </c:pt>
                <c:pt idx="22">
                  <c:v>1.43</c:v>
                </c:pt>
                <c:pt idx="23">
                  <c:v>1.4</c:v>
                </c:pt>
                <c:pt idx="24">
                  <c:v>1.38</c:v>
                </c:pt>
                <c:pt idx="25">
                  <c:v>1.36</c:v>
                </c:pt>
                <c:pt idx="26">
                  <c:v>1.35</c:v>
                </c:pt>
                <c:pt idx="27">
                  <c:v>1.33</c:v>
                </c:pt>
                <c:pt idx="28">
                  <c:v>1.31</c:v>
                </c:pt>
                <c:pt idx="29">
                  <c:v>1.29</c:v>
                </c:pt>
                <c:pt idx="30">
                  <c:v>1.27</c:v>
                </c:pt>
                <c:pt idx="31">
                  <c:v>1.25</c:v>
                </c:pt>
                <c:pt idx="32">
                  <c:v>1.24</c:v>
                </c:pt>
                <c:pt idx="33">
                  <c:v>1.22</c:v>
                </c:pt>
                <c:pt idx="34">
                  <c:v>1.21</c:v>
                </c:pt>
                <c:pt idx="35">
                  <c:v>1.2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F11-428B-B42A-2454A9A35D53}"/>
            </c:ext>
          </c:extLst>
        </c:ser>
        <c:ser>
          <c:idx val="1"/>
          <c:order val="2"/>
          <c:tx>
            <c:v>예측수위 (MAE)</c:v>
          </c:tx>
          <c:spPr>
            <a:ln w="2222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'20250814_07'!$L$38:$L$73</c:f>
              <c:numCache>
                <c:formatCode>0.00</c:formatCode>
                <c:ptCount val="36"/>
                <c:pt idx="0">
                  <c:v>1.4660454000000001</c:v>
                </c:pt>
                <c:pt idx="1">
                  <c:v>1.4559647</c:v>
                </c:pt>
                <c:pt idx="2">
                  <c:v>1.4366999</c:v>
                </c:pt>
                <c:pt idx="3">
                  <c:v>1.4567412</c:v>
                </c:pt>
                <c:pt idx="4">
                  <c:v>1.4528866</c:v>
                </c:pt>
                <c:pt idx="5">
                  <c:v>1.4372776</c:v>
                </c:pt>
                <c:pt idx="6">
                  <c:v>1.4466397</c:v>
                </c:pt>
                <c:pt idx="7">
                  <c:v>1.4388086</c:v>
                </c:pt>
                <c:pt idx="8">
                  <c:v>1.4770743</c:v>
                </c:pt>
                <c:pt idx="9">
                  <c:v>1.5449926</c:v>
                </c:pt>
                <c:pt idx="10">
                  <c:v>1.6173599999999999</c:v>
                </c:pt>
                <c:pt idx="11">
                  <c:v>1.6681744000000001</c:v>
                </c:pt>
                <c:pt idx="12">
                  <c:v>1.705408</c:v>
                </c:pt>
                <c:pt idx="13">
                  <c:v>1.6771692</c:v>
                </c:pt>
                <c:pt idx="14">
                  <c:v>1.6819987000000001</c:v>
                </c:pt>
                <c:pt idx="15">
                  <c:v>1.6778427</c:v>
                </c:pt>
                <c:pt idx="16">
                  <c:v>1.6204434999999999</c:v>
                </c:pt>
                <c:pt idx="17">
                  <c:v>1.5387865000000001</c:v>
                </c:pt>
                <c:pt idx="18">
                  <c:v>1.4402615999999999</c:v>
                </c:pt>
                <c:pt idx="19">
                  <c:v>1.4455948000000001</c:v>
                </c:pt>
                <c:pt idx="20">
                  <c:v>1.4440774999999999</c:v>
                </c:pt>
                <c:pt idx="21">
                  <c:v>1.3786668</c:v>
                </c:pt>
                <c:pt idx="22">
                  <c:v>1.3449826</c:v>
                </c:pt>
                <c:pt idx="23">
                  <c:v>1.3218365999999999</c:v>
                </c:pt>
                <c:pt idx="24">
                  <c:v>1.2925974</c:v>
                </c:pt>
                <c:pt idx="25">
                  <c:v>1.3170462000000001</c:v>
                </c:pt>
                <c:pt idx="26">
                  <c:v>1.3089036000000001</c:v>
                </c:pt>
                <c:pt idx="27">
                  <c:v>1.2947328</c:v>
                </c:pt>
                <c:pt idx="28">
                  <c:v>1.2837296</c:v>
                </c:pt>
                <c:pt idx="29">
                  <c:v>1.2724569999999999</c:v>
                </c:pt>
                <c:pt idx="30">
                  <c:v>1.2378066000000001</c:v>
                </c:pt>
                <c:pt idx="31">
                  <c:v>1.2365822</c:v>
                </c:pt>
                <c:pt idx="32">
                  <c:v>1.189198</c:v>
                </c:pt>
                <c:pt idx="33">
                  <c:v>1.1816552</c:v>
                </c:pt>
                <c:pt idx="34">
                  <c:v>1.1596143000000001</c:v>
                </c:pt>
                <c:pt idx="35">
                  <c:v>1.1430587000000001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F11-428B-B42A-2454A9A35D53}"/>
            </c:ext>
          </c:extLst>
        </c:ser>
        <c:ser>
          <c:idx val="2"/>
          <c:order val="3"/>
          <c:tx>
            <c:v>예측수위 (MSE)</c:v>
          </c:tx>
          <c:spPr>
            <a:ln w="2222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val>
            <c:numRef>
              <c:f>'20250814_07'!$N$38:$N$73</c:f>
              <c:numCache>
                <c:formatCode>0.00</c:formatCode>
                <c:ptCount val="36"/>
                <c:pt idx="0">
                  <c:v>1.4818115000000001</c:v>
                </c:pt>
                <c:pt idx="1">
                  <c:v>1.4895653</c:v>
                </c:pt>
                <c:pt idx="2">
                  <c:v>1.5083746</c:v>
                </c:pt>
                <c:pt idx="3">
                  <c:v>1.4670779</c:v>
                </c:pt>
                <c:pt idx="4">
                  <c:v>1.4854164000000001</c:v>
                </c:pt>
                <c:pt idx="5">
                  <c:v>1.4872744</c:v>
                </c:pt>
                <c:pt idx="6">
                  <c:v>1.5294749999999999</c:v>
                </c:pt>
                <c:pt idx="7">
                  <c:v>1.5338508</c:v>
                </c:pt>
                <c:pt idx="8">
                  <c:v>1.55585</c:v>
                </c:pt>
                <c:pt idx="9">
                  <c:v>1.5507042</c:v>
                </c:pt>
                <c:pt idx="10">
                  <c:v>1.6099436</c:v>
                </c:pt>
                <c:pt idx="11">
                  <c:v>1.6734176999999999</c:v>
                </c:pt>
                <c:pt idx="12">
                  <c:v>1.7657474</c:v>
                </c:pt>
                <c:pt idx="13">
                  <c:v>1.8037833999999999</c:v>
                </c:pt>
                <c:pt idx="14">
                  <c:v>1.8116186999999999</c:v>
                </c:pt>
                <c:pt idx="15">
                  <c:v>1.8206701999999999</c:v>
                </c:pt>
                <c:pt idx="16">
                  <c:v>1.782473</c:v>
                </c:pt>
                <c:pt idx="17">
                  <c:v>1.7425641999999999</c:v>
                </c:pt>
                <c:pt idx="18">
                  <c:v>1.6698884000000001</c:v>
                </c:pt>
                <c:pt idx="19">
                  <c:v>1.5985509</c:v>
                </c:pt>
                <c:pt idx="20">
                  <c:v>1.5133079</c:v>
                </c:pt>
                <c:pt idx="21">
                  <c:v>1.4895251</c:v>
                </c:pt>
                <c:pt idx="22">
                  <c:v>1.5026611999999999</c:v>
                </c:pt>
                <c:pt idx="23">
                  <c:v>1.5150110999999999</c:v>
                </c:pt>
                <c:pt idx="24">
                  <c:v>1.5111464999999999</c:v>
                </c:pt>
                <c:pt idx="25">
                  <c:v>1.5154719999999999</c:v>
                </c:pt>
                <c:pt idx="26">
                  <c:v>1.4996772</c:v>
                </c:pt>
                <c:pt idx="27">
                  <c:v>1.4797275999999999</c:v>
                </c:pt>
                <c:pt idx="28">
                  <c:v>1.4377171</c:v>
                </c:pt>
                <c:pt idx="29">
                  <c:v>1.3963144999999999</c:v>
                </c:pt>
                <c:pt idx="30">
                  <c:v>1.3040171</c:v>
                </c:pt>
                <c:pt idx="31">
                  <c:v>1.2712669999999999</c:v>
                </c:pt>
                <c:pt idx="32">
                  <c:v>1.2438776</c:v>
                </c:pt>
                <c:pt idx="33">
                  <c:v>1.2287425999999999</c:v>
                </c:pt>
                <c:pt idx="34">
                  <c:v>1.1289286999999999</c:v>
                </c:pt>
                <c:pt idx="35">
                  <c:v>1.0924895999999999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F11-428B-B42A-2454A9A35D5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98807840"/>
        <c:axId val="530411872"/>
      </c:lineChart>
      <c:catAx>
        <c:axId val="398807840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30411872"/>
        <c:crosses val="autoZero"/>
        <c:auto val="1"/>
        <c:lblAlgn val="ctr"/>
        <c:lblOffset val="100"/>
        <c:noMultiLvlLbl val="0"/>
      </c:catAx>
      <c:valAx>
        <c:axId val="5304118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98807840"/>
        <c:crosses val="autoZero"/>
        <c:crossBetween val="between"/>
      </c:valAx>
      <c:valAx>
        <c:axId val="530413120"/>
        <c:scaling>
          <c:orientation val="maxMin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28099856"/>
        <c:crosses val="max"/>
        <c:crossBetween val="between"/>
      </c:valAx>
      <c:catAx>
        <c:axId val="528099856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530413120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7.0382550220438128E-2"/>
          <c:y val="0.82231624961470562"/>
          <c:w val="0.88260099840461115"/>
          <c:h val="0.149905941472618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/>
              <a:t>20230711</a:t>
            </a:r>
            <a:r>
              <a:rPr lang="en-US" altLang="ko-KR" baseline="0"/>
              <a:t> 07</a:t>
            </a:r>
            <a:r>
              <a:rPr lang="ko-KR" altLang="en-US" baseline="0"/>
              <a:t>시 대곡교</a:t>
            </a:r>
            <a:endParaRPr lang="ko-KR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유역강우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val>
            <c:numRef>
              <c:f>'20230711_07'!$L$38:$L$73</c:f>
              <c:numCache>
                <c:formatCode>General</c:formatCode>
                <c:ptCount val="36"/>
                <c:pt idx="0">
                  <c:v>0.125</c:v>
                </c:pt>
                <c:pt idx="1">
                  <c:v>1.097</c:v>
                </c:pt>
                <c:pt idx="2">
                  <c:v>1.5009999999999999</c:v>
                </c:pt>
                <c:pt idx="3">
                  <c:v>2.222</c:v>
                </c:pt>
                <c:pt idx="4">
                  <c:v>1.865</c:v>
                </c:pt>
                <c:pt idx="5">
                  <c:v>3.2210000000000001</c:v>
                </c:pt>
                <c:pt idx="6">
                  <c:v>3.851</c:v>
                </c:pt>
                <c:pt idx="7">
                  <c:v>7.6269999999999998</c:v>
                </c:pt>
                <c:pt idx="8">
                  <c:v>10.635</c:v>
                </c:pt>
                <c:pt idx="9">
                  <c:v>5.367</c:v>
                </c:pt>
                <c:pt idx="10">
                  <c:v>1.1919999999999999</c:v>
                </c:pt>
                <c:pt idx="11">
                  <c:v>1.0680000000000001</c:v>
                </c:pt>
                <c:pt idx="12">
                  <c:v>1.6E-2</c:v>
                </c:pt>
                <c:pt idx="13">
                  <c:v>0</c:v>
                </c:pt>
                <c:pt idx="14">
                  <c:v>0</c:v>
                </c:pt>
                <c:pt idx="15">
                  <c:v>0.251</c:v>
                </c:pt>
                <c:pt idx="16">
                  <c:v>0</c:v>
                </c:pt>
                <c:pt idx="17">
                  <c:v>0.71099999999999997</c:v>
                </c:pt>
                <c:pt idx="18">
                  <c:v>0.251</c:v>
                </c:pt>
                <c:pt idx="19">
                  <c:v>1.6E-2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EA1-4CFF-BA7A-9341EE3FF8E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28099856"/>
        <c:axId val="530413120"/>
      </c:barChart>
      <c:lineChart>
        <c:grouping val="standard"/>
        <c:varyColors val="0"/>
        <c:ser>
          <c:idx val="3"/>
          <c:order val="1"/>
          <c:tx>
            <c:v>관측수위</c:v>
          </c:tx>
          <c:spPr>
            <a:ln w="2222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val>
            <c:numRef>
              <c:f>'20230711_07'!$J$38:$J$73</c:f>
              <c:numCache>
                <c:formatCode>General</c:formatCode>
                <c:ptCount val="36"/>
                <c:pt idx="0">
                  <c:v>2.0699999999999998</c:v>
                </c:pt>
                <c:pt idx="1">
                  <c:v>2.0699999999999998</c:v>
                </c:pt>
                <c:pt idx="2">
                  <c:v>2.0699999999999998</c:v>
                </c:pt>
                <c:pt idx="3">
                  <c:v>2.0699999999999998</c:v>
                </c:pt>
                <c:pt idx="4">
                  <c:v>2.06</c:v>
                </c:pt>
                <c:pt idx="5">
                  <c:v>2.06</c:v>
                </c:pt>
                <c:pt idx="6">
                  <c:v>2.06</c:v>
                </c:pt>
                <c:pt idx="7">
                  <c:v>2.0699999999999998</c:v>
                </c:pt>
                <c:pt idx="8">
                  <c:v>2.08</c:v>
                </c:pt>
                <c:pt idx="9">
                  <c:v>2.11</c:v>
                </c:pt>
                <c:pt idx="10">
                  <c:v>2.16</c:v>
                </c:pt>
                <c:pt idx="11">
                  <c:v>3.15</c:v>
                </c:pt>
                <c:pt idx="12">
                  <c:v>4</c:v>
                </c:pt>
                <c:pt idx="13">
                  <c:v>4.3899999999999997</c:v>
                </c:pt>
                <c:pt idx="14">
                  <c:v>4.58</c:v>
                </c:pt>
                <c:pt idx="15">
                  <c:v>4.67</c:v>
                </c:pt>
                <c:pt idx="16">
                  <c:v>4.7</c:v>
                </c:pt>
                <c:pt idx="17">
                  <c:v>4.6900000000000004</c:v>
                </c:pt>
                <c:pt idx="18">
                  <c:v>4.62</c:v>
                </c:pt>
                <c:pt idx="19">
                  <c:v>4.49</c:v>
                </c:pt>
                <c:pt idx="20">
                  <c:v>4.3099999999999996</c:v>
                </c:pt>
                <c:pt idx="21">
                  <c:v>4.0999999999999996</c:v>
                </c:pt>
                <c:pt idx="22">
                  <c:v>3.88</c:v>
                </c:pt>
                <c:pt idx="23">
                  <c:v>3.64</c:v>
                </c:pt>
                <c:pt idx="24">
                  <c:v>3.42</c:v>
                </c:pt>
                <c:pt idx="25">
                  <c:v>3.23</c:v>
                </c:pt>
                <c:pt idx="26">
                  <c:v>3.07</c:v>
                </c:pt>
                <c:pt idx="27">
                  <c:v>2.94</c:v>
                </c:pt>
                <c:pt idx="28">
                  <c:v>2.85</c:v>
                </c:pt>
                <c:pt idx="29">
                  <c:v>2.8</c:v>
                </c:pt>
                <c:pt idx="30">
                  <c:v>2.77</c:v>
                </c:pt>
                <c:pt idx="31">
                  <c:v>2.74</c:v>
                </c:pt>
                <c:pt idx="32">
                  <c:v>2.7</c:v>
                </c:pt>
                <c:pt idx="33">
                  <c:v>2.66</c:v>
                </c:pt>
                <c:pt idx="34">
                  <c:v>2.61</c:v>
                </c:pt>
                <c:pt idx="35">
                  <c:v>2.4900000000000002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EA1-4CFF-BA7A-9341EE3FF8E4}"/>
            </c:ext>
          </c:extLst>
        </c:ser>
        <c:ser>
          <c:idx val="1"/>
          <c:order val="2"/>
          <c:tx>
            <c:v>예측수위 (MAE)</c:v>
          </c:tx>
          <c:spPr>
            <a:ln w="2222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'20230711_07'!$O$38:$O$73</c:f>
              <c:numCache>
                <c:formatCode>0.00</c:formatCode>
                <c:ptCount val="36"/>
                <c:pt idx="0">
                  <c:v>2.0624902000000001</c:v>
                </c:pt>
                <c:pt idx="1">
                  <c:v>2.0393243000000001</c:v>
                </c:pt>
                <c:pt idx="2">
                  <c:v>2.0308063000000001</c:v>
                </c:pt>
                <c:pt idx="3">
                  <c:v>1.9833246</c:v>
                </c:pt>
                <c:pt idx="4">
                  <c:v>1.992051</c:v>
                </c:pt>
                <c:pt idx="5">
                  <c:v>1.9979764</c:v>
                </c:pt>
                <c:pt idx="6">
                  <c:v>1.9226904</c:v>
                </c:pt>
                <c:pt idx="7">
                  <c:v>1.9044098</c:v>
                </c:pt>
                <c:pt idx="8">
                  <c:v>1.9763328</c:v>
                </c:pt>
                <c:pt idx="9">
                  <c:v>2.1822026000000001</c:v>
                </c:pt>
                <c:pt idx="10">
                  <c:v>2.439851</c:v>
                </c:pt>
                <c:pt idx="11">
                  <c:v>2.9654644000000001</c:v>
                </c:pt>
                <c:pt idx="12">
                  <c:v>3.1862377999999998</c:v>
                </c:pt>
                <c:pt idx="13">
                  <c:v>3.4015057</c:v>
                </c:pt>
                <c:pt idx="14">
                  <c:v>3.6944568000000002</c:v>
                </c:pt>
                <c:pt idx="15">
                  <c:v>3.8226969999999998</c:v>
                </c:pt>
                <c:pt idx="16">
                  <c:v>4.029655</c:v>
                </c:pt>
                <c:pt idx="17">
                  <c:v>4.4086847000000002</c:v>
                </c:pt>
                <c:pt idx="18">
                  <c:v>4.3346539999999996</c:v>
                </c:pt>
                <c:pt idx="19">
                  <c:v>4.4708259999999997</c:v>
                </c:pt>
                <c:pt idx="20">
                  <c:v>4.4194136000000004</c:v>
                </c:pt>
                <c:pt idx="21">
                  <c:v>4.5123610000000003</c:v>
                </c:pt>
                <c:pt idx="22">
                  <c:v>4.4216629999999997</c:v>
                </c:pt>
                <c:pt idx="23">
                  <c:v>4.2674839999999996</c:v>
                </c:pt>
                <c:pt idx="24">
                  <c:v>4.162687</c:v>
                </c:pt>
                <c:pt idx="25">
                  <c:v>4.0104094000000003</c:v>
                </c:pt>
                <c:pt idx="26">
                  <c:v>3.8369087999999998</c:v>
                </c:pt>
                <c:pt idx="27">
                  <c:v>3.7250698</c:v>
                </c:pt>
                <c:pt idx="28">
                  <c:v>3.6069550000000001</c:v>
                </c:pt>
                <c:pt idx="29">
                  <c:v>3.4720998000000001</c:v>
                </c:pt>
                <c:pt idx="30">
                  <c:v>3.3407173000000001</c:v>
                </c:pt>
                <c:pt idx="31">
                  <c:v>3.2280213999999998</c:v>
                </c:pt>
                <c:pt idx="32">
                  <c:v>3.1296233999999998</c:v>
                </c:pt>
                <c:pt idx="33">
                  <c:v>3.0412810000000001</c:v>
                </c:pt>
                <c:pt idx="34">
                  <c:v>2.954631</c:v>
                </c:pt>
                <c:pt idx="35">
                  <c:v>2.880188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EA1-4CFF-BA7A-9341EE3FF8E4}"/>
            </c:ext>
          </c:extLst>
        </c:ser>
        <c:ser>
          <c:idx val="2"/>
          <c:order val="3"/>
          <c:tx>
            <c:v>예측수위 (MSE)</c:v>
          </c:tx>
          <c:spPr>
            <a:ln w="2222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val>
            <c:numRef>
              <c:f>'20230711_07'!$Q$38:$Q$73</c:f>
              <c:numCache>
                <c:formatCode>0.00</c:formatCode>
                <c:ptCount val="36"/>
                <c:pt idx="0">
                  <c:v>2.1310012</c:v>
                </c:pt>
                <c:pt idx="1">
                  <c:v>2.0661782999999998</c:v>
                </c:pt>
                <c:pt idx="2">
                  <c:v>2.0681932000000001</c:v>
                </c:pt>
                <c:pt idx="3">
                  <c:v>2.0010648</c:v>
                </c:pt>
                <c:pt idx="4">
                  <c:v>2.0645533</c:v>
                </c:pt>
                <c:pt idx="5">
                  <c:v>2.0178408999999999</c:v>
                </c:pt>
                <c:pt idx="6">
                  <c:v>1.909435</c:v>
                </c:pt>
                <c:pt idx="7">
                  <c:v>1.8905448</c:v>
                </c:pt>
                <c:pt idx="8">
                  <c:v>1.8825757999999999</c:v>
                </c:pt>
                <c:pt idx="9">
                  <c:v>2.1618149999999998</c:v>
                </c:pt>
                <c:pt idx="10">
                  <c:v>2.6335323000000002</c:v>
                </c:pt>
                <c:pt idx="11">
                  <c:v>3.1842632000000002</c:v>
                </c:pt>
                <c:pt idx="12">
                  <c:v>3.5585928</c:v>
                </c:pt>
                <c:pt idx="13">
                  <c:v>3.9123923999999999</c:v>
                </c:pt>
                <c:pt idx="14">
                  <c:v>4.1239876999999998</c:v>
                </c:pt>
                <c:pt idx="15">
                  <c:v>4.2778063</c:v>
                </c:pt>
                <c:pt idx="16">
                  <c:v>4.421665</c:v>
                </c:pt>
                <c:pt idx="17">
                  <c:v>4.4596049999999998</c:v>
                </c:pt>
                <c:pt idx="18">
                  <c:v>4.5696890000000003</c:v>
                </c:pt>
                <c:pt idx="19">
                  <c:v>4.5421357000000002</c:v>
                </c:pt>
                <c:pt idx="20">
                  <c:v>4.4473919999999998</c:v>
                </c:pt>
                <c:pt idx="21">
                  <c:v>4.3505539999999998</c:v>
                </c:pt>
                <c:pt idx="22">
                  <c:v>4.2427653999999997</c:v>
                </c:pt>
                <c:pt idx="23">
                  <c:v>4.1291814000000002</c:v>
                </c:pt>
                <c:pt idx="24">
                  <c:v>3.9809263000000001</c:v>
                </c:pt>
                <c:pt idx="25">
                  <c:v>3.8115649999999999</c:v>
                </c:pt>
                <c:pt idx="26">
                  <c:v>3.6452016999999999</c:v>
                </c:pt>
                <c:pt idx="27">
                  <c:v>3.5260346</c:v>
                </c:pt>
                <c:pt idx="28">
                  <c:v>3.4066722</c:v>
                </c:pt>
                <c:pt idx="29">
                  <c:v>3.2995827000000002</c:v>
                </c:pt>
                <c:pt idx="30">
                  <c:v>3.1898493999999999</c:v>
                </c:pt>
                <c:pt idx="31">
                  <c:v>3.0769074000000001</c:v>
                </c:pt>
                <c:pt idx="32">
                  <c:v>2.9904829999999998</c:v>
                </c:pt>
                <c:pt idx="33">
                  <c:v>2.8865181999999998</c:v>
                </c:pt>
                <c:pt idx="34">
                  <c:v>2.8277836000000001</c:v>
                </c:pt>
                <c:pt idx="35">
                  <c:v>2.7992262999999999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5EA1-4CFF-BA7A-9341EE3FF8E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98807840"/>
        <c:axId val="530411872"/>
      </c:lineChart>
      <c:catAx>
        <c:axId val="398807840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30411872"/>
        <c:crosses val="autoZero"/>
        <c:auto val="1"/>
        <c:lblAlgn val="ctr"/>
        <c:lblOffset val="100"/>
        <c:noMultiLvlLbl val="0"/>
      </c:catAx>
      <c:valAx>
        <c:axId val="530411872"/>
        <c:scaling>
          <c:orientation val="minMax"/>
          <c:max val="6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98807840"/>
        <c:crosses val="autoZero"/>
        <c:crossBetween val="between"/>
      </c:valAx>
      <c:valAx>
        <c:axId val="530413120"/>
        <c:scaling>
          <c:orientation val="maxMin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28099856"/>
        <c:crosses val="max"/>
        <c:crossBetween val="between"/>
      </c:valAx>
      <c:catAx>
        <c:axId val="528099856"/>
        <c:scaling>
          <c:orientation val="minMax"/>
        </c:scaling>
        <c:delete val="1"/>
        <c:axPos val="t"/>
        <c:majorTickMark val="out"/>
        <c:minorTickMark val="none"/>
        <c:tickLblPos val="nextTo"/>
        <c:crossAx val="530413120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7.0382550220438128E-2"/>
          <c:y val="0.82231624961470562"/>
          <c:w val="0.88260099840461115"/>
          <c:h val="0.149905941472618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/>
              <a:t>20230711</a:t>
            </a:r>
            <a:r>
              <a:rPr lang="en-US" altLang="ko-KR" baseline="0"/>
              <a:t> 08</a:t>
            </a:r>
            <a:r>
              <a:rPr lang="ko-KR" altLang="en-US" baseline="0"/>
              <a:t>시 대곡교</a:t>
            </a:r>
            <a:endParaRPr lang="ko-KR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유역강우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val>
            <c:numRef>
              <c:f>'20230711_08'!$L$38:$L$73</c:f>
              <c:numCache>
                <c:formatCode>General</c:formatCode>
                <c:ptCount val="36"/>
                <c:pt idx="0">
                  <c:v>3.851</c:v>
                </c:pt>
                <c:pt idx="1">
                  <c:v>7.6269999999999998</c:v>
                </c:pt>
                <c:pt idx="2">
                  <c:v>10.635</c:v>
                </c:pt>
                <c:pt idx="3">
                  <c:v>5.367</c:v>
                </c:pt>
                <c:pt idx="4">
                  <c:v>1.1919999999999999</c:v>
                </c:pt>
                <c:pt idx="5">
                  <c:v>1.0680000000000001</c:v>
                </c:pt>
                <c:pt idx="6">
                  <c:v>1.6E-2</c:v>
                </c:pt>
                <c:pt idx="7">
                  <c:v>0</c:v>
                </c:pt>
                <c:pt idx="8">
                  <c:v>0</c:v>
                </c:pt>
                <c:pt idx="9">
                  <c:v>0.251</c:v>
                </c:pt>
                <c:pt idx="10">
                  <c:v>0</c:v>
                </c:pt>
                <c:pt idx="11">
                  <c:v>0.71099999999999997</c:v>
                </c:pt>
                <c:pt idx="12">
                  <c:v>0.251</c:v>
                </c:pt>
                <c:pt idx="13">
                  <c:v>1.6E-2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0.28599999999999998</c:v>
                </c:pt>
                <c:pt idx="31">
                  <c:v>0.79</c:v>
                </c:pt>
                <c:pt idx="32">
                  <c:v>1.7529999999999999</c:v>
                </c:pt>
                <c:pt idx="33">
                  <c:v>1.538</c:v>
                </c:pt>
                <c:pt idx="34">
                  <c:v>1.0740000000000001</c:v>
                </c:pt>
                <c:pt idx="35">
                  <c:v>3.2559999999999998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800-4D7D-B538-DDBBA7320AA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28099856"/>
        <c:axId val="530413120"/>
      </c:barChart>
      <c:lineChart>
        <c:grouping val="standard"/>
        <c:varyColors val="0"/>
        <c:ser>
          <c:idx val="3"/>
          <c:order val="1"/>
          <c:tx>
            <c:v>관측수위</c:v>
          </c:tx>
          <c:spPr>
            <a:ln w="2222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val>
            <c:numRef>
              <c:f>'20230711_08'!$J$38:$J$73</c:f>
              <c:numCache>
                <c:formatCode>General</c:formatCode>
                <c:ptCount val="36"/>
                <c:pt idx="0">
                  <c:v>2.06</c:v>
                </c:pt>
                <c:pt idx="1">
                  <c:v>2.0699999999999998</c:v>
                </c:pt>
                <c:pt idx="2">
                  <c:v>2.08</c:v>
                </c:pt>
                <c:pt idx="3">
                  <c:v>2.11</c:v>
                </c:pt>
                <c:pt idx="4">
                  <c:v>2.16</c:v>
                </c:pt>
                <c:pt idx="5">
                  <c:v>3.15</c:v>
                </c:pt>
                <c:pt idx="6">
                  <c:v>4</c:v>
                </c:pt>
                <c:pt idx="7">
                  <c:v>4.3899999999999997</c:v>
                </c:pt>
                <c:pt idx="8">
                  <c:v>4.58</c:v>
                </c:pt>
                <c:pt idx="9">
                  <c:v>4.67</c:v>
                </c:pt>
                <c:pt idx="10">
                  <c:v>4.7</c:v>
                </c:pt>
                <c:pt idx="11">
                  <c:v>4.6900000000000004</c:v>
                </c:pt>
                <c:pt idx="12">
                  <c:v>4.62</c:v>
                </c:pt>
                <c:pt idx="13">
                  <c:v>4.49</c:v>
                </c:pt>
                <c:pt idx="14">
                  <c:v>4.3099999999999996</c:v>
                </c:pt>
                <c:pt idx="15">
                  <c:v>4.0999999999999996</c:v>
                </c:pt>
                <c:pt idx="16">
                  <c:v>3.88</c:v>
                </c:pt>
                <c:pt idx="17">
                  <c:v>3.64</c:v>
                </c:pt>
                <c:pt idx="18">
                  <c:v>3.42</c:v>
                </c:pt>
                <c:pt idx="19">
                  <c:v>3.23</c:v>
                </c:pt>
                <c:pt idx="20">
                  <c:v>3.07</c:v>
                </c:pt>
                <c:pt idx="21">
                  <c:v>2.94</c:v>
                </c:pt>
                <c:pt idx="22">
                  <c:v>2.85</c:v>
                </c:pt>
                <c:pt idx="23">
                  <c:v>2.8</c:v>
                </c:pt>
                <c:pt idx="24">
                  <c:v>2.77</c:v>
                </c:pt>
                <c:pt idx="25">
                  <c:v>2.74</c:v>
                </c:pt>
                <c:pt idx="26">
                  <c:v>2.7</c:v>
                </c:pt>
                <c:pt idx="27">
                  <c:v>2.66</c:v>
                </c:pt>
                <c:pt idx="28">
                  <c:v>2.61</c:v>
                </c:pt>
                <c:pt idx="29">
                  <c:v>2.4900000000000002</c:v>
                </c:pt>
                <c:pt idx="30">
                  <c:v>2.4900000000000002</c:v>
                </c:pt>
                <c:pt idx="31">
                  <c:v>2.5</c:v>
                </c:pt>
                <c:pt idx="32">
                  <c:v>2.4700000000000002</c:v>
                </c:pt>
                <c:pt idx="33">
                  <c:v>2.44</c:v>
                </c:pt>
                <c:pt idx="34">
                  <c:v>2.4300000000000002</c:v>
                </c:pt>
                <c:pt idx="35">
                  <c:v>2.42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800-4D7D-B538-DDBBA7320AA3}"/>
            </c:ext>
          </c:extLst>
        </c:ser>
        <c:ser>
          <c:idx val="1"/>
          <c:order val="2"/>
          <c:tx>
            <c:v>예측수위 (MAE)</c:v>
          </c:tx>
          <c:spPr>
            <a:ln w="2222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'20230711_08'!$O$38:$O$73</c:f>
              <c:numCache>
                <c:formatCode>0.00</c:formatCode>
                <c:ptCount val="36"/>
                <c:pt idx="0">
                  <c:v>1.8248743000000001</c:v>
                </c:pt>
                <c:pt idx="1">
                  <c:v>1.9395072</c:v>
                </c:pt>
                <c:pt idx="2">
                  <c:v>2.088311</c:v>
                </c:pt>
                <c:pt idx="3">
                  <c:v>2.1331718</c:v>
                </c:pt>
                <c:pt idx="4">
                  <c:v>2.4071862999999998</c:v>
                </c:pt>
                <c:pt idx="5">
                  <c:v>2.8355676999999999</c:v>
                </c:pt>
                <c:pt idx="6">
                  <c:v>3.1887333</c:v>
                </c:pt>
                <c:pt idx="7">
                  <c:v>3.5984970000000001</c:v>
                </c:pt>
                <c:pt idx="8">
                  <c:v>3.9937076999999999</c:v>
                </c:pt>
                <c:pt idx="9">
                  <c:v>4.3603319999999997</c:v>
                </c:pt>
                <c:pt idx="10">
                  <c:v>4.4522199999999996</c:v>
                </c:pt>
                <c:pt idx="11">
                  <c:v>4.4688654000000003</c:v>
                </c:pt>
                <c:pt idx="12">
                  <c:v>4.5389020000000002</c:v>
                </c:pt>
                <c:pt idx="13">
                  <c:v>4.4532594999999997</c:v>
                </c:pt>
                <c:pt idx="14">
                  <c:v>4.3186850000000003</c:v>
                </c:pt>
                <c:pt idx="15">
                  <c:v>4.2710689999999998</c:v>
                </c:pt>
                <c:pt idx="16">
                  <c:v>4.1702003000000003</c:v>
                </c:pt>
                <c:pt idx="17">
                  <c:v>4.0039689999999997</c:v>
                </c:pt>
                <c:pt idx="18">
                  <c:v>3.8716357000000001</c:v>
                </c:pt>
                <c:pt idx="19">
                  <c:v>3.7555656000000002</c:v>
                </c:pt>
                <c:pt idx="20">
                  <c:v>3.6247733000000002</c:v>
                </c:pt>
                <c:pt idx="21">
                  <c:v>3.4627835999999999</c:v>
                </c:pt>
                <c:pt idx="22">
                  <c:v>3.3335539999999999</c:v>
                </c:pt>
                <c:pt idx="23">
                  <c:v>3.2281222000000001</c:v>
                </c:pt>
                <c:pt idx="24">
                  <c:v>3.1148386000000001</c:v>
                </c:pt>
                <c:pt idx="25">
                  <c:v>3.0244746</c:v>
                </c:pt>
                <c:pt idx="26">
                  <c:v>2.9936569</c:v>
                </c:pt>
                <c:pt idx="27">
                  <c:v>2.8822765000000001</c:v>
                </c:pt>
                <c:pt idx="28">
                  <c:v>2.8480829999999999</c:v>
                </c:pt>
                <c:pt idx="29">
                  <c:v>2.8175754999999998</c:v>
                </c:pt>
                <c:pt idx="30">
                  <c:v>2.7169826000000001</c:v>
                </c:pt>
                <c:pt idx="31">
                  <c:v>2.6920445000000002</c:v>
                </c:pt>
                <c:pt idx="32">
                  <c:v>2.6285813</c:v>
                </c:pt>
                <c:pt idx="33">
                  <c:v>2.5979695</c:v>
                </c:pt>
                <c:pt idx="34">
                  <c:v>2.5968741999999998</c:v>
                </c:pt>
                <c:pt idx="35">
                  <c:v>2.597407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800-4D7D-B538-DDBBA7320AA3}"/>
            </c:ext>
          </c:extLst>
        </c:ser>
        <c:ser>
          <c:idx val="2"/>
          <c:order val="3"/>
          <c:tx>
            <c:v>예측수위 (MSE)</c:v>
          </c:tx>
          <c:spPr>
            <a:ln w="2222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val>
            <c:numRef>
              <c:f>'20230711_08'!$Q$38:$Q$73</c:f>
              <c:numCache>
                <c:formatCode>0.00</c:formatCode>
                <c:ptCount val="36"/>
                <c:pt idx="0">
                  <c:v>2.0185360000000001</c:v>
                </c:pt>
                <c:pt idx="1">
                  <c:v>2.0025797000000001</c:v>
                </c:pt>
                <c:pt idx="2">
                  <c:v>2.1015079999999999</c:v>
                </c:pt>
                <c:pt idx="3">
                  <c:v>2.0519340000000001</c:v>
                </c:pt>
                <c:pt idx="4">
                  <c:v>2.371947</c:v>
                </c:pt>
                <c:pt idx="5">
                  <c:v>2.8770220000000002</c:v>
                </c:pt>
                <c:pt idx="6">
                  <c:v>3.6280477000000002</c:v>
                </c:pt>
                <c:pt idx="7">
                  <c:v>3.9284968</c:v>
                </c:pt>
                <c:pt idx="8">
                  <c:v>4.1207094</c:v>
                </c:pt>
                <c:pt idx="9">
                  <c:v>4.2579416999999999</c:v>
                </c:pt>
                <c:pt idx="10">
                  <c:v>4.2704673</c:v>
                </c:pt>
                <c:pt idx="11">
                  <c:v>4.0274013999999996</c:v>
                </c:pt>
                <c:pt idx="12">
                  <c:v>4.1594094999999998</c:v>
                </c:pt>
                <c:pt idx="13">
                  <c:v>4.1390180000000001</c:v>
                </c:pt>
                <c:pt idx="14">
                  <c:v>4.0804204999999998</c:v>
                </c:pt>
                <c:pt idx="15">
                  <c:v>4.0089736</c:v>
                </c:pt>
                <c:pt idx="16">
                  <c:v>3.9270915999999998</c:v>
                </c:pt>
                <c:pt idx="17">
                  <c:v>3.7397459</c:v>
                </c:pt>
                <c:pt idx="18">
                  <c:v>3.5871906</c:v>
                </c:pt>
                <c:pt idx="19">
                  <c:v>3.5490827999999999</c:v>
                </c:pt>
                <c:pt idx="20">
                  <c:v>3.3702931</c:v>
                </c:pt>
                <c:pt idx="21">
                  <c:v>3.1960266000000002</c:v>
                </c:pt>
                <c:pt idx="22">
                  <c:v>3.1530092000000001</c:v>
                </c:pt>
                <c:pt idx="23">
                  <c:v>3.1824314999999999</c:v>
                </c:pt>
                <c:pt idx="24">
                  <c:v>3.1126692</c:v>
                </c:pt>
                <c:pt idx="25">
                  <c:v>3.0825024000000001</c:v>
                </c:pt>
                <c:pt idx="26">
                  <c:v>3.058764</c:v>
                </c:pt>
                <c:pt idx="27">
                  <c:v>2.9933909999999999</c:v>
                </c:pt>
                <c:pt idx="28">
                  <c:v>2.9485139999999999</c:v>
                </c:pt>
                <c:pt idx="29">
                  <c:v>2.8780272</c:v>
                </c:pt>
                <c:pt idx="30">
                  <c:v>2.8114994000000002</c:v>
                </c:pt>
                <c:pt idx="31">
                  <c:v>2.7677079999999998</c:v>
                </c:pt>
                <c:pt idx="32">
                  <c:v>2.7382143000000001</c:v>
                </c:pt>
                <c:pt idx="33">
                  <c:v>2.7425888</c:v>
                </c:pt>
                <c:pt idx="34">
                  <c:v>2.7010790999999998</c:v>
                </c:pt>
                <c:pt idx="35">
                  <c:v>2.6995865999999999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9800-4D7D-B538-DDBBA7320AA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98807840"/>
        <c:axId val="530411872"/>
      </c:lineChart>
      <c:catAx>
        <c:axId val="398807840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30411872"/>
        <c:crosses val="autoZero"/>
        <c:auto val="1"/>
        <c:lblAlgn val="ctr"/>
        <c:lblOffset val="100"/>
        <c:noMultiLvlLbl val="0"/>
      </c:catAx>
      <c:valAx>
        <c:axId val="530411872"/>
        <c:scaling>
          <c:orientation val="minMax"/>
          <c:max val="6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98807840"/>
        <c:crosses val="autoZero"/>
        <c:crossBetween val="between"/>
      </c:valAx>
      <c:valAx>
        <c:axId val="530413120"/>
        <c:scaling>
          <c:orientation val="maxMin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28099856"/>
        <c:crosses val="max"/>
        <c:crossBetween val="between"/>
      </c:valAx>
      <c:catAx>
        <c:axId val="528099856"/>
        <c:scaling>
          <c:orientation val="minMax"/>
        </c:scaling>
        <c:delete val="1"/>
        <c:axPos val="t"/>
        <c:majorTickMark val="out"/>
        <c:minorTickMark val="none"/>
        <c:tickLblPos val="nextTo"/>
        <c:crossAx val="530413120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7.0382550220438128E-2"/>
          <c:y val="0.82231624961470562"/>
          <c:w val="0.88260099840461115"/>
          <c:h val="0.149905941472618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/>
              <a:t>20230711</a:t>
            </a:r>
            <a:r>
              <a:rPr lang="en-US" altLang="ko-KR" baseline="0"/>
              <a:t> 09</a:t>
            </a:r>
            <a:r>
              <a:rPr lang="ko-KR" altLang="en-US" baseline="0"/>
              <a:t>시 대곡교</a:t>
            </a:r>
            <a:endParaRPr lang="ko-KR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유역강우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'20230711_09'!$A$38:$A$73</c:f>
              <c:numCache>
                <c:formatCode>m/d/yyyy\ h:mm</c:formatCode>
                <c:ptCount val="36"/>
                <c:pt idx="0">
                  <c:v>45118.409722222219</c:v>
                </c:pt>
                <c:pt idx="1">
                  <c:v>45118.416666666664</c:v>
                </c:pt>
                <c:pt idx="2">
                  <c:v>45118.423611111109</c:v>
                </c:pt>
                <c:pt idx="3">
                  <c:v>45118.430555555555</c:v>
                </c:pt>
                <c:pt idx="4">
                  <c:v>45118.4375</c:v>
                </c:pt>
                <c:pt idx="5">
                  <c:v>45118.444444444445</c:v>
                </c:pt>
                <c:pt idx="6">
                  <c:v>45118.451388888891</c:v>
                </c:pt>
                <c:pt idx="7">
                  <c:v>45118.458333333336</c:v>
                </c:pt>
                <c:pt idx="8">
                  <c:v>45118.465277777781</c:v>
                </c:pt>
                <c:pt idx="9">
                  <c:v>45118.472222222219</c:v>
                </c:pt>
                <c:pt idx="10">
                  <c:v>45118.479166666664</c:v>
                </c:pt>
                <c:pt idx="11">
                  <c:v>45118.486111111109</c:v>
                </c:pt>
                <c:pt idx="12">
                  <c:v>45118.493055555555</c:v>
                </c:pt>
                <c:pt idx="13">
                  <c:v>45118.5</c:v>
                </c:pt>
                <c:pt idx="14">
                  <c:v>45118.506944444445</c:v>
                </c:pt>
                <c:pt idx="15">
                  <c:v>45118.513888888891</c:v>
                </c:pt>
                <c:pt idx="16">
                  <c:v>45118.520833333336</c:v>
                </c:pt>
                <c:pt idx="17">
                  <c:v>45118.527777777781</c:v>
                </c:pt>
                <c:pt idx="18">
                  <c:v>45118.534722222219</c:v>
                </c:pt>
                <c:pt idx="19">
                  <c:v>45118.541666666664</c:v>
                </c:pt>
                <c:pt idx="20">
                  <c:v>45118.548611111109</c:v>
                </c:pt>
                <c:pt idx="21">
                  <c:v>45118.555555555555</c:v>
                </c:pt>
                <c:pt idx="22">
                  <c:v>45118.5625</c:v>
                </c:pt>
                <c:pt idx="23">
                  <c:v>45118.569444444445</c:v>
                </c:pt>
                <c:pt idx="24">
                  <c:v>45118.576388888891</c:v>
                </c:pt>
                <c:pt idx="25">
                  <c:v>45118.583333333336</c:v>
                </c:pt>
                <c:pt idx="26">
                  <c:v>45118.590277777781</c:v>
                </c:pt>
                <c:pt idx="27">
                  <c:v>45118.597222222219</c:v>
                </c:pt>
                <c:pt idx="28">
                  <c:v>45118.604166666664</c:v>
                </c:pt>
                <c:pt idx="29">
                  <c:v>45118.611111111109</c:v>
                </c:pt>
                <c:pt idx="30">
                  <c:v>45118.618055555555</c:v>
                </c:pt>
                <c:pt idx="31">
                  <c:v>45118.625</c:v>
                </c:pt>
                <c:pt idx="32">
                  <c:v>45118.631944444445</c:v>
                </c:pt>
                <c:pt idx="33">
                  <c:v>45118.638888888891</c:v>
                </c:pt>
                <c:pt idx="34">
                  <c:v>45118.645833333336</c:v>
                </c:pt>
                <c:pt idx="35">
                  <c:v>45118.652777777781</c:v>
                </c:pt>
              </c:numCache>
            </c:numRef>
          </c:cat>
          <c:val>
            <c:numRef>
              <c:f>'20230711_09'!$L$38:$L$73</c:f>
              <c:numCache>
                <c:formatCode>General</c:formatCode>
                <c:ptCount val="36"/>
                <c:pt idx="0">
                  <c:v>1.6E-2</c:v>
                </c:pt>
                <c:pt idx="1">
                  <c:v>0</c:v>
                </c:pt>
                <c:pt idx="2">
                  <c:v>0</c:v>
                </c:pt>
                <c:pt idx="3">
                  <c:v>0.251</c:v>
                </c:pt>
                <c:pt idx="4">
                  <c:v>0</c:v>
                </c:pt>
                <c:pt idx="5">
                  <c:v>0.71099999999999997</c:v>
                </c:pt>
                <c:pt idx="6">
                  <c:v>0.251</c:v>
                </c:pt>
                <c:pt idx="7">
                  <c:v>1.6E-2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0.28599999999999998</c:v>
                </c:pt>
                <c:pt idx="25">
                  <c:v>0.79</c:v>
                </c:pt>
                <c:pt idx="26">
                  <c:v>1.7529999999999999</c:v>
                </c:pt>
                <c:pt idx="27">
                  <c:v>1.538</c:v>
                </c:pt>
                <c:pt idx="28">
                  <c:v>1.0740000000000001</c:v>
                </c:pt>
                <c:pt idx="29">
                  <c:v>3.2559999999999998</c:v>
                </c:pt>
                <c:pt idx="30">
                  <c:v>5.1820000000000004</c:v>
                </c:pt>
                <c:pt idx="31">
                  <c:v>8.3650000000000002</c:v>
                </c:pt>
                <c:pt idx="32">
                  <c:v>7.9189999999999996</c:v>
                </c:pt>
                <c:pt idx="33">
                  <c:v>3.6669999999999998</c:v>
                </c:pt>
                <c:pt idx="34">
                  <c:v>3.5640000000000001</c:v>
                </c:pt>
                <c:pt idx="35">
                  <c:v>3.9169999999999998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006-4D52-9072-268BA56BFAF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28099856"/>
        <c:axId val="530413120"/>
      </c:barChart>
      <c:lineChart>
        <c:grouping val="standard"/>
        <c:varyColors val="0"/>
        <c:ser>
          <c:idx val="3"/>
          <c:order val="1"/>
          <c:tx>
            <c:v>관측수위</c:v>
          </c:tx>
          <c:spPr>
            <a:ln w="2222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val>
            <c:numRef>
              <c:f>'20230711_09'!$J$38:$J$73</c:f>
              <c:numCache>
                <c:formatCode>General</c:formatCode>
                <c:ptCount val="36"/>
                <c:pt idx="0">
                  <c:v>4</c:v>
                </c:pt>
                <c:pt idx="1">
                  <c:v>4.3899999999999997</c:v>
                </c:pt>
                <c:pt idx="2">
                  <c:v>4.58</c:v>
                </c:pt>
                <c:pt idx="3">
                  <c:v>4.67</c:v>
                </c:pt>
                <c:pt idx="4">
                  <c:v>4.7</c:v>
                </c:pt>
                <c:pt idx="5">
                  <c:v>4.6900000000000004</c:v>
                </c:pt>
                <c:pt idx="6">
                  <c:v>4.62</c:v>
                </c:pt>
                <c:pt idx="7">
                  <c:v>4.49</c:v>
                </c:pt>
                <c:pt idx="8">
                  <c:v>4.3099999999999996</c:v>
                </c:pt>
                <c:pt idx="9">
                  <c:v>4.0999999999999996</c:v>
                </c:pt>
                <c:pt idx="10">
                  <c:v>3.88</c:v>
                </c:pt>
                <c:pt idx="11">
                  <c:v>3.64</c:v>
                </c:pt>
                <c:pt idx="12">
                  <c:v>3.42</c:v>
                </c:pt>
                <c:pt idx="13">
                  <c:v>3.23</c:v>
                </c:pt>
                <c:pt idx="14">
                  <c:v>3.07</c:v>
                </c:pt>
                <c:pt idx="15">
                  <c:v>2.94</c:v>
                </c:pt>
                <c:pt idx="16">
                  <c:v>2.85</c:v>
                </c:pt>
                <c:pt idx="17">
                  <c:v>2.8</c:v>
                </c:pt>
                <c:pt idx="18">
                  <c:v>2.77</c:v>
                </c:pt>
                <c:pt idx="19">
                  <c:v>2.74</c:v>
                </c:pt>
                <c:pt idx="20">
                  <c:v>2.7</c:v>
                </c:pt>
                <c:pt idx="21">
                  <c:v>2.66</c:v>
                </c:pt>
                <c:pt idx="22">
                  <c:v>2.61</c:v>
                </c:pt>
                <c:pt idx="23">
                  <c:v>2.4900000000000002</c:v>
                </c:pt>
                <c:pt idx="24">
                  <c:v>2.4900000000000002</c:v>
                </c:pt>
                <c:pt idx="25">
                  <c:v>2.5</c:v>
                </c:pt>
                <c:pt idx="26">
                  <c:v>2.4700000000000002</c:v>
                </c:pt>
                <c:pt idx="27">
                  <c:v>2.44</c:v>
                </c:pt>
                <c:pt idx="28">
                  <c:v>2.4300000000000002</c:v>
                </c:pt>
                <c:pt idx="29">
                  <c:v>2.42</c:v>
                </c:pt>
                <c:pt idx="30">
                  <c:v>2.42</c:v>
                </c:pt>
                <c:pt idx="31">
                  <c:v>2.4300000000000002</c:v>
                </c:pt>
                <c:pt idx="32">
                  <c:v>2.57</c:v>
                </c:pt>
                <c:pt idx="33">
                  <c:v>3.33</c:v>
                </c:pt>
                <c:pt idx="34">
                  <c:v>3.89</c:v>
                </c:pt>
                <c:pt idx="35">
                  <c:v>4.17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006-4D52-9072-268BA56BFAF1}"/>
            </c:ext>
          </c:extLst>
        </c:ser>
        <c:ser>
          <c:idx val="1"/>
          <c:order val="2"/>
          <c:tx>
            <c:v>예측수위 (MAE)</c:v>
          </c:tx>
          <c:spPr>
            <a:ln w="2222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'20230711_09'!$O$38:$O$73</c:f>
              <c:numCache>
                <c:formatCode>0.00</c:formatCode>
                <c:ptCount val="36"/>
                <c:pt idx="0">
                  <c:v>3.5927373999999999</c:v>
                </c:pt>
                <c:pt idx="1">
                  <c:v>3.7266499999999998</c:v>
                </c:pt>
                <c:pt idx="2">
                  <c:v>3.8834217</c:v>
                </c:pt>
                <c:pt idx="3">
                  <c:v>4.2025265999999997</c:v>
                </c:pt>
                <c:pt idx="4">
                  <c:v>4.3548865000000001</c:v>
                </c:pt>
                <c:pt idx="5">
                  <c:v>4.4118259999999996</c:v>
                </c:pt>
                <c:pt idx="6">
                  <c:v>4.4964300000000001</c:v>
                </c:pt>
                <c:pt idx="7">
                  <c:v>4.4561624999999996</c:v>
                </c:pt>
                <c:pt idx="8">
                  <c:v>4.2251089999999998</c:v>
                </c:pt>
                <c:pt idx="9">
                  <c:v>4.1411075999999998</c:v>
                </c:pt>
                <c:pt idx="10">
                  <c:v>4.0354222999999996</c:v>
                </c:pt>
                <c:pt idx="11">
                  <c:v>3.8230338000000001</c:v>
                </c:pt>
                <c:pt idx="12">
                  <c:v>3.7424754999999998</c:v>
                </c:pt>
                <c:pt idx="13">
                  <c:v>3.5964676999999998</c:v>
                </c:pt>
                <c:pt idx="14">
                  <c:v>3.4291472000000001</c:v>
                </c:pt>
                <c:pt idx="15">
                  <c:v>3.3766232</c:v>
                </c:pt>
                <c:pt idx="16">
                  <c:v>3.2254057</c:v>
                </c:pt>
                <c:pt idx="17">
                  <c:v>3.0596665999999999</c:v>
                </c:pt>
                <c:pt idx="18">
                  <c:v>3.0104904000000001</c:v>
                </c:pt>
                <c:pt idx="19">
                  <c:v>2.8949215000000001</c:v>
                </c:pt>
                <c:pt idx="20">
                  <c:v>2.7990257999999999</c:v>
                </c:pt>
                <c:pt idx="21">
                  <c:v>2.7061853</c:v>
                </c:pt>
                <c:pt idx="22">
                  <c:v>2.6525184999999998</c:v>
                </c:pt>
                <c:pt idx="23">
                  <c:v>2.60168</c:v>
                </c:pt>
                <c:pt idx="24">
                  <c:v>2.5263422000000002</c:v>
                </c:pt>
                <c:pt idx="25">
                  <c:v>2.4950638000000001</c:v>
                </c:pt>
                <c:pt idx="26">
                  <c:v>2.5067333999999999</c:v>
                </c:pt>
                <c:pt idx="27">
                  <c:v>2.4290992999999999</c:v>
                </c:pt>
                <c:pt idx="28">
                  <c:v>2.4411936000000001</c:v>
                </c:pt>
                <c:pt idx="29">
                  <c:v>2.4946894999999998</c:v>
                </c:pt>
                <c:pt idx="30">
                  <c:v>2.5760540000000001</c:v>
                </c:pt>
                <c:pt idx="31">
                  <c:v>2.6519493999999999</c:v>
                </c:pt>
                <c:pt idx="32">
                  <c:v>2.8021638000000002</c:v>
                </c:pt>
                <c:pt idx="33">
                  <c:v>2.9118029999999999</c:v>
                </c:pt>
                <c:pt idx="34">
                  <c:v>3.1674376</c:v>
                </c:pt>
                <c:pt idx="35">
                  <c:v>3.4904983000000001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006-4D52-9072-268BA56BFAF1}"/>
            </c:ext>
          </c:extLst>
        </c:ser>
        <c:ser>
          <c:idx val="2"/>
          <c:order val="3"/>
          <c:tx>
            <c:v>예측수위 (MSE)</c:v>
          </c:tx>
          <c:spPr>
            <a:ln w="2222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val>
            <c:numRef>
              <c:f>'20230711_09'!$Q$38:$Q$73</c:f>
              <c:numCache>
                <c:formatCode>0.00</c:formatCode>
                <c:ptCount val="36"/>
                <c:pt idx="0">
                  <c:v>3.9984237999999999</c:v>
                </c:pt>
                <c:pt idx="1">
                  <c:v>4.3459835</c:v>
                </c:pt>
                <c:pt idx="2">
                  <c:v>4.5964720000000003</c:v>
                </c:pt>
                <c:pt idx="3">
                  <c:v>4.8770784999999997</c:v>
                </c:pt>
                <c:pt idx="4">
                  <c:v>4.9586085999999998</c:v>
                </c:pt>
                <c:pt idx="5">
                  <c:v>4.9072522999999997</c:v>
                </c:pt>
                <c:pt idx="6">
                  <c:v>4.7101563999999998</c:v>
                </c:pt>
                <c:pt idx="7">
                  <c:v>4.5205880000000001</c:v>
                </c:pt>
                <c:pt idx="8">
                  <c:v>4.3034100000000004</c:v>
                </c:pt>
                <c:pt idx="9">
                  <c:v>4.2901287000000004</c:v>
                </c:pt>
                <c:pt idx="10">
                  <c:v>4.2658505</c:v>
                </c:pt>
                <c:pt idx="11">
                  <c:v>3.9948467999999999</c:v>
                </c:pt>
                <c:pt idx="12">
                  <c:v>3.7972980000000001</c:v>
                </c:pt>
                <c:pt idx="13">
                  <c:v>3.5916041999999999</c:v>
                </c:pt>
                <c:pt idx="14">
                  <c:v>3.301418</c:v>
                </c:pt>
                <c:pt idx="15">
                  <c:v>3.1057222000000002</c:v>
                </c:pt>
                <c:pt idx="16">
                  <c:v>2.9695773000000001</c:v>
                </c:pt>
                <c:pt idx="17">
                  <c:v>2.9147666000000001</c:v>
                </c:pt>
                <c:pt idx="18">
                  <c:v>2.8265638000000002</c:v>
                </c:pt>
                <c:pt idx="19">
                  <c:v>2.808386</c:v>
                </c:pt>
                <c:pt idx="20">
                  <c:v>2.8096423000000001</c:v>
                </c:pt>
                <c:pt idx="21">
                  <c:v>2.7978067000000002</c:v>
                </c:pt>
                <c:pt idx="22">
                  <c:v>2.7811933</c:v>
                </c:pt>
                <c:pt idx="23">
                  <c:v>2.6499945999999999</c:v>
                </c:pt>
                <c:pt idx="24">
                  <c:v>2.6565870999999999</c:v>
                </c:pt>
                <c:pt idx="25">
                  <c:v>2.6093822000000002</c:v>
                </c:pt>
                <c:pt idx="26">
                  <c:v>2.5599077000000001</c:v>
                </c:pt>
                <c:pt idx="27">
                  <c:v>2.5473979999999998</c:v>
                </c:pt>
                <c:pt idx="28">
                  <c:v>2.608822</c:v>
                </c:pt>
                <c:pt idx="29">
                  <c:v>2.5259857000000001</c:v>
                </c:pt>
                <c:pt idx="30">
                  <c:v>2.5234842</c:v>
                </c:pt>
                <c:pt idx="31">
                  <c:v>2.6268183999999999</c:v>
                </c:pt>
                <c:pt idx="32">
                  <c:v>2.6866998999999998</c:v>
                </c:pt>
                <c:pt idx="33">
                  <c:v>3.1209425999999998</c:v>
                </c:pt>
                <c:pt idx="34">
                  <c:v>3.6230280000000001</c:v>
                </c:pt>
                <c:pt idx="35">
                  <c:v>4.0337467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8006-4D52-9072-268BA56BFAF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98807840"/>
        <c:axId val="530411872"/>
      </c:lineChart>
      <c:catAx>
        <c:axId val="398807840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30411872"/>
        <c:crosses val="autoZero"/>
        <c:auto val="1"/>
        <c:lblAlgn val="ctr"/>
        <c:lblOffset val="100"/>
        <c:noMultiLvlLbl val="0"/>
      </c:catAx>
      <c:valAx>
        <c:axId val="5304118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98807840"/>
        <c:crosses val="autoZero"/>
        <c:crossBetween val="between"/>
      </c:valAx>
      <c:valAx>
        <c:axId val="530413120"/>
        <c:scaling>
          <c:orientation val="maxMin"/>
          <c:max val="12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28099856"/>
        <c:crosses val="max"/>
        <c:crossBetween val="between"/>
      </c:valAx>
      <c:dateAx>
        <c:axId val="528099856"/>
        <c:scaling>
          <c:orientation val="minMax"/>
        </c:scaling>
        <c:delete val="1"/>
        <c:axPos val="t"/>
        <c:numFmt formatCode="m/d/yyyy\ h:mm" sourceLinked="1"/>
        <c:majorTickMark val="out"/>
        <c:minorTickMark val="none"/>
        <c:tickLblPos val="nextTo"/>
        <c:crossAx val="530413120"/>
        <c:crosses val="autoZero"/>
        <c:auto val="1"/>
        <c:lblOffset val="100"/>
        <c:baseTimeUnit val="days"/>
      </c:date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7.0382550220438128E-2"/>
          <c:y val="0.82231624961470562"/>
          <c:w val="0.88260099840461115"/>
          <c:h val="0.149905941472618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/>
              <a:t>20230711</a:t>
            </a:r>
            <a:r>
              <a:rPr lang="en-US" altLang="ko-KR" baseline="0"/>
              <a:t> 10</a:t>
            </a:r>
            <a:r>
              <a:rPr lang="ko-KR" altLang="en-US" baseline="0"/>
              <a:t>시 대곡교</a:t>
            </a:r>
            <a:endParaRPr lang="ko-KR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유역강우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'[1]20230711_09'!$A$38:$A$73</c:f>
              <c:numCache>
                <c:formatCode>General</c:formatCode>
                <c:ptCount val="3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</c:numCache>
            </c:numRef>
          </c:cat>
          <c:val>
            <c:numRef>
              <c:f>'20230711_10'!$L$38:$L$73</c:f>
              <c:numCache>
                <c:formatCode>General</c:formatCode>
                <c:ptCount val="36"/>
                <c:pt idx="0">
                  <c:v>0.251</c:v>
                </c:pt>
                <c:pt idx="1">
                  <c:v>1.6E-2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0.28599999999999998</c:v>
                </c:pt>
                <c:pt idx="19">
                  <c:v>0.79</c:v>
                </c:pt>
                <c:pt idx="20">
                  <c:v>1.7529999999999999</c:v>
                </c:pt>
                <c:pt idx="21">
                  <c:v>1.538</c:v>
                </c:pt>
                <c:pt idx="22">
                  <c:v>1.0740000000000001</c:v>
                </c:pt>
                <c:pt idx="23">
                  <c:v>3.2559999999999998</c:v>
                </c:pt>
                <c:pt idx="24">
                  <c:v>5.1820000000000004</c:v>
                </c:pt>
                <c:pt idx="25">
                  <c:v>8.3650000000000002</c:v>
                </c:pt>
                <c:pt idx="26">
                  <c:v>7.9189999999999996</c:v>
                </c:pt>
                <c:pt idx="27">
                  <c:v>3.6669999999999998</c:v>
                </c:pt>
                <c:pt idx="28">
                  <c:v>3.5640000000000001</c:v>
                </c:pt>
                <c:pt idx="29">
                  <c:v>3.9169999999999998</c:v>
                </c:pt>
                <c:pt idx="30">
                  <c:v>1.9330000000000001</c:v>
                </c:pt>
                <c:pt idx="31">
                  <c:v>2.8109999999999999</c:v>
                </c:pt>
                <c:pt idx="32">
                  <c:v>3.242</c:v>
                </c:pt>
                <c:pt idx="33">
                  <c:v>6.274</c:v>
                </c:pt>
                <c:pt idx="34">
                  <c:v>8.1340000000000003</c:v>
                </c:pt>
                <c:pt idx="35">
                  <c:v>5.4580000000000002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35D-4E03-8A90-DBC4B9C8DA3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28099856"/>
        <c:axId val="530413120"/>
      </c:barChart>
      <c:lineChart>
        <c:grouping val="standard"/>
        <c:varyColors val="0"/>
        <c:ser>
          <c:idx val="3"/>
          <c:order val="1"/>
          <c:tx>
            <c:v>관측수위</c:v>
          </c:tx>
          <c:spPr>
            <a:ln w="2222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val>
            <c:numRef>
              <c:f>'20230711_10'!$J$38:$J$73</c:f>
              <c:numCache>
                <c:formatCode>General</c:formatCode>
                <c:ptCount val="36"/>
                <c:pt idx="0">
                  <c:v>4.62</c:v>
                </c:pt>
                <c:pt idx="1">
                  <c:v>4.49</c:v>
                </c:pt>
                <c:pt idx="2">
                  <c:v>4.3099999999999996</c:v>
                </c:pt>
                <c:pt idx="3">
                  <c:v>4.0999999999999996</c:v>
                </c:pt>
                <c:pt idx="4">
                  <c:v>3.88</c:v>
                </c:pt>
                <c:pt idx="5">
                  <c:v>3.64</c:v>
                </c:pt>
                <c:pt idx="6">
                  <c:v>3.42</c:v>
                </c:pt>
                <c:pt idx="7">
                  <c:v>3.23</c:v>
                </c:pt>
                <c:pt idx="8">
                  <c:v>3.07</c:v>
                </c:pt>
                <c:pt idx="9">
                  <c:v>2.94</c:v>
                </c:pt>
                <c:pt idx="10">
                  <c:v>2.85</c:v>
                </c:pt>
                <c:pt idx="11">
                  <c:v>2.8</c:v>
                </c:pt>
                <c:pt idx="12">
                  <c:v>2.77</c:v>
                </c:pt>
                <c:pt idx="13">
                  <c:v>2.74</c:v>
                </c:pt>
                <c:pt idx="14">
                  <c:v>2.7</c:v>
                </c:pt>
                <c:pt idx="15">
                  <c:v>2.66</c:v>
                </c:pt>
                <c:pt idx="16">
                  <c:v>2.61</c:v>
                </c:pt>
                <c:pt idx="17">
                  <c:v>2.4900000000000002</c:v>
                </c:pt>
                <c:pt idx="18">
                  <c:v>2.4900000000000002</c:v>
                </c:pt>
                <c:pt idx="19">
                  <c:v>2.5</c:v>
                </c:pt>
                <c:pt idx="20">
                  <c:v>2.4700000000000002</c:v>
                </c:pt>
                <c:pt idx="21">
                  <c:v>2.44</c:v>
                </c:pt>
                <c:pt idx="22">
                  <c:v>2.4300000000000002</c:v>
                </c:pt>
                <c:pt idx="23">
                  <c:v>2.42</c:v>
                </c:pt>
                <c:pt idx="24">
                  <c:v>2.42</c:v>
                </c:pt>
                <c:pt idx="25">
                  <c:v>2.4300000000000002</c:v>
                </c:pt>
                <c:pt idx="26">
                  <c:v>2.57</c:v>
                </c:pt>
                <c:pt idx="27">
                  <c:v>3.33</c:v>
                </c:pt>
                <c:pt idx="28">
                  <c:v>3.89</c:v>
                </c:pt>
                <c:pt idx="29">
                  <c:v>4.17</c:v>
                </c:pt>
                <c:pt idx="30">
                  <c:v>4.3</c:v>
                </c:pt>
                <c:pt idx="31">
                  <c:v>4.33</c:v>
                </c:pt>
                <c:pt idx="32">
                  <c:v>4.32</c:v>
                </c:pt>
                <c:pt idx="33">
                  <c:v>4.3099999999999996</c:v>
                </c:pt>
                <c:pt idx="34">
                  <c:v>4.37</c:v>
                </c:pt>
                <c:pt idx="35">
                  <c:v>4.53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35D-4E03-8A90-DBC4B9C8DA39}"/>
            </c:ext>
          </c:extLst>
        </c:ser>
        <c:ser>
          <c:idx val="1"/>
          <c:order val="2"/>
          <c:tx>
            <c:v>예측수위 (MAE)</c:v>
          </c:tx>
          <c:spPr>
            <a:ln w="2222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'20230711_10'!$O$38:$O$73</c:f>
              <c:numCache>
                <c:formatCode>0.00</c:formatCode>
                <c:ptCount val="36"/>
                <c:pt idx="0">
                  <c:v>4.6144129999999999</c:v>
                </c:pt>
                <c:pt idx="1">
                  <c:v>4.5468425999999997</c:v>
                </c:pt>
                <c:pt idx="2">
                  <c:v>4.391737</c:v>
                </c:pt>
                <c:pt idx="3">
                  <c:v>4.2002410000000001</c:v>
                </c:pt>
                <c:pt idx="4">
                  <c:v>4.0371269999999999</c:v>
                </c:pt>
                <c:pt idx="5">
                  <c:v>3.8925982000000001</c:v>
                </c:pt>
                <c:pt idx="6">
                  <c:v>3.849332</c:v>
                </c:pt>
                <c:pt idx="7">
                  <c:v>3.7093593999999999</c:v>
                </c:pt>
                <c:pt idx="8">
                  <c:v>3.5553777000000002</c:v>
                </c:pt>
                <c:pt idx="9">
                  <c:v>3.3733683000000001</c:v>
                </c:pt>
                <c:pt idx="10">
                  <c:v>3.2631125000000001</c:v>
                </c:pt>
                <c:pt idx="11">
                  <c:v>3.0956644999999998</c:v>
                </c:pt>
                <c:pt idx="12">
                  <c:v>2.9899770999999999</c:v>
                </c:pt>
                <c:pt idx="13">
                  <c:v>2.9255629000000001</c:v>
                </c:pt>
                <c:pt idx="14">
                  <c:v>2.7991117999999999</c:v>
                </c:pt>
                <c:pt idx="15">
                  <c:v>2.7232517999999999</c:v>
                </c:pt>
                <c:pt idx="16">
                  <c:v>2.6452643999999998</c:v>
                </c:pt>
                <c:pt idx="17">
                  <c:v>2.5579274000000001</c:v>
                </c:pt>
                <c:pt idx="18">
                  <c:v>2.5629919999999999</c:v>
                </c:pt>
                <c:pt idx="19">
                  <c:v>2.4940433999999998</c:v>
                </c:pt>
                <c:pt idx="20">
                  <c:v>2.4979407999999999</c:v>
                </c:pt>
                <c:pt idx="21">
                  <c:v>2.4350065999999999</c:v>
                </c:pt>
                <c:pt idx="22">
                  <c:v>2.4561465</c:v>
                </c:pt>
                <c:pt idx="23">
                  <c:v>2.5587254000000001</c:v>
                </c:pt>
                <c:pt idx="24">
                  <c:v>2.6138737000000001</c:v>
                </c:pt>
                <c:pt idx="25">
                  <c:v>2.7239822999999999</c:v>
                </c:pt>
                <c:pt idx="26">
                  <c:v>2.8880222</c:v>
                </c:pt>
                <c:pt idx="27">
                  <c:v>3.0677599999999998</c:v>
                </c:pt>
                <c:pt idx="28">
                  <c:v>3.2814611999999999</c:v>
                </c:pt>
                <c:pt idx="29">
                  <c:v>3.4948397</c:v>
                </c:pt>
                <c:pt idx="30">
                  <c:v>3.6253742999999998</c:v>
                </c:pt>
                <c:pt idx="31">
                  <c:v>3.7775688000000001</c:v>
                </c:pt>
                <c:pt idx="32">
                  <c:v>3.8817539999999999</c:v>
                </c:pt>
                <c:pt idx="33">
                  <c:v>4.0376950000000003</c:v>
                </c:pt>
                <c:pt idx="34">
                  <c:v>4.1374089999999999</c:v>
                </c:pt>
                <c:pt idx="35">
                  <c:v>4.2307286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35D-4E03-8A90-DBC4B9C8DA39}"/>
            </c:ext>
          </c:extLst>
        </c:ser>
        <c:ser>
          <c:idx val="2"/>
          <c:order val="3"/>
          <c:tx>
            <c:v>예측수위 (MSE)</c:v>
          </c:tx>
          <c:spPr>
            <a:ln w="2222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val>
            <c:numRef>
              <c:f>'20230711_10'!$Q$38:$Q$73</c:f>
              <c:numCache>
                <c:formatCode>0.00</c:formatCode>
                <c:ptCount val="36"/>
                <c:pt idx="0">
                  <c:v>4.6009874000000002</c:v>
                </c:pt>
                <c:pt idx="1">
                  <c:v>4.5408499999999998</c:v>
                </c:pt>
                <c:pt idx="2">
                  <c:v>4.3784520000000002</c:v>
                </c:pt>
                <c:pt idx="3">
                  <c:v>4.3706649999999998</c:v>
                </c:pt>
                <c:pt idx="4">
                  <c:v>4.2656280000000004</c:v>
                </c:pt>
                <c:pt idx="5">
                  <c:v>4.1117569999999999</c:v>
                </c:pt>
                <c:pt idx="6">
                  <c:v>3.8491387000000001</c:v>
                </c:pt>
                <c:pt idx="7">
                  <c:v>3.6501934999999999</c:v>
                </c:pt>
                <c:pt idx="8">
                  <c:v>3.4520597</c:v>
                </c:pt>
                <c:pt idx="9">
                  <c:v>3.2731330000000001</c:v>
                </c:pt>
                <c:pt idx="10">
                  <c:v>3.1551355999999999</c:v>
                </c:pt>
                <c:pt idx="11">
                  <c:v>2.9857692999999998</c:v>
                </c:pt>
                <c:pt idx="12">
                  <c:v>2.9459689</c:v>
                </c:pt>
                <c:pt idx="13">
                  <c:v>2.9015270000000002</c:v>
                </c:pt>
                <c:pt idx="14">
                  <c:v>2.8683610000000002</c:v>
                </c:pt>
                <c:pt idx="15">
                  <c:v>2.8494085999999998</c:v>
                </c:pt>
                <c:pt idx="16">
                  <c:v>2.7846866000000001</c:v>
                </c:pt>
                <c:pt idx="17">
                  <c:v>2.7693504999999998</c:v>
                </c:pt>
                <c:pt idx="18">
                  <c:v>2.7165822999999998</c:v>
                </c:pt>
                <c:pt idx="19">
                  <c:v>2.6533612999999998</c:v>
                </c:pt>
                <c:pt idx="20">
                  <c:v>2.5753252999999998</c:v>
                </c:pt>
                <c:pt idx="21">
                  <c:v>2.5564174999999998</c:v>
                </c:pt>
                <c:pt idx="22">
                  <c:v>2.5709270000000002</c:v>
                </c:pt>
                <c:pt idx="23">
                  <c:v>2.6517658000000002</c:v>
                </c:pt>
                <c:pt idx="24">
                  <c:v>2.5340500000000001</c:v>
                </c:pt>
                <c:pt idx="25">
                  <c:v>2.6622734000000001</c:v>
                </c:pt>
                <c:pt idx="26">
                  <c:v>3.0050454000000002</c:v>
                </c:pt>
                <c:pt idx="27">
                  <c:v>3.2773330000000001</c:v>
                </c:pt>
                <c:pt idx="28">
                  <c:v>3.6667838000000001</c:v>
                </c:pt>
                <c:pt idx="29">
                  <c:v>3.8598401999999998</c:v>
                </c:pt>
                <c:pt idx="30">
                  <c:v>4.2086367999999998</c:v>
                </c:pt>
                <c:pt idx="31">
                  <c:v>4.3524403999999999</c:v>
                </c:pt>
                <c:pt idx="32">
                  <c:v>4.2350300000000001</c:v>
                </c:pt>
                <c:pt idx="33">
                  <c:v>4.2552180000000002</c:v>
                </c:pt>
                <c:pt idx="34">
                  <c:v>4.2535151999999998</c:v>
                </c:pt>
                <c:pt idx="35">
                  <c:v>4.2723319999999996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F35D-4E03-8A90-DBC4B9C8DA3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98807840"/>
        <c:axId val="530411872"/>
      </c:lineChart>
      <c:catAx>
        <c:axId val="398807840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30411872"/>
        <c:crosses val="autoZero"/>
        <c:auto val="1"/>
        <c:lblAlgn val="ctr"/>
        <c:lblOffset val="100"/>
        <c:noMultiLvlLbl val="0"/>
      </c:catAx>
      <c:valAx>
        <c:axId val="530411872"/>
        <c:scaling>
          <c:orientation val="minMax"/>
          <c:max val="6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98807840"/>
        <c:crosses val="autoZero"/>
        <c:crossBetween val="between"/>
      </c:valAx>
      <c:valAx>
        <c:axId val="530413120"/>
        <c:scaling>
          <c:orientation val="maxMin"/>
          <c:max val="12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28099856"/>
        <c:crosses val="max"/>
        <c:crossBetween val="between"/>
      </c:valAx>
      <c:catAx>
        <c:axId val="528099856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530413120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7.0382550220438128E-2"/>
          <c:y val="0.82231624961470562"/>
          <c:w val="0.88260099840461115"/>
          <c:h val="0.149905941472618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baseline="0"/>
              <a:t>250814 04</a:t>
            </a:r>
            <a:r>
              <a:rPr lang="ko-KR" altLang="en-US" baseline="0"/>
              <a:t>시 대곡교</a:t>
            </a:r>
            <a:endParaRPr lang="ko-KR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유역강우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val>
            <c:numRef>
              <c:f>'20250814_04'!$J$38:$J$73</c:f>
              <c:numCache>
                <c:formatCode>General</c:formatCode>
                <c:ptCount val="36"/>
                <c:pt idx="0">
                  <c:v>0.53400000000000003</c:v>
                </c:pt>
                <c:pt idx="1">
                  <c:v>7.3999999999999996E-2</c:v>
                </c:pt>
                <c:pt idx="2">
                  <c:v>0.376</c:v>
                </c:pt>
                <c:pt idx="3">
                  <c:v>0.32500000000000001</c:v>
                </c:pt>
                <c:pt idx="4">
                  <c:v>0.373</c:v>
                </c:pt>
                <c:pt idx="5">
                  <c:v>2.23</c:v>
                </c:pt>
                <c:pt idx="6">
                  <c:v>1.837</c:v>
                </c:pt>
                <c:pt idx="7">
                  <c:v>6.9649999999999999</c:v>
                </c:pt>
                <c:pt idx="8">
                  <c:v>1.359</c:v>
                </c:pt>
                <c:pt idx="9">
                  <c:v>1.391</c:v>
                </c:pt>
                <c:pt idx="10">
                  <c:v>0.375</c:v>
                </c:pt>
                <c:pt idx="11">
                  <c:v>0.25</c:v>
                </c:pt>
                <c:pt idx="12">
                  <c:v>1.2769999999999999</c:v>
                </c:pt>
                <c:pt idx="13">
                  <c:v>1.649</c:v>
                </c:pt>
                <c:pt idx="14">
                  <c:v>1.103</c:v>
                </c:pt>
                <c:pt idx="15">
                  <c:v>0.28599999999999998</c:v>
                </c:pt>
                <c:pt idx="16">
                  <c:v>0.64900000000000002</c:v>
                </c:pt>
                <c:pt idx="17">
                  <c:v>0.59099999999999997</c:v>
                </c:pt>
                <c:pt idx="18">
                  <c:v>1.5740000000000001</c:v>
                </c:pt>
                <c:pt idx="19">
                  <c:v>1.708</c:v>
                </c:pt>
                <c:pt idx="20">
                  <c:v>0.58199999999999996</c:v>
                </c:pt>
                <c:pt idx="21">
                  <c:v>0.48599999999999999</c:v>
                </c:pt>
                <c:pt idx="22">
                  <c:v>2.3159999999999998</c:v>
                </c:pt>
                <c:pt idx="23">
                  <c:v>6.8520000000000003</c:v>
                </c:pt>
                <c:pt idx="24">
                  <c:v>15.135</c:v>
                </c:pt>
                <c:pt idx="25">
                  <c:v>4.3819999999999997</c:v>
                </c:pt>
                <c:pt idx="26">
                  <c:v>0.498</c:v>
                </c:pt>
                <c:pt idx="27">
                  <c:v>0.125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C7D-4271-970D-BB03E595A77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28099856"/>
        <c:axId val="530413120"/>
      </c:barChart>
      <c:lineChart>
        <c:grouping val="standard"/>
        <c:varyColors val="0"/>
        <c:ser>
          <c:idx val="3"/>
          <c:order val="1"/>
          <c:tx>
            <c:v>관측수위</c:v>
          </c:tx>
          <c:spPr>
            <a:ln w="2222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val>
            <c:numRef>
              <c:f>'20250814_04'!$I$38:$I$73</c:f>
              <c:numCache>
                <c:formatCode>General</c:formatCode>
                <c:ptCount val="36"/>
                <c:pt idx="0">
                  <c:v>2.15</c:v>
                </c:pt>
                <c:pt idx="1">
                  <c:v>2.15</c:v>
                </c:pt>
                <c:pt idx="2">
                  <c:v>2.15</c:v>
                </c:pt>
                <c:pt idx="3">
                  <c:v>2.15</c:v>
                </c:pt>
                <c:pt idx="4">
                  <c:v>2.15</c:v>
                </c:pt>
                <c:pt idx="5">
                  <c:v>2.15</c:v>
                </c:pt>
                <c:pt idx="6">
                  <c:v>2.14</c:v>
                </c:pt>
                <c:pt idx="7">
                  <c:v>2.14</c:v>
                </c:pt>
                <c:pt idx="8">
                  <c:v>2.14</c:v>
                </c:pt>
                <c:pt idx="9">
                  <c:v>2.15</c:v>
                </c:pt>
                <c:pt idx="10">
                  <c:v>2.16</c:v>
                </c:pt>
                <c:pt idx="11">
                  <c:v>2.1800000000000002</c:v>
                </c:pt>
                <c:pt idx="12">
                  <c:v>2.86</c:v>
                </c:pt>
                <c:pt idx="13">
                  <c:v>2.93</c:v>
                </c:pt>
                <c:pt idx="14">
                  <c:v>2.91</c:v>
                </c:pt>
                <c:pt idx="15">
                  <c:v>2.86</c:v>
                </c:pt>
                <c:pt idx="16">
                  <c:v>2.84</c:v>
                </c:pt>
                <c:pt idx="17">
                  <c:v>2.86</c:v>
                </c:pt>
                <c:pt idx="18">
                  <c:v>2.88</c:v>
                </c:pt>
                <c:pt idx="19">
                  <c:v>2.89</c:v>
                </c:pt>
                <c:pt idx="20">
                  <c:v>2.87</c:v>
                </c:pt>
                <c:pt idx="21">
                  <c:v>2.85</c:v>
                </c:pt>
                <c:pt idx="22">
                  <c:v>2.84</c:v>
                </c:pt>
                <c:pt idx="23">
                  <c:v>2.85</c:v>
                </c:pt>
                <c:pt idx="24">
                  <c:v>2.97</c:v>
                </c:pt>
                <c:pt idx="25">
                  <c:v>3.25</c:v>
                </c:pt>
                <c:pt idx="26">
                  <c:v>3.53</c:v>
                </c:pt>
                <c:pt idx="27">
                  <c:v>3.84</c:v>
                </c:pt>
                <c:pt idx="28">
                  <c:v>4.01</c:v>
                </c:pt>
                <c:pt idx="29">
                  <c:v>4.0599999999999996</c:v>
                </c:pt>
                <c:pt idx="30">
                  <c:v>4.0599999999999996</c:v>
                </c:pt>
                <c:pt idx="31">
                  <c:v>4.0199999999999996</c:v>
                </c:pt>
                <c:pt idx="32">
                  <c:v>3.95</c:v>
                </c:pt>
                <c:pt idx="33">
                  <c:v>3.85</c:v>
                </c:pt>
                <c:pt idx="34">
                  <c:v>3.72</c:v>
                </c:pt>
                <c:pt idx="35">
                  <c:v>3.59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C7D-4271-970D-BB03E595A77D}"/>
            </c:ext>
          </c:extLst>
        </c:ser>
        <c:ser>
          <c:idx val="1"/>
          <c:order val="2"/>
          <c:tx>
            <c:v>예측수위 (MAE)</c:v>
          </c:tx>
          <c:spPr>
            <a:ln w="2222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'20250814_04'!$M$38:$M$73</c:f>
              <c:numCache>
                <c:formatCode>0.00</c:formatCode>
                <c:ptCount val="36"/>
                <c:pt idx="0">
                  <c:v>2.1540997000000002</c:v>
                </c:pt>
                <c:pt idx="1">
                  <c:v>2.1457223999999999</c:v>
                </c:pt>
                <c:pt idx="2">
                  <c:v>2.1421923999999999</c:v>
                </c:pt>
                <c:pt idx="3">
                  <c:v>2.0955088000000002</c:v>
                </c:pt>
                <c:pt idx="4">
                  <c:v>2.1007612</c:v>
                </c:pt>
                <c:pt idx="5">
                  <c:v>2.1141640000000002</c:v>
                </c:pt>
                <c:pt idx="6">
                  <c:v>2.0763843</c:v>
                </c:pt>
                <c:pt idx="7">
                  <c:v>2.079853</c:v>
                </c:pt>
                <c:pt idx="8">
                  <c:v>2.1512566</c:v>
                </c:pt>
                <c:pt idx="9">
                  <c:v>2.1929858000000002</c:v>
                </c:pt>
                <c:pt idx="10">
                  <c:v>2.2577596</c:v>
                </c:pt>
                <c:pt idx="11">
                  <c:v>2.4113142000000001</c:v>
                </c:pt>
                <c:pt idx="12">
                  <c:v>2.3967689999999999</c:v>
                </c:pt>
                <c:pt idx="13">
                  <c:v>2.4263512999999999</c:v>
                </c:pt>
                <c:pt idx="14">
                  <c:v>2.4494642999999998</c:v>
                </c:pt>
                <c:pt idx="15">
                  <c:v>2.4692468999999999</c:v>
                </c:pt>
                <c:pt idx="16">
                  <c:v>2.5069542</c:v>
                </c:pt>
                <c:pt idx="17">
                  <c:v>2.5874605000000002</c:v>
                </c:pt>
                <c:pt idx="18">
                  <c:v>2.6247959999999999</c:v>
                </c:pt>
                <c:pt idx="19">
                  <c:v>2.7357311000000002</c:v>
                </c:pt>
                <c:pt idx="20">
                  <c:v>2.8159070000000002</c:v>
                </c:pt>
                <c:pt idx="21">
                  <c:v>2.8930615999999998</c:v>
                </c:pt>
                <c:pt idx="22">
                  <c:v>3.0193815000000002</c:v>
                </c:pt>
                <c:pt idx="23">
                  <c:v>3.1780957999999999</c:v>
                </c:pt>
                <c:pt idx="24">
                  <c:v>3.3453037999999999</c:v>
                </c:pt>
                <c:pt idx="25">
                  <c:v>3.4900367000000001</c:v>
                </c:pt>
                <c:pt idx="26">
                  <c:v>3.6817088</c:v>
                </c:pt>
                <c:pt idx="27">
                  <c:v>3.8058285999999999</c:v>
                </c:pt>
                <c:pt idx="28">
                  <c:v>3.8962705</c:v>
                </c:pt>
                <c:pt idx="29">
                  <c:v>3.9731179999999999</c:v>
                </c:pt>
                <c:pt idx="30">
                  <c:v>4.0104923000000001</c:v>
                </c:pt>
                <c:pt idx="31">
                  <c:v>4.0242190000000004</c:v>
                </c:pt>
                <c:pt idx="32">
                  <c:v>4.0137489999999998</c:v>
                </c:pt>
                <c:pt idx="33">
                  <c:v>3.9995791999999999</c:v>
                </c:pt>
                <c:pt idx="34">
                  <c:v>3.9435929999999999</c:v>
                </c:pt>
                <c:pt idx="35">
                  <c:v>3.8639633999999998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C7D-4271-970D-BB03E595A77D}"/>
            </c:ext>
          </c:extLst>
        </c:ser>
        <c:ser>
          <c:idx val="2"/>
          <c:order val="3"/>
          <c:tx>
            <c:v>예측수위 (MSE)</c:v>
          </c:tx>
          <c:spPr>
            <a:ln w="2222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val>
            <c:numRef>
              <c:f>'20250814_04'!$O$38:$O$73</c:f>
              <c:numCache>
                <c:formatCode>0.00</c:formatCode>
                <c:ptCount val="36"/>
                <c:pt idx="0">
                  <c:v>2.1716346999999998</c:v>
                </c:pt>
                <c:pt idx="1">
                  <c:v>2.1487371999999998</c:v>
                </c:pt>
                <c:pt idx="2">
                  <c:v>2.1455492999999999</c:v>
                </c:pt>
                <c:pt idx="3">
                  <c:v>2.1238081000000002</c:v>
                </c:pt>
                <c:pt idx="4">
                  <c:v>2.1700077000000002</c:v>
                </c:pt>
                <c:pt idx="5">
                  <c:v>2.172409</c:v>
                </c:pt>
                <c:pt idx="6">
                  <c:v>2.1113827000000001</c:v>
                </c:pt>
                <c:pt idx="7">
                  <c:v>2.1301462999999998</c:v>
                </c:pt>
                <c:pt idx="8">
                  <c:v>2.1377826</c:v>
                </c:pt>
                <c:pt idx="9">
                  <c:v>2.2164484999999998</c:v>
                </c:pt>
                <c:pt idx="10">
                  <c:v>2.2779786999999998</c:v>
                </c:pt>
                <c:pt idx="11">
                  <c:v>2.2592005999999998</c:v>
                </c:pt>
                <c:pt idx="12">
                  <c:v>2.3087806999999998</c:v>
                </c:pt>
                <c:pt idx="13">
                  <c:v>2.3595554999999999</c:v>
                </c:pt>
                <c:pt idx="14">
                  <c:v>2.4260177999999999</c:v>
                </c:pt>
                <c:pt idx="15">
                  <c:v>2.4859724000000001</c:v>
                </c:pt>
                <c:pt idx="16">
                  <c:v>2.5282946000000002</c:v>
                </c:pt>
                <c:pt idx="17">
                  <c:v>2.5477276</c:v>
                </c:pt>
                <c:pt idx="18">
                  <c:v>2.4906258999999999</c:v>
                </c:pt>
                <c:pt idx="19">
                  <c:v>2.4905043</c:v>
                </c:pt>
                <c:pt idx="20">
                  <c:v>2.5445597000000002</c:v>
                </c:pt>
                <c:pt idx="21">
                  <c:v>2.5401063000000002</c:v>
                </c:pt>
                <c:pt idx="22">
                  <c:v>2.6536960000000001</c:v>
                </c:pt>
                <c:pt idx="23">
                  <c:v>2.8773431999999999</c:v>
                </c:pt>
                <c:pt idx="24">
                  <c:v>3.0274823</c:v>
                </c:pt>
                <c:pt idx="25">
                  <c:v>3.1731672</c:v>
                </c:pt>
                <c:pt idx="26">
                  <c:v>3.3387902</c:v>
                </c:pt>
                <c:pt idx="27">
                  <c:v>3.505093</c:v>
                </c:pt>
                <c:pt idx="28">
                  <c:v>3.6435236999999998</c:v>
                </c:pt>
                <c:pt idx="29">
                  <c:v>3.7100233999999999</c:v>
                </c:pt>
                <c:pt idx="30">
                  <c:v>3.8300296999999999</c:v>
                </c:pt>
                <c:pt idx="31">
                  <c:v>3.8485014</c:v>
                </c:pt>
                <c:pt idx="32">
                  <c:v>3.832837</c:v>
                </c:pt>
                <c:pt idx="33">
                  <c:v>3.7379997</c:v>
                </c:pt>
                <c:pt idx="34">
                  <c:v>3.6753923999999998</c:v>
                </c:pt>
                <c:pt idx="35">
                  <c:v>3.6179565999999999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5C7D-4271-970D-BB03E595A77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98807840"/>
        <c:axId val="530411872"/>
      </c:lineChart>
      <c:catAx>
        <c:axId val="398807840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30411872"/>
        <c:crosses val="autoZero"/>
        <c:auto val="1"/>
        <c:lblAlgn val="ctr"/>
        <c:lblOffset val="100"/>
        <c:noMultiLvlLbl val="0"/>
      </c:catAx>
      <c:valAx>
        <c:axId val="5304118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98807840"/>
        <c:crosses val="autoZero"/>
        <c:crossBetween val="between"/>
      </c:valAx>
      <c:valAx>
        <c:axId val="530413120"/>
        <c:scaling>
          <c:orientation val="maxMin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28099856"/>
        <c:crosses val="max"/>
        <c:crossBetween val="between"/>
      </c:valAx>
      <c:catAx>
        <c:axId val="528099856"/>
        <c:scaling>
          <c:orientation val="minMax"/>
        </c:scaling>
        <c:delete val="1"/>
        <c:axPos val="t"/>
        <c:majorTickMark val="out"/>
        <c:minorTickMark val="none"/>
        <c:tickLblPos val="nextTo"/>
        <c:crossAx val="530413120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7.0382550220438128E-2"/>
          <c:y val="0.82231624961470562"/>
          <c:w val="0.88260099840461115"/>
          <c:h val="0.149905941472618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baseline="0"/>
              <a:t>250814 05</a:t>
            </a:r>
            <a:r>
              <a:rPr lang="ko-KR" altLang="en-US" baseline="0"/>
              <a:t>시 대곡교</a:t>
            </a:r>
            <a:endParaRPr lang="ko-KR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유역강우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val>
            <c:numRef>
              <c:f>'20250814_05'!$J$38:$J$73</c:f>
              <c:numCache>
                <c:formatCode>General</c:formatCode>
                <c:ptCount val="36"/>
                <c:pt idx="0">
                  <c:v>1.837</c:v>
                </c:pt>
                <c:pt idx="1">
                  <c:v>6.9649999999999999</c:v>
                </c:pt>
                <c:pt idx="2">
                  <c:v>1.359</c:v>
                </c:pt>
                <c:pt idx="3">
                  <c:v>1.391</c:v>
                </c:pt>
                <c:pt idx="4">
                  <c:v>0.375</c:v>
                </c:pt>
                <c:pt idx="5">
                  <c:v>0.25</c:v>
                </c:pt>
                <c:pt idx="6">
                  <c:v>1.2769999999999999</c:v>
                </c:pt>
                <c:pt idx="7">
                  <c:v>1.649</c:v>
                </c:pt>
                <c:pt idx="8">
                  <c:v>1.103</c:v>
                </c:pt>
                <c:pt idx="9">
                  <c:v>0.28599999999999998</c:v>
                </c:pt>
                <c:pt idx="10">
                  <c:v>0.64900000000000002</c:v>
                </c:pt>
                <c:pt idx="11">
                  <c:v>0.59099999999999997</c:v>
                </c:pt>
                <c:pt idx="12">
                  <c:v>1.5740000000000001</c:v>
                </c:pt>
                <c:pt idx="13">
                  <c:v>1.708</c:v>
                </c:pt>
                <c:pt idx="14">
                  <c:v>0.58199999999999996</c:v>
                </c:pt>
                <c:pt idx="15">
                  <c:v>0.48599999999999999</c:v>
                </c:pt>
                <c:pt idx="16">
                  <c:v>2.3159999999999998</c:v>
                </c:pt>
                <c:pt idx="17">
                  <c:v>6.8520000000000003</c:v>
                </c:pt>
                <c:pt idx="18">
                  <c:v>15.135</c:v>
                </c:pt>
                <c:pt idx="19">
                  <c:v>4.3819999999999997</c:v>
                </c:pt>
                <c:pt idx="20">
                  <c:v>0.498</c:v>
                </c:pt>
                <c:pt idx="21">
                  <c:v>0.125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0.251</c:v>
                </c:pt>
                <c:pt idx="33">
                  <c:v>0.57199999999999995</c:v>
                </c:pt>
                <c:pt idx="34">
                  <c:v>0.17699999999999999</c:v>
                </c:pt>
                <c:pt idx="35">
                  <c:v>1.6E-2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204-4E2A-8C79-0AFEAD34239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28099856"/>
        <c:axId val="530413120"/>
      </c:barChart>
      <c:lineChart>
        <c:grouping val="standard"/>
        <c:varyColors val="0"/>
        <c:ser>
          <c:idx val="3"/>
          <c:order val="1"/>
          <c:tx>
            <c:v>관측수위</c:v>
          </c:tx>
          <c:spPr>
            <a:ln w="2222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val>
            <c:numRef>
              <c:f>'20250814_05'!$I$38:$I$73</c:f>
              <c:numCache>
                <c:formatCode>General</c:formatCode>
                <c:ptCount val="36"/>
                <c:pt idx="0">
                  <c:v>2.14</c:v>
                </c:pt>
                <c:pt idx="1">
                  <c:v>2.14</c:v>
                </c:pt>
                <c:pt idx="2">
                  <c:v>2.14</c:v>
                </c:pt>
                <c:pt idx="3">
                  <c:v>2.15</c:v>
                </c:pt>
                <c:pt idx="4">
                  <c:v>2.16</c:v>
                </c:pt>
                <c:pt idx="5">
                  <c:v>2.1800000000000002</c:v>
                </c:pt>
                <c:pt idx="6">
                  <c:v>2.86</c:v>
                </c:pt>
                <c:pt idx="7">
                  <c:v>2.93</c:v>
                </c:pt>
                <c:pt idx="8">
                  <c:v>2.91</c:v>
                </c:pt>
                <c:pt idx="9">
                  <c:v>2.86</c:v>
                </c:pt>
                <c:pt idx="10">
                  <c:v>2.84</c:v>
                </c:pt>
                <c:pt idx="11">
                  <c:v>2.86</c:v>
                </c:pt>
                <c:pt idx="12">
                  <c:v>2.88</c:v>
                </c:pt>
                <c:pt idx="13">
                  <c:v>2.89</c:v>
                </c:pt>
                <c:pt idx="14">
                  <c:v>2.87</c:v>
                </c:pt>
                <c:pt idx="15">
                  <c:v>2.85</c:v>
                </c:pt>
                <c:pt idx="16">
                  <c:v>2.84</c:v>
                </c:pt>
                <c:pt idx="17">
                  <c:v>2.85</c:v>
                </c:pt>
                <c:pt idx="18">
                  <c:v>2.97</c:v>
                </c:pt>
                <c:pt idx="19">
                  <c:v>3.25</c:v>
                </c:pt>
                <c:pt idx="20">
                  <c:v>3.53</c:v>
                </c:pt>
                <c:pt idx="21">
                  <c:v>3.84</c:v>
                </c:pt>
                <c:pt idx="22">
                  <c:v>4.01</c:v>
                </c:pt>
                <c:pt idx="23">
                  <c:v>4.0599999999999996</c:v>
                </c:pt>
                <c:pt idx="24">
                  <c:v>4.0599999999999996</c:v>
                </c:pt>
                <c:pt idx="25">
                  <c:v>4.0199999999999996</c:v>
                </c:pt>
                <c:pt idx="26">
                  <c:v>3.95</c:v>
                </c:pt>
                <c:pt idx="27">
                  <c:v>3.85</c:v>
                </c:pt>
                <c:pt idx="28">
                  <c:v>3.72</c:v>
                </c:pt>
                <c:pt idx="29">
                  <c:v>3.59</c:v>
                </c:pt>
                <c:pt idx="30">
                  <c:v>3.47</c:v>
                </c:pt>
                <c:pt idx="31">
                  <c:v>3.37</c:v>
                </c:pt>
                <c:pt idx="32">
                  <c:v>3.28</c:v>
                </c:pt>
                <c:pt idx="33">
                  <c:v>3.2</c:v>
                </c:pt>
                <c:pt idx="34">
                  <c:v>3.11</c:v>
                </c:pt>
                <c:pt idx="35">
                  <c:v>3.04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204-4E2A-8C79-0AFEAD342392}"/>
            </c:ext>
          </c:extLst>
        </c:ser>
        <c:ser>
          <c:idx val="1"/>
          <c:order val="2"/>
          <c:tx>
            <c:v>예측수위 (MAE)</c:v>
          </c:tx>
          <c:spPr>
            <a:ln w="2222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'20250814_05'!$M$38:$M$73</c:f>
              <c:numCache>
                <c:formatCode>0.00</c:formatCode>
                <c:ptCount val="36"/>
                <c:pt idx="0">
                  <c:v>2.1769075</c:v>
                </c:pt>
                <c:pt idx="1">
                  <c:v>2.1986306</c:v>
                </c:pt>
                <c:pt idx="2">
                  <c:v>2.2314086</c:v>
                </c:pt>
                <c:pt idx="3">
                  <c:v>2.2099069999999998</c:v>
                </c:pt>
                <c:pt idx="4">
                  <c:v>2.2712352</c:v>
                </c:pt>
                <c:pt idx="5">
                  <c:v>2.3565109</c:v>
                </c:pt>
                <c:pt idx="6">
                  <c:v>2.4037573000000001</c:v>
                </c:pt>
                <c:pt idx="7">
                  <c:v>2.4699578</c:v>
                </c:pt>
                <c:pt idx="8">
                  <c:v>2.5737044999999998</c:v>
                </c:pt>
                <c:pt idx="9">
                  <c:v>2.5175550000000002</c:v>
                </c:pt>
                <c:pt idx="10">
                  <c:v>2.5418587000000001</c:v>
                </c:pt>
                <c:pt idx="11">
                  <c:v>2.5537329999999998</c:v>
                </c:pt>
                <c:pt idx="12">
                  <c:v>2.5372699999999999</c:v>
                </c:pt>
                <c:pt idx="13">
                  <c:v>2.5546190000000002</c:v>
                </c:pt>
                <c:pt idx="14">
                  <c:v>2.6157020000000002</c:v>
                </c:pt>
                <c:pt idx="15">
                  <c:v>2.7483996999999998</c:v>
                </c:pt>
                <c:pt idx="16">
                  <c:v>2.9135176999999999</c:v>
                </c:pt>
                <c:pt idx="17">
                  <c:v>3.2725426999999998</c:v>
                </c:pt>
                <c:pt idx="18">
                  <c:v>3.2800725000000002</c:v>
                </c:pt>
                <c:pt idx="19">
                  <c:v>3.4471837999999999</c:v>
                </c:pt>
                <c:pt idx="20">
                  <c:v>3.4865167000000001</c:v>
                </c:pt>
                <c:pt idx="21">
                  <c:v>3.8008975999999999</c:v>
                </c:pt>
                <c:pt idx="22">
                  <c:v>3.9029104999999999</c:v>
                </c:pt>
                <c:pt idx="23">
                  <c:v>3.9324626999999999</c:v>
                </c:pt>
                <c:pt idx="24">
                  <c:v>3.9759183</c:v>
                </c:pt>
                <c:pt idx="25">
                  <c:v>3.9675821999999998</c:v>
                </c:pt>
                <c:pt idx="26">
                  <c:v>3.9122686</c:v>
                </c:pt>
                <c:pt idx="27">
                  <c:v>3.9495746999999999</c:v>
                </c:pt>
                <c:pt idx="28">
                  <c:v>3.9163109999999999</c:v>
                </c:pt>
                <c:pt idx="29">
                  <c:v>3.8422234</c:v>
                </c:pt>
                <c:pt idx="30">
                  <c:v>3.7604639999999998</c:v>
                </c:pt>
                <c:pt idx="31">
                  <c:v>3.6569777000000001</c:v>
                </c:pt>
                <c:pt idx="32">
                  <c:v>3.5499904</c:v>
                </c:pt>
                <c:pt idx="33">
                  <c:v>3.4639459000000001</c:v>
                </c:pt>
                <c:pt idx="34">
                  <c:v>3.3693906999999998</c:v>
                </c:pt>
                <c:pt idx="35">
                  <c:v>3.2730222000000002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204-4E2A-8C79-0AFEAD342392}"/>
            </c:ext>
          </c:extLst>
        </c:ser>
        <c:ser>
          <c:idx val="2"/>
          <c:order val="3"/>
          <c:tx>
            <c:v>예측수위 (MSE)</c:v>
          </c:tx>
          <c:spPr>
            <a:ln w="2222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val>
            <c:numRef>
              <c:f>'20250814_05'!$O$38:$O$73</c:f>
              <c:numCache>
                <c:formatCode>0.00</c:formatCode>
                <c:ptCount val="36"/>
                <c:pt idx="0">
                  <c:v>2.1653327999999998</c:v>
                </c:pt>
                <c:pt idx="1">
                  <c:v>2.1438253</c:v>
                </c:pt>
                <c:pt idx="2">
                  <c:v>2.174169</c:v>
                </c:pt>
                <c:pt idx="3">
                  <c:v>2.2095672999999998</c:v>
                </c:pt>
                <c:pt idx="4">
                  <c:v>2.2819569999999998</c:v>
                </c:pt>
                <c:pt idx="5">
                  <c:v>2.3361735000000001</c:v>
                </c:pt>
                <c:pt idx="6">
                  <c:v>2.3521904999999999</c:v>
                </c:pt>
                <c:pt idx="7">
                  <c:v>2.4067535000000002</c:v>
                </c:pt>
                <c:pt idx="8">
                  <c:v>2.4266239999999999</c:v>
                </c:pt>
                <c:pt idx="9">
                  <c:v>2.427384</c:v>
                </c:pt>
                <c:pt idx="10">
                  <c:v>2.4702003000000001</c:v>
                </c:pt>
                <c:pt idx="11">
                  <c:v>2.4708078000000002</c:v>
                </c:pt>
                <c:pt idx="12">
                  <c:v>2.4708220000000001</c:v>
                </c:pt>
                <c:pt idx="13">
                  <c:v>2.478078</c:v>
                </c:pt>
                <c:pt idx="14">
                  <c:v>2.4889006999999999</c:v>
                </c:pt>
                <c:pt idx="15">
                  <c:v>2.6192684000000002</c:v>
                </c:pt>
                <c:pt idx="16">
                  <c:v>2.8023056999999998</c:v>
                </c:pt>
                <c:pt idx="17">
                  <c:v>3.0193620000000001</c:v>
                </c:pt>
                <c:pt idx="18">
                  <c:v>3.1560516000000001</c:v>
                </c:pt>
                <c:pt idx="19">
                  <c:v>3.3666822999999999</c:v>
                </c:pt>
                <c:pt idx="20">
                  <c:v>3.5988235</c:v>
                </c:pt>
                <c:pt idx="21">
                  <c:v>3.7702429999999998</c:v>
                </c:pt>
                <c:pt idx="22">
                  <c:v>3.8951544999999999</c:v>
                </c:pt>
                <c:pt idx="23">
                  <c:v>3.8669958000000002</c:v>
                </c:pt>
                <c:pt idx="24">
                  <c:v>3.9533718000000002</c:v>
                </c:pt>
                <c:pt idx="25">
                  <c:v>3.9347403000000001</c:v>
                </c:pt>
                <c:pt idx="26">
                  <c:v>3.8694918</c:v>
                </c:pt>
                <c:pt idx="27">
                  <c:v>3.7728226</c:v>
                </c:pt>
                <c:pt idx="28">
                  <c:v>3.6791217000000001</c:v>
                </c:pt>
                <c:pt idx="29">
                  <c:v>3.5558882000000001</c:v>
                </c:pt>
                <c:pt idx="30">
                  <c:v>3.5015575999999999</c:v>
                </c:pt>
                <c:pt idx="31">
                  <c:v>3.3724384000000001</c:v>
                </c:pt>
                <c:pt idx="32">
                  <c:v>3.2615582999999999</c:v>
                </c:pt>
                <c:pt idx="33">
                  <c:v>3.1794384</c:v>
                </c:pt>
                <c:pt idx="34">
                  <c:v>3.1047752000000002</c:v>
                </c:pt>
                <c:pt idx="35">
                  <c:v>3.0354294999999998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1204-4E2A-8C79-0AFEAD34239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98807840"/>
        <c:axId val="530411872"/>
      </c:lineChart>
      <c:catAx>
        <c:axId val="398807840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30411872"/>
        <c:crosses val="autoZero"/>
        <c:auto val="1"/>
        <c:lblAlgn val="ctr"/>
        <c:lblOffset val="100"/>
        <c:noMultiLvlLbl val="0"/>
      </c:catAx>
      <c:valAx>
        <c:axId val="5304118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98807840"/>
        <c:crosses val="autoZero"/>
        <c:crossBetween val="between"/>
      </c:valAx>
      <c:valAx>
        <c:axId val="530413120"/>
        <c:scaling>
          <c:orientation val="maxMin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28099856"/>
        <c:crosses val="max"/>
        <c:crossBetween val="between"/>
      </c:valAx>
      <c:catAx>
        <c:axId val="528099856"/>
        <c:scaling>
          <c:orientation val="minMax"/>
        </c:scaling>
        <c:delete val="1"/>
        <c:axPos val="t"/>
        <c:majorTickMark val="out"/>
        <c:minorTickMark val="none"/>
        <c:tickLblPos val="nextTo"/>
        <c:crossAx val="530413120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7.0382550220438128E-2"/>
          <c:y val="0.82231624961470562"/>
          <c:w val="0.88260099840461115"/>
          <c:h val="0.149905941472618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baseline="0"/>
              <a:t>250814 06</a:t>
            </a:r>
            <a:r>
              <a:rPr lang="ko-KR" altLang="en-US" baseline="0"/>
              <a:t>시 대곡교</a:t>
            </a:r>
            <a:endParaRPr lang="ko-KR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유역강우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val>
            <c:numRef>
              <c:f>'20250814_06'!$J$38:$J$73</c:f>
              <c:numCache>
                <c:formatCode>General</c:formatCode>
                <c:ptCount val="36"/>
                <c:pt idx="0">
                  <c:v>1.2769999999999999</c:v>
                </c:pt>
                <c:pt idx="1">
                  <c:v>1.649</c:v>
                </c:pt>
                <c:pt idx="2">
                  <c:v>1.103</c:v>
                </c:pt>
                <c:pt idx="3">
                  <c:v>0.28599999999999998</c:v>
                </c:pt>
                <c:pt idx="4">
                  <c:v>0.64900000000000002</c:v>
                </c:pt>
                <c:pt idx="5">
                  <c:v>0.59099999999999997</c:v>
                </c:pt>
                <c:pt idx="6">
                  <c:v>1.5740000000000001</c:v>
                </c:pt>
                <c:pt idx="7">
                  <c:v>1.708</c:v>
                </c:pt>
                <c:pt idx="8">
                  <c:v>0.58199999999999996</c:v>
                </c:pt>
                <c:pt idx="9">
                  <c:v>0.48599999999999999</c:v>
                </c:pt>
                <c:pt idx="10">
                  <c:v>2.3159999999999998</c:v>
                </c:pt>
                <c:pt idx="11">
                  <c:v>6.8520000000000003</c:v>
                </c:pt>
                <c:pt idx="12">
                  <c:v>15.135</c:v>
                </c:pt>
                <c:pt idx="13">
                  <c:v>4.3819999999999997</c:v>
                </c:pt>
                <c:pt idx="14">
                  <c:v>0.498</c:v>
                </c:pt>
                <c:pt idx="15">
                  <c:v>0.125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0.251</c:v>
                </c:pt>
                <c:pt idx="27">
                  <c:v>0.57199999999999995</c:v>
                </c:pt>
                <c:pt idx="28">
                  <c:v>0.17699999999999999</c:v>
                </c:pt>
                <c:pt idx="29">
                  <c:v>1.6E-2</c:v>
                </c:pt>
                <c:pt idx="30">
                  <c:v>0</c:v>
                </c:pt>
                <c:pt idx="31">
                  <c:v>1.6E-2</c:v>
                </c:pt>
                <c:pt idx="32">
                  <c:v>0.161</c:v>
                </c:pt>
                <c:pt idx="33">
                  <c:v>0.373</c:v>
                </c:pt>
                <c:pt idx="34">
                  <c:v>0</c:v>
                </c:pt>
                <c:pt idx="3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7F4-4EC8-A27A-35CC9E44A9B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28099856"/>
        <c:axId val="530413120"/>
      </c:barChart>
      <c:lineChart>
        <c:grouping val="standard"/>
        <c:varyColors val="0"/>
        <c:ser>
          <c:idx val="3"/>
          <c:order val="1"/>
          <c:tx>
            <c:v>관측수위</c:v>
          </c:tx>
          <c:spPr>
            <a:ln w="2222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val>
            <c:numRef>
              <c:f>'20250814_06'!$I$38:$I$73</c:f>
              <c:numCache>
                <c:formatCode>General</c:formatCode>
                <c:ptCount val="36"/>
                <c:pt idx="0">
                  <c:v>2.86</c:v>
                </c:pt>
                <c:pt idx="1">
                  <c:v>2.93</c:v>
                </c:pt>
                <c:pt idx="2">
                  <c:v>2.91</c:v>
                </c:pt>
                <c:pt idx="3">
                  <c:v>2.86</c:v>
                </c:pt>
                <c:pt idx="4">
                  <c:v>2.84</c:v>
                </c:pt>
                <c:pt idx="5">
                  <c:v>2.86</c:v>
                </c:pt>
                <c:pt idx="6">
                  <c:v>2.88</c:v>
                </c:pt>
                <c:pt idx="7">
                  <c:v>2.89</c:v>
                </c:pt>
                <c:pt idx="8">
                  <c:v>2.87</c:v>
                </c:pt>
                <c:pt idx="9">
                  <c:v>2.85</c:v>
                </c:pt>
                <c:pt idx="10">
                  <c:v>2.84</c:v>
                </c:pt>
                <c:pt idx="11">
                  <c:v>2.85</c:v>
                </c:pt>
                <c:pt idx="12">
                  <c:v>2.97</c:v>
                </c:pt>
                <c:pt idx="13">
                  <c:v>3.25</c:v>
                </c:pt>
                <c:pt idx="14">
                  <c:v>3.53</c:v>
                </c:pt>
                <c:pt idx="15">
                  <c:v>3.84</c:v>
                </c:pt>
                <c:pt idx="16">
                  <c:v>4.01</c:v>
                </c:pt>
                <c:pt idx="17">
                  <c:v>4.0599999999999996</c:v>
                </c:pt>
                <c:pt idx="18">
                  <c:v>4.0599999999999996</c:v>
                </c:pt>
                <c:pt idx="19">
                  <c:v>4.0199999999999996</c:v>
                </c:pt>
                <c:pt idx="20">
                  <c:v>3.95</c:v>
                </c:pt>
                <c:pt idx="21">
                  <c:v>3.85</c:v>
                </c:pt>
                <c:pt idx="22">
                  <c:v>3.72</c:v>
                </c:pt>
                <c:pt idx="23">
                  <c:v>3.59</c:v>
                </c:pt>
                <c:pt idx="24">
                  <c:v>3.47</c:v>
                </c:pt>
                <c:pt idx="25">
                  <c:v>3.37</c:v>
                </c:pt>
                <c:pt idx="26">
                  <c:v>3.28</c:v>
                </c:pt>
                <c:pt idx="27">
                  <c:v>3.2</c:v>
                </c:pt>
                <c:pt idx="28">
                  <c:v>3.11</c:v>
                </c:pt>
                <c:pt idx="29">
                  <c:v>3.04</c:v>
                </c:pt>
                <c:pt idx="30">
                  <c:v>2.97</c:v>
                </c:pt>
                <c:pt idx="31">
                  <c:v>2.91</c:v>
                </c:pt>
                <c:pt idx="32">
                  <c:v>2.85</c:v>
                </c:pt>
                <c:pt idx="33">
                  <c:v>2.81</c:v>
                </c:pt>
                <c:pt idx="34">
                  <c:v>2.79</c:v>
                </c:pt>
                <c:pt idx="35">
                  <c:v>2.77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7F4-4EC8-A27A-35CC9E44A9B4}"/>
            </c:ext>
          </c:extLst>
        </c:ser>
        <c:ser>
          <c:idx val="1"/>
          <c:order val="2"/>
          <c:tx>
            <c:v>예측수위 (MAE)</c:v>
          </c:tx>
          <c:spPr>
            <a:ln w="2222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'20250814_06'!$M$38:$M$73</c:f>
              <c:numCache>
                <c:formatCode>0.00</c:formatCode>
                <c:ptCount val="36"/>
                <c:pt idx="0">
                  <c:v>2.2012602999999999</c:v>
                </c:pt>
                <c:pt idx="1">
                  <c:v>2.2262974</c:v>
                </c:pt>
                <c:pt idx="2">
                  <c:v>2.2512395000000001</c:v>
                </c:pt>
                <c:pt idx="3">
                  <c:v>2.3350710000000001</c:v>
                </c:pt>
                <c:pt idx="4">
                  <c:v>2.4090690000000001</c:v>
                </c:pt>
                <c:pt idx="5">
                  <c:v>2.4973480000000001</c:v>
                </c:pt>
                <c:pt idx="6">
                  <c:v>2.4515172999999999</c:v>
                </c:pt>
                <c:pt idx="7">
                  <c:v>2.4402986000000002</c:v>
                </c:pt>
                <c:pt idx="8">
                  <c:v>2.5001416000000001</c:v>
                </c:pt>
                <c:pt idx="9">
                  <c:v>2.6084485000000002</c:v>
                </c:pt>
                <c:pt idx="10">
                  <c:v>2.7281884999999999</c:v>
                </c:pt>
                <c:pt idx="11">
                  <c:v>2.9809646999999999</c:v>
                </c:pt>
                <c:pt idx="12">
                  <c:v>3.1404141999999999</c:v>
                </c:pt>
                <c:pt idx="13">
                  <c:v>3.2978489999999998</c:v>
                </c:pt>
                <c:pt idx="14">
                  <c:v>3.5388060000000001</c:v>
                </c:pt>
                <c:pt idx="15">
                  <c:v>3.6214807000000002</c:v>
                </c:pt>
                <c:pt idx="16">
                  <c:v>3.7330098</c:v>
                </c:pt>
                <c:pt idx="17">
                  <c:v>3.9556901</c:v>
                </c:pt>
                <c:pt idx="18">
                  <c:v>3.8946806999999999</c:v>
                </c:pt>
                <c:pt idx="19">
                  <c:v>3.9366813</c:v>
                </c:pt>
                <c:pt idx="20">
                  <c:v>3.9264869999999998</c:v>
                </c:pt>
                <c:pt idx="21">
                  <c:v>3.9102166</c:v>
                </c:pt>
                <c:pt idx="22">
                  <c:v>3.8319782999999998</c:v>
                </c:pt>
                <c:pt idx="23">
                  <c:v>3.7315771999999998</c:v>
                </c:pt>
                <c:pt idx="24">
                  <c:v>3.6084109999999998</c:v>
                </c:pt>
                <c:pt idx="25">
                  <c:v>3.5006273000000001</c:v>
                </c:pt>
                <c:pt idx="26">
                  <c:v>3.3718295</c:v>
                </c:pt>
                <c:pt idx="27">
                  <c:v>3.2879813000000002</c:v>
                </c:pt>
                <c:pt idx="28">
                  <c:v>3.2065608999999999</c:v>
                </c:pt>
                <c:pt idx="29">
                  <c:v>3.1205973999999999</c:v>
                </c:pt>
                <c:pt idx="30">
                  <c:v>3.0197983000000002</c:v>
                </c:pt>
                <c:pt idx="31">
                  <c:v>2.95438</c:v>
                </c:pt>
                <c:pt idx="32">
                  <c:v>2.8886685000000001</c:v>
                </c:pt>
                <c:pt idx="33">
                  <c:v>2.824516</c:v>
                </c:pt>
                <c:pt idx="34">
                  <c:v>2.7711844000000001</c:v>
                </c:pt>
                <c:pt idx="35">
                  <c:v>2.7185497000000001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7F4-4EC8-A27A-35CC9E44A9B4}"/>
            </c:ext>
          </c:extLst>
        </c:ser>
        <c:ser>
          <c:idx val="2"/>
          <c:order val="3"/>
          <c:tx>
            <c:v>예측수위 (MSE)</c:v>
          </c:tx>
          <c:spPr>
            <a:ln w="2222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val>
            <c:numRef>
              <c:f>'20250814_06'!$O$38:$O$73</c:f>
              <c:numCache>
                <c:formatCode>0.00</c:formatCode>
                <c:ptCount val="36"/>
                <c:pt idx="0">
                  <c:v>2.3042029999999998</c:v>
                </c:pt>
                <c:pt idx="1">
                  <c:v>2.3537319999999999</c:v>
                </c:pt>
                <c:pt idx="2">
                  <c:v>2.4192575999999999</c:v>
                </c:pt>
                <c:pt idx="3">
                  <c:v>2.4152515000000001</c:v>
                </c:pt>
                <c:pt idx="4">
                  <c:v>2.4502141000000002</c:v>
                </c:pt>
                <c:pt idx="5">
                  <c:v>2.4895277</c:v>
                </c:pt>
                <c:pt idx="6">
                  <c:v>2.5180425999999998</c:v>
                </c:pt>
                <c:pt idx="7">
                  <c:v>2.5598652</c:v>
                </c:pt>
                <c:pt idx="8">
                  <c:v>2.6478944000000002</c:v>
                </c:pt>
                <c:pt idx="9">
                  <c:v>2.6674502000000002</c:v>
                </c:pt>
                <c:pt idx="10">
                  <c:v>2.7528039999999998</c:v>
                </c:pt>
                <c:pt idx="11">
                  <c:v>2.8702179999999999</c:v>
                </c:pt>
                <c:pt idx="12">
                  <c:v>3.1333869000000001</c:v>
                </c:pt>
                <c:pt idx="13">
                  <c:v>3.4081313999999998</c:v>
                </c:pt>
                <c:pt idx="14">
                  <c:v>3.6843602999999998</c:v>
                </c:pt>
                <c:pt idx="15">
                  <c:v>3.8642970000000001</c:v>
                </c:pt>
                <c:pt idx="16">
                  <c:v>3.9845109999999999</c:v>
                </c:pt>
                <c:pt idx="17">
                  <c:v>3.9804746999999998</c:v>
                </c:pt>
                <c:pt idx="18">
                  <c:v>4.0657243999999997</c:v>
                </c:pt>
                <c:pt idx="19">
                  <c:v>4.0425424999999997</c:v>
                </c:pt>
                <c:pt idx="20">
                  <c:v>3.9447982000000001</c:v>
                </c:pt>
                <c:pt idx="21">
                  <c:v>3.8079795999999999</c:v>
                </c:pt>
                <c:pt idx="22">
                  <c:v>3.6811476000000001</c:v>
                </c:pt>
                <c:pt idx="23">
                  <c:v>3.4886347999999998</c:v>
                </c:pt>
                <c:pt idx="24">
                  <c:v>3.4095209</c:v>
                </c:pt>
                <c:pt idx="25">
                  <c:v>3.2701807000000001</c:v>
                </c:pt>
                <c:pt idx="26">
                  <c:v>3.1138880000000002</c:v>
                </c:pt>
                <c:pt idx="27">
                  <c:v>3.0203025000000001</c:v>
                </c:pt>
                <c:pt idx="28">
                  <c:v>2.9384570000000001</c:v>
                </c:pt>
                <c:pt idx="29">
                  <c:v>2.8756336999999998</c:v>
                </c:pt>
                <c:pt idx="30">
                  <c:v>2.8342253999999998</c:v>
                </c:pt>
                <c:pt idx="31">
                  <c:v>2.7939069999999999</c:v>
                </c:pt>
                <c:pt idx="32">
                  <c:v>2.7684312000000002</c:v>
                </c:pt>
                <c:pt idx="33">
                  <c:v>2.7132274999999999</c:v>
                </c:pt>
                <c:pt idx="34">
                  <c:v>2.6632802</c:v>
                </c:pt>
                <c:pt idx="35">
                  <c:v>2.6250206999999999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D7F4-4EC8-A27A-35CC9E44A9B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98807840"/>
        <c:axId val="530411872"/>
      </c:lineChart>
      <c:catAx>
        <c:axId val="398807840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30411872"/>
        <c:crosses val="autoZero"/>
        <c:auto val="1"/>
        <c:lblAlgn val="ctr"/>
        <c:lblOffset val="100"/>
        <c:noMultiLvlLbl val="0"/>
      </c:catAx>
      <c:valAx>
        <c:axId val="5304118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98807840"/>
        <c:crosses val="autoZero"/>
        <c:crossBetween val="between"/>
      </c:valAx>
      <c:valAx>
        <c:axId val="530413120"/>
        <c:scaling>
          <c:orientation val="maxMin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28099856"/>
        <c:crosses val="max"/>
        <c:crossBetween val="between"/>
      </c:valAx>
      <c:catAx>
        <c:axId val="528099856"/>
        <c:scaling>
          <c:orientation val="minMax"/>
        </c:scaling>
        <c:delete val="1"/>
        <c:axPos val="t"/>
        <c:majorTickMark val="out"/>
        <c:minorTickMark val="none"/>
        <c:tickLblPos val="nextTo"/>
        <c:crossAx val="530413120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7.0382550220438128E-2"/>
          <c:y val="0.82231624961470562"/>
          <c:w val="0.88260099840461115"/>
          <c:h val="0.149905941472618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baseline="0"/>
              <a:t>250814 07</a:t>
            </a:r>
            <a:r>
              <a:rPr lang="ko-KR" altLang="en-US" baseline="0"/>
              <a:t>시 대곡교</a:t>
            </a:r>
            <a:endParaRPr lang="ko-KR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유역강우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val>
            <c:numRef>
              <c:f>'20250814_07'!$J$38:$J$73</c:f>
              <c:numCache>
                <c:formatCode>General</c:formatCode>
                <c:ptCount val="36"/>
                <c:pt idx="0">
                  <c:v>1.5740000000000001</c:v>
                </c:pt>
                <c:pt idx="1">
                  <c:v>1.708</c:v>
                </c:pt>
                <c:pt idx="2">
                  <c:v>0.58199999999999996</c:v>
                </c:pt>
                <c:pt idx="3">
                  <c:v>0.48599999999999999</c:v>
                </c:pt>
                <c:pt idx="4">
                  <c:v>2.3159999999999998</c:v>
                </c:pt>
                <c:pt idx="5">
                  <c:v>6.8520000000000003</c:v>
                </c:pt>
                <c:pt idx="6">
                  <c:v>15.135</c:v>
                </c:pt>
                <c:pt idx="7">
                  <c:v>4.3819999999999997</c:v>
                </c:pt>
                <c:pt idx="8">
                  <c:v>0.498</c:v>
                </c:pt>
                <c:pt idx="9">
                  <c:v>0.125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0.251</c:v>
                </c:pt>
                <c:pt idx="21">
                  <c:v>0.57199999999999995</c:v>
                </c:pt>
                <c:pt idx="22">
                  <c:v>0.17699999999999999</c:v>
                </c:pt>
                <c:pt idx="23">
                  <c:v>1.6E-2</c:v>
                </c:pt>
                <c:pt idx="24">
                  <c:v>0</c:v>
                </c:pt>
                <c:pt idx="25">
                  <c:v>1.6E-2</c:v>
                </c:pt>
                <c:pt idx="26">
                  <c:v>0.161</c:v>
                </c:pt>
                <c:pt idx="27">
                  <c:v>0.373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03F-450E-8A8C-58D57B94EF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28099856"/>
        <c:axId val="530413120"/>
      </c:barChart>
      <c:lineChart>
        <c:grouping val="standard"/>
        <c:varyColors val="0"/>
        <c:ser>
          <c:idx val="3"/>
          <c:order val="1"/>
          <c:tx>
            <c:v>관측수위</c:v>
          </c:tx>
          <c:spPr>
            <a:ln w="2222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val>
            <c:numRef>
              <c:f>'20250814_07'!$I$38:$I$73</c:f>
              <c:numCache>
                <c:formatCode>General</c:formatCode>
                <c:ptCount val="36"/>
                <c:pt idx="0">
                  <c:v>2.88</c:v>
                </c:pt>
                <c:pt idx="1">
                  <c:v>2.89</c:v>
                </c:pt>
                <c:pt idx="2">
                  <c:v>2.87</c:v>
                </c:pt>
                <c:pt idx="3">
                  <c:v>2.85</c:v>
                </c:pt>
                <c:pt idx="4">
                  <c:v>2.84</c:v>
                </c:pt>
                <c:pt idx="5">
                  <c:v>2.85</c:v>
                </c:pt>
                <c:pt idx="6">
                  <c:v>2.97</c:v>
                </c:pt>
                <c:pt idx="7">
                  <c:v>3.25</c:v>
                </c:pt>
                <c:pt idx="8">
                  <c:v>3.53</c:v>
                </c:pt>
                <c:pt idx="9">
                  <c:v>3.84</c:v>
                </c:pt>
                <c:pt idx="10">
                  <c:v>4.01</c:v>
                </c:pt>
                <c:pt idx="11">
                  <c:v>4.0599999999999996</c:v>
                </c:pt>
                <c:pt idx="12">
                  <c:v>4.0599999999999996</c:v>
                </c:pt>
                <c:pt idx="13">
                  <c:v>4.0199999999999996</c:v>
                </c:pt>
                <c:pt idx="14">
                  <c:v>3.95</c:v>
                </c:pt>
                <c:pt idx="15">
                  <c:v>3.85</c:v>
                </c:pt>
                <c:pt idx="16">
                  <c:v>3.72</c:v>
                </c:pt>
                <c:pt idx="17">
                  <c:v>3.59</c:v>
                </c:pt>
                <c:pt idx="18">
                  <c:v>3.47</c:v>
                </c:pt>
                <c:pt idx="19">
                  <c:v>3.37</c:v>
                </c:pt>
                <c:pt idx="20">
                  <c:v>3.28</c:v>
                </c:pt>
                <c:pt idx="21">
                  <c:v>3.2</c:v>
                </c:pt>
                <c:pt idx="22">
                  <c:v>3.11</c:v>
                </c:pt>
                <c:pt idx="23">
                  <c:v>3.04</c:v>
                </c:pt>
                <c:pt idx="24">
                  <c:v>2.97</c:v>
                </c:pt>
                <c:pt idx="25">
                  <c:v>2.91</c:v>
                </c:pt>
                <c:pt idx="26">
                  <c:v>2.85</c:v>
                </c:pt>
                <c:pt idx="27">
                  <c:v>2.81</c:v>
                </c:pt>
                <c:pt idx="28">
                  <c:v>2.79</c:v>
                </c:pt>
                <c:pt idx="29">
                  <c:v>2.77</c:v>
                </c:pt>
                <c:pt idx="30">
                  <c:v>2.76</c:v>
                </c:pt>
                <c:pt idx="31">
                  <c:v>2.75</c:v>
                </c:pt>
                <c:pt idx="32">
                  <c:v>2.75</c:v>
                </c:pt>
                <c:pt idx="33">
                  <c:v>2.74</c:v>
                </c:pt>
                <c:pt idx="34">
                  <c:v>2.72</c:v>
                </c:pt>
                <c:pt idx="35">
                  <c:v>2.71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03F-450E-8A8C-58D57B94EF2C}"/>
            </c:ext>
          </c:extLst>
        </c:ser>
        <c:ser>
          <c:idx val="1"/>
          <c:order val="2"/>
          <c:tx>
            <c:v>예측수위 (MAE)</c:v>
          </c:tx>
          <c:spPr>
            <a:ln w="2222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'20250814_07'!$M$38:$M$73</c:f>
              <c:numCache>
                <c:formatCode>0.00</c:formatCode>
                <c:ptCount val="36"/>
                <c:pt idx="0">
                  <c:v>2.8580681999999999</c:v>
                </c:pt>
                <c:pt idx="1">
                  <c:v>2.8724294000000001</c:v>
                </c:pt>
                <c:pt idx="2">
                  <c:v>2.8947113</c:v>
                </c:pt>
                <c:pt idx="3">
                  <c:v>2.898746</c:v>
                </c:pt>
                <c:pt idx="4">
                  <c:v>2.943101</c:v>
                </c:pt>
                <c:pt idx="5">
                  <c:v>3.0434961</c:v>
                </c:pt>
                <c:pt idx="6">
                  <c:v>3.2063847000000001</c:v>
                </c:pt>
                <c:pt idx="7">
                  <c:v>3.4826429999999999</c:v>
                </c:pt>
                <c:pt idx="8">
                  <c:v>3.7781923000000002</c:v>
                </c:pt>
                <c:pt idx="9">
                  <c:v>3.9982310000000001</c:v>
                </c:pt>
                <c:pt idx="10">
                  <c:v>4.0971856000000004</c:v>
                </c:pt>
                <c:pt idx="11">
                  <c:v>4.2465710000000003</c:v>
                </c:pt>
                <c:pt idx="12">
                  <c:v>4.2316593999999998</c:v>
                </c:pt>
                <c:pt idx="13">
                  <c:v>4.1581916999999997</c:v>
                </c:pt>
                <c:pt idx="14">
                  <c:v>4.0780276999999998</c:v>
                </c:pt>
                <c:pt idx="15">
                  <c:v>4.0355433999999999</c:v>
                </c:pt>
                <c:pt idx="16">
                  <c:v>3.9926080000000002</c:v>
                </c:pt>
                <c:pt idx="17">
                  <c:v>3.9758043000000001</c:v>
                </c:pt>
                <c:pt idx="18">
                  <c:v>3.8775469999999999</c:v>
                </c:pt>
                <c:pt idx="19">
                  <c:v>3.8517722999999999</c:v>
                </c:pt>
                <c:pt idx="20">
                  <c:v>3.7660773000000001</c:v>
                </c:pt>
                <c:pt idx="21">
                  <c:v>3.6260161000000002</c:v>
                </c:pt>
                <c:pt idx="22">
                  <c:v>3.5108337000000001</c:v>
                </c:pt>
                <c:pt idx="23">
                  <c:v>3.3975759999999999</c:v>
                </c:pt>
                <c:pt idx="24">
                  <c:v>3.2707305</c:v>
                </c:pt>
                <c:pt idx="25">
                  <c:v>3.1909819000000001</c:v>
                </c:pt>
                <c:pt idx="26">
                  <c:v>3.1077024999999998</c:v>
                </c:pt>
                <c:pt idx="27">
                  <c:v>3.0324233</c:v>
                </c:pt>
                <c:pt idx="28">
                  <c:v>2.9682333000000001</c:v>
                </c:pt>
                <c:pt idx="29">
                  <c:v>2.9114816000000001</c:v>
                </c:pt>
                <c:pt idx="30">
                  <c:v>2.8252518000000002</c:v>
                </c:pt>
                <c:pt idx="31">
                  <c:v>2.7745516000000001</c:v>
                </c:pt>
                <c:pt idx="32">
                  <c:v>2.7175514999999999</c:v>
                </c:pt>
                <c:pt idx="33">
                  <c:v>2.6732326</c:v>
                </c:pt>
                <c:pt idx="34">
                  <c:v>2.6358488000000002</c:v>
                </c:pt>
                <c:pt idx="35">
                  <c:v>2.6006111999999999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03F-450E-8A8C-58D57B94EF2C}"/>
            </c:ext>
          </c:extLst>
        </c:ser>
        <c:ser>
          <c:idx val="2"/>
          <c:order val="3"/>
          <c:tx>
            <c:v>예측수위 (MSE)</c:v>
          </c:tx>
          <c:spPr>
            <a:ln w="2222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val>
            <c:numRef>
              <c:f>'20250814_07'!$O$38:$O$73</c:f>
              <c:numCache>
                <c:formatCode>0.00</c:formatCode>
                <c:ptCount val="36"/>
                <c:pt idx="0">
                  <c:v>2.8712569999999999</c:v>
                </c:pt>
                <c:pt idx="1">
                  <c:v>2.8699734000000001</c:v>
                </c:pt>
                <c:pt idx="2">
                  <c:v>2.8693420000000001</c:v>
                </c:pt>
                <c:pt idx="3">
                  <c:v>2.9573727000000001</c:v>
                </c:pt>
                <c:pt idx="4">
                  <c:v>2.9908260000000002</c:v>
                </c:pt>
                <c:pt idx="5">
                  <c:v>3.0585684999999998</c:v>
                </c:pt>
                <c:pt idx="6">
                  <c:v>3.1870134000000001</c:v>
                </c:pt>
                <c:pt idx="7">
                  <c:v>3.4078814999999998</c:v>
                </c:pt>
                <c:pt idx="8">
                  <c:v>3.7457625999999999</c:v>
                </c:pt>
                <c:pt idx="9">
                  <c:v>3.9626899</c:v>
                </c:pt>
                <c:pt idx="10">
                  <c:v>4.0600909999999999</c:v>
                </c:pt>
                <c:pt idx="11">
                  <c:v>4.032559</c:v>
                </c:pt>
                <c:pt idx="12">
                  <c:v>3.943003</c:v>
                </c:pt>
                <c:pt idx="13">
                  <c:v>3.8660019999999999</c:v>
                </c:pt>
                <c:pt idx="14">
                  <c:v>3.6784558000000001</c:v>
                </c:pt>
                <c:pt idx="15">
                  <c:v>3.5479617000000001</c:v>
                </c:pt>
                <c:pt idx="16">
                  <c:v>3.4338758</c:v>
                </c:pt>
                <c:pt idx="17">
                  <c:v>3.3173213000000001</c:v>
                </c:pt>
                <c:pt idx="18">
                  <c:v>3.3093897999999999</c:v>
                </c:pt>
                <c:pt idx="19">
                  <c:v>3.2691721999999999</c:v>
                </c:pt>
                <c:pt idx="20">
                  <c:v>3.2177419999999999</c:v>
                </c:pt>
                <c:pt idx="21">
                  <c:v>3.0975206000000002</c:v>
                </c:pt>
                <c:pt idx="22">
                  <c:v>3.0290666000000002</c:v>
                </c:pt>
                <c:pt idx="23">
                  <c:v>2.9552616999999999</c:v>
                </c:pt>
                <c:pt idx="24">
                  <c:v>2.8921193999999999</c:v>
                </c:pt>
                <c:pt idx="25">
                  <c:v>2.8277147</c:v>
                </c:pt>
                <c:pt idx="26">
                  <c:v>2.7236476000000001</c:v>
                </c:pt>
                <c:pt idx="27">
                  <c:v>2.6869082</c:v>
                </c:pt>
                <c:pt idx="28">
                  <c:v>2.6475529999999998</c:v>
                </c:pt>
                <c:pt idx="29">
                  <c:v>2.6244953</c:v>
                </c:pt>
                <c:pt idx="30">
                  <c:v>2.5962124000000002</c:v>
                </c:pt>
                <c:pt idx="31">
                  <c:v>2.579453</c:v>
                </c:pt>
                <c:pt idx="32">
                  <c:v>2.5751406999999999</c:v>
                </c:pt>
                <c:pt idx="33">
                  <c:v>2.5525967999999999</c:v>
                </c:pt>
                <c:pt idx="34">
                  <c:v>2.5326027999999998</c:v>
                </c:pt>
                <c:pt idx="35">
                  <c:v>2.5143665999999998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103F-450E-8A8C-58D57B94EF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98807840"/>
        <c:axId val="530411872"/>
      </c:lineChart>
      <c:catAx>
        <c:axId val="398807840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30411872"/>
        <c:crosses val="autoZero"/>
        <c:auto val="1"/>
        <c:lblAlgn val="ctr"/>
        <c:lblOffset val="100"/>
        <c:noMultiLvlLbl val="0"/>
      </c:catAx>
      <c:valAx>
        <c:axId val="5304118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98807840"/>
        <c:crosses val="autoZero"/>
        <c:crossBetween val="between"/>
      </c:valAx>
      <c:valAx>
        <c:axId val="530413120"/>
        <c:scaling>
          <c:orientation val="maxMin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28099856"/>
        <c:crosses val="max"/>
        <c:crossBetween val="between"/>
      </c:valAx>
      <c:catAx>
        <c:axId val="528099856"/>
        <c:scaling>
          <c:orientation val="minMax"/>
        </c:scaling>
        <c:delete val="1"/>
        <c:axPos val="t"/>
        <c:majorTickMark val="out"/>
        <c:minorTickMark val="none"/>
        <c:tickLblPos val="nextTo"/>
        <c:crossAx val="530413120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7.0382550220438128E-2"/>
          <c:y val="0.82231624961470562"/>
          <c:w val="0.88260099840461115"/>
          <c:h val="0.149905941472618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0354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9703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7069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9086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1387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500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4824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67109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36044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8280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8409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B72759B8-7332-44BD-B1FF-13450B6DA7DC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8753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0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4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png"/><Relationship Id="rId3" Type="http://schemas.openxmlformats.org/officeDocument/2006/relationships/image" Target="../media/image94.png"/><Relationship Id="rId7" Type="http://schemas.openxmlformats.org/officeDocument/2006/relationships/image" Target="../media/image98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7.png"/><Relationship Id="rId5" Type="http://schemas.openxmlformats.org/officeDocument/2006/relationships/image" Target="../media/image96.png"/><Relationship Id="rId4" Type="http://schemas.openxmlformats.org/officeDocument/2006/relationships/image" Target="../media/image95.png"/><Relationship Id="rId9" Type="http://schemas.openxmlformats.org/officeDocument/2006/relationships/image" Target="../media/image100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8.xml"/><Relationship Id="rId4" Type="http://schemas.openxmlformats.org/officeDocument/2006/relationships/chart" Target="../charts/chart7.xml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png"/><Relationship Id="rId3" Type="http://schemas.openxmlformats.org/officeDocument/2006/relationships/image" Target="../media/image102.png"/><Relationship Id="rId7" Type="http://schemas.openxmlformats.org/officeDocument/2006/relationships/image" Target="../media/image106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5.png"/><Relationship Id="rId5" Type="http://schemas.openxmlformats.org/officeDocument/2006/relationships/image" Target="../media/image104.png"/><Relationship Id="rId4" Type="http://schemas.openxmlformats.org/officeDocument/2006/relationships/image" Target="../media/image103.png"/><Relationship Id="rId9" Type="http://schemas.openxmlformats.org/officeDocument/2006/relationships/image" Target="../media/image108.png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12.xml"/><Relationship Id="rId4" Type="http://schemas.openxmlformats.org/officeDocument/2006/relationships/chart" Target="../charts/chart11.xml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png"/><Relationship Id="rId3" Type="http://schemas.openxmlformats.org/officeDocument/2006/relationships/image" Target="../media/image110.png"/><Relationship Id="rId7" Type="http://schemas.openxmlformats.org/officeDocument/2006/relationships/image" Target="../media/image114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3.png"/><Relationship Id="rId5" Type="http://schemas.openxmlformats.org/officeDocument/2006/relationships/image" Target="../media/image112.png"/><Relationship Id="rId4" Type="http://schemas.openxmlformats.org/officeDocument/2006/relationships/image" Target="../media/image111.png"/><Relationship Id="rId9" Type="http://schemas.openxmlformats.org/officeDocument/2006/relationships/image" Target="../media/image116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4.xml"/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16.xml"/><Relationship Id="rId4" Type="http://schemas.openxmlformats.org/officeDocument/2006/relationships/chart" Target="../charts/chart15.xml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3.png"/><Relationship Id="rId3" Type="http://schemas.openxmlformats.org/officeDocument/2006/relationships/image" Target="../media/image118.png"/><Relationship Id="rId7" Type="http://schemas.openxmlformats.org/officeDocument/2006/relationships/image" Target="../media/image122.png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1.png"/><Relationship Id="rId5" Type="http://schemas.openxmlformats.org/officeDocument/2006/relationships/image" Target="../media/image120.png"/><Relationship Id="rId4" Type="http://schemas.openxmlformats.org/officeDocument/2006/relationships/image" Target="../media/image119.png"/><Relationship Id="rId9" Type="http://schemas.openxmlformats.org/officeDocument/2006/relationships/image" Target="../media/image1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3801708" y="2705725"/>
            <a:ext cx="458858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400" b="1" dirty="0">
                <a:latin typeface="+mj-ea"/>
                <a:ea typeface="+mj-ea"/>
              </a:rPr>
              <a:t>수위 예측 </a:t>
            </a:r>
            <a:r>
              <a:rPr lang="en-US" altLang="ko-KR" sz="4400" b="1" dirty="0">
                <a:latin typeface="+mj-ea"/>
                <a:ea typeface="+mj-ea"/>
              </a:rPr>
              <a:t>AI</a:t>
            </a:r>
          </a:p>
          <a:p>
            <a:pPr algn="ctr"/>
            <a:r>
              <a:rPr lang="ko-KR" altLang="en-US" sz="4400" b="1" dirty="0">
                <a:latin typeface="+mj-ea"/>
                <a:ea typeface="+mj-ea"/>
              </a:rPr>
              <a:t>성능 개선 결과 </a:t>
            </a:r>
            <a:r>
              <a:rPr lang="en-US" altLang="ko-KR" sz="4400" b="1" dirty="0">
                <a:latin typeface="+mj-ea"/>
                <a:ea typeface="+mj-ea"/>
              </a:rPr>
              <a:t>1</a:t>
            </a:r>
            <a:endParaRPr lang="ko-KR" altLang="en-US" sz="44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6912154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4445759" y="3105834"/>
            <a:ext cx="33004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b="1" dirty="0">
                <a:solidFill>
                  <a:schemeClr val="accent5"/>
                </a:solidFill>
                <a:latin typeface="+mj-ea"/>
                <a:ea typeface="+mj-ea"/>
              </a:rPr>
              <a:t>이전</a:t>
            </a:r>
            <a:r>
              <a:rPr lang="en-US" altLang="ko-KR" sz="3600" b="1" dirty="0">
                <a:solidFill>
                  <a:schemeClr val="accent5"/>
                </a:solidFill>
                <a:latin typeface="+mj-ea"/>
                <a:ea typeface="+mj-ea"/>
              </a:rPr>
              <a:t> </a:t>
            </a:r>
            <a:r>
              <a:rPr lang="ko-KR" altLang="en-US" sz="3600" b="1" dirty="0">
                <a:solidFill>
                  <a:schemeClr val="accent5"/>
                </a:solidFill>
                <a:latin typeface="+mj-ea"/>
                <a:ea typeface="+mj-ea"/>
              </a:rPr>
              <a:t>학습 결과</a:t>
            </a:r>
          </a:p>
        </p:txBody>
      </p:sp>
    </p:spTree>
    <p:extLst>
      <p:ext uri="{BB962C8B-B14F-4D97-AF65-F5344CB8AC3E}">
        <p14:creationId xmlns:p14="http://schemas.microsoft.com/office/powerpoint/2010/main" val="15193102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57C67BA-B213-4D78-9FE6-DF21AEB555D8}"/>
              </a:ext>
            </a:extLst>
          </p:cNvPr>
          <p:cNvSpPr txBox="1"/>
          <p:nvPr/>
        </p:nvSpPr>
        <p:spPr>
          <a:xfrm>
            <a:off x="377504" y="623270"/>
            <a:ext cx="33816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+mj-ea"/>
                <a:ea typeface="+mj-ea"/>
              </a:rPr>
              <a:t>학습 데이터 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3EEA5D01-22F3-4984-8E02-DD8FCAC01A2A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004991" y="3212289"/>
          <a:ext cx="9692641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0560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6750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10814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4048918556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522523455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2162001719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38635649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4099286348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21081817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time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성남북초교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광주시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남한산초교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대장동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구미초교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한국학중앙연구원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2014-07-24 15:30:00</a:t>
                      </a:r>
                    </a:p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1.12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5.11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2.17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40.56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0F34946-E3D3-42D3-9474-97847E9700A7}"/>
              </a:ext>
            </a:extLst>
          </p:cNvPr>
          <p:cNvSpPr txBox="1"/>
          <p:nvPr/>
        </p:nvSpPr>
        <p:spPr>
          <a:xfrm>
            <a:off x="928790" y="2584063"/>
            <a:ext cx="8602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강우 이벤트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9DBF372-14B3-481F-A0BC-69E398337249}"/>
              </a:ext>
            </a:extLst>
          </p:cNvPr>
          <p:cNvSpPr txBox="1"/>
          <p:nvPr/>
        </p:nvSpPr>
        <p:spPr>
          <a:xfrm>
            <a:off x="618066" y="5614363"/>
            <a:ext cx="11937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학습 </a:t>
            </a:r>
            <a:r>
              <a:rPr lang="en-US" altLang="ko-KR" dirty="0"/>
              <a:t>: </a:t>
            </a:r>
            <a:r>
              <a:rPr lang="ko-KR" altLang="en-US" dirty="0"/>
              <a:t>총 </a:t>
            </a:r>
            <a:r>
              <a:rPr lang="en-US" altLang="ko-KR" dirty="0"/>
              <a:t>6</a:t>
            </a:r>
            <a:r>
              <a:rPr lang="ko-KR" altLang="en-US" dirty="0"/>
              <a:t>개 </a:t>
            </a:r>
            <a:r>
              <a:rPr lang="en-US" altLang="ko-KR" dirty="0"/>
              <a:t>( 140820, 170715, 200805, 220629, 220807, 230713) </a:t>
            </a:r>
            <a:r>
              <a:rPr lang="ko-KR" altLang="en-US" dirty="0"/>
              <a:t>사용</a:t>
            </a:r>
            <a:br>
              <a:rPr lang="en-US" altLang="ko-KR" dirty="0"/>
            </a:br>
            <a:r>
              <a:rPr lang="ko-KR" altLang="en-US" dirty="0"/>
              <a:t>검증 </a:t>
            </a:r>
            <a:r>
              <a:rPr lang="en-US" altLang="ko-KR" dirty="0"/>
              <a:t>: </a:t>
            </a:r>
            <a:r>
              <a:rPr lang="ko-KR" altLang="en-US" dirty="0"/>
              <a:t>학습 데이터에서 사용한 </a:t>
            </a:r>
            <a:r>
              <a:rPr lang="en-US" altLang="ko-KR" dirty="0"/>
              <a:t>2</a:t>
            </a:r>
            <a:r>
              <a:rPr lang="ko-KR" altLang="en-US" dirty="0"/>
              <a:t>개 데이터 </a:t>
            </a:r>
            <a:r>
              <a:rPr lang="en-US" altLang="ko-KR" dirty="0"/>
              <a:t>(220629, 220807) + </a:t>
            </a:r>
            <a:r>
              <a:rPr lang="ko-KR" altLang="en-US" dirty="0"/>
              <a:t>학습에 사용되지 않은</a:t>
            </a:r>
            <a:r>
              <a:rPr lang="en-US" altLang="ko-KR" dirty="0"/>
              <a:t>(250716, 250814) </a:t>
            </a:r>
            <a:r>
              <a:rPr lang="ko-KR" altLang="en-US" dirty="0"/>
              <a:t>사용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D8DB2E-2FCC-48B3-8050-0E36F7C980F2}"/>
              </a:ext>
            </a:extLst>
          </p:cNvPr>
          <p:cNvSpPr txBox="1"/>
          <p:nvPr/>
        </p:nvSpPr>
        <p:spPr>
          <a:xfrm>
            <a:off x="377504" y="1084594"/>
            <a:ext cx="8602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>
                <a:latin typeface="+mj-ea"/>
              </a:rPr>
              <a:t>learning_rate</a:t>
            </a:r>
            <a:r>
              <a:rPr lang="en-US" altLang="ko-KR" b="1" dirty="0">
                <a:latin typeface="+mj-ea"/>
              </a:rPr>
              <a:t> = 0.0005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215341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AAE686AD-B247-4E24-AF7D-A48D41C9EF9F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800836" y="1889775"/>
          <a:ext cx="7044111" cy="415036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  <a:gridCol w="2716078">
                  <a:extLst>
                    <a:ext uri="{9D8B030D-6E8A-4147-A177-3AD203B41FA5}">
                      <a16:colId xmlns:a16="http://schemas.microsoft.com/office/drawing/2014/main" val="33743963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</a:rPr>
                        <a:t>궁내교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</a:rPr>
                        <a:t>대곡교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testdata_220630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0.9334831558683871</a:t>
                      </a:r>
                    </a:p>
                    <a:p>
                      <a:pPr algn="ctr"/>
                      <a:r>
                        <a:rPr lang="pt-BR" altLang="ko-KR" sz="1400" dirty="0"/>
                        <a:t>mse : 0.014662755503537002</a:t>
                      </a:r>
                    </a:p>
                    <a:p>
                      <a:pPr algn="ctr"/>
                      <a:r>
                        <a:rPr lang="pt-BR" altLang="ko-KR" sz="1400" dirty="0"/>
                        <a:t>mae : 0.08591636021931968</a:t>
                      </a:r>
                    </a:p>
                    <a:p>
                      <a:pPr algn="ctr"/>
                      <a:r>
                        <a:rPr lang="pt-BR" altLang="ko-KR" sz="1400" dirty="0"/>
                        <a:t>rmse : 0.12108986540390984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0.8461369366287653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0.11212509555879795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0.28038430240419177 rmse : 0.33485085569369233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testdata_220808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0.9933156779676867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0.0061528580861704455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0.05965378244717913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0.07844015608201227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0.7864821009981524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0.11192937768607407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0.2791808260811699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0.33455848171294966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testdata_250716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0.6786097511859852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0.03224258396157489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0.15377818557951184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0.17956220081513505 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0.7787861120789699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0.10215350102682166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0.23608912044101293 rmse : 0.319614613287349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testdata_250814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0.8931957393452244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0.007529922885038036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0.07411362230777739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0.08677512826287286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0.6946340343597268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0.10599222036528559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0.2742249170939128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0.32556446422373186 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621040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F8419745-3F23-4E52-9496-EA26CFACBC7B}"/>
              </a:ext>
            </a:extLst>
          </p:cNvPr>
          <p:cNvSpPr/>
          <p:nvPr/>
        </p:nvSpPr>
        <p:spPr>
          <a:xfrm>
            <a:off x="2320663" y="1889775"/>
            <a:ext cx="2694497" cy="41503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7C67BA-B213-4D78-9FE6-DF21AEB555D8}"/>
              </a:ext>
            </a:extLst>
          </p:cNvPr>
          <p:cNvSpPr txBox="1"/>
          <p:nvPr/>
        </p:nvSpPr>
        <p:spPr>
          <a:xfrm>
            <a:off x="377505" y="623270"/>
            <a:ext cx="28942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+mj-ea"/>
                <a:ea typeface="+mj-ea"/>
              </a:rPr>
              <a:t>수위예측 </a:t>
            </a:r>
            <a:endParaRPr lang="en-US" altLang="ko-KR" sz="2400" dirty="0">
              <a:latin typeface="+mj-ea"/>
              <a:ea typeface="+mj-ea"/>
            </a:endParaRPr>
          </a:p>
          <a:p>
            <a:r>
              <a:rPr lang="en-US" altLang="ko-KR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smoothing = </a:t>
            </a:r>
            <a:r>
              <a:rPr lang="en-US" altLang="ko-KR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</a:rPr>
              <a:t>1</a:t>
            </a:r>
            <a:endParaRPr lang="ko-KR" altLang="en-US" sz="2400" dirty="0">
              <a:latin typeface="+mj-ea"/>
              <a:ea typeface="+mj-ea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88EBF248-4EA7-4849-A403-DD48BF94BA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2527" y="28263"/>
            <a:ext cx="3114651" cy="16373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0CB9B733-6207-4D56-AF2C-CAFAFBD27C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7260" y="1747466"/>
            <a:ext cx="3119918" cy="163730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278C1A1A-ED6F-42E2-A0E4-58F4A56011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7260" y="3467802"/>
            <a:ext cx="3119918" cy="1641601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C0D5D058-A3E1-4FB3-A1D3-BDFAE1886D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7260" y="5192439"/>
            <a:ext cx="3125488" cy="163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3836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377505" y="623270"/>
            <a:ext cx="28942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+mj-ea"/>
                <a:ea typeface="+mj-ea"/>
              </a:rPr>
              <a:t>수위예측 </a:t>
            </a:r>
            <a:endParaRPr lang="en-US" altLang="ko-KR" sz="2400" dirty="0">
              <a:latin typeface="+mj-ea"/>
              <a:ea typeface="+mj-ea"/>
            </a:endParaRPr>
          </a:p>
          <a:p>
            <a:r>
              <a:rPr lang="en-US" altLang="ko-KR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smoothing = </a:t>
            </a:r>
            <a:r>
              <a:rPr lang="en-US" altLang="ko-KR" sz="2400" dirty="0">
                <a:latin typeface="+mj-ea"/>
                <a:ea typeface="+mj-ea"/>
              </a:rPr>
              <a:t>2</a:t>
            </a:r>
            <a:endParaRPr lang="ko-KR" altLang="en-US" sz="2400" dirty="0">
              <a:latin typeface="+mj-ea"/>
              <a:ea typeface="+mj-ea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AAE686AD-B247-4E24-AF7D-A48D41C9EF9F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861503" y="1898242"/>
          <a:ext cx="6928210" cy="415036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769298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  <a:gridCol w="2709334">
                  <a:extLst>
                    <a:ext uri="{9D8B030D-6E8A-4147-A177-3AD203B41FA5}">
                      <a16:colId xmlns:a16="http://schemas.microsoft.com/office/drawing/2014/main" val="33743963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</a:rPr>
                        <a:t>궁내교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</a:rPr>
                        <a:t>대곡교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testdata_220630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0.7088730596475936 </a:t>
                      </a:r>
                    </a:p>
                    <a:p>
                      <a:pPr algn="ctr"/>
                      <a:r>
                        <a:rPr lang="pt-BR" altLang="ko-KR" sz="1400" dirty="0"/>
                        <a:t>mse : 0.06417507027894874 </a:t>
                      </a:r>
                    </a:p>
                    <a:p>
                      <a:pPr algn="ctr"/>
                      <a:r>
                        <a:rPr lang="pt-BR" altLang="ko-KR" sz="1400" dirty="0"/>
                        <a:t>mae : 0.19718893157111278 </a:t>
                      </a:r>
                    </a:p>
                    <a:p>
                      <a:pPr algn="ctr"/>
                      <a:r>
                        <a:rPr lang="pt-BR" altLang="ko-KR" sz="1400" dirty="0"/>
                        <a:t>rmse : 0.2533279895292834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0.9004934548421246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0.07251370562948573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 mae : 0.22338981760872734 rmse : 0.2692836898690408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testdata_220808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0.9773663276419933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0.020834091073780862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0.10682662063174778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0.1443401921634472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0.8118272173611429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0.09864307656025555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0.2750794050428602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0.3140749537296082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testdata_250716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0.5100765623979442 </a:t>
                      </a:r>
                    </a:p>
                    <a:p>
                      <a:pPr algn="ctr"/>
                      <a:r>
                        <a:rPr lang="pt-BR" altLang="ko-KR" sz="1400" dirty="0"/>
                        <a:t>mse : 0.049150207978988454 </a:t>
                      </a:r>
                    </a:p>
                    <a:p>
                      <a:pPr algn="ctr"/>
                      <a:r>
                        <a:rPr lang="pt-BR" altLang="ko-KR" sz="1400" dirty="0"/>
                        <a:t>mae : 0.16626809497674305 </a:t>
                      </a:r>
                    </a:p>
                    <a:p>
                      <a:pPr algn="ctr"/>
                      <a:r>
                        <a:rPr lang="pt-BR" altLang="ko-KR" sz="1400" dirty="0"/>
                        <a:t>rmse : 0.22169846183270747</a:t>
                      </a:r>
                      <a:endParaRPr lang="pt-BR" altLang="ko-KR" sz="1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0.8130232584048014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0.08634326236947386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0.21145669579505919 rmse : 0.29384224061471126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testdata_250814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0.8737931172772833 </a:t>
                      </a:r>
                    </a:p>
                    <a:p>
                      <a:pPr algn="ctr"/>
                      <a:r>
                        <a:rPr lang="pt-BR" altLang="ko-KR" sz="1400" dirty="0"/>
                        <a:t>mse : 0.008897848162957201 </a:t>
                      </a:r>
                    </a:p>
                    <a:p>
                      <a:pPr algn="ctr"/>
                      <a:r>
                        <a:rPr lang="pt-BR" altLang="ko-KR" sz="1400" dirty="0"/>
                        <a:t>mae : 0.06456567585468291 </a:t>
                      </a:r>
                    </a:p>
                    <a:p>
                      <a:pPr algn="ctr"/>
                      <a:r>
                        <a:rPr lang="pt-BR" altLang="ko-KR" sz="1400" dirty="0"/>
                        <a:t>rmse : 0.09432840591760894 </a:t>
                      </a:r>
                      <a:endParaRPr lang="pt-BR" altLang="ko-KR" sz="1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0.7407194444433576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0.08999602075290633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0.2423573001225789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0.29999336784820146 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621040"/>
                  </a:ext>
                </a:extLst>
              </a:tr>
            </a:tbl>
          </a:graphicData>
        </a:graphic>
      </p:graphicFrame>
      <p:sp>
        <p:nvSpPr>
          <p:cNvPr id="4" name="직사각형 3">
            <a:extLst>
              <a:ext uri="{FF2B5EF4-FFF2-40B4-BE49-F238E27FC236}">
                <a16:creationId xmlns:a16="http://schemas.microsoft.com/office/drawing/2014/main" id="{98A85FAC-E9EC-4BD6-8012-EE328AE5DE65}"/>
              </a:ext>
            </a:extLst>
          </p:cNvPr>
          <p:cNvSpPr/>
          <p:nvPr/>
        </p:nvSpPr>
        <p:spPr>
          <a:xfrm>
            <a:off x="5097312" y="1898242"/>
            <a:ext cx="2694497" cy="41503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7A7E5A8-BE8C-4AEE-867A-ACFED0F8C1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2600" y="35150"/>
            <a:ext cx="3066914" cy="1617776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E6964AE-29E8-45B3-B3B8-D80FF829DA1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81" r="-1"/>
          <a:stretch/>
        </p:blipFill>
        <p:spPr>
          <a:xfrm>
            <a:off x="8603569" y="1747607"/>
            <a:ext cx="3085945" cy="163729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9B433F9-A470-444B-AB9E-C72555D29C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4561" y="3479802"/>
            <a:ext cx="3120191" cy="163729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8937A78D-1E6D-4F07-84A5-14731233A9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1685" y="5175505"/>
            <a:ext cx="3097829" cy="163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5544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3310656" y="3105834"/>
            <a:ext cx="55706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b="1" dirty="0">
                <a:solidFill>
                  <a:schemeClr val="accent5"/>
                </a:solidFill>
                <a:latin typeface="+mj-ea"/>
                <a:ea typeface="+mj-ea"/>
              </a:rPr>
              <a:t>학습 데이터 증강</a:t>
            </a:r>
            <a:endParaRPr lang="en-US" altLang="ko-KR" sz="3600" b="1" dirty="0">
              <a:solidFill>
                <a:schemeClr val="accent5"/>
              </a:solidFill>
              <a:latin typeface="+mj-ea"/>
              <a:ea typeface="+mj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27CA73-7836-445E-A971-A78C66FB0A98}"/>
              </a:ext>
            </a:extLst>
          </p:cNvPr>
          <p:cNvSpPr txBox="1"/>
          <p:nvPr/>
        </p:nvSpPr>
        <p:spPr>
          <a:xfrm>
            <a:off x="9270999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/dg)_(</a:t>
            </a:r>
            <a:r>
              <a:rPr lang="en-US" altLang="ko-KR" sz="1050" dirty="0" err="1"/>
              <a:t>mse</a:t>
            </a:r>
            <a:r>
              <a:rPr lang="en-US" altLang="ko-KR" sz="1050" dirty="0"/>
              <a:t>/</a:t>
            </a:r>
            <a:r>
              <a:rPr lang="en-US" altLang="ko-KR" sz="1050" dirty="0" err="1"/>
              <a:t>mae</a:t>
            </a:r>
            <a:r>
              <a:rPr lang="en-US" altLang="ko-KR" sz="1050" dirty="0"/>
              <a:t>)_</a:t>
            </a:r>
            <a:r>
              <a:rPr lang="ko-KR" altLang="en-US" sz="1050" dirty="0"/>
              <a:t>강우추출방법</a:t>
            </a:r>
            <a:r>
              <a:rPr lang="en-US" altLang="ko-KR" sz="1050" dirty="0">
                <a:latin typeface="+mj-ea"/>
              </a:rPr>
              <a:t> </a:t>
            </a:r>
            <a:endParaRPr lang="ko-KR" altLang="en-US" sz="1050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628987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4648899" y="3198167"/>
            <a:ext cx="28942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latin typeface="+mj-ea"/>
                <a:ea typeface="+mj-ea"/>
              </a:rPr>
              <a:t>MIET</a:t>
            </a:r>
            <a:endParaRPr lang="ko-KR" altLang="en-US" sz="36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376222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57C67BA-B213-4D78-9FE6-DF21AEB555D8}"/>
              </a:ext>
            </a:extLst>
          </p:cNvPr>
          <p:cNvSpPr txBox="1"/>
          <p:nvPr/>
        </p:nvSpPr>
        <p:spPr>
          <a:xfrm>
            <a:off x="377504" y="623270"/>
            <a:ext cx="33816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+mj-ea"/>
              </a:rPr>
              <a:t>MIET</a:t>
            </a:r>
            <a:r>
              <a:rPr lang="ko-KR" altLang="en-US" sz="2400" b="1" dirty="0">
                <a:latin typeface="+mj-ea"/>
              </a:rPr>
              <a:t> </a:t>
            </a:r>
            <a:r>
              <a:rPr lang="ko-KR" altLang="en-US" sz="2400" dirty="0">
                <a:latin typeface="+mj-ea"/>
                <a:ea typeface="+mj-ea"/>
              </a:rPr>
              <a:t>학습 데이터 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3EEA5D01-22F3-4984-8E02-DD8FCAC01A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2670776"/>
              </p:ext>
            </p:extLst>
          </p:nvPr>
        </p:nvGraphicFramePr>
        <p:xfrm>
          <a:off x="1422400" y="2169159"/>
          <a:ext cx="9692641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0560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6750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10814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4048918556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522523455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2162001719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38635649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4099286348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21081817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time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성남북초교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광주시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남한산초교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대장동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구미초교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한국학중앙연구원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2014-07-24 15:30:00</a:t>
                      </a:r>
                    </a:p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1.12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5.11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2.17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40.56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0F34946-E3D3-42D3-9474-97847E9700A7}"/>
              </a:ext>
            </a:extLst>
          </p:cNvPr>
          <p:cNvSpPr txBox="1"/>
          <p:nvPr/>
        </p:nvSpPr>
        <p:spPr>
          <a:xfrm>
            <a:off x="1346199" y="1540933"/>
            <a:ext cx="8602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홍수통제소 </a:t>
            </a:r>
            <a:r>
              <a:rPr lang="en-US" altLang="ko-KR" dirty="0"/>
              <a:t>API </a:t>
            </a:r>
            <a:r>
              <a:rPr lang="ko-KR" altLang="en-US" dirty="0"/>
              <a:t>호출 → </a:t>
            </a:r>
            <a:r>
              <a:rPr lang="en-US" altLang="ko-KR" dirty="0"/>
              <a:t>MIET</a:t>
            </a:r>
            <a:r>
              <a:rPr lang="ko-KR" altLang="en-US" dirty="0"/>
              <a:t> 활용 강우 이벤트 추출 → 관심 강우 포함 파일 추출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FCAFFAB-E3EC-4ABC-B056-47EE38272BC3}"/>
              </a:ext>
            </a:extLst>
          </p:cNvPr>
          <p:cNvSpPr txBox="1"/>
          <p:nvPr/>
        </p:nvSpPr>
        <p:spPr>
          <a:xfrm>
            <a:off x="1346199" y="3567481"/>
            <a:ext cx="80179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+ </a:t>
            </a:r>
            <a:r>
              <a:rPr lang="ko-KR" altLang="en-US" dirty="0"/>
              <a:t>기존 학습 데이터 통합 후</a:t>
            </a:r>
            <a:r>
              <a:rPr lang="en-US" altLang="ko-KR" dirty="0"/>
              <a:t> </a:t>
            </a:r>
            <a:r>
              <a:rPr lang="ko-KR" altLang="en-US" dirty="0"/>
              <a:t>중복 이벤트 제거</a:t>
            </a: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C74A5352-C7B7-4275-9E0B-4BA1B67E88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6839628"/>
              </p:ext>
            </p:extLst>
          </p:nvPr>
        </p:nvGraphicFramePr>
        <p:xfrm>
          <a:off x="1422400" y="4177268"/>
          <a:ext cx="8012114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763588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6750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10814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4048918556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2162001719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4099286348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21081817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time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성남북초교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광주시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남한산초교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대장동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구미초교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한국학중앙연구원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KoPub돋움체 Medium"/>
                          <a:ea typeface="+mn-ea"/>
                          <a:cs typeface="+mn-cs"/>
                        </a:rPr>
                        <a:t>2014-08-20 10:50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0.96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1.84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09DBF372-14B3-481F-A0BC-69E398337249}"/>
              </a:ext>
            </a:extLst>
          </p:cNvPr>
          <p:cNvSpPr txBox="1"/>
          <p:nvPr/>
        </p:nvSpPr>
        <p:spPr>
          <a:xfrm>
            <a:off x="1346199" y="5554134"/>
            <a:ext cx="105325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학습 </a:t>
            </a:r>
            <a:r>
              <a:rPr lang="en-US" altLang="ko-KR" dirty="0"/>
              <a:t>: </a:t>
            </a:r>
            <a:r>
              <a:rPr lang="ko-KR" altLang="en-US" dirty="0"/>
              <a:t>총 </a:t>
            </a:r>
            <a:r>
              <a:rPr lang="en-US" altLang="ko-KR" dirty="0"/>
              <a:t>67 </a:t>
            </a:r>
            <a:r>
              <a:rPr lang="ko-KR" altLang="en-US" dirty="0"/>
              <a:t>개 데이터 사용</a:t>
            </a:r>
            <a:r>
              <a:rPr lang="en-US" altLang="ko-KR" dirty="0"/>
              <a:t> </a:t>
            </a:r>
          </a:p>
          <a:p>
            <a:endParaRPr lang="en-US" altLang="ko-KR" dirty="0"/>
          </a:p>
          <a:p>
            <a:r>
              <a:rPr lang="ko-KR" altLang="en-US" dirty="0"/>
              <a:t>검증 </a:t>
            </a:r>
            <a:r>
              <a:rPr lang="en-US" altLang="ko-KR" dirty="0"/>
              <a:t>:  </a:t>
            </a:r>
            <a:r>
              <a:rPr lang="ko-KR" altLang="en-US" dirty="0"/>
              <a:t>학습 데이터에 포함된 </a:t>
            </a:r>
            <a:r>
              <a:rPr lang="en-US" altLang="ko-KR" dirty="0"/>
              <a:t>4</a:t>
            </a:r>
            <a:r>
              <a:rPr lang="ko-KR" altLang="en-US" dirty="0"/>
              <a:t>개 데이터 </a:t>
            </a:r>
            <a:r>
              <a:rPr lang="en-US" altLang="ko-KR" dirty="0"/>
              <a:t>(220630, 220808, 250716, 250814) </a:t>
            </a:r>
            <a:r>
              <a:rPr lang="ko-KR" altLang="en-US" dirty="0"/>
              <a:t>사용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0D9102B-C37D-4F79-A780-47B49A487FBF}"/>
              </a:ext>
            </a:extLst>
          </p:cNvPr>
          <p:cNvSpPr txBox="1"/>
          <p:nvPr/>
        </p:nvSpPr>
        <p:spPr>
          <a:xfrm>
            <a:off x="9474199" y="279650"/>
            <a:ext cx="2717801" cy="10152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50" b="1" dirty="0"/>
              <a:t>관심 수위 </a:t>
            </a:r>
            <a:r>
              <a:rPr lang="en-US" altLang="ko-KR" sz="1050" b="1" dirty="0"/>
              <a:t>: </a:t>
            </a:r>
            <a:r>
              <a:rPr lang="ko-KR" altLang="en-US" sz="1050" b="1" dirty="0" err="1"/>
              <a:t>궁내교</a:t>
            </a:r>
            <a:r>
              <a:rPr lang="ko-KR" altLang="en-US" sz="1050" b="1" dirty="0"/>
              <a:t> </a:t>
            </a:r>
            <a:r>
              <a:rPr lang="en-US" altLang="ko-KR" sz="1050" b="1" dirty="0"/>
              <a:t>( 2 )  </a:t>
            </a:r>
            <a:r>
              <a:rPr lang="ko-KR" altLang="en-US" sz="1050" b="1" dirty="0" err="1"/>
              <a:t>대곡교</a:t>
            </a:r>
            <a:r>
              <a:rPr lang="ko-KR" altLang="en-US" sz="1050" b="1" dirty="0"/>
              <a:t> </a:t>
            </a:r>
            <a:r>
              <a:rPr lang="en-US" altLang="ko-KR" sz="1050" b="1" dirty="0"/>
              <a:t>( 3.8 )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0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smoothing : </a:t>
            </a:r>
            <a:r>
              <a:rPr lang="ko-KR" altLang="en-US" sz="105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궁내교</a:t>
            </a:r>
            <a:r>
              <a:rPr lang="ko-KR" altLang="en-US" sz="10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ko-KR" sz="10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( </a:t>
            </a:r>
            <a:r>
              <a:rPr lang="en-US" altLang="ko-KR" sz="105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</a:rPr>
              <a:t>1 ) </a:t>
            </a:r>
            <a:r>
              <a:rPr lang="ko-KR" altLang="en-US" sz="105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</a:rPr>
              <a:t>대곡교</a:t>
            </a:r>
            <a:r>
              <a:rPr lang="ko-KR" altLang="en-US" sz="105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</a:rPr>
              <a:t> </a:t>
            </a:r>
            <a:r>
              <a:rPr lang="en-US" altLang="ko-KR" sz="105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</a:rPr>
              <a:t>( 2 )</a:t>
            </a:r>
            <a:endParaRPr lang="en-US" altLang="ko-KR" sz="1050" b="1" dirty="0"/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050" b="1" dirty="0" err="1">
                <a:latin typeface="+mj-ea"/>
              </a:rPr>
              <a:t>learning_rate</a:t>
            </a:r>
            <a:r>
              <a:rPr lang="en-US" altLang="ko-KR" sz="1050" b="1" dirty="0">
                <a:latin typeface="+mj-ea"/>
              </a:rPr>
              <a:t> = 0.0005</a:t>
            </a:r>
            <a:endParaRPr lang="ko-KR" altLang="en-US" sz="1050" dirty="0"/>
          </a:p>
        </p:txBody>
      </p:sp>
    </p:spTree>
    <p:extLst>
      <p:ext uri="{BB962C8B-B14F-4D97-AF65-F5344CB8AC3E}">
        <p14:creationId xmlns:p14="http://schemas.microsoft.com/office/powerpoint/2010/main" val="32274368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377505" y="623270"/>
            <a:ext cx="28942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latin typeface="+mj-ea"/>
              </a:rPr>
              <a:t>loss_function</a:t>
            </a:r>
            <a:r>
              <a:rPr lang="en-US" altLang="ko-KR" sz="2400" dirty="0">
                <a:latin typeface="+mj-ea"/>
              </a:rPr>
              <a:t> : </a:t>
            </a:r>
            <a:r>
              <a:rPr lang="en-US" altLang="ko-KR" sz="2400" dirty="0" err="1">
                <a:latin typeface="+mj-ea"/>
              </a:rPr>
              <a:t>mse</a:t>
            </a:r>
            <a:r>
              <a:rPr lang="en-US" altLang="ko-KR" sz="2400" dirty="0">
                <a:latin typeface="+mj-ea"/>
              </a:rPr>
              <a:t> </a:t>
            </a:r>
            <a:r>
              <a:rPr lang="ko-KR" altLang="en-US" sz="2400" dirty="0">
                <a:latin typeface="+mj-ea"/>
                <a:ea typeface="+mj-ea"/>
              </a:rPr>
              <a:t>학습 코드 </a:t>
            </a:r>
            <a:r>
              <a:rPr lang="en-US" altLang="ko-KR" sz="2400" dirty="0">
                <a:latin typeface="+mj-ea"/>
                <a:ea typeface="+mj-ea"/>
              </a:rPr>
              <a:t>- </a:t>
            </a:r>
            <a:r>
              <a:rPr lang="ko-KR" altLang="en-US" sz="2400" dirty="0" err="1">
                <a:latin typeface="+mj-ea"/>
                <a:ea typeface="+mj-ea"/>
              </a:rPr>
              <a:t>궁내교</a:t>
            </a:r>
            <a:endParaRPr lang="ko-KR" altLang="en-US" sz="2400" dirty="0">
              <a:latin typeface="+mj-ea"/>
              <a:ea typeface="+mj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9DB7C3-A352-4434-832E-7169C75AB765}"/>
              </a:ext>
            </a:extLst>
          </p:cNvPr>
          <p:cNvSpPr txBox="1"/>
          <p:nvPr/>
        </p:nvSpPr>
        <p:spPr>
          <a:xfrm>
            <a:off x="1346199" y="1786468"/>
            <a:ext cx="8602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Train : Valid : Test = 7 : 2 : 1 </a:t>
            </a:r>
            <a:r>
              <a:rPr lang="ko-KR" altLang="en-US" dirty="0"/>
              <a:t>비율로 학습 진행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2F37C692-0D2E-44D5-8AE7-B05779A9F1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4613692"/>
              </p:ext>
            </p:extLst>
          </p:nvPr>
        </p:nvGraphicFramePr>
        <p:xfrm>
          <a:off x="6951132" y="3017967"/>
          <a:ext cx="37852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734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Train</a:t>
                      </a:r>
                    </a:p>
                    <a:p>
                      <a:pPr latinLnBrk="1"/>
                      <a:r>
                        <a:rPr lang="en-US" altLang="ko-KR" sz="800" dirty="0"/>
                        <a:t>(5330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0.0479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0.0308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0.0737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0.983723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0.984563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3.499491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B08A13AB-CF40-41FC-85F4-AA63438CD5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0444085"/>
              </p:ext>
            </p:extLst>
          </p:nvPr>
        </p:nvGraphicFramePr>
        <p:xfrm>
          <a:off x="6951132" y="4259181"/>
          <a:ext cx="38360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734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Valid</a:t>
                      </a:r>
                    </a:p>
                    <a:p>
                      <a:pPr latinLnBrk="1"/>
                      <a:r>
                        <a:rPr lang="en-US" altLang="ko-KR" sz="800" dirty="0"/>
                        <a:t>(1219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0.0790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0.0562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0.1265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0.900232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0.903904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21.429995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BF3AC006-682A-4D96-B009-F19CB094C0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2754069"/>
              </p:ext>
            </p:extLst>
          </p:nvPr>
        </p:nvGraphicFramePr>
        <p:xfrm>
          <a:off x="6951132" y="5500395"/>
          <a:ext cx="37344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226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Test</a:t>
                      </a:r>
                    </a:p>
                    <a:p>
                      <a:pPr latinLnBrk="1"/>
                      <a:r>
                        <a:rPr lang="en-US" altLang="ko-KR" sz="800" dirty="0"/>
                        <a:t>(594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0.0583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0.0435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0.0896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0.931545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0.934990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3.399140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pic>
        <p:nvPicPr>
          <p:cNvPr id="13" name="그림 12">
            <a:extLst>
              <a:ext uri="{FF2B5EF4-FFF2-40B4-BE49-F238E27FC236}">
                <a16:creationId xmlns:a16="http://schemas.microsoft.com/office/drawing/2014/main" id="{0B8BFE22-A6DD-4A55-8213-16C5AD4073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012" y="3729598"/>
            <a:ext cx="5505755" cy="181644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545FBF0-BD23-47BA-AE23-A9041F51CCD9}"/>
              </a:ext>
            </a:extLst>
          </p:cNvPr>
          <p:cNvSpPr txBox="1"/>
          <p:nvPr/>
        </p:nvSpPr>
        <p:spPr>
          <a:xfrm>
            <a:off x="900984" y="3109677"/>
            <a:ext cx="1740616" cy="402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200" dirty="0">
                <a:latin typeface="+mj-ea"/>
              </a:rPr>
              <a:t>Train Chart</a:t>
            </a:r>
            <a:endParaRPr lang="ko-KR" altLang="en-US" sz="1200" dirty="0">
              <a:latin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2E70C8B-0378-41AB-8FAC-941DC946C20B}"/>
              </a:ext>
            </a:extLst>
          </p:cNvPr>
          <p:cNvSpPr txBox="1"/>
          <p:nvPr/>
        </p:nvSpPr>
        <p:spPr>
          <a:xfrm>
            <a:off x="6823157" y="2491201"/>
            <a:ext cx="23123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일괄 예측 수행 결과</a:t>
            </a:r>
          </a:p>
        </p:txBody>
      </p:sp>
    </p:spTree>
    <p:extLst>
      <p:ext uri="{BB962C8B-B14F-4D97-AF65-F5344CB8AC3E}">
        <p14:creationId xmlns:p14="http://schemas.microsoft.com/office/powerpoint/2010/main" val="37765479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AAE686AD-B247-4E24-AF7D-A48D41C9EF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2225080"/>
              </p:ext>
            </p:extLst>
          </p:nvPr>
        </p:nvGraphicFramePr>
        <p:xfrm>
          <a:off x="800836" y="1889775"/>
          <a:ext cx="4328033" cy="415036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</a:rPr>
                        <a:t>궁내교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testdata_220630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0.8961080783037266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0.022901595325402445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0.09876218146748011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0.15133273051591464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testdata_220808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0.9092116546241392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0.08356985230147296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0.2276965120103624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0.2890845071972432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testdata_250716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0.7353645568784295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0.02654881573271844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0.1382774554358588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0.16293807330614427</a:t>
                      </a:r>
                      <a:r>
                        <a:rPr lang="pt-BR" altLang="ko-KR" sz="1400" dirty="0"/>
                        <a:t> 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testdata_250814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0.6692581867518503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0.023317986879438816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0.11295003725422752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0.1527022818409693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621040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F8419745-3F23-4E52-9496-EA26CFACBC7B}"/>
              </a:ext>
            </a:extLst>
          </p:cNvPr>
          <p:cNvSpPr/>
          <p:nvPr/>
        </p:nvSpPr>
        <p:spPr>
          <a:xfrm>
            <a:off x="2241494" y="1889775"/>
            <a:ext cx="2887375" cy="41503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7C67BA-B213-4D78-9FE6-DF21AEB555D8}"/>
              </a:ext>
            </a:extLst>
          </p:cNvPr>
          <p:cNvSpPr txBox="1"/>
          <p:nvPr/>
        </p:nvSpPr>
        <p:spPr>
          <a:xfrm>
            <a:off x="377504" y="623270"/>
            <a:ext cx="31146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latin typeface="+mj-ea"/>
              </a:rPr>
              <a:t>loss_function</a:t>
            </a:r>
            <a:r>
              <a:rPr lang="en-US" altLang="ko-KR" sz="2400" dirty="0">
                <a:latin typeface="+mj-ea"/>
              </a:rPr>
              <a:t> : </a:t>
            </a:r>
            <a:r>
              <a:rPr lang="en-US" altLang="ko-KR" sz="2400" dirty="0" err="1">
                <a:latin typeface="+mj-ea"/>
              </a:rPr>
              <a:t>mse</a:t>
            </a:r>
            <a:endParaRPr lang="en-US" altLang="ko-KR" sz="2400" dirty="0">
              <a:latin typeface="+mj-ea"/>
            </a:endParaRPr>
          </a:p>
          <a:p>
            <a:r>
              <a:rPr lang="ko-KR" altLang="en-US" sz="2400" dirty="0">
                <a:latin typeface="+mj-ea"/>
                <a:ea typeface="+mj-ea"/>
              </a:rPr>
              <a:t>예측코드 </a:t>
            </a:r>
            <a:r>
              <a:rPr lang="en-US" altLang="ko-KR" sz="2400" dirty="0">
                <a:latin typeface="+mj-ea"/>
                <a:ea typeface="+mj-ea"/>
              </a:rPr>
              <a:t>– </a:t>
            </a:r>
            <a:r>
              <a:rPr lang="ko-KR" altLang="en-US" sz="2400" dirty="0" err="1">
                <a:latin typeface="+mj-ea"/>
                <a:ea typeface="+mj-ea"/>
              </a:rPr>
              <a:t>궁내교</a:t>
            </a:r>
            <a:endParaRPr lang="en-US" altLang="ko-KR" sz="2400" dirty="0">
              <a:latin typeface="+mj-ea"/>
              <a:ea typeface="+mj-ea"/>
            </a:endParaRPr>
          </a:p>
          <a:p>
            <a:endParaRPr lang="ko-KR" altLang="en-US" sz="2400" dirty="0">
              <a:latin typeface="+mj-ea"/>
              <a:ea typeface="+mj-ea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278C1A1A-ED6F-42E2-A0E4-58F4A56011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9337" y="4324448"/>
            <a:ext cx="3052215" cy="1635911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C0D5D058-A3E1-4FB3-A1D3-BDFAE1886D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7342" y="4323146"/>
            <a:ext cx="3108920" cy="1637126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64B08A42-578B-446E-83E4-7F7B5B1D20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0935" y="1944225"/>
            <a:ext cx="3094590" cy="163869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C1296F64-85FB-4A2F-9A0D-EEA7F4FCA39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7991" y="1959717"/>
            <a:ext cx="3091191" cy="163271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9A3116B-5588-412E-9F88-4863932C7CF7}"/>
              </a:ext>
            </a:extLst>
          </p:cNvPr>
          <p:cNvSpPr txBox="1"/>
          <p:nvPr/>
        </p:nvSpPr>
        <p:spPr>
          <a:xfrm>
            <a:off x="6261235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testdata_220630</a:t>
            </a:r>
            <a:endParaRPr lang="ko-KR" altLang="en-US" sz="1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9505F59-4DE7-41E7-B25C-9D1DA5533A22}"/>
              </a:ext>
            </a:extLst>
          </p:cNvPr>
          <p:cNvSpPr txBox="1"/>
          <p:nvPr/>
        </p:nvSpPr>
        <p:spPr>
          <a:xfrm>
            <a:off x="9409377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/>
              <a:t>testdata_220808</a:t>
            </a:r>
            <a:endParaRPr lang="ko-KR" altLang="en-US" sz="1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DF3902-958B-4914-B62D-18F78F52A7AE}"/>
              </a:ext>
            </a:extLst>
          </p:cNvPr>
          <p:cNvSpPr txBox="1"/>
          <p:nvPr/>
        </p:nvSpPr>
        <p:spPr>
          <a:xfrm>
            <a:off x="6261235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testdata_250716</a:t>
            </a:r>
            <a:endParaRPr lang="ko-KR" altLang="en-US" sz="1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143C392-C4AF-44B5-8EAA-BCD88D4108EB}"/>
              </a:ext>
            </a:extLst>
          </p:cNvPr>
          <p:cNvSpPr txBox="1"/>
          <p:nvPr/>
        </p:nvSpPr>
        <p:spPr>
          <a:xfrm>
            <a:off x="9417592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testdata_250814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7728637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377505" y="623270"/>
            <a:ext cx="28942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latin typeface="+mj-ea"/>
              </a:rPr>
              <a:t>loss_function</a:t>
            </a:r>
            <a:r>
              <a:rPr lang="en-US" altLang="ko-KR" sz="2400" dirty="0">
                <a:latin typeface="+mj-ea"/>
              </a:rPr>
              <a:t> : </a:t>
            </a:r>
            <a:r>
              <a:rPr lang="en-US" altLang="ko-KR" sz="2400" dirty="0" err="1">
                <a:latin typeface="+mj-ea"/>
              </a:rPr>
              <a:t>mae</a:t>
            </a:r>
            <a:r>
              <a:rPr lang="en-US" altLang="ko-KR" sz="2400" dirty="0">
                <a:latin typeface="+mj-ea"/>
              </a:rPr>
              <a:t> </a:t>
            </a:r>
            <a:r>
              <a:rPr lang="ko-KR" altLang="en-US" sz="2400" dirty="0">
                <a:latin typeface="+mj-ea"/>
                <a:ea typeface="+mj-ea"/>
              </a:rPr>
              <a:t>학습 코드 </a:t>
            </a:r>
            <a:r>
              <a:rPr lang="en-US" altLang="ko-KR" sz="2400" dirty="0">
                <a:latin typeface="+mj-ea"/>
                <a:ea typeface="+mj-ea"/>
              </a:rPr>
              <a:t>- </a:t>
            </a:r>
            <a:r>
              <a:rPr lang="ko-KR" altLang="en-US" sz="2400" dirty="0" err="1">
                <a:latin typeface="+mj-ea"/>
                <a:ea typeface="+mj-ea"/>
              </a:rPr>
              <a:t>궁내교</a:t>
            </a:r>
            <a:endParaRPr lang="ko-KR" altLang="en-US" sz="2400" dirty="0">
              <a:latin typeface="+mj-ea"/>
              <a:ea typeface="+mj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9DB7C3-A352-4434-832E-7169C75AB765}"/>
              </a:ext>
            </a:extLst>
          </p:cNvPr>
          <p:cNvSpPr txBox="1"/>
          <p:nvPr/>
        </p:nvSpPr>
        <p:spPr>
          <a:xfrm>
            <a:off x="1346199" y="1786468"/>
            <a:ext cx="8602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Train : Valid : Test = 7 : 2 : 1 </a:t>
            </a:r>
            <a:r>
              <a:rPr lang="ko-KR" altLang="en-US" dirty="0"/>
              <a:t>비율로 학습 진행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2F37C692-0D2E-44D5-8AE7-B05779A9F1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2599124"/>
              </p:ext>
            </p:extLst>
          </p:nvPr>
        </p:nvGraphicFramePr>
        <p:xfrm>
          <a:off x="6951132" y="3017967"/>
          <a:ext cx="37852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734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Train</a:t>
                      </a:r>
                    </a:p>
                    <a:p>
                      <a:pPr latinLnBrk="1"/>
                      <a:r>
                        <a:rPr lang="en-US" altLang="ko-KR" sz="800" dirty="0"/>
                        <a:t>(5401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0.0617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0.0340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0.1814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0.901763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0.911266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0.440397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B08A13AB-CF40-41FC-85F4-AA63438CD5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3291852"/>
              </p:ext>
            </p:extLst>
          </p:nvPr>
        </p:nvGraphicFramePr>
        <p:xfrm>
          <a:off x="6951132" y="4259181"/>
          <a:ext cx="37852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734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Valid</a:t>
                      </a:r>
                    </a:p>
                    <a:p>
                      <a:pPr latinLnBrk="1"/>
                      <a:r>
                        <a:rPr lang="en-US" altLang="ko-KR" sz="800" dirty="0"/>
                        <a:t>(1318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0.0653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0.0469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0.0992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0.934844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0.938947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3.080681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BF3AC006-682A-4D96-B009-F19CB094C0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3168570"/>
              </p:ext>
            </p:extLst>
          </p:nvPr>
        </p:nvGraphicFramePr>
        <p:xfrm>
          <a:off x="6951132" y="5500395"/>
          <a:ext cx="37344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226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Test</a:t>
                      </a:r>
                    </a:p>
                    <a:p>
                      <a:pPr latinLnBrk="1"/>
                      <a:r>
                        <a:rPr lang="en-US" altLang="ko-KR" sz="800" dirty="0"/>
                        <a:t>(693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0.0513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0.0366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0.0875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0.924847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0.940583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2.353045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pic>
        <p:nvPicPr>
          <p:cNvPr id="13" name="그림 12">
            <a:extLst>
              <a:ext uri="{FF2B5EF4-FFF2-40B4-BE49-F238E27FC236}">
                <a16:creationId xmlns:a16="http://schemas.microsoft.com/office/drawing/2014/main" id="{0B8BFE22-A6DD-4A55-8213-16C5AD4073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984" y="3710056"/>
            <a:ext cx="5525812" cy="185553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545FBF0-BD23-47BA-AE23-A9041F51CCD9}"/>
              </a:ext>
            </a:extLst>
          </p:cNvPr>
          <p:cNvSpPr txBox="1"/>
          <p:nvPr/>
        </p:nvSpPr>
        <p:spPr>
          <a:xfrm>
            <a:off x="900984" y="3109677"/>
            <a:ext cx="1740616" cy="402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200" dirty="0">
                <a:latin typeface="+mj-ea"/>
              </a:rPr>
              <a:t>Train Chart</a:t>
            </a:r>
            <a:endParaRPr lang="ko-KR" altLang="en-US" sz="1200" dirty="0">
              <a:latin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2E70C8B-0378-41AB-8FAC-941DC946C20B}"/>
              </a:ext>
            </a:extLst>
          </p:cNvPr>
          <p:cNvSpPr txBox="1"/>
          <p:nvPr/>
        </p:nvSpPr>
        <p:spPr>
          <a:xfrm>
            <a:off x="6823157" y="2491201"/>
            <a:ext cx="23123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일괄 예측 수행 결과</a:t>
            </a:r>
          </a:p>
        </p:txBody>
      </p:sp>
    </p:spTree>
    <p:extLst>
      <p:ext uri="{BB962C8B-B14F-4D97-AF65-F5344CB8AC3E}">
        <p14:creationId xmlns:p14="http://schemas.microsoft.com/office/powerpoint/2010/main" val="9908813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AAE686AD-B247-4E24-AF7D-A48D41C9EF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3685374"/>
              </p:ext>
            </p:extLst>
          </p:nvPr>
        </p:nvGraphicFramePr>
        <p:xfrm>
          <a:off x="800836" y="1889775"/>
          <a:ext cx="4328033" cy="415036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</a:rPr>
                        <a:t>궁내교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testdata_220630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0.9440788069853889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0.012327084836089656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0.0924820923805237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0.11102740578834425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testdata_220808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0.9608196777555482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0.03606513291477533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0.15904683166080053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0.18990822234641483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testdata_250716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0.6380790141928143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0.03630871756503421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0.1456537667910258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0.19054846513429124</a:t>
                      </a:r>
                      <a:r>
                        <a:rPr lang="pt-BR" altLang="ko-KR" sz="1400" dirty="0"/>
                        <a:t> 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testdata_250814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0.5275173512163556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0.03331101107809856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0.13911650240421297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0.1825130435834616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621040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57C67BA-B213-4D78-9FE6-DF21AEB555D8}"/>
              </a:ext>
            </a:extLst>
          </p:cNvPr>
          <p:cNvSpPr txBox="1"/>
          <p:nvPr/>
        </p:nvSpPr>
        <p:spPr>
          <a:xfrm>
            <a:off x="377504" y="623270"/>
            <a:ext cx="31146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latin typeface="+mj-ea"/>
              </a:rPr>
              <a:t>loss_function</a:t>
            </a:r>
            <a:r>
              <a:rPr lang="en-US" altLang="ko-KR" sz="2400" dirty="0">
                <a:latin typeface="+mj-ea"/>
              </a:rPr>
              <a:t> : </a:t>
            </a:r>
            <a:r>
              <a:rPr lang="en-US" altLang="ko-KR" sz="2400" dirty="0" err="1">
                <a:latin typeface="+mj-ea"/>
              </a:rPr>
              <a:t>mae</a:t>
            </a:r>
            <a:r>
              <a:rPr lang="en-US" altLang="ko-KR" sz="2400" dirty="0">
                <a:latin typeface="+mj-ea"/>
              </a:rPr>
              <a:t> </a:t>
            </a:r>
            <a:r>
              <a:rPr lang="ko-KR" altLang="en-US" sz="2400" dirty="0">
                <a:latin typeface="+mj-ea"/>
                <a:ea typeface="+mj-ea"/>
              </a:rPr>
              <a:t>예측코드 </a:t>
            </a:r>
            <a:r>
              <a:rPr lang="en-US" altLang="ko-KR" sz="2400" dirty="0">
                <a:latin typeface="+mj-ea"/>
                <a:ea typeface="+mj-ea"/>
              </a:rPr>
              <a:t>– </a:t>
            </a:r>
            <a:r>
              <a:rPr lang="ko-KR" altLang="en-US" sz="2400" dirty="0" err="1">
                <a:latin typeface="+mj-ea"/>
                <a:ea typeface="+mj-ea"/>
              </a:rPr>
              <a:t>궁내교</a:t>
            </a:r>
            <a:endParaRPr lang="en-US" altLang="ko-KR" sz="2400" dirty="0">
              <a:latin typeface="+mj-ea"/>
              <a:ea typeface="+mj-ea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278C1A1A-ED6F-42E2-A0E4-58F4A56011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8844" y="4324448"/>
            <a:ext cx="3073201" cy="1635911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C0D5D058-A3E1-4FB3-A1D3-BDFAE1886D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0494" y="4323059"/>
            <a:ext cx="3082615" cy="16373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64B08A42-578B-446E-83E4-7F7B5B1D20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9253" y="1943531"/>
            <a:ext cx="3077954" cy="1640078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C1296F64-85FB-4A2F-9A0D-EEA7F4FCA39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2279" y="1957426"/>
            <a:ext cx="3082615" cy="16373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9A3116B-5588-412E-9F88-4863932C7CF7}"/>
              </a:ext>
            </a:extLst>
          </p:cNvPr>
          <p:cNvSpPr txBox="1"/>
          <p:nvPr/>
        </p:nvSpPr>
        <p:spPr>
          <a:xfrm>
            <a:off x="6261235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testdata_220630</a:t>
            </a:r>
            <a:endParaRPr lang="ko-KR" altLang="en-US" sz="1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9505F59-4DE7-41E7-B25C-9D1DA5533A22}"/>
              </a:ext>
            </a:extLst>
          </p:cNvPr>
          <p:cNvSpPr txBox="1"/>
          <p:nvPr/>
        </p:nvSpPr>
        <p:spPr>
          <a:xfrm>
            <a:off x="9409377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/>
              <a:t>testdata_220808</a:t>
            </a:r>
            <a:endParaRPr lang="ko-KR" altLang="en-US" sz="1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DF3902-958B-4914-B62D-18F78F52A7AE}"/>
              </a:ext>
            </a:extLst>
          </p:cNvPr>
          <p:cNvSpPr txBox="1"/>
          <p:nvPr/>
        </p:nvSpPr>
        <p:spPr>
          <a:xfrm>
            <a:off x="6261235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testdata_250716</a:t>
            </a:r>
            <a:endParaRPr lang="ko-KR" altLang="en-US" sz="1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143C392-C4AF-44B5-8EAA-BCD88D4108EB}"/>
              </a:ext>
            </a:extLst>
          </p:cNvPr>
          <p:cNvSpPr txBox="1"/>
          <p:nvPr/>
        </p:nvSpPr>
        <p:spPr>
          <a:xfrm>
            <a:off x="9417592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testdata_250814</a:t>
            </a:r>
            <a:endParaRPr lang="ko-KR" altLang="en-US" sz="1000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ECB1E52-8361-4207-B46D-ED56854E9DC1}"/>
              </a:ext>
            </a:extLst>
          </p:cNvPr>
          <p:cNvSpPr/>
          <p:nvPr/>
        </p:nvSpPr>
        <p:spPr>
          <a:xfrm>
            <a:off x="2241494" y="1889775"/>
            <a:ext cx="2887375" cy="41503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19098889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4648899" y="3198167"/>
            <a:ext cx="28942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latin typeface="+mj-ea"/>
                <a:ea typeface="+mj-ea"/>
              </a:rPr>
              <a:t>IETD</a:t>
            </a:r>
            <a:endParaRPr lang="ko-KR" altLang="en-US" sz="36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696012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57C67BA-B213-4D78-9FE6-DF21AEB555D8}"/>
              </a:ext>
            </a:extLst>
          </p:cNvPr>
          <p:cNvSpPr txBox="1"/>
          <p:nvPr/>
        </p:nvSpPr>
        <p:spPr>
          <a:xfrm>
            <a:off x="377505" y="623270"/>
            <a:ext cx="28942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+mj-ea"/>
              </a:rPr>
              <a:t>IETD </a:t>
            </a:r>
            <a:r>
              <a:rPr lang="ko-KR" altLang="en-US" sz="2400" dirty="0">
                <a:latin typeface="+mj-ea"/>
                <a:ea typeface="+mj-ea"/>
              </a:rPr>
              <a:t>학습 데이터 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3EEA5D01-22F3-4984-8E02-DD8FCAC01A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5932444"/>
              </p:ext>
            </p:extLst>
          </p:nvPr>
        </p:nvGraphicFramePr>
        <p:xfrm>
          <a:off x="1193799" y="2219959"/>
          <a:ext cx="9692641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0560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6750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10814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4048918556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522523455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2162001719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38635649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4099286348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21081817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time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성남북초교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광주시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남한산초교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대장동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구미초교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한국학중앙연구원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2014-07-24 15:30:00</a:t>
                      </a:r>
                    </a:p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1.12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5.11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2.17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40.56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0F34946-E3D3-42D3-9474-97847E9700A7}"/>
              </a:ext>
            </a:extLst>
          </p:cNvPr>
          <p:cNvSpPr txBox="1"/>
          <p:nvPr/>
        </p:nvSpPr>
        <p:spPr>
          <a:xfrm>
            <a:off x="1117598" y="1591733"/>
            <a:ext cx="8602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홍수통제소 </a:t>
            </a:r>
            <a:r>
              <a:rPr lang="en-US" altLang="ko-KR" dirty="0"/>
              <a:t>API </a:t>
            </a:r>
            <a:r>
              <a:rPr lang="ko-KR" altLang="en-US" dirty="0"/>
              <a:t>호출 → </a:t>
            </a:r>
            <a:r>
              <a:rPr lang="en-US" altLang="ko-KR" dirty="0"/>
              <a:t>IETD</a:t>
            </a:r>
            <a:r>
              <a:rPr lang="ko-KR" altLang="en-US" dirty="0"/>
              <a:t> 활용 강우 이벤트 추출 → 관심 강우 포함 파일 추출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FCAFFAB-E3EC-4ABC-B056-47EE38272BC3}"/>
              </a:ext>
            </a:extLst>
          </p:cNvPr>
          <p:cNvSpPr txBox="1"/>
          <p:nvPr/>
        </p:nvSpPr>
        <p:spPr>
          <a:xfrm>
            <a:off x="1117598" y="3618281"/>
            <a:ext cx="80179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+ </a:t>
            </a:r>
            <a:r>
              <a:rPr lang="ko-KR" altLang="en-US" dirty="0"/>
              <a:t>기존 학습 데이터 통합 후</a:t>
            </a:r>
            <a:r>
              <a:rPr lang="en-US" altLang="ko-KR" dirty="0"/>
              <a:t> </a:t>
            </a:r>
            <a:r>
              <a:rPr lang="ko-KR" altLang="en-US" dirty="0"/>
              <a:t>중복 이벤트 제거</a:t>
            </a: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C74A5352-C7B7-4275-9E0B-4BA1B67E88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8018781"/>
              </p:ext>
            </p:extLst>
          </p:nvPr>
        </p:nvGraphicFramePr>
        <p:xfrm>
          <a:off x="1193799" y="4228068"/>
          <a:ext cx="8012114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763588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6750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10814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4048918556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2162001719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4099286348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21081817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time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성남북초교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광주시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남한산초교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대장동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구미초교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한국학중앙연구원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KoPub돋움체 Medium"/>
                          <a:ea typeface="+mn-ea"/>
                          <a:cs typeface="+mn-cs"/>
                        </a:rPr>
                        <a:t>2014-08-20 10:50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0.96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1.84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09DBF372-14B3-481F-A0BC-69E398337249}"/>
              </a:ext>
            </a:extLst>
          </p:cNvPr>
          <p:cNvSpPr txBox="1"/>
          <p:nvPr/>
        </p:nvSpPr>
        <p:spPr>
          <a:xfrm>
            <a:off x="1117597" y="5613403"/>
            <a:ext cx="107696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학습 </a:t>
            </a:r>
            <a:r>
              <a:rPr lang="en-US" altLang="ko-KR" dirty="0"/>
              <a:t>: </a:t>
            </a:r>
            <a:r>
              <a:rPr lang="ko-KR" altLang="en-US" dirty="0"/>
              <a:t>총 </a:t>
            </a:r>
            <a:r>
              <a:rPr lang="en-US" altLang="ko-KR" dirty="0"/>
              <a:t>41 </a:t>
            </a:r>
            <a:r>
              <a:rPr lang="ko-KR" altLang="en-US" dirty="0"/>
              <a:t>개 데이터 사용</a:t>
            </a:r>
            <a:endParaRPr lang="en-US" altLang="ko-KR" dirty="0"/>
          </a:p>
          <a:p>
            <a:r>
              <a:rPr lang="ko-KR" altLang="en-US" dirty="0"/>
              <a:t> </a:t>
            </a:r>
            <a:endParaRPr lang="en-US" altLang="ko-KR" dirty="0"/>
          </a:p>
          <a:p>
            <a:r>
              <a:rPr lang="ko-KR" altLang="en-US" dirty="0"/>
              <a:t>검증 </a:t>
            </a:r>
            <a:r>
              <a:rPr lang="en-US" altLang="ko-KR" dirty="0"/>
              <a:t>: </a:t>
            </a:r>
            <a:r>
              <a:rPr lang="ko-KR" altLang="en-US" dirty="0"/>
              <a:t>학습 데이터에 포함된 </a:t>
            </a:r>
            <a:r>
              <a:rPr lang="en-US" altLang="ko-KR" dirty="0"/>
              <a:t>4</a:t>
            </a:r>
            <a:r>
              <a:rPr lang="ko-KR" altLang="en-US" dirty="0"/>
              <a:t>개 데이터 </a:t>
            </a:r>
            <a:r>
              <a:rPr lang="en-US" altLang="ko-KR" dirty="0"/>
              <a:t>(220630, 220808, 250716, 250814) </a:t>
            </a:r>
            <a:r>
              <a:rPr lang="ko-KR" altLang="en-US" dirty="0"/>
              <a:t>사용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41E04F-D29F-4E7E-95FF-2526832CA782}"/>
              </a:ext>
            </a:extLst>
          </p:cNvPr>
          <p:cNvSpPr txBox="1"/>
          <p:nvPr/>
        </p:nvSpPr>
        <p:spPr>
          <a:xfrm>
            <a:off x="9474199" y="279650"/>
            <a:ext cx="2717801" cy="10152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50" b="1" dirty="0"/>
              <a:t>관심 수위 </a:t>
            </a:r>
            <a:r>
              <a:rPr lang="en-US" altLang="ko-KR" sz="1050" b="1" dirty="0"/>
              <a:t>: </a:t>
            </a:r>
            <a:r>
              <a:rPr lang="ko-KR" altLang="en-US" sz="1050" b="1" dirty="0" err="1"/>
              <a:t>궁내교</a:t>
            </a:r>
            <a:r>
              <a:rPr lang="ko-KR" altLang="en-US" sz="1050" b="1" dirty="0"/>
              <a:t> </a:t>
            </a:r>
            <a:r>
              <a:rPr lang="en-US" altLang="ko-KR" sz="1050" b="1" dirty="0"/>
              <a:t>( 2 )  </a:t>
            </a:r>
            <a:r>
              <a:rPr lang="ko-KR" altLang="en-US" sz="1050" b="1" dirty="0" err="1"/>
              <a:t>대곡교</a:t>
            </a:r>
            <a:r>
              <a:rPr lang="ko-KR" altLang="en-US" sz="1050" b="1" dirty="0"/>
              <a:t> </a:t>
            </a:r>
            <a:r>
              <a:rPr lang="en-US" altLang="ko-KR" sz="1050" b="1" dirty="0"/>
              <a:t>( 3.8 )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0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smoothing : </a:t>
            </a:r>
            <a:r>
              <a:rPr lang="ko-KR" altLang="en-US" sz="105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궁내교</a:t>
            </a:r>
            <a:r>
              <a:rPr lang="ko-KR" altLang="en-US" sz="10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ko-KR" sz="10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( </a:t>
            </a:r>
            <a:r>
              <a:rPr lang="en-US" altLang="ko-KR" sz="105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</a:rPr>
              <a:t>1 ) </a:t>
            </a:r>
            <a:r>
              <a:rPr lang="ko-KR" altLang="en-US" sz="105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</a:rPr>
              <a:t>대곡교</a:t>
            </a:r>
            <a:r>
              <a:rPr lang="ko-KR" altLang="en-US" sz="105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</a:rPr>
              <a:t> </a:t>
            </a:r>
            <a:r>
              <a:rPr lang="en-US" altLang="ko-KR" sz="105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</a:rPr>
              <a:t>( 2 )</a:t>
            </a:r>
            <a:endParaRPr lang="en-US" altLang="ko-KR" sz="1050" b="1" dirty="0"/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050" b="1" dirty="0" err="1">
                <a:latin typeface="+mj-ea"/>
              </a:rPr>
              <a:t>learning_rate</a:t>
            </a:r>
            <a:r>
              <a:rPr lang="en-US" altLang="ko-KR" sz="1050" b="1" dirty="0">
                <a:latin typeface="+mj-ea"/>
              </a:rPr>
              <a:t> = 0.0005</a:t>
            </a:r>
            <a:endParaRPr lang="ko-KR" altLang="en-US" sz="1050" dirty="0"/>
          </a:p>
        </p:txBody>
      </p:sp>
    </p:spTree>
    <p:extLst>
      <p:ext uri="{BB962C8B-B14F-4D97-AF65-F5344CB8AC3E}">
        <p14:creationId xmlns:p14="http://schemas.microsoft.com/office/powerpoint/2010/main" val="39499634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377505" y="623270"/>
            <a:ext cx="28942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latin typeface="+mj-ea"/>
              </a:rPr>
              <a:t>loss_function</a:t>
            </a:r>
            <a:r>
              <a:rPr lang="en-US" altLang="ko-KR" sz="2400" dirty="0">
                <a:latin typeface="+mj-ea"/>
              </a:rPr>
              <a:t> : </a:t>
            </a:r>
            <a:r>
              <a:rPr lang="en-US" altLang="ko-KR" sz="2400" dirty="0" err="1">
                <a:latin typeface="+mj-ea"/>
              </a:rPr>
              <a:t>mse</a:t>
            </a:r>
            <a:r>
              <a:rPr lang="en-US" altLang="ko-KR" sz="2400" dirty="0">
                <a:latin typeface="+mj-ea"/>
              </a:rPr>
              <a:t> </a:t>
            </a:r>
            <a:r>
              <a:rPr lang="ko-KR" altLang="en-US" sz="2400" dirty="0">
                <a:latin typeface="+mj-ea"/>
                <a:ea typeface="+mj-ea"/>
              </a:rPr>
              <a:t>학습 코드 </a:t>
            </a:r>
            <a:r>
              <a:rPr lang="en-US" altLang="ko-KR" sz="2400" dirty="0">
                <a:latin typeface="+mj-ea"/>
                <a:ea typeface="+mj-ea"/>
              </a:rPr>
              <a:t>- </a:t>
            </a:r>
            <a:r>
              <a:rPr lang="ko-KR" altLang="en-US" sz="2400" dirty="0" err="1">
                <a:latin typeface="+mj-ea"/>
                <a:ea typeface="+mj-ea"/>
              </a:rPr>
              <a:t>궁내교</a:t>
            </a:r>
            <a:endParaRPr lang="ko-KR" altLang="en-US" sz="2400" dirty="0">
              <a:latin typeface="+mj-ea"/>
              <a:ea typeface="+mj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9DB7C3-A352-4434-832E-7169C75AB765}"/>
              </a:ext>
            </a:extLst>
          </p:cNvPr>
          <p:cNvSpPr txBox="1"/>
          <p:nvPr/>
        </p:nvSpPr>
        <p:spPr>
          <a:xfrm>
            <a:off x="1346199" y="1786468"/>
            <a:ext cx="8602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Train : Valid : Test = 7 : 2 : 1 </a:t>
            </a:r>
            <a:r>
              <a:rPr lang="ko-KR" altLang="en-US" dirty="0"/>
              <a:t>비율로 학습 진행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2F37C692-0D2E-44D5-8AE7-B05779A9F1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881119"/>
              </p:ext>
            </p:extLst>
          </p:nvPr>
        </p:nvGraphicFramePr>
        <p:xfrm>
          <a:off x="6951132" y="3017967"/>
          <a:ext cx="37852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734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Train</a:t>
                      </a:r>
                    </a:p>
                    <a:p>
                      <a:pPr latinLnBrk="1"/>
                      <a:r>
                        <a:rPr lang="en-US" altLang="ko-KR" sz="800" dirty="0"/>
                        <a:t>(6568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0.0963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0.0585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0.1893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0.877040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0.886103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1.200072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B08A13AB-CF40-41FC-85F4-AA63438CD5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6638130"/>
              </p:ext>
            </p:extLst>
          </p:nvPr>
        </p:nvGraphicFramePr>
        <p:xfrm>
          <a:off x="6951132" y="4259181"/>
          <a:ext cx="38360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734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Valid</a:t>
                      </a:r>
                    </a:p>
                    <a:p>
                      <a:pPr latinLnBrk="1"/>
                      <a:r>
                        <a:rPr lang="en-US" altLang="ko-KR" sz="800" dirty="0"/>
                        <a:t>(1546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0.0915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0.0706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0.1316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0.883410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0.885025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6.182686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BF3AC006-682A-4D96-B009-F19CB094C0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6082715"/>
              </p:ext>
            </p:extLst>
          </p:nvPr>
        </p:nvGraphicFramePr>
        <p:xfrm>
          <a:off x="6951132" y="5500395"/>
          <a:ext cx="37344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226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Test</a:t>
                      </a:r>
                    </a:p>
                    <a:p>
                      <a:pPr latinLnBrk="1"/>
                      <a:r>
                        <a:rPr lang="en-US" altLang="ko-KR" sz="800" dirty="0"/>
                        <a:t>(591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0.0936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0.0751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0.1309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0.828633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0.848889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1.180762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pic>
        <p:nvPicPr>
          <p:cNvPr id="13" name="그림 12">
            <a:extLst>
              <a:ext uri="{FF2B5EF4-FFF2-40B4-BE49-F238E27FC236}">
                <a16:creationId xmlns:a16="http://schemas.microsoft.com/office/drawing/2014/main" id="{0B8BFE22-A6DD-4A55-8213-16C5AD4073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834" y="3710056"/>
            <a:ext cx="5488111" cy="185553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545FBF0-BD23-47BA-AE23-A9041F51CCD9}"/>
              </a:ext>
            </a:extLst>
          </p:cNvPr>
          <p:cNvSpPr txBox="1"/>
          <p:nvPr/>
        </p:nvSpPr>
        <p:spPr>
          <a:xfrm>
            <a:off x="900984" y="3109677"/>
            <a:ext cx="1740616" cy="402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200" dirty="0">
                <a:latin typeface="+mj-ea"/>
              </a:rPr>
              <a:t>Train Chart</a:t>
            </a:r>
            <a:endParaRPr lang="ko-KR" altLang="en-US" sz="1200" dirty="0">
              <a:latin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2E70C8B-0378-41AB-8FAC-941DC946C20B}"/>
              </a:ext>
            </a:extLst>
          </p:cNvPr>
          <p:cNvSpPr txBox="1"/>
          <p:nvPr/>
        </p:nvSpPr>
        <p:spPr>
          <a:xfrm>
            <a:off x="6823157" y="2491201"/>
            <a:ext cx="23123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일괄 예측 수행 결과</a:t>
            </a:r>
          </a:p>
        </p:txBody>
      </p:sp>
    </p:spTree>
    <p:extLst>
      <p:ext uri="{BB962C8B-B14F-4D97-AF65-F5344CB8AC3E}">
        <p14:creationId xmlns:p14="http://schemas.microsoft.com/office/powerpoint/2010/main" val="3153649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AAE686AD-B247-4E24-AF7D-A48D41C9EF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1527717"/>
              </p:ext>
            </p:extLst>
          </p:nvPr>
        </p:nvGraphicFramePr>
        <p:xfrm>
          <a:off x="800836" y="1889775"/>
          <a:ext cx="4328033" cy="415036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</a:rPr>
                        <a:t>궁내교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testdata_220630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0.8107090885336524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0.04172666923856095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0.14577401796976724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0.20427106804087786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testdata_220808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0.8983921108487866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0.09352914467024825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0.2558622750971053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0.3058253499470707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testdata_250716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0.3699167390762792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0.06321135292089193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0.18525710814528992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0.25141868053287514</a:t>
                      </a:r>
                      <a:r>
                        <a:rPr lang="pt-BR" altLang="ko-KR" sz="1400" dirty="0"/>
                        <a:t> 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testdata_250814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0.38497702240945686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0.043360401218003254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0.155895366470019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0.20823160475298474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621040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57C67BA-B213-4D78-9FE6-DF21AEB555D8}"/>
              </a:ext>
            </a:extLst>
          </p:cNvPr>
          <p:cNvSpPr txBox="1"/>
          <p:nvPr/>
        </p:nvSpPr>
        <p:spPr>
          <a:xfrm>
            <a:off x="377504" y="623270"/>
            <a:ext cx="31146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latin typeface="+mj-ea"/>
              </a:rPr>
              <a:t>loss_function</a:t>
            </a:r>
            <a:r>
              <a:rPr lang="en-US" altLang="ko-KR" sz="2400" dirty="0">
                <a:latin typeface="+mj-ea"/>
              </a:rPr>
              <a:t> : </a:t>
            </a:r>
            <a:r>
              <a:rPr lang="en-US" altLang="ko-KR" sz="2400" dirty="0" err="1">
                <a:latin typeface="+mj-ea"/>
              </a:rPr>
              <a:t>mse</a:t>
            </a:r>
            <a:r>
              <a:rPr lang="en-US" altLang="ko-KR" sz="2400" dirty="0">
                <a:latin typeface="+mj-ea"/>
              </a:rPr>
              <a:t> </a:t>
            </a:r>
            <a:r>
              <a:rPr lang="ko-KR" altLang="en-US" sz="2400" dirty="0">
                <a:latin typeface="+mj-ea"/>
                <a:ea typeface="+mj-ea"/>
              </a:rPr>
              <a:t>예측코드 </a:t>
            </a:r>
            <a:r>
              <a:rPr lang="en-US" altLang="ko-KR" sz="2400" dirty="0">
                <a:latin typeface="+mj-ea"/>
                <a:ea typeface="+mj-ea"/>
              </a:rPr>
              <a:t>– </a:t>
            </a:r>
            <a:r>
              <a:rPr lang="ko-KR" altLang="en-US" sz="2400" dirty="0" err="1">
                <a:latin typeface="+mj-ea"/>
                <a:ea typeface="+mj-ea"/>
              </a:rPr>
              <a:t>궁내교</a:t>
            </a:r>
            <a:endParaRPr lang="en-US" altLang="ko-KR" sz="2400" dirty="0">
              <a:latin typeface="+mj-ea"/>
              <a:ea typeface="+mj-ea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278C1A1A-ED6F-42E2-A0E4-58F4A56011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5598" y="4324448"/>
            <a:ext cx="3059692" cy="1635911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C0D5D058-A3E1-4FB3-A1D3-BDFAE1886D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3829" y="4324098"/>
            <a:ext cx="3075945" cy="1635221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64B08A42-578B-446E-83E4-7F7B5B1D20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7426" y="1944225"/>
            <a:ext cx="3081607" cy="163869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C1296F64-85FB-4A2F-9A0D-EEA7F4FCA39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0642" y="1957426"/>
            <a:ext cx="3065889" cy="16373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9A3116B-5588-412E-9F88-4863932C7CF7}"/>
              </a:ext>
            </a:extLst>
          </p:cNvPr>
          <p:cNvSpPr txBox="1"/>
          <p:nvPr/>
        </p:nvSpPr>
        <p:spPr>
          <a:xfrm>
            <a:off x="6261235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testdata_220630</a:t>
            </a:r>
            <a:endParaRPr lang="ko-KR" altLang="en-US" sz="1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9505F59-4DE7-41E7-B25C-9D1DA5533A22}"/>
              </a:ext>
            </a:extLst>
          </p:cNvPr>
          <p:cNvSpPr txBox="1"/>
          <p:nvPr/>
        </p:nvSpPr>
        <p:spPr>
          <a:xfrm>
            <a:off x="9409377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/>
              <a:t>testdata_220808</a:t>
            </a:r>
            <a:endParaRPr lang="ko-KR" altLang="en-US" sz="1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DF3902-958B-4914-B62D-18F78F52A7AE}"/>
              </a:ext>
            </a:extLst>
          </p:cNvPr>
          <p:cNvSpPr txBox="1"/>
          <p:nvPr/>
        </p:nvSpPr>
        <p:spPr>
          <a:xfrm>
            <a:off x="6261235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testdata_250716</a:t>
            </a:r>
            <a:endParaRPr lang="ko-KR" altLang="en-US" sz="1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143C392-C4AF-44B5-8EAA-BCD88D4108EB}"/>
              </a:ext>
            </a:extLst>
          </p:cNvPr>
          <p:cNvSpPr txBox="1"/>
          <p:nvPr/>
        </p:nvSpPr>
        <p:spPr>
          <a:xfrm>
            <a:off x="9417592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testdata_250814</a:t>
            </a:r>
            <a:endParaRPr lang="ko-KR" altLang="en-US" sz="1000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E9C707D-1D3F-4EB6-8752-DA0D74A9CC76}"/>
              </a:ext>
            </a:extLst>
          </p:cNvPr>
          <p:cNvSpPr/>
          <p:nvPr/>
        </p:nvSpPr>
        <p:spPr>
          <a:xfrm>
            <a:off x="2241494" y="1889775"/>
            <a:ext cx="2887375" cy="41503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11490448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377505" y="623270"/>
            <a:ext cx="28942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latin typeface="+mj-ea"/>
              </a:rPr>
              <a:t>loss_function</a:t>
            </a:r>
            <a:r>
              <a:rPr lang="en-US" altLang="ko-KR" sz="2400" dirty="0">
                <a:latin typeface="+mj-ea"/>
              </a:rPr>
              <a:t> : </a:t>
            </a:r>
            <a:r>
              <a:rPr lang="en-US" altLang="ko-KR" sz="2400" dirty="0" err="1">
                <a:latin typeface="+mj-ea"/>
              </a:rPr>
              <a:t>mae</a:t>
            </a:r>
            <a:r>
              <a:rPr lang="en-US" altLang="ko-KR" sz="2400" dirty="0">
                <a:latin typeface="+mj-ea"/>
              </a:rPr>
              <a:t> </a:t>
            </a:r>
            <a:r>
              <a:rPr lang="ko-KR" altLang="en-US" sz="2400" dirty="0">
                <a:latin typeface="+mj-ea"/>
                <a:ea typeface="+mj-ea"/>
              </a:rPr>
              <a:t>학습 코드 </a:t>
            </a:r>
            <a:r>
              <a:rPr lang="en-US" altLang="ko-KR" sz="2400" dirty="0">
                <a:latin typeface="+mj-ea"/>
                <a:ea typeface="+mj-ea"/>
              </a:rPr>
              <a:t>- </a:t>
            </a:r>
            <a:r>
              <a:rPr lang="ko-KR" altLang="en-US" sz="2400" dirty="0" err="1">
                <a:latin typeface="+mj-ea"/>
                <a:ea typeface="+mj-ea"/>
              </a:rPr>
              <a:t>궁내교</a:t>
            </a:r>
            <a:endParaRPr lang="ko-KR" altLang="en-US" sz="2400" dirty="0">
              <a:latin typeface="+mj-ea"/>
              <a:ea typeface="+mj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9DB7C3-A352-4434-832E-7169C75AB765}"/>
              </a:ext>
            </a:extLst>
          </p:cNvPr>
          <p:cNvSpPr txBox="1"/>
          <p:nvPr/>
        </p:nvSpPr>
        <p:spPr>
          <a:xfrm>
            <a:off x="1346199" y="1786468"/>
            <a:ext cx="8602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Train : Valid : Test = 7 : 2 : 1 </a:t>
            </a:r>
            <a:r>
              <a:rPr lang="ko-KR" altLang="en-US" dirty="0"/>
              <a:t>비율로 학습 진행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0B8BFE22-A6DD-4A55-8213-16C5AD4073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984" y="3713036"/>
            <a:ext cx="5525812" cy="184957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545FBF0-BD23-47BA-AE23-A9041F51CCD9}"/>
              </a:ext>
            </a:extLst>
          </p:cNvPr>
          <p:cNvSpPr txBox="1"/>
          <p:nvPr/>
        </p:nvSpPr>
        <p:spPr>
          <a:xfrm>
            <a:off x="900984" y="3109677"/>
            <a:ext cx="1740616" cy="402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200" dirty="0">
                <a:latin typeface="+mj-ea"/>
              </a:rPr>
              <a:t>Train Chart</a:t>
            </a:r>
            <a:endParaRPr lang="ko-KR" altLang="en-US" sz="1200" dirty="0">
              <a:latin typeface="+mj-ea"/>
            </a:endParaRP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CE5E2043-2632-4E14-BDB2-6E8FF54308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741951"/>
              </p:ext>
            </p:extLst>
          </p:nvPr>
        </p:nvGraphicFramePr>
        <p:xfrm>
          <a:off x="6951132" y="3017967"/>
          <a:ext cx="37852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734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Train</a:t>
                      </a:r>
                    </a:p>
                    <a:p>
                      <a:pPr latinLnBrk="1"/>
                      <a:r>
                        <a:rPr lang="en-US" altLang="ko-KR" sz="800" dirty="0"/>
                        <a:t>(6568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0.0581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0.0333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0.1691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0.901961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0.903945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0.810389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AF2133B5-B478-4E58-AFCB-75C4930F18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5602751"/>
              </p:ext>
            </p:extLst>
          </p:nvPr>
        </p:nvGraphicFramePr>
        <p:xfrm>
          <a:off x="6951132" y="4259181"/>
          <a:ext cx="38360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734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Valid</a:t>
                      </a:r>
                    </a:p>
                    <a:p>
                      <a:pPr latinLnBrk="1"/>
                      <a:r>
                        <a:rPr lang="en-US" altLang="ko-KR" sz="800" dirty="0"/>
                        <a:t>(1546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0.0678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0.0541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0.0964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0.937339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0.942005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3.439158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F2056A04-9240-4D2E-8AE9-506E213B33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8634867"/>
              </p:ext>
            </p:extLst>
          </p:nvPr>
        </p:nvGraphicFramePr>
        <p:xfrm>
          <a:off x="6951132" y="5500395"/>
          <a:ext cx="37344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226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Test</a:t>
                      </a:r>
                    </a:p>
                    <a:p>
                      <a:pPr latinLnBrk="1"/>
                      <a:r>
                        <a:rPr lang="en-US" altLang="ko-KR" sz="800" dirty="0"/>
                        <a:t>(591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0.0691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0.0559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0.0984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0.903217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0.921347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4.550139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7E0F2C94-B105-4F7F-A88D-01757C1A6308}"/>
              </a:ext>
            </a:extLst>
          </p:cNvPr>
          <p:cNvSpPr txBox="1"/>
          <p:nvPr/>
        </p:nvSpPr>
        <p:spPr>
          <a:xfrm>
            <a:off x="6823157" y="2491201"/>
            <a:ext cx="23123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일괄 예측 수행 결과</a:t>
            </a:r>
          </a:p>
        </p:txBody>
      </p:sp>
    </p:spTree>
    <p:extLst>
      <p:ext uri="{BB962C8B-B14F-4D97-AF65-F5344CB8AC3E}">
        <p14:creationId xmlns:p14="http://schemas.microsoft.com/office/powerpoint/2010/main" val="19864637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AAE686AD-B247-4E24-AF7D-A48D41C9EF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3269443"/>
              </p:ext>
            </p:extLst>
          </p:nvPr>
        </p:nvGraphicFramePr>
        <p:xfrm>
          <a:off x="800836" y="1889775"/>
          <a:ext cx="4328033" cy="415036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</a:rPr>
                        <a:t>궁내교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testdata_220630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0.8788828603652485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0.026698666013652478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0.12266025543212894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0.16339726440076185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testdata_220808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0.9010840174237275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0.09105126896994951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0.22974014374944898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0.3017470281045855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testdata_250716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0.6783058984645005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0.0322730671418225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0.13786608695983885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0.1796470627141521</a:t>
                      </a:r>
                      <a:r>
                        <a:rPr lang="pt-BR" altLang="ko-KR" sz="1400" dirty="0"/>
                        <a:t> 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testdata_250814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0.5365595534008036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0.032673516986173747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0.12506023744742073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0.1807581726677213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621040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F8419745-3F23-4E52-9496-EA26CFACBC7B}"/>
              </a:ext>
            </a:extLst>
          </p:cNvPr>
          <p:cNvSpPr/>
          <p:nvPr/>
        </p:nvSpPr>
        <p:spPr>
          <a:xfrm>
            <a:off x="2241494" y="1889775"/>
            <a:ext cx="2887375" cy="41503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7C67BA-B213-4D78-9FE6-DF21AEB555D8}"/>
              </a:ext>
            </a:extLst>
          </p:cNvPr>
          <p:cNvSpPr txBox="1"/>
          <p:nvPr/>
        </p:nvSpPr>
        <p:spPr>
          <a:xfrm>
            <a:off x="377504" y="623270"/>
            <a:ext cx="31146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latin typeface="+mj-ea"/>
              </a:rPr>
              <a:t>loss_function</a:t>
            </a:r>
            <a:r>
              <a:rPr lang="en-US" altLang="ko-KR" sz="2400" dirty="0">
                <a:latin typeface="+mj-ea"/>
              </a:rPr>
              <a:t> : </a:t>
            </a:r>
            <a:r>
              <a:rPr lang="en-US" altLang="ko-KR" sz="2400" dirty="0" err="1">
                <a:latin typeface="+mj-ea"/>
              </a:rPr>
              <a:t>mae</a:t>
            </a:r>
            <a:endParaRPr lang="en-US" altLang="ko-KR" sz="2400" dirty="0">
              <a:latin typeface="+mj-ea"/>
            </a:endParaRPr>
          </a:p>
          <a:p>
            <a:r>
              <a:rPr lang="ko-KR" altLang="en-US" sz="2400" dirty="0">
                <a:latin typeface="+mj-ea"/>
                <a:ea typeface="+mj-ea"/>
              </a:rPr>
              <a:t>예측코드 </a:t>
            </a:r>
            <a:r>
              <a:rPr lang="en-US" altLang="ko-KR" sz="2400" dirty="0">
                <a:latin typeface="+mj-ea"/>
                <a:ea typeface="+mj-ea"/>
              </a:rPr>
              <a:t>– </a:t>
            </a:r>
            <a:r>
              <a:rPr lang="ko-KR" altLang="en-US" sz="2400" dirty="0" err="1">
                <a:latin typeface="+mj-ea"/>
                <a:ea typeface="+mj-ea"/>
              </a:rPr>
              <a:t>궁내교</a:t>
            </a:r>
            <a:endParaRPr lang="ko-KR" altLang="en-US" sz="2400" dirty="0">
              <a:latin typeface="+mj-ea"/>
              <a:ea typeface="+mj-ea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278C1A1A-ED6F-42E2-A0E4-58F4A56011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3635" y="4324448"/>
            <a:ext cx="3083619" cy="1635911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C0D5D058-A3E1-4FB3-A1D3-BDFAE1886D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6872" y="4323059"/>
            <a:ext cx="3089860" cy="16373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64B08A42-578B-446E-83E4-7F7B5B1D20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0924" y="1944225"/>
            <a:ext cx="3034611" cy="163869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C1296F64-85FB-4A2F-9A0D-EEA7F4FCA39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1866" y="1959717"/>
            <a:ext cx="3043441" cy="163271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9A3116B-5588-412E-9F88-4863932C7CF7}"/>
              </a:ext>
            </a:extLst>
          </p:cNvPr>
          <p:cNvSpPr txBox="1"/>
          <p:nvPr/>
        </p:nvSpPr>
        <p:spPr>
          <a:xfrm>
            <a:off x="6261235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testdata_220630</a:t>
            </a:r>
            <a:endParaRPr lang="ko-KR" altLang="en-US" sz="1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9505F59-4DE7-41E7-B25C-9D1DA5533A22}"/>
              </a:ext>
            </a:extLst>
          </p:cNvPr>
          <p:cNvSpPr txBox="1"/>
          <p:nvPr/>
        </p:nvSpPr>
        <p:spPr>
          <a:xfrm>
            <a:off x="9409377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/>
              <a:t>testdata_220808</a:t>
            </a:r>
            <a:endParaRPr lang="ko-KR" altLang="en-US" sz="1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DF3902-958B-4914-B62D-18F78F52A7AE}"/>
              </a:ext>
            </a:extLst>
          </p:cNvPr>
          <p:cNvSpPr txBox="1"/>
          <p:nvPr/>
        </p:nvSpPr>
        <p:spPr>
          <a:xfrm>
            <a:off x="6261235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testdata_250716</a:t>
            </a:r>
            <a:endParaRPr lang="ko-KR" altLang="en-US" sz="1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143C392-C4AF-44B5-8EAA-BCD88D4108EB}"/>
              </a:ext>
            </a:extLst>
          </p:cNvPr>
          <p:cNvSpPr txBox="1"/>
          <p:nvPr/>
        </p:nvSpPr>
        <p:spPr>
          <a:xfrm>
            <a:off x="9417592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testdata_250814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28671313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2956983" y="2828835"/>
            <a:ext cx="62780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b="1" dirty="0">
                <a:solidFill>
                  <a:schemeClr val="accent5"/>
                </a:solidFill>
                <a:latin typeface="+mj-ea"/>
                <a:ea typeface="+mj-ea"/>
              </a:rPr>
              <a:t>예측에 사용할 데이터 학습에서 제외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86DB2C-47F0-4498-A889-5A04E13863AF}"/>
              </a:ext>
            </a:extLst>
          </p:cNvPr>
          <p:cNvSpPr txBox="1"/>
          <p:nvPr/>
        </p:nvSpPr>
        <p:spPr>
          <a:xfrm>
            <a:off x="9270999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/dg)_(</a:t>
            </a:r>
            <a:r>
              <a:rPr lang="en-US" altLang="ko-KR" sz="1050" dirty="0" err="1"/>
              <a:t>mse</a:t>
            </a:r>
            <a:r>
              <a:rPr lang="en-US" altLang="ko-KR" sz="1050" dirty="0"/>
              <a:t>/</a:t>
            </a:r>
            <a:r>
              <a:rPr lang="en-US" altLang="ko-KR" sz="1050" dirty="0" err="1"/>
              <a:t>mae</a:t>
            </a:r>
            <a:r>
              <a:rPr lang="en-US" altLang="ko-KR" sz="1050" dirty="0"/>
              <a:t>)_</a:t>
            </a:r>
            <a:r>
              <a:rPr lang="ko-KR" altLang="en-US" sz="1050" dirty="0"/>
              <a:t>강우추출방법</a:t>
            </a:r>
            <a:r>
              <a:rPr lang="en-US" altLang="ko-KR" sz="1050" dirty="0"/>
              <a:t>2</a:t>
            </a:r>
            <a:r>
              <a:rPr lang="en-US" altLang="ko-KR" sz="1050" dirty="0">
                <a:latin typeface="+mj-ea"/>
              </a:rPr>
              <a:t> </a:t>
            </a:r>
            <a:endParaRPr lang="ko-KR" altLang="en-US" sz="1050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0036132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4648899" y="3198167"/>
            <a:ext cx="28942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latin typeface="+mj-ea"/>
                <a:ea typeface="+mj-ea"/>
              </a:rPr>
              <a:t>MIET</a:t>
            </a:r>
            <a:endParaRPr lang="ko-KR" altLang="en-US" sz="36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0348270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57C67BA-B213-4D78-9FE6-DF21AEB555D8}"/>
              </a:ext>
            </a:extLst>
          </p:cNvPr>
          <p:cNvSpPr txBox="1"/>
          <p:nvPr/>
        </p:nvSpPr>
        <p:spPr>
          <a:xfrm>
            <a:off x="377504" y="623270"/>
            <a:ext cx="33816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+mj-ea"/>
              </a:rPr>
              <a:t>MIET</a:t>
            </a:r>
            <a:r>
              <a:rPr lang="ko-KR" altLang="en-US" sz="2400" b="1" dirty="0">
                <a:latin typeface="+mj-ea"/>
              </a:rPr>
              <a:t> </a:t>
            </a:r>
            <a:r>
              <a:rPr lang="ko-KR" altLang="en-US" sz="2400" dirty="0">
                <a:latin typeface="+mj-ea"/>
                <a:ea typeface="+mj-ea"/>
              </a:rPr>
              <a:t>학습 데이터 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3EEA5D01-22F3-4984-8E02-DD8FCAC01A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7322176"/>
              </p:ext>
            </p:extLst>
          </p:nvPr>
        </p:nvGraphicFramePr>
        <p:xfrm>
          <a:off x="1227666" y="2194559"/>
          <a:ext cx="9692641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0560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6750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10814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4048918556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522523455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2162001719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38635649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4099286348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21081817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time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성남북초교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광주시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남한산초교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대장동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구미초교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한국학중앙연구원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2014-07-24 15:30:00</a:t>
                      </a:r>
                    </a:p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1.12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5.11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2.17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40.56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0F34946-E3D3-42D3-9474-97847E9700A7}"/>
              </a:ext>
            </a:extLst>
          </p:cNvPr>
          <p:cNvSpPr txBox="1"/>
          <p:nvPr/>
        </p:nvSpPr>
        <p:spPr>
          <a:xfrm>
            <a:off x="1151465" y="1566333"/>
            <a:ext cx="8602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홍수통제소 </a:t>
            </a:r>
            <a:r>
              <a:rPr lang="en-US" altLang="ko-KR" dirty="0"/>
              <a:t>API </a:t>
            </a:r>
            <a:r>
              <a:rPr lang="ko-KR" altLang="en-US" dirty="0"/>
              <a:t>호출 → </a:t>
            </a:r>
            <a:r>
              <a:rPr lang="en-US" altLang="ko-KR" dirty="0"/>
              <a:t>MIET</a:t>
            </a:r>
            <a:r>
              <a:rPr lang="ko-KR" altLang="en-US" dirty="0"/>
              <a:t> 활용 강우 이벤트 추출 → 관심 강우 포함 파일 추출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FCAFFAB-E3EC-4ABC-B056-47EE38272BC3}"/>
              </a:ext>
            </a:extLst>
          </p:cNvPr>
          <p:cNvSpPr txBox="1"/>
          <p:nvPr/>
        </p:nvSpPr>
        <p:spPr>
          <a:xfrm>
            <a:off x="1151465" y="3592881"/>
            <a:ext cx="80179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+ </a:t>
            </a:r>
            <a:r>
              <a:rPr lang="ko-KR" altLang="en-US" dirty="0"/>
              <a:t>기존 학습 데이터 통합 후</a:t>
            </a:r>
            <a:r>
              <a:rPr lang="en-US" altLang="ko-KR" dirty="0"/>
              <a:t> </a:t>
            </a:r>
            <a:r>
              <a:rPr lang="ko-KR" altLang="en-US" dirty="0"/>
              <a:t>중복 이벤트 제거</a:t>
            </a: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C74A5352-C7B7-4275-9E0B-4BA1B67E88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5738246"/>
              </p:ext>
            </p:extLst>
          </p:nvPr>
        </p:nvGraphicFramePr>
        <p:xfrm>
          <a:off x="1227666" y="4202668"/>
          <a:ext cx="8012114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763588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6750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10814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4048918556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2162001719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4099286348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21081817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time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성남북초교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광주시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남한산초교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대장동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구미초교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한국학중앙연구원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KoPub돋움체 Medium"/>
                          <a:ea typeface="+mn-ea"/>
                          <a:cs typeface="+mn-cs"/>
                        </a:rPr>
                        <a:t>2014-08-20 10:50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0.96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1.84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09DBF372-14B3-481F-A0BC-69E398337249}"/>
              </a:ext>
            </a:extLst>
          </p:cNvPr>
          <p:cNvSpPr txBox="1"/>
          <p:nvPr/>
        </p:nvSpPr>
        <p:spPr>
          <a:xfrm>
            <a:off x="1151464" y="5554135"/>
            <a:ext cx="96926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학습 </a:t>
            </a:r>
            <a:r>
              <a:rPr lang="en-US" altLang="ko-KR" dirty="0"/>
              <a:t>: </a:t>
            </a:r>
            <a:r>
              <a:rPr lang="ko-KR" altLang="en-US" dirty="0"/>
              <a:t>총 </a:t>
            </a:r>
            <a:r>
              <a:rPr lang="en-US" altLang="ko-KR" dirty="0"/>
              <a:t>67</a:t>
            </a:r>
            <a:r>
              <a:rPr lang="ko-KR" altLang="en-US" dirty="0"/>
              <a:t>개 中 </a:t>
            </a:r>
            <a:r>
              <a:rPr lang="en-US" altLang="ko-KR" dirty="0"/>
              <a:t>63</a:t>
            </a:r>
            <a:r>
              <a:rPr lang="ko-KR" altLang="en-US" dirty="0"/>
              <a:t>개 데이터 사용</a:t>
            </a:r>
            <a:r>
              <a:rPr lang="en-US" altLang="ko-KR" dirty="0"/>
              <a:t> </a:t>
            </a:r>
          </a:p>
          <a:p>
            <a:endParaRPr lang="en-US" altLang="ko-KR" dirty="0"/>
          </a:p>
          <a:p>
            <a:r>
              <a:rPr lang="ko-KR" altLang="en-US" dirty="0"/>
              <a:t>검증 </a:t>
            </a:r>
            <a:r>
              <a:rPr lang="en-US" altLang="ko-KR" dirty="0"/>
              <a:t>: </a:t>
            </a:r>
            <a:r>
              <a:rPr lang="ko-KR" altLang="en-US" dirty="0"/>
              <a:t>학습 데이터에서 제외한 </a:t>
            </a:r>
            <a:r>
              <a:rPr lang="en-US" altLang="ko-KR" dirty="0"/>
              <a:t>3</a:t>
            </a:r>
            <a:r>
              <a:rPr lang="ko-KR" altLang="en-US" dirty="0"/>
              <a:t>개 데이터 </a:t>
            </a:r>
            <a:r>
              <a:rPr lang="en-US" altLang="ko-KR" dirty="0"/>
              <a:t>(170723, 220713, 230711) </a:t>
            </a:r>
            <a:r>
              <a:rPr lang="ko-KR" altLang="en-US" dirty="0"/>
              <a:t>사용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D00494-A5E8-4259-BF23-B27A56DB11CF}"/>
              </a:ext>
            </a:extLst>
          </p:cNvPr>
          <p:cNvSpPr txBox="1"/>
          <p:nvPr/>
        </p:nvSpPr>
        <p:spPr>
          <a:xfrm>
            <a:off x="6096000" y="6439293"/>
            <a:ext cx="122766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22</a:t>
            </a:r>
            <a:r>
              <a:rPr lang="ko-KR" altLang="en-US" sz="900" dirty="0"/>
              <a:t>년 </a:t>
            </a:r>
            <a:r>
              <a:rPr lang="en-US" altLang="ko-KR" sz="900" dirty="0"/>
              <a:t>7</a:t>
            </a:r>
            <a:r>
              <a:rPr lang="ko-KR" altLang="en-US" sz="900" dirty="0"/>
              <a:t>월 </a:t>
            </a:r>
            <a:r>
              <a:rPr lang="en-US" altLang="ko-KR" sz="900" dirty="0"/>
              <a:t>12 +13 </a:t>
            </a:r>
            <a:r>
              <a:rPr lang="ko-KR" altLang="en-US" sz="900" dirty="0"/>
              <a:t>자료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8D19E8-9FFC-4749-B345-E9F6524C9D43}"/>
              </a:ext>
            </a:extLst>
          </p:cNvPr>
          <p:cNvSpPr txBox="1"/>
          <p:nvPr/>
        </p:nvSpPr>
        <p:spPr>
          <a:xfrm>
            <a:off x="9474199" y="279650"/>
            <a:ext cx="2717801" cy="10152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50" b="1" dirty="0"/>
              <a:t>관심 수위 </a:t>
            </a:r>
            <a:r>
              <a:rPr lang="en-US" altLang="ko-KR" sz="1050" b="1" dirty="0"/>
              <a:t>: </a:t>
            </a:r>
            <a:r>
              <a:rPr lang="ko-KR" altLang="en-US" sz="1050" b="1" dirty="0" err="1"/>
              <a:t>궁내교</a:t>
            </a:r>
            <a:r>
              <a:rPr lang="ko-KR" altLang="en-US" sz="1050" b="1" dirty="0"/>
              <a:t> </a:t>
            </a:r>
            <a:r>
              <a:rPr lang="en-US" altLang="ko-KR" sz="1050" b="1" dirty="0"/>
              <a:t>( 2 )  </a:t>
            </a:r>
            <a:r>
              <a:rPr lang="ko-KR" altLang="en-US" sz="1050" b="1" dirty="0" err="1"/>
              <a:t>대곡교</a:t>
            </a:r>
            <a:r>
              <a:rPr lang="ko-KR" altLang="en-US" sz="1050" b="1" dirty="0"/>
              <a:t> </a:t>
            </a:r>
            <a:r>
              <a:rPr lang="en-US" altLang="ko-KR" sz="1050" b="1" dirty="0"/>
              <a:t>( 3.8 )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0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smoothing : </a:t>
            </a:r>
            <a:r>
              <a:rPr lang="ko-KR" altLang="en-US" sz="105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궁내교</a:t>
            </a:r>
            <a:r>
              <a:rPr lang="ko-KR" altLang="en-US" sz="10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ko-KR" sz="10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( </a:t>
            </a:r>
            <a:r>
              <a:rPr lang="en-US" altLang="ko-KR" sz="105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</a:rPr>
              <a:t>1 ) </a:t>
            </a:r>
            <a:r>
              <a:rPr lang="ko-KR" altLang="en-US" sz="105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</a:rPr>
              <a:t>대곡교</a:t>
            </a:r>
            <a:r>
              <a:rPr lang="ko-KR" altLang="en-US" sz="105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</a:rPr>
              <a:t> </a:t>
            </a:r>
            <a:r>
              <a:rPr lang="en-US" altLang="ko-KR" sz="105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</a:rPr>
              <a:t>( 2 )</a:t>
            </a:r>
            <a:endParaRPr lang="en-US" altLang="ko-KR" sz="1050" b="1" dirty="0"/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050" b="1" dirty="0" err="1">
                <a:latin typeface="+mj-ea"/>
              </a:rPr>
              <a:t>learning_rate</a:t>
            </a:r>
            <a:r>
              <a:rPr lang="en-US" altLang="ko-KR" sz="1050" b="1" dirty="0">
                <a:latin typeface="+mj-ea"/>
              </a:rPr>
              <a:t> = 0.0005</a:t>
            </a:r>
            <a:endParaRPr lang="ko-KR" altLang="en-US" sz="1050" dirty="0"/>
          </a:p>
        </p:txBody>
      </p:sp>
    </p:spTree>
    <p:extLst>
      <p:ext uri="{BB962C8B-B14F-4D97-AF65-F5344CB8AC3E}">
        <p14:creationId xmlns:p14="http://schemas.microsoft.com/office/powerpoint/2010/main" val="38983323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377505" y="623270"/>
            <a:ext cx="28942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latin typeface="+mj-ea"/>
              </a:rPr>
              <a:t>loss_function</a:t>
            </a:r>
            <a:r>
              <a:rPr lang="en-US" altLang="ko-KR" sz="2400" dirty="0">
                <a:latin typeface="+mj-ea"/>
              </a:rPr>
              <a:t> : </a:t>
            </a:r>
            <a:r>
              <a:rPr lang="en-US" altLang="ko-KR" sz="2400" dirty="0" err="1">
                <a:latin typeface="+mj-ea"/>
              </a:rPr>
              <a:t>mse</a:t>
            </a:r>
            <a:r>
              <a:rPr lang="en-US" altLang="ko-KR" sz="2400" dirty="0">
                <a:latin typeface="+mj-ea"/>
              </a:rPr>
              <a:t> </a:t>
            </a:r>
            <a:r>
              <a:rPr lang="ko-KR" altLang="en-US" sz="2400" dirty="0">
                <a:latin typeface="+mj-ea"/>
                <a:ea typeface="+mj-ea"/>
              </a:rPr>
              <a:t>학습 코드 </a:t>
            </a:r>
            <a:r>
              <a:rPr lang="en-US" altLang="ko-KR" sz="2400" dirty="0">
                <a:latin typeface="+mj-ea"/>
                <a:ea typeface="+mj-ea"/>
              </a:rPr>
              <a:t>- </a:t>
            </a:r>
            <a:r>
              <a:rPr lang="ko-KR" altLang="en-US" sz="2400" dirty="0" err="1">
                <a:latin typeface="+mj-ea"/>
                <a:ea typeface="+mj-ea"/>
              </a:rPr>
              <a:t>궁내교</a:t>
            </a:r>
            <a:endParaRPr lang="ko-KR" altLang="en-US" sz="2400" dirty="0">
              <a:latin typeface="+mj-ea"/>
              <a:ea typeface="+mj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9DB7C3-A352-4434-832E-7169C75AB765}"/>
              </a:ext>
            </a:extLst>
          </p:cNvPr>
          <p:cNvSpPr txBox="1"/>
          <p:nvPr/>
        </p:nvSpPr>
        <p:spPr>
          <a:xfrm>
            <a:off x="1346199" y="1786468"/>
            <a:ext cx="8602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Train : Valid : Test = 7 : 2 : 1 </a:t>
            </a:r>
            <a:r>
              <a:rPr lang="ko-KR" altLang="en-US" dirty="0"/>
              <a:t>비율로 학습 진행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2F37C692-0D2E-44D5-8AE7-B05779A9F1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5148537"/>
              </p:ext>
            </p:extLst>
          </p:nvPr>
        </p:nvGraphicFramePr>
        <p:xfrm>
          <a:off x="6951132" y="3017967"/>
          <a:ext cx="38360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734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Train</a:t>
                      </a:r>
                    </a:p>
                    <a:p>
                      <a:pPr latinLnBrk="1"/>
                      <a:r>
                        <a:rPr lang="en-US" altLang="ko-KR" sz="800" dirty="0"/>
                        <a:t>(5101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0.0842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0.0509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0.1492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0.935564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0.939824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21.222795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B08A13AB-CF40-41FC-85F4-AA63438CD5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9673662"/>
              </p:ext>
            </p:extLst>
          </p:nvPr>
        </p:nvGraphicFramePr>
        <p:xfrm>
          <a:off x="6951132" y="4259181"/>
          <a:ext cx="38360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734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Valid</a:t>
                      </a:r>
                    </a:p>
                    <a:p>
                      <a:pPr latinLnBrk="1"/>
                      <a:r>
                        <a:rPr lang="en-US" altLang="ko-KR" sz="800" dirty="0"/>
                        <a:t>(1247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0.0929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0.0708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0.1313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0.889257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0.891299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27.523746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BF3AC006-682A-4D96-B009-F19CB094C0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0425432"/>
              </p:ext>
            </p:extLst>
          </p:nvPr>
        </p:nvGraphicFramePr>
        <p:xfrm>
          <a:off x="6951132" y="5500395"/>
          <a:ext cx="37344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226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Test</a:t>
                      </a:r>
                    </a:p>
                    <a:p>
                      <a:pPr latinLnBrk="1"/>
                      <a:r>
                        <a:rPr lang="en-US" altLang="ko-KR" sz="800" dirty="0"/>
                        <a:t>(693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0.0711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0.0560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0.1020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0.897936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0.913832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7.785929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pic>
        <p:nvPicPr>
          <p:cNvPr id="13" name="그림 12">
            <a:extLst>
              <a:ext uri="{FF2B5EF4-FFF2-40B4-BE49-F238E27FC236}">
                <a16:creationId xmlns:a16="http://schemas.microsoft.com/office/drawing/2014/main" id="{0B8BFE22-A6DD-4A55-8213-16C5AD4073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200" y="3732925"/>
            <a:ext cx="5429379" cy="180979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545FBF0-BD23-47BA-AE23-A9041F51CCD9}"/>
              </a:ext>
            </a:extLst>
          </p:cNvPr>
          <p:cNvSpPr txBox="1"/>
          <p:nvPr/>
        </p:nvSpPr>
        <p:spPr>
          <a:xfrm>
            <a:off x="900984" y="3109677"/>
            <a:ext cx="1740616" cy="402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200" dirty="0">
                <a:latin typeface="+mj-ea"/>
              </a:rPr>
              <a:t>Train Chart</a:t>
            </a:r>
            <a:endParaRPr lang="ko-KR" altLang="en-US" sz="1200" dirty="0">
              <a:latin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2E70C8B-0378-41AB-8FAC-941DC946C20B}"/>
              </a:ext>
            </a:extLst>
          </p:cNvPr>
          <p:cNvSpPr txBox="1"/>
          <p:nvPr/>
        </p:nvSpPr>
        <p:spPr>
          <a:xfrm>
            <a:off x="6823157" y="2491201"/>
            <a:ext cx="23123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일괄 예측 수행 결과</a:t>
            </a:r>
          </a:p>
        </p:txBody>
      </p:sp>
    </p:spTree>
    <p:extLst>
      <p:ext uri="{BB962C8B-B14F-4D97-AF65-F5344CB8AC3E}">
        <p14:creationId xmlns:p14="http://schemas.microsoft.com/office/powerpoint/2010/main" val="2168900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AAE686AD-B247-4E24-AF7D-A48D41C9EF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8993458"/>
              </p:ext>
            </p:extLst>
          </p:nvPr>
        </p:nvGraphicFramePr>
        <p:xfrm>
          <a:off x="1689832" y="2584043"/>
          <a:ext cx="4328033" cy="320548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</a:rPr>
                        <a:t>궁내교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testdata_170723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0.7911127456690144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0.07375852468605092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0.20897888594203526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0.2715852070456911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testdata_220712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-2.3285858847672483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0.13207294573268763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0.27360212643941245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0.3634184168870472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testdata_230711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0.8460995310832496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0.043067656847119315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0.15631436467170717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0.2075274845583575</a:t>
                      </a:r>
                      <a:r>
                        <a:rPr lang="pt-BR" altLang="ko-KR" sz="1400" dirty="0"/>
                        <a:t> 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F8419745-3F23-4E52-9496-EA26CFACBC7B}"/>
              </a:ext>
            </a:extLst>
          </p:cNvPr>
          <p:cNvSpPr/>
          <p:nvPr/>
        </p:nvSpPr>
        <p:spPr>
          <a:xfrm>
            <a:off x="3130490" y="2584043"/>
            <a:ext cx="2887375" cy="32054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7C67BA-B213-4D78-9FE6-DF21AEB555D8}"/>
              </a:ext>
            </a:extLst>
          </p:cNvPr>
          <p:cNvSpPr txBox="1"/>
          <p:nvPr/>
        </p:nvSpPr>
        <p:spPr>
          <a:xfrm>
            <a:off x="377504" y="623270"/>
            <a:ext cx="31146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latin typeface="+mj-ea"/>
              </a:rPr>
              <a:t>loss_function</a:t>
            </a:r>
            <a:r>
              <a:rPr lang="en-US" altLang="ko-KR" sz="2400" dirty="0">
                <a:latin typeface="+mj-ea"/>
              </a:rPr>
              <a:t> : </a:t>
            </a:r>
            <a:r>
              <a:rPr lang="en-US" altLang="ko-KR" sz="2400" dirty="0" err="1">
                <a:latin typeface="+mj-ea"/>
              </a:rPr>
              <a:t>mse</a:t>
            </a:r>
            <a:endParaRPr lang="en-US" altLang="ko-KR" sz="2400" dirty="0">
              <a:latin typeface="+mj-ea"/>
            </a:endParaRPr>
          </a:p>
          <a:p>
            <a:r>
              <a:rPr lang="ko-KR" altLang="en-US" sz="2400" dirty="0">
                <a:latin typeface="+mj-ea"/>
                <a:ea typeface="+mj-ea"/>
              </a:rPr>
              <a:t>예측코드 </a:t>
            </a:r>
            <a:r>
              <a:rPr lang="en-US" altLang="ko-KR" sz="2400" dirty="0">
                <a:latin typeface="+mj-ea"/>
                <a:ea typeface="+mj-ea"/>
              </a:rPr>
              <a:t>– </a:t>
            </a:r>
            <a:r>
              <a:rPr lang="ko-KR" altLang="en-US" sz="2400" dirty="0" err="1">
                <a:latin typeface="+mj-ea"/>
                <a:ea typeface="+mj-ea"/>
              </a:rPr>
              <a:t>궁내교</a:t>
            </a:r>
            <a:endParaRPr lang="en-US" altLang="ko-KR" sz="2400" dirty="0">
              <a:latin typeface="+mj-ea"/>
              <a:ea typeface="+mj-ea"/>
            </a:endParaRPr>
          </a:p>
          <a:p>
            <a:endParaRPr lang="ko-KR" altLang="en-US" sz="2400" dirty="0">
              <a:latin typeface="+mj-ea"/>
              <a:ea typeface="+mj-ea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278C1A1A-ED6F-42E2-A0E4-58F4A56011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8523" y="4499350"/>
            <a:ext cx="3052215" cy="1598508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64B08A42-578B-446E-83E4-7F7B5B1D20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8958" y="488349"/>
            <a:ext cx="3094590" cy="1619329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C1296F64-85FB-4A2F-9A0D-EEA7F4FCA3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2826" y="2492171"/>
            <a:ext cx="3048205" cy="161342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9A3116B-5588-412E-9F88-4863932C7CF7}"/>
              </a:ext>
            </a:extLst>
          </p:cNvPr>
          <p:cNvSpPr txBox="1"/>
          <p:nvPr/>
        </p:nvSpPr>
        <p:spPr>
          <a:xfrm>
            <a:off x="8269258" y="2139942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testdata_170723</a:t>
            </a:r>
            <a:endParaRPr lang="ko-KR" altLang="en-US" sz="1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9505F59-4DE7-41E7-B25C-9D1DA5533A22}"/>
              </a:ext>
            </a:extLst>
          </p:cNvPr>
          <p:cNvSpPr txBox="1"/>
          <p:nvPr/>
        </p:nvSpPr>
        <p:spPr>
          <a:xfrm>
            <a:off x="8312719" y="412830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/>
              <a:t>testdata_220712</a:t>
            </a:r>
            <a:endParaRPr lang="ko-KR" altLang="en-US" sz="1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DF3902-958B-4914-B62D-18F78F52A7AE}"/>
              </a:ext>
            </a:extLst>
          </p:cNvPr>
          <p:cNvSpPr txBox="1"/>
          <p:nvPr/>
        </p:nvSpPr>
        <p:spPr>
          <a:xfrm>
            <a:off x="8350421" y="6196336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testdata_230711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25251117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377505" y="623270"/>
            <a:ext cx="28942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latin typeface="+mj-ea"/>
              </a:rPr>
              <a:t>loss_function</a:t>
            </a:r>
            <a:r>
              <a:rPr lang="en-US" altLang="ko-KR" sz="2400" dirty="0">
                <a:latin typeface="+mj-ea"/>
              </a:rPr>
              <a:t> : </a:t>
            </a:r>
            <a:r>
              <a:rPr lang="en-US" altLang="ko-KR" sz="2400" dirty="0" err="1">
                <a:latin typeface="+mj-ea"/>
              </a:rPr>
              <a:t>mae</a:t>
            </a:r>
            <a:r>
              <a:rPr lang="en-US" altLang="ko-KR" sz="2400" dirty="0">
                <a:latin typeface="+mj-ea"/>
              </a:rPr>
              <a:t> </a:t>
            </a:r>
            <a:r>
              <a:rPr lang="ko-KR" altLang="en-US" sz="2400" dirty="0">
                <a:latin typeface="+mj-ea"/>
                <a:ea typeface="+mj-ea"/>
              </a:rPr>
              <a:t>학습 코드 </a:t>
            </a:r>
            <a:r>
              <a:rPr lang="en-US" altLang="ko-KR" sz="2400" dirty="0">
                <a:latin typeface="+mj-ea"/>
                <a:ea typeface="+mj-ea"/>
              </a:rPr>
              <a:t>- </a:t>
            </a:r>
            <a:r>
              <a:rPr lang="ko-KR" altLang="en-US" sz="2400" dirty="0" err="1">
                <a:latin typeface="+mj-ea"/>
                <a:ea typeface="+mj-ea"/>
              </a:rPr>
              <a:t>궁내교</a:t>
            </a:r>
            <a:endParaRPr lang="ko-KR" altLang="en-US" sz="2400" dirty="0">
              <a:latin typeface="+mj-ea"/>
              <a:ea typeface="+mj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9DB7C3-A352-4434-832E-7169C75AB765}"/>
              </a:ext>
            </a:extLst>
          </p:cNvPr>
          <p:cNvSpPr txBox="1"/>
          <p:nvPr/>
        </p:nvSpPr>
        <p:spPr>
          <a:xfrm>
            <a:off x="1346199" y="1786468"/>
            <a:ext cx="8602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Train : Valid : Test = 7 : 2 : 1 </a:t>
            </a:r>
            <a:r>
              <a:rPr lang="ko-KR" altLang="en-US" dirty="0"/>
              <a:t>비율로 학습 진행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0B8BFE22-A6DD-4A55-8213-16C5AD4073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815" y="3743618"/>
            <a:ext cx="5370149" cy="178840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545FBF0-BD23-47BA-AE23-A9041F51CCD9}"/>
              </a:ext>
            </a:extLst>
          </p:cNvPr>
          <p:cNvSpPr txBox="1"/>
          <p:nvPr/>
        </p:nvSpPr>
        <p:spPr>
          <a:xfrm>
            <a:off x="900984" y="3109677"/>
            <a:ext cx="1740616" cy="402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200" dirty="0">
                <a:latin typeface="+mj-ea"/>
              </a:rPr>
              <a:t>Train Chart</a:t>
            </a:r>
            <a:endParaRPr lang="ko-KR" altLang="en-US" sz="1200" dirty="0">
              <a:latin typeface="+mj-ea"/>
            </a:endParaRP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D238A5F0-299E-4077-9F8D-068951B62B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4992017"/>
              </p:ext>
            </p:extLst>
          </p:nvPr>
        </p:nvGraphicFramePr>
        <p:xfrm>
          <a:off x="6951132" y="3017967"/>
          <a:ext cx="38360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734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Train</a:t>
                      </a:r>
                    </a:p>
                    <a:p>
                      <a:pPr latinLnBrk="1"/>
                      <a:r>
                        <a:rPr lang="en-US" altLang="ko-KR" sz="800" dirty="0"/>
                        <a:t>(5101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0.0654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0.0354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0.1901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0.895468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0.895784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3.965477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B7D669A1-8907-4568-A2E1-25292B6DBE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7531635"/>
              </p:ext>
            </p:extLst>
          </p:nvPr>
        </p:nvGraphicFramePr>
        <p:xfrm>
          <a:off x="6951132" y="4259181"/>
          <a:ext cx="38360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734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Valid</a:t>
                      </a:r>
                    </a:p>
                    <a:p>
                      <a:pPr latinLnBrk="1"/>
                      <a:r>
                        <a:rPr lang="en-US" altLang="ko-KR" sz="800" dirty="0"/>
                        <a:t>(1247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0.0653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0.0502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0.0903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0.947582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0.950634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12.819827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F056712E-EC2D-4F0E-9021-989704D3D2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4672316"/>
              </p:ext>
            </p:extLst>
          </p:nvPr>
        </p:nvGraphicFramePr>
        <p:xfrm>
          <a:off x="6951132" y="5500395"/>
          <a:ext cx="37852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226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Test</a:t>
                      </a:r>
                    </a:p>
                    <a:p>
                      <a:pPr latinLnBrk="1"/>
                      <a:r>
                        <a:rPr lang="en-US" altLang="ko-KR" sz="800" dirty="0"/>
                        <a:t>(693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0.0531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0.0407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0.0811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0.935479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0.941269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10.369199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49A9D48B-61C4-43DD-8BFB-A77057EC0466}"/>
              </a:ext>
            </a:extLst>
          </p:cNvPr>
          <p:cNvSpPr txBox="1"/>
          <p:nvPr/>
        </p:nvSpPr>
        <p:spPr>
          <a:xfrm>
            <a:off x="6823157" y="2491201"/>
            <a:ext cx="23123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일괄 예측 수행 결과</a:t>
            </a:r>
          </a:p>
        </p:txBody>
      </p:sp>
    </p:spTree>
    <p:extLst>
      <p:ext uri="{BB962C8B-B14F-4D97-AF65-F5344CB8AC3E}">
        <p14:creationId xmlns:p14="http://schemas.microsoft.com/office/powerpoint/2010/main" val="20756505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57C67BA-B213-4D78-9FE6-DF21AEB555D8}"/>
              </a:ext>
            </a:extLst>
          </p:cNvPr>
          <p:cNvSpPr txBox="1"/>
          <p:nvPr/>
        </p:nvSpPr>
        <p:spPr>
          <a:xfrm>
            <a:off x="377504" y="623270"/>
            <a:ext cx="31146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latin typeface="+mj-ea"/>
              </a:rPr>
              <a:t>loss_function</a:t>
            </a:r>
            <a:r>
              <a:rPr lang="en-US" altLang="ko-KR" sz="2400" dirty="0">
                <a:latin typeface="+mj-ea"/>
              </a:rPr>
              <a:t> : </a:t>
            </a:r>
            <a:r>
              <a:rPr lang="en-US" altLang="ko-KR" sz="2400" dirty="0" err="1">
                <a:latin typeface="+mj-ea"/>
              </a:rPr>
              <a:t>mae</a:t>
            </a:r>
            <a:r>
              <a:rPr lang="en-US" altLang="ko-KR" sz="2400" dirty="0">
                <a:latin typeface="+mj-ea"/>
              </a:rPr>
              <a:t> </a:t>
            </a:r>
            <a:r>
              <a:rPr lang="ko-KR" altLang="en-US" sz="2400" dirty="0">
                <a:latin typeface="+mj-ea"/>
                <a:ea typeface="+mj-ea"/>
              </a:rPr>
              <a:t>예측코드 </a:t>
            </a:r>
            <a:r>
              <a:rPr lang="en-US" altLang="ko-KR" sz="2400" dirty="0">
                <a:latin typeface="+mj-ea"/>
                <a:ea typeface="+mj-ea"/>
              </a:rPr>
              <a:t>– </a:t>
            </a:r>
            <a:r>
              <a:rPr lang="ko-KR" altLang="en-US" sz="2400" dirty="0" err="1">
                <a:latin typeface="+mj-ea"/>
                <a:ea typeface="+mj-ea"/>
              </a:rPr>
              <a:t>궁내교</a:t>
            </a:r>
            <a:endParaRPr lang="en-US" altLang="ko-KR" sz="2400" dirty="0">
              <a:latin typeface="+mj-ea"/>
              <a:ea typeface="+mj-ea"/>
            </a:endParaRP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A395426E-459E-4EF7-8AEB-EB353A944B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7418625"/>
              </p:ext>
            </p:extLst>
          </p:nvPr>
        </p:nvGraphicFramePr>
        <p:xfrm>
          <a:off x="1689832" y="2584043"/>
          <a:ext cx="4328033" cy="320548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</a:rPr>
                        <a:t>궁내교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testdata_170723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0.9577008281092061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0.014935925717914087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0.10249933315647974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0.12221262503487144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testdata_220712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-0.8331744070818663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0.072737418341244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0.20990060581101314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0.2696987548010632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testdata_230711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0.8977044126065418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0.02862649663022865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0.13949287262227802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0.1691936660464234</a:t>
                      </a:r>
                      <a:r>
                        <a:rPr lang="pt-BR" altLang="ko-KR" sz="1400" dirty="0"/>
                        <a:t> 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</a:tbl>
          </a:graphicData>
        </a:graphic>
      </p:graphicFrame>
      <p:sp>
        <p:nvSpPr>
          <p:cNvPr id="20" name="직사각형 19">
            <a:extLst>
              <a:ext uri="{FF2B5EF4-FFF2-40B4-BE49-F238E27FC236}">
                <a16:creationId xmlns:a16="http://schemas.microsoft.com/office/drawing/2014/main" id="{9311A648-6C6E-47AD-B394-60C7540DC0AE}"/>
              </a:ext>
            </a:extLst>
          </p:cNvPr>
          <p:cNvSpPr/>
          <p:nvPr/>
        </p:nvSpPr>
        <p:spPr>
          <a:xfrm>
            <a:off x="3130490" y="2584043"/>
            <a:ext cx="2887375" cy="32054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8DDAF32E-2D58-44FE-BA80-C5C03A5788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8523" y="4493672"/>
            <a:ext cx="3052215" cy="1609866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6E2F4E76-4A84-47DF-9500-836C1D72CA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0365" y="484562"/>
            <a:ext cx="3071775" cy="1626903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C26D3BD8-A66A-45C3-AD46-47CE9696D6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4085" y="2492171"/>
            <a:ext cx="3045687" cy="1613422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FE0BD090-EC8D-4825-882E-736B1ADDE439}"/>
              </a:ext>
            </a:extLst>
          </p:cNvPr>
          <p:cNvSpPr txBox="1"/>
          <p:nvPr/>
        </p:nvSpPr>
        <p:spPr>
          <a:xfrm>
            <a:off x="8269258" y="2139942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testdata_170723</a:t>
            </a:r>
            <a:endParaRPr lang="ko-KR" altLang="en-US" sz="10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32FEE7A-6998-481C-BF20-7C5AB0F3A74E}"/>
              </a:ext>
            </a:extLst>
          </p:cNvPr>
          <p:cNvSpPr txBox="1"/>
          <p:nvPr/>
        </p:nvSpPr>
        <p:spPr>
          <a:xfrm>
            <a:off x="8312719" y="412830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/>
              <a:t>testdata_220712</a:t>
            </a:r>
            <a:endParaRPr lang="ko-KR" altLang="en-US" sz="10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0A97E7A-5FCE-4741-933F-74E6C1B54F25}"/>
              </a:ext>
            </a:extLst>
          </p:cNvPr>
          <p:cNvSpPr txBox="1"/>
          <p:nvPr/>
        </p:nvSpPr>
        <p:spPr>
          <a:xfrm>
            <a:off x="8350421" y="6196336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testdata_230711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5254488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4648899" y="3198167"/>
            <a:ext cx="28942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latin typeface="+mj-ea"/>
                <a:ea typeface="+mj-ea"/>
              </a:rPr>
              <a:t>IETD</a:t>
            </a:r>
            <a:endParaRPr lang="ko-KR" altLang="en-US" sz="36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6272797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57C67BA-B213-4D78-9FE6-DF21AEB555D8}"/>
              </a:ext>
            </a:extLst>
          </p:cNvPr>
          <p:cNvSpPr txBox="1"/>
          <p:nvPr/>
        </p:nvSpPr>
        <p:spPr>
          <a:xfrm>
            <a:off x="377505" y="623270"/>
            <a:ext cx="28942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+mj-ea"/>
              </a:rPr>
              <a:t>IETD </a:t>
            </a:r>
            <a:r>
              <a:rPr lang="ko-KR" altLang="en-US" sz="2400" dirty="0">
                <a:latin typeface="+mj-ea"/>
                <a:ea typeface="+mj-ea"/>
              </a:rPr>
              <a:t>학습 데이터 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3EEA5D01-22F3-4984-8E02-DD8FCAC01A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658121"/>
              </p:ext>
            </p:extLst>
          </p:nvPr>
        </p:nvGraphicFramePr>
        <p:xfrm>
          <a:off x="1354666" y="2236892"/>
          <a:ext cx="9692641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0560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6750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10814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4048918556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522523455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2162001719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38635649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4099286348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21081817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time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성남북초교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광주시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남한산초교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대장동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구미초교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한국학중앙연구원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2014-07-24 15:30:00</a:t>
                      </a:r>
                    </a:p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1.12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5.11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2.17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40.56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0F34946-E3D3-42D3-9474-97847E9700A7}"/>
              </a:ext>
            </a:extLst>
          </p:cNvPr>
          <p:cNvSpPr txBox="1"/>
          <p:nvPr/>
        </p:nvSpPr>
        <p:spPr>
          <a:xfrm>
            <a:off x="1278465" y="1608666"/>
            <a:ext cx="8602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홍수통제소 </a:t>
            </a:r>
            <a:r>
              <a:rPr lang="en-US" altLang="ko-KR" dirty="0"/>
              <a:t>API </a:t>
            </a:r>
            <a:r>
              <a:rPr lang="ko-KR" altLang="en-US" dirty="0"/>
              <a:t>호출 → </a:t>
            </a:r>
            <a:r>
              <a:rPr lang="en-US" altLang="ko-KR" dirty="0"/>
              <a:t>IETD</a:t>
            </a:r>
            <a:r>
              <a:rPr lang="ko-KR" altLang="en-US" dirty="0"/>
              <a:t> 활용 강우 이벤트 추출 → 관심 강우 포함 파일 추출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FCAFFAB-E3EC-4ABC-B056-47EE38272BC3}"/>
              </a:ext>
            </a:extLst>
          </p:cNvPr>
          <p:cNvSpPr txBox="1"/>
          <p:nvPr/>
        </p:nvSpPr>
        <p:spPr>
          <a:xfrm>
            <a:off x="1278465" y="3635214"/>
            <a:ext cx="80179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+ </a:t>
            </a:r>
            <a:r>
              <a:rPr lang="ko-KR" altLang="en-US" dirty="0"/>
              <a:t>기존 학습 데이터 통합 후</a:t>
            </a:r>
            <a:r>
              <a:rPr lang="en-US" altLang="ko-KR" dirty="0"/>
              <a:t> </a:t>
            </a:r>
            <a:r>
              <a:rPr lang="ko-KR" altLang="en-US" dirty="0"/>
              <a:t>중복 이벤트 제거</a:t>
            </a: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C74A5352-C7B7-4275-9E0B-4BA1B67E88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5760272"/>
              </p:ext>
            </p:extLst>
          </p:nvPr>
        </p:nvGraphicFramePr>
        <p:xfrm>
          <a:off x="1354666" y="4245001"/>
          <a:ext cx="8012114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763588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6750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10814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4048918556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2162001719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4099286348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21081817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time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성남북초교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광주시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남한산초교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대장동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구미초교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한국학중앙연구원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KoPub돋움체 Medium"/>
                          <a:ea typeface="+mn-ea"/>
                          <a:cs typeface="+mn-cs"/>
                        </a:rPr>
                        <a:t>2014-08-20 10:50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0.96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1.84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09DBF372-14B3-481F-A0BC-69E398337249}"/>
              </a:ext>
            </a:extLst>
          </p:cNvPr>
          <p:cNvSpPr txBox="1"/>
          <p:nvPr/>
        </p:nvSpPr>
        <p:spPr>
          <a:xfrm>
            <a:off x="1278464" y="5562600"/>
            <a:ext cx="96926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학습 </a:t>
            </a:r>
            <a:r>
              <a:rPr lang="en-US" altLang="ko-KR" dirty="0"/>
              <a:t>: </a:t>
            </a:r>
            <a:r>
              <a:rPr lang="ko-KR" altLang="en-US" dirty="0"/>
              <a:t>총 </a:t>
            </a:r>
            <a:r>
              <a:rPr lang="en-US" altLang="ko-KR" dirty="0"/>
              <a:t>41 </a:t>
            </a:r>
            <a:r>
              <a:rPr lang="ko-KR" altLang="en-US" dirty="0"/>
              <a:t>개 中 </a:t>
            </a:r>
            <a:r>
              <a:rPr lang="en-US" altLang="ko-KR" dirty="0"/>
              <a:t>38</a:t>
            </a:r>
            <a:r>
              <a:rPr lang="ko-KR" altLang="en-US" dirty="0"/>
              <a:t>개 데이터 사용</a:t>
            </a:r>
            <a:r>
              <a:rPr lang="en-US" altLang="ko-KR" dirty="0"/>
              <a:t> </a:t>
            </a:r>
          </a:p>
          <a:p>
            <a:endParaRPr lang="en-US" altLang="ko-KR" dirty="0"/>
          </a:p>
          <a:p>
            <a:r>
              <a:rPr lang="ko-KR" altLang="en-US" dirty="0"/>
              <a:t>검증 </a:t>
            </a:r>
            <a:r>
              <a:rPr lang="en-US" altLang="ko-KR" dirty="0"/>
              <a:t>: </a:t>
            </a:r>
            <a:r>
              <a:rPr lang="ko-KR" altLang="en-US" dirty="0"/>
              <a:t>학습 데이터에서 제외한 </a:t>
            </a:r>
            <a:r>
              <a:rPr lang="ko-KR" altLang="en-US" dirty="0" err="1"/>
              <a:t>제외한</a:t>
            </a:r>
            <a:r>
              <a:rPr lang="ko-KR" altLang="en-US" dirty="0"/>
              <a:t> </a:t>
            </a:r>
            <a:r>
              <a:rPr lang="en-US" altLang="ko-KR" dirty="0"/>
              <a:t>3</a:t>
            </a:r>
            <a:r>
              <a:rPr lang="ko-KR" altLang="en-US" dirty="0"/>
              <a:t>개 데이터 </a:t>
            </a:r>
            <a:r>
              <a:rPr lang="en-US" altLang="ko-KR" dirty="0"/>
              <a:t>(170723, 220713, 230711) </a:t>
            </a:r>
            <a:r>
              <a:rPr lang="ko-KR" altLang="en-US" dirty="0"/>
              <a:t>사용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0E0256-2549-4895-BD16-06F893DC078C}"/>
              </a:ext>
            </a:extLst>
          </p:cNvPr>
          <p:cNvSpPr txBox="1"/>
          <p:nvPr/>
        </p:nvSpPr>
        <p:spPr>
          <a:xfrm>
            <a:off x="9474199" y="279650"/>
            <a:ext cx="2717801" cy="10152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50" b="1" dirty="0"/>
              <a:t>관심 수위 </a:t>
            </a:r>
            <a:r>
              <a:rPr lang="en-US" altLang="ko-KR" sz="1050" b="1" dirty="0"/>
              <a:t>: </a:t>
            </a:r>
            <a:r>
              <a:rPr lang="ko-KR" altLang="en-US" sz="1050" b="1" dirty="0" err="1"/>
              <a:t>궁내교</a:t>
            </a:r>
            <a:r>
              <a:rPr lang="ko-KR" altLang="en-US" sz="1050" b="1" dirty="0"/>
              <a:t> </a:t>
            </a:r>
            <a:r>
              <a:rPr lang="en-US" altLang="ko-KR" sz="1050" b="1" dirty="0"/>
              <a:t>( 2 )  </a:t>
            </a:r>
            <a:r>
              <a:rPr lang="ko-KR" altLang="en-US" sz="1050" b="1" dirty="0" err="1"/>
              <a:t>대곡교</a:t>
            </a:r>
            <a:r>
              <a:rPr lang="ko-KR" altLang="en-US" sz="1050" b="1" dirty="0"/>
              <a:t> </a:t>
            </a:r>
            <a:r>
              <a:rPr lang="en-US" altLang="ko-KR" sz="1050" b="1" dirty="0"/>
              <a:t>( 3.8 )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0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smoothing : </a:t>
            </a:r>
            <a:r>
              <a:rPr lang="ko-KR" altLang="en-US" sz="105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궁내교</a:t>
            </a:r>
            <a:r>
              <a:rPr lang="ko-KR" altLang="en-US" sz="10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ko-KR" sz="10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( </a:t>
            </a:r>
            <a:r>
              <a:rPr lang="en-US" altLang="ko-KR" sz="105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</a:rPr>
              <a:t>1 ) </a:t>
            </a:r>
            <a:r>
              <a:rPr lang="ko-KR" altLang="en-US" sz="105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</a:rPr>
              <a:t>대곡교</a:t>
            </a:r>
            <a:r>
              <a:rPr lang="ko-KR" altLang="en-US" sz="105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</a:rPr>
              <a:t> </a:t>
            </a:r>
            <a:r>
              <a:rPr lang="en-US" altLang="ko-KR" sz="105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</a:rPr>
              <a:t>( 2 )</a:t>
            </a:r>
            <a:endParaRPr lang="en-US" altLang="ko-KR" sz="1050" b="1" dirty="0"/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050" b="1" dirty="0" err="1">
                <a:latin typeface="+mj-ea"/>
              </a:rPr>
              <a:t>learning_rate</a:t>
            </a:r>
            <a:r>
              <a:rPr lang="en-US" altLang="ko-KR" sz="1050" b="1" dirty="0">
                <a:latin typeface="+mj-ea"/>
              </a:rPr>
              <a:t> = 0.0005</a:t>
            </a:r>
            <a:endParaRPr lang="ko-KR" altLang="en-US" sz="1050" dirty="0"/>
          </a:p>
        </p:txBody>
      </p:sp>
    </p:spTree>
    <p:extLst>
      <p:ext uri="{BB962C8B-B14F-4D97-AF65-F5344CB8AC3E}">
        <p14:creationId xmlns:p14="http://schemas.microsoft.com/office/powerpoint/2010/main" val="15995636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377505" y="623270"/>
            <a:ext cx="28942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latin typeface="+mj-ea"/>
              </a:rPr>
              <a:t>loss_function</a:t>
            </a:r>
            <a:r>
              <a:rPr lang="en-US" altLang="ko-KR" sz="2400" dirty="0">
                <a:latin typeface="+mj-ea"/>
              </a:rPr>
              <a:t> : </a:t>
            </a:r>
            <a:r>
              <a:rPr lang="en-US" altLang="ko-KR" sz="2400" dirty="0" err="1">
                <a:latin typeface="+mj-ea"/>
              </a:rPr>
              <a:t>mse</a:t>
            </a:r>
            <a:r>
              <a:rPr lang="en-US" altLang="ko-KR" sz="2400" dirty="0">
                <a:latin typeface="+mj-ea"/>
              </a:rPr>
              <a:t> </a:t>
            </a:r>
            <a:r>
              <a:rPr lang="ko-KR" altLang="en-US" sz="2400" dirty="0">
                <a:latin typeface="+mj-ea"/>
                <a:ea typeface="+mj-ea"/>
              </a:rPr>
              <a:t>학습 코드 </a:t>
            </a:r>
            <a:r>
              <a:rPr lang="en-US" altLang="ko-KR" sz="2400" dirty="0">
                <a:latin typeface="+mj-ea"/>
                <a:ea typeface="+mj-ea"/>
              </a:rPr>
              <a:t>- </a:t>
            </a:r>
            <a:r>
              <a:rPr lang="ko-KR" altLang="en-US" sz="2400" dirty="0" err="1">
                <a:latin typeface="+mj-ea"/>
                <a:ea typeface="+mj-ea"/>
              </a:rPr>
              <a:t>궁내교</a:t>
            </a:r>
            <a:endParaRPr lang="ko-KR" altLang="en-US" sz="2400" dirty="0">
              <a:latin typeface="+mj-ea"/>
              <a:ea typeface="+mj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9DB7C3-A352-4434-832E-7169C75AB765}"/>
              </a:ext>
            </a:extLst>
          </p:cNvPr>
          <p:cNvSpPr txBox="1"/>
          <p:nvPr/>
        </p:nvSpPr>
        <p:spPr>
          <a:xfrm>
            <a:off x="1346199" y="1786468"/>
            <a:ext cx="8602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Train : Valid : Test = 7 : 2 : 1 </a:t>
            </a:r>
            <a:r>
              <a:rPr lang="ko-KR" altLang="en-US" dirty="0"/>
              <a:t>비율로 학습 진행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0B8BFE22-A6DD-4A55-8213-16C5AD4073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834" y="3725698"/>
            <a:ext cx="5488111" cy="182424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545FBF0-BD23-47BA-AE23-A9041F51CCD9}"/>
              </a:ext>
            </a:extLst>
          </p:cNvPr>
          <p:cNvSpPr txBox="1"/>
          <p:nvPr/>
        </p:nvSpPr>
        <p:spPr>
          <a:xfrm>
            <a:off x="900984" y="3109677"/>
            <a:ext cx="1740616" cy="402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200" dirty="0">
                <a:latin typeface="+mj-ea"/>
              </a:rPr>
              <a:t>Train Chart</a:t>
            </a:r>
            <a:endParaRPr lang="ko-KR" altLang="en-US" sz="1200" dirty="0">
              <a:latin typeface="+mj-ea"/>
            </a:endParaRP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927302BF-4BB5-4DB1-BE05-A138BC08F7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4995395"/>
              </p:ext>
            </p:extLst>
          </p:nvPr>
        </p:nvGraphicFramePr>
        <p:xfrm>
          <a:off x="6951132" y="3017967"/>
          <a:ext cx="37852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734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Train</a:t>
                      </a:r>
                    </a:p>
                    <a:p>
                      <a:pPr latinLnBrk="1"/>
                      <a:r>
                        <a:rPr lang="en-US" altLang="ko-KR" sz="800" dirty="0"/>
                        <a:t>(6325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0.0834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0.0510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0.1735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0.897423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0.898354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2.090755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05E0FCBB-2A70-4698-BA21-E603B8790C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8232578"/>
              </p:ext>
            </p:extLst>
          </p:nvPr>
        </p:nvGraphicFramePr>
        <p:xfrm>
          <a:off x="6951132" y="4259181"/>
          <a:ext cx="38360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734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Valid</a:t>
                      </a:r>
                    </a:p>
                    <a:p>
                      <a:pPr latinLnBrk="1"/>
                      <a:r>
                        <a:rPr lang="en-US" altLang="ko-KR" sz="800" dirty="0"/>
                        <a:t>(1439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0.1033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0.0881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0.1350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0.882293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0.902797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14.850655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103169BF-BFBB-40C3-A5B3-0EABE90C3B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9455298"/>
              </p:ext>
            </p:extLst>
          </p:nvPr>
        </p:nvGraphicFramePr>
        <p:xfrm>
          <a:off x="6951132" y="5500395"/>
          <a:ext cx="3858260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95630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Test</a:t>
                      </a:r>
                    </a:p>
                    <a:p>
                      <a:pPr latinLnBrk="1"/>
                      <a:r>
                        <a:rPr lang="en-US" altLang="ko-KR" sz="800" dirty="0"/>
                        <a:t>(1169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0.0994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0.0880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0.1335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0.803966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0.842328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7.905292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440DB187-4462-4376-B151-49817386C0BA}"/>
              </a:ext>
            </a:extLst>
          </p:cNvPr>
          <p:cNvSpPr txBox="1"/>
          <p:nvPr/>
        </p:nvSpPr>
        <p:spPr>
          <a:xfrm>
            <a:off x="6823157" y="2491201"/>
            <a:ext cx="23123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일괄 예측 수행 결과</a:t>
            </a:r>
          </a:p>
        </p:txBody>
      </p:sp>
    </p:spTree>
    <p:extLst>
      <p:ext uri="{BB962C8B-B14F-4D97-AF65-F5344CB8AC3E}">
        <p14:creationId xmlns:p14="http://schemas.microsoft.com/office/powerpoint/2010/main" val="30362969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57C67BA-B213-4D78-9FE6-DF21AEB555D8}"/>
              </a:ext>
            </a:extLst>
          </p:cNvPr>
          <p:cNvSpPr txBox="1"/>
          <p:nvPr/>
        </p:nvSpPr>
        <p:spPr>
          <a:xfrm>
            <a:off x="377504" y="623270"/>
            <a:ext cx="31146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latin typeface="+mj-ea"/>
              </a:rPr>
              <a:t>loss_function</a:t>
            </a:r>
            <a:r>
              <a:rPr lang="en-US" altLang="ko-KR" sz="2400" dirty="0">
                <a:latin typeface="+mj-ea"/>
              </a:rPr>
              <a:t> : </a:t>
            </a:r>
            <a:r>
              <a:rPr lang="en-US" altLang="ko-KR" sz="2400" dirty="0" err="1">
                <a:latin typeface="+mj-ea"/>
              </a:rPr>
              <a:t>mse</a:t>
            </a:r>
            <a:r>
              <a:rPr lang="en-US" altLang="ko-KR" sz="2400" dirty="0">
                <a:latin typeface="+mj-ea"/>
              </a:rPr>
              <a:t> </a:t>
            </a:r>
            <a:r>
              <a:rPr lang="ko-KR" altLang="en-US" sz="2400" dirty="0">
                <a:latin typeface="+mj-ea"/>
                <a:ea typeface="+mj-ea"/>
              </a:rPr>
              <a:t>예측코드 </a:t>
            </a:r>
            <a:r>
              <a:rPr lang="en-US" altLang="ko-KR" sz="2400" dirty="0">
                <a:latin typeface="+mj-ea"/>
                <a:ea typeface="+mj-ea"/>
              </a:rPr>
              <a:t>– </a:t>
            </a:r>
            <a:r>
              <a:rPr lang="ko-KR" altLang="en-US" sz="2400" dirty="0" err="1">
                <a:latin typeface="+mj-ea"/>
                <a:ea typeface="+mj-ea"/>
              </a:rPr>
              <a:t>궁내교</a:t>
            </a:r>
            <a:endParaRPr lang="en-US" altLang="ko-KR" sz="2400" dirty="0">
              <a:latin typeface="+mj-ea"/>
              <a:ea typeface="+mj-ea"/>
            </a:endParaRPr>
          </a:p>
        </p:txBody>
      </p:sp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E4639D53-CB4D-4E89-A253-9E159DF274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7368572"/>
              </p:ext>
            </p:extLst>
          </p:nvPr>
        </p:nvGraphicFramePr>
        <p:xfrm>
          <a:off x="1689832" y="2584043"/>
          <a:ext cx="4328033" cy="320548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</a:rPr>
                        <a:t>궁내교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testdata_170723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0.8644668641625052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0.04785703262491908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0.16468629221121475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0.21876250278537016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testdata_220712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-2.6146979334582174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0.14342541263256836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0.30120332029130725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0.3787154771494933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testdata_230711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0.8808013587825685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0.0333566636458539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0.13268791251712372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0.1826380673513983</a:t>
                      </a:r>
                      <a:r>
                        <a:rPr lang="pt-BR" altLang="ko-KR" sz="1400" dirty="0"/>
                        <a:t> 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</a:tbl>
          </a:graphicData>
        </a:graphic>
      </p:graphicFrame>
      <p:sp>
        <p:nvSpPr>
          <p:cNvPr id="20" name="직사각형 19">
            <a:extLst>
              <a:ext uri="{FF2B5EF4-FFF2-40B4-BE49-F238E27FC236}">
                <a16:creationId xmlns:a16="http://schemas.microsoft.com/office/drawing/2014/main" id="{41331614-D4E9-4EC0-9EDB-323372114CAA}"/>
              </a:ext>
            </a:extLst>
          </p:cNvPr>
          <p:cNvSpPr/>
          <p:nvPr/>
        </p:nvSpPr>
        <p:spPr>
          <a:xfrm>
            <a:off x="3130490" y="2584043"/>
            <a:ext cx="2887375" cy="32054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9FB6D8CB-7196-4D58-A6AC-F155C0EE2E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8523" y="4488572"/>
            <a:ext cx="3052215" cy="1620065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5BBED567-F933-4376-92C4-F6287198C5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7993" y="484562"/>
            <a:ext cx="3056519" cy="1626903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CEBD905D-15C3-4E31-8810-C1C27E6F3A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0608" y="2492171"/>
            <a:ext cx="3072640" cy="1613422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45A5096C-D26D-45F8-B413-3965A5AA0B71}"/>
              </a:ext>
            </a:extLst>
          </p:cNvPr>
          <p:cNvSpPr txBox="1"/>
          <p:nvPr/>
        </p:nvSpPr>
        <p:spPr>
          <a:xfrm>
            <a:off x="8269258" y="2139942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testdata_170723</a:t>
            </a:r>
            <a:endParaRPr lang="ko-KR" altLang="en-US" sz="10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0EBD3E7-1E62-4A80-95BE-CCAEE3313ED0}"/>
              </a:ext>
            </a:extLst>
          </p:cNvPr>
          <p:cNvSpPr txBox="1"/>
          <p:nvPr/>
        </p:nvSpPr>
        <p:spPr>
          <a:xfrm>
            <a:off x="8312719" y="412830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/>
              <a:t>testdata_220712</a:t>
            </a:r>
            <a:endParaRPr lang="ko-KR" altLang="en-US" sz="10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CFA2AA6-9439-461B-8C87-982F9DA2B84D}"/>
              </a:ext>
            </a:extLst>
          </p:cNvPr>
          <p:cNvSpPr txBox="1"/>
          <p:nvPr/>
        </p:nvSpPr>
        <p:spPr>
          <a:xfrm>
            <a:off x="8350421" y="6196336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testdata_230711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2206576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377505" y="623270"/>
            <a:ext cx="28942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latin typeface="+mj-ea"/>
              </a:rPr>
              <a:t>loss_function</a:t>
            </a:r>
            <a:r>
              <a:rPr lang="en-US" altLang="ko-KR" sz="2400" dirty="0">
                <a:latin typeface="+mj-ea"/>
              </a:rPr>
              <a:t> : </a:t>
            </a:r>
            <a:r>
              <a:rPr lang="en-US" altLang="ko-KR" sz="2400" dirty="0" err="1">
                <a:latin typeface="+mj-ea"/>
              </a:rPr>
              <a:t>mae</a:t>
            </a:r>
            <a:r>
              <a:rPr lang="en-US" altLang="ko-KR" sz="2400" dirty="0">
                <a:latin typeface="+mj-ea"/>
              </a:rPr>
              <a:t> </a:t>
            </a:r>
            <a:r>
              <a:rPr lang="ko-KR" altLang="en-US" sz="2400" dirty="0">
                <a:latin typeface="+mj-ea"/>
                <a:ea typeface="+mj-ea"/>
              </a:rPr>
              <a:t>학습 코드 </a:t>
            </a:r>
            <a:r>
              <a:rPr lang="en-US" altLang="ko-KR" sz="2400" dirty="0">
                <a:latin typeface="+mj-ea"/>
                <a:ea typeface="+mj-ea"/>
              </a:rPr>
              <a:t>- </a:t>
            </a:r>
            <a:r>
              <a:rPr lang="ko-KR" altLang="en-US" sz="2400" dirty="0" err="1">
                <a:latin typeface="+mj-ea"/>
                <a:ea typeface="+mj-ea"/>
              </a:rPr>
              <a:t>궁내교</a:t>
            </a:r>
            <a:endParaRPr lang="ko-KR" altLang="en-US" sz="2400" dirty="0">
              <a:latin typeface="+mj-ea"/>
              <a:ea typeface="+mj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9DB7C3-A352-4434-832E-7169C75AB765}"/>
              </a:ext>
            </a:extLst>
          </p:cNvPr>
          <p:cNvSpPr txBox="1"/>
          <p:nvPr/>
        </p:nvSpPr>
        <p:spPr>
          <a:xfrm>
            <a:off x="1346199" y="1786468"/>
            <a:ext cx="8602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Train : Valid : Test = 7 : 2 : 1 </a:t>
            </a:r>
            <a:r>
              <a:rPr lang="ko-KR" altLang="en-US" dirty="0"/>
              <a:t>비율로 학습 진행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0B8BFE22-A6DD-4A55-8213-16C5AD4073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633" y="3715628"/>
            <a:ext cx="5492513" cy="184438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545FBF0-BD23-47BA-AE23-A9041F51CCD9}"/>
              </a:ext>
            </a:extLst>
          </p:cNvPr>
          <p:cNvSpPr txBox="1"/>
          <p:nvPr/>
        </p:nvSpPr>
        <p:spPr>
          <a:xfrm>
            <a:off x="900984" y="3109677"/>
            <a:ext cx="1740616" cy="402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200" dirty="0">
                <a:latin typeface="+mj-ea"/>
              </a:rPr>
              <a:t>Train Chart</a:t>
            </a:r>
            <a:endParaRPr lang="ko-KR" altLang="en-US" sz="1200" dirty="0">
              <a:latin typeface="+mj-ea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42D99182-D648-4843-8430-6A69F800E0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6955180"/>
              </p:ext>
            </p:extLst>
          </p:nvPr>
        </p:nvGraphicFramePr>
        <p:xfrm>
          <a:off x="6951132" y="3017967"/>
          <a:ext cx="37852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734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Train</a:t>
                      </a:r>
                    </a:p>
                    <a:p>
                      <a:pPr latinLnBrk="1"/>
                      <a:r>
                        <a:rPr lang="en-US" altLang="ko-KR" sz="800" dirty="0"/>
                        <a:t>(6325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0.0540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0.0309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0.1639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0.908518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0.911213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0.146762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A363439E-8306-4A88-9C67-0BD2DE42E3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6505121"/>
              </p:ext>
            </p:extLst>
          </p:nvPr>
        </p:nvGraphicFramePr>
        <p:xfrm>
          <a:off x="6951132" y="4259181"/>
          <a:ext cx="38360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734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Valid</a:t>
                      </a:r>
                    </a:p>
                    <a:p>
                      <a:pPr latinLnBrk="1"/>
                      <a:r>
                        <a:rPr lang="en-US" altLang="ko-KR" sz="800" dirty="0"/>
                        <a:t>(1439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0.0658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0.0510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0.0968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0.939514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0.941580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7.109138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BED87230-CD6B-4AA9-AAA3-2B3CD35787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6916544"/>
              </p:ext>
            </p:extLst>
          </p:nvPr>
        </p:nvGraphicFramePr>
        <p:xfrm>
          <a:off x="6951132" y="5500395"/>
          <a:ext cx="3858260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95630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Test</a:t>
                      </a:r>
                    </a:p>
                    <a:p>
                      <a:pPr latinLnBrk="1"/>
                      <a:r>
                        <a:rPr lang="en-US" altLang="ko-KR" sz="800" dirty="0"/>
                        <a:t>(1169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0.0648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0.0518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0.0979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0.894547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0.903897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6.465039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B77C8A95-7550-4D05-9408-41F3F506B649}"/>
              </a:ext>
            </a:extLst>
          </p:cNvPr>
          <p:cNvSpPr txBox="1"/>
          <p:nvPr/>
        </p:nvSpPr>
        <p:spPr>
          <a:xfrm>
            <a:off x="6823157" y="2491201"/>
            <a:ext cx="23123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일괄 예측 수행 결과</a:t>
            </a:r>
          </a:p>
        </p:txBody>
      </p:sp>
    </p:spTree>
    <p:extLst>
      <p:ext uri="{BB962C8B-B14F-4D97-AF65-F5344CB8AC3E}">
        <p14:creationId xmlns:p14="http://schemas.microsoft.com/office/powerpoint/2010/main" val="18836588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57C67BA-B213-4D78-9FE6-DF21AEB555D8}"/>
              </a:ext>
            </a:extLst>
          </p:cNvPr>
          <p:cNvSpPr txBox="1"/>
          <p:nvPr/>
        </p:nvSpPr>
        <p:spPr>
          <a:xfrm>
            <a:off x="377504" y="623270"/>
            <a:ext cx="31146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latin typeface="+mj-ea"/>
              </a:rPr>
              <a:t>loss_function</a:t>
            </a:r>
            <a:r>
              <a:rPr lang="en-US" altLang="ko-KR" sz="2400" dirty="0">
                <a:latin typeface="+mj-ea"/>
              </a:rPr>
              <a:t> : </a:t>
            </a:r>
            <a:r>
              <a:rPr lang="en-US" altLang="ko-KR" sz="2400" dirty="0" err="1">
                <a:latin typeface="+mj-ea"/>
              </a:rPr>
              <a:t>mae</a:t>
            </a:r>
            <a:endParaRPr lang="en-US" altLang="ko-KR" sz="2400" dirty="0">
              <a:latin typeface="+mj-ea"/>
            </a:endParaRPr>
          </a:p>
          <a:p>
            <a:r>
              <a:rPr lang="ko-KR" altLang="en-US" sz="2400" dirty="0">
                <a:latin typeface="+mj-ea"/>
                <a:ea typeface="+mj-ea"/>
              </a:rPr>
              <a:t>예측코드 </a:t>
            </a:r>
            <a:r>
              <a:rPr lang="en-US" altLang="ko-KR" sz="2400" dirty="0">
                <a:latin typeface="+mj-ea"/>
                <a:ea typeface="+mj-ea"/>
              </a:rPr>
              <a:t>– </a:t>
            </a:r>
            <a:r>
              <a:rPr lang="ko-KR" altLang="en-US" sz="2400" dirty="0" err="1">
                <a:latin typeface="+mj-ea"/>
                <a:ea typeface="+mj-ea"/>
              </a:rPr>
              <a:t>궁내교</a:t>
            </a:r>
            <a:endParaRPr lang="ko-KR" altLang="en-US" sz="2400" dirty="0">
              <a:latin typeface="+mj-ea"/>
              <a:ea typeface="+mj-ea"/>
            </a:endParaRP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F2984B68-129A-43E8-AEDB-1B56F290D9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1711639"/>
              </p:ext>
            </p:extLst>
          </p:nvPr>
        </p:nvGraphicFramePr>
        <p:xfrm>
          <a:off x="1689832" y="2584043"/>
          <a:ext cx="4328033" cy="320548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</a:rPr>
                        <a:t>궁내교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testdata_170723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0.6317008228046512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0.13004720675763015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0.29296479437086315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0.3606205855988121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testdata_220712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-0.07962368920681295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0.0428377352583486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0.17547238654560515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0.20697278869056338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testdata_230711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0.7661752446992534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0.06543374685298414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0.15676571084393393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0.25580020886032157</a:t>
                      </a:r>
                      <a:r>
                        <a:rPr lang="pt-BR" altLang="ko-KR" sz="1400" dirty="0"/>
                        <a:t> 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</a:tbl>
          </a:graphicData>
        </a:graphic>
      </p:graphicFrame>
      <p:sp>
        <p:nvSpPr>
          <p:cNvPr id="19" name="직사각형 18">
            <a:extLst>
              <a:ext uri="{FF2B5EF4-FFF2-40B4-BE49-F238E27FC236}">
                <a16:creationId xmlns:a16="http://schemas.microsoft.com/office/drawing/2014/main" id="{4C5D670B-13B4-4B42-BBCE-A59BF7296695}"/>
              </a:ext>
            </a:extLst>
          </p:cNvPr>
          <p:cNvSpPr/>
          <p:nvPr/>
        </p:nvSpPr>
        <p:spPr>
          <a:xfrm>
            <a:off x="3130490" y="2584043"/>
            <a:ext cx="2887375" cy="32054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5B4784F0-DFB3-44EF-AA34-B64B0AA721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8523" y="4494343"/>
            <a:ext cx="3052215" cy="1608522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D653A1B7-7456-4239-8BA6-6BEE3BB29B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8958" y="486978"/>
            <a:ext cx="3094590" cy="1622071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AFD7EAA2-8259-4E79-BB46-A327F49738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3464" y="2492171"/>
            <a:ext cx="3066929" cy="1613422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8CFDB1ED-E48F-4A48-8B98-8A5A5535F8FF}"/>
              </a:ext>
            </a:extLst>
          </p:cNvPr>
          <p:cNvSpPr txBox="1"/>
          <p:nvPr/>
        </p:nvSpPr>
        <p:spPr>
          <a:xfrm>
            <a:off x="8269258" y="2139942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testdata_170723</a:t>
            </a:r>
            <a:endParaRPr lang="ko-KR" altLang="en-US" sz="10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4B9A2D6-428C-437D-87D9-CB71E4FAF501}"/>
              </a:ext>
            </a:extLst>
          </p:cNvPr>
          <p:cNvSpPr txBox="1"/>
          <p:nvPr/>
        </p:nvSpPr>
        <p:spPr>
          <a:xfrm>
            <a:off x="8312719" y="412830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/>
              <a:t>testdata_220712</a:t>
            </a:r>
            <a:endParaRPr lang="ko-KR" altLang="en-US" sz="10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278B0AB-818B-44D4-A9D4-05322E2375F9}"/>
              </a:ext>
            </a:extLst>
          </p:cNvPr>
          <p:cNvSpPr txBox="1"/>
          <p:nvPr/>
        </p:nvSpPr>
        <p:spPr>
          <a:xfrm>
            <a:off x="8350421" y="6196336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testdata_230711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237712732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2956983" y="2551837"/>
            <a:ext cx="627803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b="1" dirty="0">
                <a:solidFill>
                  <a:schemeClr val="accent5"/>
                </a:solidFill>
                <a:latin typeface="+mj-ea"/>
                <a:ea typeface="+mj-ea"/>
              </a:rPr>
              <a:t>예측에 사용할 데이터 학습에서 제외</a:t>
            </a:r>
            <a:r>
              <a:rPr lang="en-US" altLang="ko-KR" sz="3600" b="1" dirty="0">
                <a:solidFill>
                  <a:schemeClr val="accent5"/>
                </a:solidFill>
                <a:latin typeface="+mj-ea"/>
                <a:ea typeface="+mj-ea"/>
              </a:rPr>
              <a:t> 2</a:t>
            </a:r>
          </a:p>
          <a:p>
            <a:pPr algn="ctr"/>
            <a:r>
              <a:rPr lang="en-US" altLang="ko-KR" sz="3600" b="1" dirty="0">
                <a:solidFill>
                  <a:schemeClr val="accent5"/>
                </a:solidFill>
                <a:latin typeface="+mj-ea"/>
                <a:ea typeface="+mj-ea"/>
              </a:rPr>
              <a:t>( </a:t>
            </a:r>
            <a:r>
              <a:rPr lang="ko-KR" altLang="en-US" sz="3600" b="1" dirty="0">
                <a:solidFill>
                  <a:schemeClr val="accent5"/>
                </a:solidFill>
                <a:latin typeface="+mj-ea"/>
                <a:ea typeface="+mj-ea"/>
              </a:rPr>
              <a:t>증설 전 후 비교 </a:t>
            </a:r>
            <a:r>
              <a:rPr lang="en-US" altLang="ko-KR" sz="3600" b="1" dirty="0">
                <a:solidFill>
                  <a:schemeClr val="accent5"/>
                </a:solidFill>
                <a:latin typeface="+mj-ea"/>
                <a:ea typeface="+mj-ea"/>
              </a:rPr>
              <a:t>)</a:t>
            </a:r>
            <a:endParaRPr lang="ko-KR" altLang="en-US" sz="3600" b="1" dirty="0">
              <a:solidFill>
                <a:schemeClr val="accent5"/>
              </a:solidFill>
              <a:latin typeface="+mj-ea"/>
              <a:ea typeface="+mj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6E7B02-A300-4503-B2DF-6BE44C6E139D}"/>
              </a:ext>
            </a:extLst>
          </p:cNvPr>
          <p:cNvSpPr txBox="1"/>
          <p:nvPr/>
        </p:nvSpPr>
        <p:spPr>
          <a:xfrm>
            <a:off x="9270999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/dg)_(</a:t>
            </a:r>
            <a:r>
              <a:rPr lang="en-US" altLang="ko-KR" sz="1050" dirty="0" err="1"/>
              <a:t>mse</a:t>
            </a:r>
            <a:r>
              <a:rPr lang="en-US" altLang="ko-KR" sz="1050" dirty="0"/>
              <a:t>/</a:t>
            </a:r>
            <a:r>
              <a:rPr lang="en-US" altLang="ko-KR" sz="1050" dirty="0" err="1"/>
              <a:t>mae</a:t>
            </a:r>
            <a:r>
              <a:rPr lang="en-US" altLang="ko-KR" sz="1050" dirty="0"/>
              <a:t>)</a:t>
            </a:r>
            <a:endParaRPr lang="ko-KR" altLang="en-US" sz="1050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63589968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57C67BA-B213-4D78-9FE6-DF21AEB555D8}"/>
              </a:ext>
            </a:extLst>
          </p:cNvPr>
          <p:cNvSpPr txBox="1"/>
          <p:nvPr/>
        </p:nvSpPr>
        <p:spPr>
          <a:xfrm>
            <a:off x="377504" y="623270"/>
            <a:ext cx="33816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+mj-ea"/>
              </a:rPr>
              <a:t>MIET</a:t>
            </a:r>
            <a:r>
              <a:rPr lang="ko-KR" altLang="en-US" sz="2400" b="1" dirty="0">
                <a:latin typeface="+mj-ea"/>
              </a:rPr>
              <a:t> </a:t>
            </a:r>
            <a:r>
              <a:rPr lang="ko-KR" altLang="en-US" sz="2400" dirty="0">
                <a:latin typeface="+mj-ea"/>
                <a:ea typeface="+mj-ea"/>
              </a:rPr>
              <a:t>학습 데이터 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3EEA5D01-22F3-4984-8E02-DD8FCAC01A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0265887"/>
              </p:ext>
            </p:extLst>
          </p:nvPr>
        </p:nvGraphicFramePr>
        <p:xfrm>
          <a:off x="1176865" y="2177627"/>
          <a:ext cx="9692641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0560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6750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10814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4048918556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522523455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2162001719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38635649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4099286348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21081817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time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성남북초교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광주시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남한산초교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대장동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구미초교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한국학중앙연구원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2014-07-24 15:30:00</a:t>
                      </a:r>
                    </a:p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1.12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5.11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2.17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40.56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0F34946-E3D3-42D3-9474-97847E9700A7}"/>
              </a:ext>
            </a:extLst>
          </p:cNvPr>
          <p:cNvSpPr txBox="1"/>
          <p:nvPr/>
        </p:nvSpPr>
        <p:spPr>
          <a:xfrm>
            <a:off x="1100664" y="1549401"/>
            <a:ext cx="8602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홍수통제소 </a:t>
            </a:r>
            <a:r>
              <a:rPr lang="en-US" altLang="ko-KR" dirty="0"/>
              <a:t>API </a:t>
            </a:r>
            <a:r>
              <a:rPr lang="ko-KR" altLang="en-US" dirty="0"/>
              <a:t>호출 → </a:t>
            </a:r>
            <a:r>
              <a:rPr lang="en-US" altLang="ko-KR" dirty="0"/>
              <a:t>MIET</a:t>
            </a:r>
            <a:r>
              <a:rPr lang="ko-KR" altLang="en-US" dirty="0"/>
              <a:t> 활용 강우 이벤트 추출 → 관심 강우 포함 파일 추출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FCAFFAB-E3EC-4ABC-B056-47EE38272BC3}"/>
              </a:ext>
            </a:extLst>
          </p:cNvPr>
          <p:cNvSpPr txBox="1"/>
          <p:nvPr/>
        </p:nvSpPr>
        <p:spPr>
          <a:xfrm>
            <a:off x="1100664" y="3575949"/>
            <a:ext cx="80179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+ </a:t>
            </a:r>
            <a:r>
              <a:rPr lang="ko-KR" altLang="en-US" dirty="0"/>
              <a:t>기존 학습 데이터 통합 후</a:t>
            </a:r>
            <a:r>
              <a:rPr lang="en-US" altLang="ko-KR" dirty="0"/>
              <a:t> </a:t>
            </a:r>
            <a:r>
              <a:rPr lang="ko-KR" altLang="en-US" dirty="0"/>
              <a:t>중복 이벤트 제거</a:t>
            </a: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C74A5352-C7B7-4275-9E0B-4BA1B67E88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1933769"/>
              </p:ext>
            </p:extLst>
          </p:nvPr>
        </p:nvGraphicFramePr>
        <p:xfrm>
          <a:off x="1176865" y="4185736"/>
          <a:ext cx="8012114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763588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6750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10814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4048918556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2162001719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4099286348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21081817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time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성남북초교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광주시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남한산초교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대장동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구미초교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한국학중앙연구원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KoPub돋움체 Medium"/>
                          <a:ea typeface="+mn-ea"/>
                          <a:cs typeface="+mn-cs"/>
                        </a:rPr>
                        <a:t>2014-08-20 10:50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0.96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1.84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09DBF372-14B3-481F-A0BC-69E398337249}"/>
              </a:ext>
            </a:extLst>
          </p:cNvPr>
          <p:cNvSpPr txBox="1"/>
          <p:nvPr/>
        </p:nvSpPr>
        <p:spPr>
          <a:xfrm>
            <a:off x="242037" y="5520269"/>
            <a:ext cx="117298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학습 </a:t>
            </a:r>
            <a:r>
              <a:rPr lang="en-US" altLang="ko-KR" dirty="0"/>
              <a:t>: </a:t>
            </a:r>
            <a:r>
              <a:rPr lang="ko-KR" altLang="en-US" dirty="0"/>
              <a:t>총 </a:t>
            </a:r>
            <a:r>
              <a:rPr lang="en-US" altLang="ko-KR" dirty="0"/>
              <a:t>67</a:t>
            </a:r>
            <a:r>
              <a:rPr lang="ko-KR" altLang="en-US" dirty="0"/>
              <a:t>개 中 </a:t>
            </a:r>
            <a:r>
              <a:rPr lang="en-US" altLang="ko-KR" dirty="0"/>
              <a:t>64</a:t>
            </a:r>
            <a:r>
              <a:rPr lang="ko-KR" altLang="en-US" dirty="0"/>
              <a:t>개 데이터 사용</a:t>
            </a:r>
            <a:r>
              <a:rPr lang="en-US" altLang="ko-KR" dirty="0"/>
              <a:t> </a:t>
            </a:r>
          </a:p>
          <a:p>
            <a:br>
              <a:rPr lang="en-US" altLang="ko-KR" dirty="0"/>
            </a:br>
            <a:r>
              <a:rPr lang="ko-KR" altLang="en-US" dirty="0"/>
              <a:t>검증 </a:t>
            </a:r>
            <a:r>
              <a:rPr lang="en-US" altLang="ko-KR" dirty="0"/>
              <a:t>: </a:t>
            </a:r>
            <a:r>
              <a:rPr lang="ko-KR" altLang="en-US" dirty="0"/>
              <a:t>학습 데이터에서 제외한 </a:t>
            </a:r>
            <a:r>
              <a:rPr lang="en-US" altLang="ko-KR" dirty="0"/>
              <a:t>2</a:t>
            </a:r>
            <a:r>
              <a:rPr lang="ko-KR" altLang="en-US" dirty="0"/>
              <a:t>개 데이터 </a:t>
            </a:r>
            <a:r>
              <a:rPr lang="en-US" altLang="ko-KR" dirty="0"/>
              <a:t>(220713, 230711) + </a:t>
            </a:r>
            <a:r>
              <a:rPr lang="ko-KR" altLang="en-US" dirty="0"/>
              <a:t>학습에서 검증에 사용된 데이터 </a:t>
            </a:r>
            <a:r>
              <a:rPr lang="en-US" altLang="ko-KR" dirty="0"/>
              <a:t>(250716, 250814) </a:t>
            </a:r>
            <a:r>
              <a:rPr lang="ko-KR" altLang="en-US" dirty="0"/>
              <a:t>사용</a:t>
            </a:r>
            <a:endParaRPr lang="en-US" altLang="ko-KR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D00494-A5E8-4259-BF23-B27A56DB11CF}"/>
              </a:ext>
            </a:extLst>
          </p:cNvPr>
          <p:cNvSpPr txBox="1"/>
          <p:nvPr/>
        </p:nvSpPr>
        <p:spPr>
          <a:xfrm>
            <a:off x="4419598" y="6430827"/>
            <a:ext cx="122766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22</a:t>
            </a:r>
            <a:r>
              <a:rPr lang="ko-KR" altLang="en-US" sz="900" dirty="0"/>
              <a:t>년 </a:t>
            </a:r>
            <a:r>
              <a:rPr lang="en-US" altLang="ko-KR" sz="900" dirty="0"/>
              <a:t>7</a:t>
            </a:r>
            <a:r>
              <a:rPr lang="ko-KR" altLang="en-US" sz="900" dirty="0"/>
              <a:t>월 </a:t>
            </a:r>
            <a:r>
              <a:rPr lang="en-US" altLang="ko-KR" sz="900" dirty="0"/>
              <a:t>12 +13  </a:t>
            </a:r>
            <a:r>
              <a:rPr lang="ko-KR" altLang="en-US" sz="900" dirty="0"/>
              <a:t>자료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3EA3F7B-A839-4558-AEC0-26D414780386}"/>
              </a:ext>
            </a:extLst>
          </p:cNvPr>
          <p:cNvSpPr txBox="1"/>
          <p:nvPr/>
        </p:nvSpPr>
        <p:spPr>
          <a:xfrm>
            <a:off x="9474199" y="279650"/>
            <a:ext cx="2717801" cy="10152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50" b="1" dirty="0"/>
              <a:t>관심 수위 </a:t>
            </a:r>
            <a:r>
              <a:rPr lang="en-US" altLang="ko-KR" sz="1050" b="1" dirty="0"/>
              <a:t>: </a:t>
            </a:r>
            <a:r>
              <a:rPr lang="ko-KR" altLang="en-US" sz="1050" b="1" dirty="0" err="1"/>
              <a:t>궁내교</a:t>
            </a:r>
            <a:r>
              <a:rPr lang="ko-KR" altLang="en-US" sz="1050" b="1" dirty="0"/>
              <a:t> </a:t>
            </a:r>
            <a:r>
              <a:rPr lang="en-US" altLang="ko-KR" sz="1050" b="1" dirty="0"/>
              <a:t>( 2 )  </a:t>
            </a:r>
            <a:r>
              <a:rPr lang="ko-KR" altLang="en-US" sz="1050" b="1" dirty="0" err="1"/>
              <a:t>대곡교</a:t>
            </a:r>
            <a:r>
              <a:rPr lang="ko-KR" altLang="en-US" sz="1050" b="1" dirty="0"/>
              <a:t> </a:t>
            </a:r>
            <a:r>
              <a:rPr lang="en-US" altLang="ko-KR" sz="1050" b="1" dirty="0"/>
              <a:t>( 3.8 )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0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smoothing : </a:t>
            </a:r>
            <a:r>
              <a:rPr lang="ko-KR" altLang="en-US" sz="105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궁내교</a:t>
            </a:r>
            <a:r>
              <a:rPr lang="ko-KR" altLang="en-US" sz="10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ko-KR" sz="10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( </a:t>
            </a:r>
            <a:r>
              <a:rPr lang="en-US" altLang="ko-KR" sz="105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</a:rPr>
              <a:t>1 ) </a:t>
            </a:r>
            <a:r>
              <a:rPr lang="ko-KR" altLang="en-US" sz="105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</a:rPr>
              <a:t>대곡교</a:t>
            </a:r>
            <a:r>
              <a:rPr lang="ko-KR" altLang="en-US" sz="105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</a:rPr>
              <a:t> </a:t>
            </a:r>
            <a:r>
              <a:rPr lang="en-US" altLang="ko-KR" sz="105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</a:rPr>
              <a:t>( 2 )</a:t>
            </a:r>
            <a:endParaRPr lang="en-US" altLang="ko-KR" sz="1050" b="1" dirty="0"/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050" b="1" dirty="0" err="1">
                <a:latin typeface="+mj-ea"/>
              </a:rPr>
              <a:t>learning_rate</a:t>
            </a:r>
            <a:r>
              <a:rPr lang="en-US" altLang="ko-KR" sz="1050" b="1" dirty="0">
                <a:latin typeface="+mj-ea"/>
              </a:rPr>
              <a:t> = 0.0005</a:t>
            </a:r>
            <a:endParaRPr lang="ko-KR" altLang="en-US" sz="1050" dirty="0"/>
          </a:p>
        </p:txBody>
      </p:sp>
    </p:spTree>
    <p:extLst>
      <p:ext uri="{BB962C8B-B14F-4D97-AF65-F5344CB8AC3E}">
        <p14:creationId xmlns:p14="http://schemas.microsoft.com/office/powerpoint/2010/main" val="136467962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4648899" y="2828835"/>
            <a:ext cx="28942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b="1" dirty="0" err="1">
                <a:latin typeface="+mj-ea"/>
                <a:ea typeface="+mj-ea"/>
              </a:rPr>
              <a:t>궁내교</a:t>
            </a:r>
            <a:endParaRPr lang="en-US" altLang="ko-KR" sz="3600" b="1" dirty="0">
              <a:latin typeface="+mj-ea"/>
              <a:ea typeface="+mj-ea"/>
            </a:endParaRPr>
          </a:p>
          <a:p>
            <a:pPr algn="ctr"/>
            <a:r>
              <a:rPr lang="en-US" altLang="ko-KR" sz="3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smoothing = </a:t>
            </a:r>
            <a:r>
              <a:rPr lang="en-US" altLang="ko-KR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</a:rPr>
              <a:t>1</a:t>
            </a:r>
            <a:endParaRPr lang="ko-KR" altLang="en-US" sz="3600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80316010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377505" y="623270"/>
            <a:ext cx="28942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latin typeface="+mj-ea"/>
              </a:rPr>
              <a:t>loss_function</a:t>
            </a:r>
            <a:r>
              <a:rPr lang="en-US" altLang="ko-KR" sz="2400" dirty="0">
                <a:latin typeface="+mj-ea"/>
              </a:rPr>
              <a:t> : </a:t>
            </a:r>
            <a:r>
              <a:rPr lang="en-US" altLang="ko-KR" sz="2400" dirty="0" err="1">
                <a:latin typeface="+mj-ea"/>
              </a:rPr>
              <a:t>mse</a:t>
            </a:r>
            <a:r>
              <a:rPr lang="en-US" altLang="ko-KR" sz="2400" dirty="0">
                <a:latin typeface="+mj-ea"/>
              </a:rPr>
              <a:t> </a:t>
            </a:r>
            <a:r>
              <a:rPr lang="ko-KR" altLang="en-US" sz="2400" dirty="0">
                <a:latin typeface="+mj-ea"/>
                <a:ea typeface="+mj-ea"/>
              </a:rPr>
              <a:t>학습 코드 </a:t>
            </a:r>
            <a:r>
              <a:rPr lang="en-US" altLang="ko-KR" sz="2400" dirty="0">
                <a:latin typeface="+mj-ea"/>
                <a:ea typeface="+mj-ea"/>
              </a:rPr>
              <a:t>- </a:t>
            </a:r>
            <a:r>
              <a:rPr lang="ko-KR" altLang="en-US" sz="2400" dirty="0" err="1">
                <a:latin typeface="+mj-ea"/>
                <a:ea typeface="+mj-ea"/>
              </a:rPr>
              <a:t>궁내교</a:t>
            </a:r>
            <a:endParaRPr lang="ko-KR" altLang="en-US" sz="2400" dirty="0">
              <a:latin typeface="+mj-ea"/>
              <a:ea typeface="+mj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9DB7C3-A352-4434-832E-7169C75AB765}"/>
              </a:ext>
            </a:extLst>
          </p:cNvPr>
          <p:cNvSpPr txBox="1"/>
          <p:nvPr/>
        </p:nvSpPr>
        <p:spPr>
          <a:xfrm>
            <a:off x="1346199" y="1786468"/>
            <a:ext cx="8602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Train : Valid : Test = 7 : 2 : 1 </a:t>
            </a:r>
            <a:r>
              <a:rPr lang="ko-KR" altLang="en-US" dirty="0"/>
              <a:t>비율로 학습 진행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2F37C692-0D2E-44D5-8AE7-B05779A9F1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8490340"/>
              </p:ext>
            </p:extLst>
          </p:nvPr>
        </p:nvGraphicFramePr>
        <p:xfrm>
          <a:off x="6951132" y="3017967"/>
          <a:ext cx="38360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734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Train</a:t>
                      </a:r>
                    </a:p>
                    <a:p>
                      <a:pPr latinLnBrk="1"/>
                      <a:r>
                        <a:rPr lang="en-US" altLang="ko-KR" sz="800" dirty="0"/>
                        <a:t>(5199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0.0929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0.0566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0.1681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0.916973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0.918180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32.452990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B08A13AB-CF40-41FC-85F4-AA63438CD5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3583035"/>
              </p:ext>
            </p:extLst>
          </p:nvPr>
        </p:nvGraphicFramePr>
        <p:xfrm>
          <a:off x="6951132" y="4259181"/>
          <a:ext cx="38360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734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Valid</a:t>
                      </a:r>
                    </a:p>
                    <a:p>
                      <a:pPr latinLnBrk="1"/>
                      <a:r>
                        <a:rPr lang="en-US" altLang="ko-KR" sz="800" dirty="0"/>
                        <a:t>(1247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0.0920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0.0681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0.1286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0.893660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0.896028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18.568189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BF3AC006-682A-4D96-B009-F19CB094C0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2174669"/>
              </p:ext>
            </p:extLst>
          </p:nvPr>
        </p:nvGraphicFramePr>
        <p:xfrm>
          <a:off x="6951132" y="5500395"/>
          <a:ext cx="37344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226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Test</a:t>
                      </a:r>
                    </a:p>
                    <a:p>
                      <a:pPr latinLnBrk="1"/>
                      <a:r>
                        <a:rPr lang="en-US" altLang="ko-KR" sz="800" dirty="0"/>
                        <a:t>(693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0.0759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0.0586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0.1097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0.881866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0.890274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4.491322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pic>
        <p:nvPicPr>
          <p:cNvPr id="13" name="그림 12">
            <a:extLst>
              <a:ext uri="{FF2B5EF4-FFF2-40B4-BE49-F238E27FC236}">
                <a16:creationId xmlns:a16="http://schemas.microsoft.com/office/drawing/2014/main" id="{0B8BFE22-A6DD-4A55-8213-16C5AD4073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312" y="3732925"/>
            <a:ext cx="5409155" cy="180979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545FBF0-BD23-47BA-AE23-A9041F51CCD9}"/>
              </a:ext>
            </a:extLst>
          </p:cNvPr>
          <p:cNvSpPr txBox="1"/>
          <p:nvPr/>
        </p:nvSpPr>
        <p:spPr>
          <a:xfrm>
            <a:off x="900984" y="3109677"/>
            <a:ext cx="1740616" cy="402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200" dirty="0">
                <a:latin typeface="+mj-ea"/>
              </a:rPr>
              <a:t>Train Chart</a:t>
            </a:r>
            <a:endParaRPr lang="ko-KR" altLang="en-US" sz="1200" dirty="0">
              <a:latin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2E70C8B-0378-41AB-8FAC-941DC946C20B}"/>
              </a:ext>
            </a:extLst>
          </p:cNvPr>
          <p:cNvSpPr txBox="1"/>
          <p:nvPr/>
        </p:nvSpPr>
        <p:spPr>
          <a:xfrm>
            <a:off x="6823157" y="2491201"/>
            <a:ext cx="23123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일괄 예측 수행 결과</a:t>
            </a:r>
          </a:p>
        </p:txBody>
      </p:sp>
    </p:spTree>
    <p:extLst>
      <p:ext uri="{BB962C8B-B14F-4D97-AF65-F5344CB8AC3E}">
        <p14:creationId xmlns:p14="http://schemas.microsoft.com/office/powerpoint/2010/main" val="8619457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11C99160-6B77-45EA-8F2B-8F76482011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9942446"/>
              </p:ext>
            </p:extLst>
          </p:nvPr>
        </p:nvGraphicFramePr>
        <p:xfrm>
          <a:off x="800836" y="1889775"/>
          <a:ext cx="4328033" cy="415036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</a:rPr>
                        <a:t>궁내교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testdata_220712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-3.7460557062787814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0.18831587329869987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0.37048792507913375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0.43395376861907753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testdata_230711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0.7858148103033311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0.059937791720316914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0.17798842834101786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0.24482195922816424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testdata_250716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0.3947407285994061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0.06072095512751068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0.19081864602035944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0.24641622334479255</a:t>
                      </a:r>
                      <a:r>
                        <a:rPr lang="pt-BR" altLang="ko-KR" sz="1400" dirty="0"/>
                        <a:t> 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testdata_250814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-0.056341420985954516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0.07447427089080348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0.2094912936952379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0.27289974512777304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621040"/>
                  </a:ext>
                </a:extLst>
              </a:tr>
            </a:tbl>
          </a:graphicData>
        </a:graphic>
      </p:graphicFrame>
      <p:sp>
        <p:nvSpPr>
          <p:cNvPr id="27" name="직사각형 26">
            <a:extLst>
              <a:ext uri="{FF2B5EF4-FFF2-40B4-BE49-F238E27FC236}">
                <a16:creationId xmlns:a16="http://schemas.microsoft.com/office/drawing/2014/main" id="{4EF33900-A573-48EF-8975-0A2C5750C40D}"/>
              </a:ext>
            </a:extLst>
          </p:cNvPr>
          <p:cNvSpPr/>
          <p:nvPr/>
        </p:nvSpPr>
        <p:spPr>
          <a:xfrm>
            <a:off x="2241494" y="1889775"/>
            <a:ext cx="2887375" cy="41503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1A56FFC-2A2A-4585-A698-824F987F091A}"/>
              </a:ext>
            </a:extLst>
          </p:cNvPr>
          <p:cNvSpPr txBox="1"/>
          <p:nvPr/>
        </p:nvSpPr>
        <p:spPr>
          <a:xfrm>
            <a:off x="377504" y="623270"/>
            <a:ext cx="31146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latin typeface="+mj-ea"/>
              </a:rPr>
              <a:t>loss_function</a:t>
            </a:r>
            <a:r>
              <a:rPr lang="en-US" altLang="ko-KR" sz="2400" dirty="0">
                <a:latin typeface="+mj-ea"/>
              </a:rPr>
              <a:t> : </a:t>
            </a:r>
            <a:r>
              <a:rPr lang="en-US" altLang="ko-KR" sz="2400" dirty="0" err="1">
                <a:latin typeface="+mj-ea"/>
              </a:rPr>
              <a:t>mse</a:t>
            </a:r>
            <a:endParaRPr lang="en-US" altLang="ko-KR" sz="2400" dirty="0">
              <a:latin typeface="+mj-ea"/>
            </a:endParaRPr>
          </a:p>
          <a:p>
            <a:r>
              <a:rPr lang="ko-KR" altLang="en-US" sz="2400" dirty="0">
                <a:latin typeface="+mj-ea"/>
                <a:ea typeface="+mj-ea"/>
              </a:rPr>
              <a:t>예측코드 </a:t>
            </a:r>
            <a:r>
              <a:rPr lang="en-US" altLang="ko-KR" sz="2400" dirty="0">
                <a:latin typeface="+mj-ea"/>
                <a:ea typeface="+mj-ea"/>
              </a:rPr>
              <a:t>– </a:t>
            </a:r>
            <a:r>
              <a:rPr lang="ko-KR" altLang="en-US" sz="2400" dirty="0" err="1">
                <a:latin typeface="+mj-ea"/>
                <a:ea typeface="+mj-ea"/>
              </a:rPr>
              <a:t>궁내교</a:t>
            </a:r>
            <a:endParaRPr lang="ko-KR" altLang="en-US" sz="2400" dirty="0">
              <a:latin typeface="+mj-ea"/>
              <a:ea typeface="+mj-ea"/>
            </a:endParaRP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CC287890-8D3F-4F75-B6EE-54A24D7225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3635" y="4329789"/>
            <a:ext cx="3083619" cy="1625228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34B44F8C-A4EF-4214-B85D-838A2A05AD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6872" y="4325082"/>
            <a:ext cx="3089860" cy="1633253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D1DF17EE-4843-4A32-BDAC-03BBE1594C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0924" y="1970948"/>
            <a:ext cx="3034611" cy="1585244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77E4CA0B-D49E-45B1-BAE8-60B9B42BF1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1866" y="1966680"/>
            <a:ext cx="3043441" cy="161879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9666F396-617E-4A87-B71B-140F779486DE}"/>
              </a:ext>
            </a:extLst>
          </p:cNvPr>
          <p:cNvSpPr txBox="1"/>
          <p:nvPr/>
        </p:nvSpPr>
        <p:spPr>
          <a:xfrm>
            <a:off x="6261235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testdata_220712</a:t>
            </a:r>
            <a:endParaRPr lang="ko-KR" altLang="en-US" sz="1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CA25465-4979-4F8A-9B0A-4264AEA6DA31}"/>
              </a:ext>
            </a:extLst>
          </p:cNvPr>
          <p:cNvSpPr txBox="1"/>
          <p:nvPr/>
        </p:nvSpPr>
        <p:spPr>
          <a:xfrm>
            <a:off x="9409377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/>
              <a:t>testdata_230711</a:t>
            </a:r>
            <a:endParaRPr lang="ko-KR" altLang="en-US" sz="10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6B302A1-B195-4A71-8F8A-E20D52E67826}"/>
              </a:ext>
            </a:extLst>
          </p:cNvPr>
          <p:cNvSpPr txBox="1"/>
          <p:nvPr/>
        </p:nvSpPr>
        <p:spPr>
          <a:xfrm>
            <a:off x="6261235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testdata_250716</a:t>
            </a:r>
            <a:endParaRPr lang="ko-KR" altLang="en-US" sz="10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9417592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testdata_250814</a:t>
            </a:r>
            <a:endParaRPr lang="ko-KR" altLang="en-US" sz="1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A4AFE95-2DED-42BC-A1CA-CCD46CBA4F68}"/>
              </a:ext>
            </a:extLst>
          </p:cNvPr>
          <p:cNvSpPr txBox="1"/>
          <p:nvPr/>
        </p:nvSpPr>
        <p:spPr>
          <a:xfrm>
            <a:off x="33795" y="3792450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전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E878C64-9135-48B4-AD37-DDB91950CAEC}"/>
              </a:ext>
            </a:extLst>
          </p:cNvPr>
          <p:cNvSpPr txBox="1"/>
          <p:nvPr/>
        </p:nvSpPr>
        <p:spPr>
          <a:xfrm>
            <a:off x="33795" y="4260325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후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05E4055-07E8-4C56-93F5-5CE2B0B1AE01}"/>
              </a:ext>
            </a:extLst>
          </p:cNvPr>
          <p:cNvCxnSpPr/>
          <p:nvPr/>
        </p:nvCxnSpPr>
        <p:spPr>
          <a:xfrm flipH="1">
            <a:off x="0" y="4148667"/>
            <a:ext cx="80083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332489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377505" y="623270"/>
            <a:ext cx="28942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latin typeface="+mj-ea"/>
              </a:rPr>
              <a:t>loss_function</a:t>
            </a:r>
            <a:r>
              <a:rPr lang="en-US" altLang="ko-KR" sz="2400" dirty="0">
                <a:latin typeface="+mj-ea"/>
              </a:rPr>
              <a:t> : </a:t>
            </a:r>
            <a:r>
              <a:rPr lang="en-US" altLang="ko-KR" sz="2400" dirty="0" err="1">
                <a:latin typeface="+mj-ea"/>
              </a:rPr>
              <a:t>mae</a:t>
            </a:r>
            <a:r>
              <a:rPr lang="en-US" altLang="ko-KR" sz="2400" dirty="0">
                <a:latin typeface="+mj-ea"/>
              </a:rPr>
              <a:t> </a:t>
            </a:r>
            <a:r>
              <a:rPr lang="ko-KR" altLang="en-US" sz="2400" dirty="0">
                <a:latin typeface="+mj-ea"/>
                <a:ea typeface="+mj-ea"/>
              </a:rPr>
              <a:t>학습 코드 </a:t>
            </a:r>
            <a:r>
              <a:rPr lang="en-US" altLang="ko-KR" sz="2400" dirty="0">
                <a:latin typeface="+mj-ea"/>
                <a:ea typeface="+mj-ea"/>
              </a:rPr>
              <a:t>- </a:t>
            </a:r>
            <a:r>
              <a:rPr lang="ko-KR" altLang="en-US" sz="2400" dirty="0" err="1">
                <a:latin typeface="+mj-ea"/>
                <a:ea typeface="+mj-ea"/>
              </a:rPr>
              <a:t>궁내교</a:t>
            </a:r>
            <a:endParaRPr lang="ko-KR" altLang="en-US" sz="2400" dirty="0">
              <a:latin typeface="+mj-ea"/>
              <a:ea typeface="+mj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9DB7C3-A352-4434-832E-7169C75AB765}"/>
              </a:ext>
            </a:extLst>
          </p:cNvPr>
          <p:cNvSpPr txBox="1"/>
          <p:nvPr/>
        </p:nvSpPr>
        <p:spPr>
          <a:xfrm>
            <a:off x="1346199" y="1786468"/>
            <a:ext cx="8602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Train : Valid : Test = 7 : 2 : 1 </a:t>
            </a:r>
            <a:r>
              <a:rPr lang="ko-KR" altLang="en-US" dirty="0"/>
              <a:t>비율로 학습 진행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0B8BFE22-A6DD-4A55-8213-16C5AD4073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700" y="3743618"/>
            <a:ext cx="5282379" cy="178840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545FBF0-BD23-47BA-AE23-A9041F51CCD9}"/>
              </a:ext>
            </a:extLst>
          </p:cNvPr>
          <p:cNvSpPr txBox="1"/>
          <p:nvPr/>
        </p:nvSpPr>
        <p:spPr>
          <a:xfrm>
            <a:off x="900984" y="3109677"/>
            <a:ext cx="1740616" cy="402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200" dirty="0">
                <a:latin typeface="+mj-ea"/>
              </a:rPr>
              <a:t>Train Chart</a:t>
            </a:r>
            <a:endParaRPr lang="ko-KR" altLang="en-US" sz="1200" dirty="0">
              <a:latin typeface="+mj-ea"/>
            </a:endParaRP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D238A5F0-299E-4077-9F8D-068951B62B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4852289"/>
              </p:ext>
            </p:extLst>
          </p:nvPr>
        </p:nvGraphicFramePr>
        <p:xfrm>
          <a:off x="6951132" y="3017967"/>
          <a:ext cx="38360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734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Train</a:t>
                      </a:r>
                    </a:p>
                    <a:p>
                      <a:pPr latinLnBrk="1"/>
                      <a:r>
                        <a:rPr lang="en-US" altLang="ko-KR" sz="800" dirty="0"/>
                        <a:t>(5199 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0.0567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0.0316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0.1677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0.917413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0.921557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5.921931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B7D669A1-8907-4568-A2E1-25292B6DBE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6977239"/>
              </p:ext>
            </p:extLst>
          </p:nvPr>
        </p:nvGraphicFramePr>
        <p:xfrm>
          <a:off x="6951132" y="4259181"/>
          <a:ext cx="38360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734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Valid</a:t>
                      </a:r>
                    </a:p>
                    <a:p>
                      <a:pPr latinLnBrk="1"/>
                      <a:r>
                        <a:rPr lang="en-US" altLang="ko-KR" sz="800" dirty="0"/>
                        <a:t>(1247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0.0651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0.0469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0.0974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0.939098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0.939761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8.015105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F056712E-EC2D-4F0E-9021-989704D3D2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6463592"/>
              </p:ext>
            </p:extLst>
          </p:nvPr>
        </p:nvGraphicFramePr>
        <p:xfrm>
          <a:off x="6951132" y="5500395"/>
          <a:ext cx="37852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226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Test</a:t>
                      </a:r>
                    </a:p>
                    <a:p>
                      <a:pPr latinLnBrk="1"/>
                      <a:r>
                        <a:rPr lang="en-US" altLang="ko-KR" sz="800" dirty="0"/>
                        <a:t>(693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0.0538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0.0395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0.0869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0.925799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0.929416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6.737624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49A9D48B-61C4-43DD-8BFB-A77057EC0466}"/>
              </a:ext>
            </a:extLst>
          </p:cNvPr>
          <p:cNvSpPr txBox="1"/>
          <p:nvPr/>
        </p:nvSpPr>
        <p:spPr>
          <a:xfrm>
            <a:off x="6823157" y="2491201"/>
            <a:ext cx="23123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일괄 예측 수행 결과</a:t>
            </a:r>
          </a:p>
        </p:txBody>
      </p:sp>
    </p:spTree>
    <p:extLst>
      <p:ext uri="{BB962C8B-B14F-4D97-AF65-F5344CB8AC3E}">
        <p14:creationId xmlns:p14="http://schemas.microsoft.com/office/powerpoint/2010/main" val="215693114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57C67BA-B213-4D78-9FE6-DF21AEB555D8}"/>
              </a:ext>
            </a:extLst>
          </p:cNvPr>
          <p:cNvSpPr txBox="1"/>
          <p:nvPr/>
        </p:nvSpPr>
        <p:spPr>
          <a:xfrm>
            <a:off x="377504" y="623270"/>
            <a:ext cx="31146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latin typeface="+mj-ea"/>
              </a:rPr>
              <a:t>loss_function</a:t>
            </a:r>
            <a:r>
              <a:rPr lang="en-US" altLang="ko-KR" sz="2400" dirty="0">
                <a:latin typeface="+mj-ea"/>
              </a:rPr>
              <a:t> : </a:t>
            </a:r>
            <a:r>
              <a:rPr lang="en-US" altLang="ko-KR" sz="2400" dirty="0" err="1">
                <a:latin typeface="+mj-ea"/>
              </a:rPr>
              <a:t>mae</a:t>
            </a:r>
            <a:r>
              <a:rPr lang="en-US" altLang="ko-KR" sz="2400" dirty="0">
                <a:latin typeface="+mj-ea"/>
              </a:rPr>
              <a:t> </a:t>
            </a:r>
            <a:r>
              <a:rPr lang="ko-KR" altLang="en-US" sz="2400" dirty="0">
                <a:latin typeface="+mj-ea"/>
                <a:ea typeface="+mj-ea"/>
              </a:rPr>
              <a:t>예측코드 </a:t>
            </a:r>
            <a:r>
              <a:rPr lang="en-US" altLang="ko-KR" sz="2400" dirty="0">
                <a:latin typeface="+mj-ea"/>
                <a:ea typeface="+mj-ea"/>
              </a:rPr>
              <a:t>– </a:t>
            </a:r>
            <a:r>
              <a:rPr lang="ko-KR" altLang="en-US" sz="2400" dirty="0" err="1">
                <a:latin typeface="+mj-ea"/>
                <a:ea typeface="+mj-ea"/>
              </a:rPr>
              <a:t>궁내교</a:t>
            </a:r>
            <a:endParaRPr lang="en-US" altLang="ko-KR" sz="2400" dirty="0">
              <a:latin typeface="+mj-ea"/>
              <a:ea typeface="+mj-ea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29258BC8-300A-4917-B6C0-6B3E2239EE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3635" y="4327591"/>
            <a:ext cx="3083619" cy="1629624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0A28F5C4-1571-4948-8FC5-C9E26EECB6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6872" y="4332528"/>
            <a:ext cx="3089860" cy="1618361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1C328593-F0C8-4C05-869C-2E9036894D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0924" y="1964465"/>
            <a:ext cx="3034611" cy="1598209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0E6775A9-3F0F-4735-AAC1-D0B018AEF0E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1866" y="1979661"/>
            <a:ext cx="3043441" cy="159282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1B7BEA1-2DCD-4FA1-926E-D1B031EE60BE}"/>
              </a:ext>
            </a:extLst>
          </p:cNvPr>
          <p:cNvSpPr txBox="1"/>
          <p:nvPr/>
        </p:nvSpPr>
        <p:spPr>
          <a:xfrm>
            <a:off x="6261235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testdata_220712</a:t>
            </a:r>
            <a:endParaRPr lang="ko-KR" altLang="en-US" sz="1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B8B16D2-2274-4240-95EA-0D9F51415B30}"/>
              </a:ext>
            </a:extLst>
          </p:cNvPr>
          <p:cNvSpPr txBox="1"/>
          <p:nvPr/>
        </p:nvSpPr>
        <p:spPr>
          <a:xfrm>
            <a:off x="9409377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/>
              <a:t>testdata_230711</a:t>
            </a:r>
            <a:endParaRPr lang="ko-KR" altLang="en-US" sz="10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6403807-EAAD-4E93-A185-4FCE5E92A63B}"/>
              </a:ext>
            </a:extLst>
          </p:cNvPr>
          <p:cNvSpPr txBox="1"/>
          <p:nvPr/>
        </p:nvSpPr>
        <p:spPr>
          <a:xfrm>
            <a:off x="6261235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testdata_250716</a:t>
            </a:r>
            <a:endParaRPr lang="ko-KR" altLang="en-US" sz="10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01AE80B-E09F-4D46-AD44-1EBAFD64BC7B}"/>
              </a:ext>
            </a:extLst>
          </p:cNvPr>
          <p:cNvSpPr txBox="1"/>
          <p:nvPr/>
        </p:nvSpPr>
        <p:spPr>
          <a:xfrm>
            <a:off x="9417592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testdata_250814</a:t>
            </a:r>
            <a:endParaRPr lang="ko-KR" altLang="en-US" sz="1000" dirty="0"/>
          </a:p>
        </p:txBody>
      </p:sp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9CE26397-A1C1-478C-BB6C-4EA56E0CF6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6122727"/>
              </p:ext>
            </p:extLst>
          </p:nvPr>
        </p:nvGraphicFramePr>
        <p:xfrm>
          <a:off x="800836" y="1889775"/>
          <a:ext cx="4328033" cy="415036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</a:rPr>
                        <a:t>궁내교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testdata_220712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-0.17952902064759457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0.046801818468028854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0.19706654959254793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0.21633727942273115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testdata_230711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0.8818314085091158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0.03306841352893966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0.15780521591504415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0.18184722579390553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testdata_250716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0.8383801421544474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0.016214063294305487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0.10172216607464683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0.12733445446659553</a:t>
                      </a:r>
                      <a:r>
                        <a:rPr lang="pt-BR" altLang="ko-KR" sz="1400" dirty="0"/>
                        <a:t> 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testdata_250814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0.5624161614966373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0.030850572247483943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0.12672317968474495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0.17564330971455744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621040"/>
                  </a:ext>
                </a:extLst>
              </a:tr>
            </a:tbl>
          </a:graphicData>
        </a:graphic>
      </p:graphicFrame>
      <p:sp>
        <p:nvSpPr>
          <p:cNvPr id="30" name="직사각형 29">
            <a:extLst>
              <a:ext uri="{FF2B5EF4-FFF2-40B4-BE49-F238E27FC236}">
                <a16:creationId xmlns:a16="http://schemas.microsoft.com/office/drawing/2014/main" id="{9B1990D9-AB9F-4D64-B649-1D8F42C7BDF8}"/>
              </a:ext>
            </a:extLst>
          </p:cNvPr>
          <p:cNvSpPr/>
          <p:nvPr/>
        </p:nvSpPr>
        <p:spPr>
          <a:xfrm>
            <a:off x="2241494" y="1889775"/>
            <a:ext cx="2887375" cy="41503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56C3715-BB04-44D6-99DC-43441B2676C1}"/>
              </a:ext>
            </a:extLst>
          </p:cNvPr>
          <p:cNvSpPr txBox="1"/>
          <p:nvPr/>
        </p:nvSpPr>
        <p:spPr>
          <a:xfrm>
            <a:off x="33795" y="3792450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전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1D6FB3A-09CE-44BB-A8F8-E21576526E1A}"/>
              </a:ext>
            </a:extLst>
          </p:cNvPr>
          <p:cNvSpPr txBox="1"/>
          <p:nvPr/>
        </p:nvSpPr>
        <p:spPr>
          <a:xfrm>
            <a:off x="33795" y="4260325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후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5FAE8F29-FB44-4F7B-AAD9-9F49DFA3781A}"/>
              </a:ext>
            </a:extLst>
          </p:cNvPr>
          <p:cNvCxnSpPr/>
          <p:nvPr/>
        </p:nvCxnSpPr>
        <p:spPr>
          <a:xfrm flipH="1">
            <a:off x="0" y="4148667"/>
            <a:ext cx="80083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829352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4648899" y="2828835"/>
            <a:ext cx="28942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b="1" dirty="0" err="1">
                <a:latin typeface="+mj-ea"/>
                <a:ea typeface="+mj-ea"/>
              </a:rPr>
              <a:t>대곡교</a:t>
            </a:r>
            <a:endParaRPr lang="en-US" altLang="ko-KR" sz="3600" b="1" dirty="0">
              <a:latin typeface="+mj-ea"/>
              <a:ea typeface="+mj-ea"/>
            </a:endParaRPr>
          </a:p>
          <a:p>
            <a:pPr algn="ctr"/>
            <a:r>
              <a:rPr lang="en-US" altLang="ko-KR" sz="3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smoothing = </a:t>
            </a:r>
            <a:r>
              <a:rPr lang="en-US" altLang="ko-KR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</a:rPr>
              <a:t>2</a:t>
            </a:r>
            <a:endParaRPr lang="ko-KR" altLang="en-US" sz="3600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54927547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377505" y="623270"/>
            <a:ext cx="28942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latin typeface="+mj-ea"/>
              </a:rPr>
              <a:t>loss_function</a:t>
            </a:r>
            <a:r>
              <a:rPr lang="en-US" altLang="ko-KR" sz="2400" dirty="0">
                <a:latin typeface="+mj-ea"/>
              </a:rPr>
              <a:t> : </a:t>
            </a:r>
            <a:r>
              <a:rPr lang="en-US" altLang="ko-KR" sz="2400" dirty="0" err="1">
                <a:latin typeface="+mj-ea"/>
              </a:rPr>
              <a:t>mse</a:t>
            </a:r>
            <a:r>
              <a:rPr lang="en-US" altLang="ko-KR" sz="2400" dirty="0">
                <a:latin typeface="+mj-ea"/>
              </a:rPr>
              <a:t> </a:t>
            </a:r>
            <a:r>
              <a:rPr lang="ko-KR" altLang="en-US" sz="2400" dirty="0">
                <a:latin typeface="+mj-ea"/>
                <a:ea typeface="+mj-ea"/>
              </a:rPr>
              <a:t>학습 코드 </a:t>
            </a:r>
            <a:r>
              <a:rPr lang="en-US" altLang="ko-KR" sz="2400" dirty="0">
                <a:latin typeface="+mj-ea"/>
                <a:ea typeface="+mj-ea"/>
              </a:rPr>
              <a:t>- </a:t>
            </a:r>
            <a:r>
              <a:rPr lang="ko-KR" altLang="en-US" sz="2400" dirty="0" err="1">
                <a:latin typeface="+mj-ea"/>
                <a:ea typeface="+mj-ea"/>
              </a:rPr>
              <a:t>대곡교</a:t>
            </a:r>
            <a:endParaRPr lang="ko-KR" altLang="en-US" sz="2400" dirty="0">
              <a:latin typeface="+mj-ea"/>
              <a:ea typeface="+mj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9DB7C3-A352-4434-832E-7169C75AB765}"/>
              </a:ext>
            </a:extLst>
          </p:cNvPr>
          <p:cNvSpPr txBox="1"/>
          <p:nvPr/>
        </p:nvSpPr>
        <p:spPr>
          <a:xfrm>
            <a:off x="1346199" y="1786468"/>
            <a:ext cx="8602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Train : Valid : Test = 7 : 2 : 1 </a:t>
            </a:r>
            <a:r>
              <a:rPr lang="ko-KR" altLang="en-US" dirty="0"/>
              <a:t>비율로 학습 진행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2F37C692-0D2E-44D5-8AE7-B05779A9F1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0174966"/>
              </p:ext>
            </p:extLst>
          </p:nvPr>
        </p:nvGraphicFramePr>
        <p:xfrm>
          <a:off x="6951132" y="3017967"/>
          <a:ext cx="38360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734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Train</a:t>
                      </a:r>
                    </a:p>
                    <a:p>
                      <a:pPr latinLnBrk="1"/>
                      <a:r>
                        <a:rPr lang="en-US" altLang="ko-KR" sz="800" dirty="0"/>
                        <a:t>(5199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0.1264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0.0467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0.2115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0.940239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0.943470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9.337945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B08A13AB-CF40-41FC-85F4-AA63438CD5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2464335"/>
              </p:ext>
            </p:extLst>
          </p:nvPr>
        </p:nvGraphicFramePr>
        <p:xfrm>
          <a:off x="6951132" y="4259181"/>
          <a:ext cx="38360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734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Valid</a:t>
                      </a:r>
                    </a:p>
                    <a:p>
                      <a:pPr latinLnBrk="1"/>
                      <a:r>
                        <a:rPr lang="en-US" altLang="ko-KR" sz="800" dirty="0"/>
                        <a:t>(1247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0.1118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0.0427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0.1532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0.937498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0.939542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1.007802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BF3AC006-682A-4D96-B009-F19CB094C0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3795987"/>
              </p:ext>
            </p:extLst>
          </p:nvPr>
        </p:nvGraphicFramePr>
        <p:xfrm>
          <a:off x="6951132" y="5500395"/>
          <a:ext cx="37852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226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Test</a:t>
                      </a:r>
                    </a:p>
                    <a:p>
                      <a:pPr latinLnBrk="1"/>
                      <a:r>
                        <a:rPr lang="en-US" altLang="ko-KR" sz="800" dirty="0"/>
                        <a:t>(693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0.1024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0.0390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0.1519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0.912317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0.914719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11.241669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pic>
        <p:nvPicPr>
          <p:cNvPr id="13" name="그림 12">
            <a:extLst>
              <a:ext uri="{FF2B5EF4-FFF2-40B4-BE49-F238E27FC236}">
                <a16:creationId xmlns:a16="http://schemas.microsoft.com/office/drawing/2014/main" id="{0B8BFE22-A6DD-4A55-8213-16C5AD4073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200" y="3737094"/>
            <a:ext cx="5429379" cy="180145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545FBF0-BD23-47BA-AE23-A9041F51CCD9}"/>
              </a:ext>
            </a:extLst>
          </p:cNvPr>
          <p:cNvSpPr txBox="1"/>
          <p:nvPr/>
        </p:nvSpPr>
        <p:spPr>
          <a:xfrm>
            <a:off x="900984" y="3109677"/>
            <a:ext cx="1740616" cy="402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200" dirty="0">
                <a:latin typeface="+mj-ea"/>
              </a:rPr>
              <a:t>Train Chart</a:t>
            </a:r>
            <a:endParaRPr lang="ko-KR" altLang="en-US" sz="1200" dirty="0">
              <a:latin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2E70C8B-0378-41AB-8FAC-941DC946C20B}"/>
              </a:ext>
            </a:extLst>
          </p:cNvPr>
          <p:cNvSpPr txBox="1"/>
          <p:nvPr/>
        </p:nvSpPr>
        <p:spPr>
          <a:xfrm>
            <a:off x="6823157" y="2491201"/>
            <a:ext cx="23123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일괄 예측 수행 결과</a:t>
            </a:r>
          </a:p>
        </p:txBody>
      </p:sp>
    </p:spTree>
    <p:extLst>
      <p:ext uri="{BB962C8B-B14F-4D97-AF65-F5344CB8AC3E}">
        <p14:creationId xmlns:p14="http://schemas.microsoft.com/office/powerpoint/2010/main" val="6212706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57C67BA-B213-4D78-9FE6-DF21AEB555D8}"/>
              </a:ext>
            </a:extLst>
          </p:cNvPr>
          <p:cNvSpPr txBox="1"/>
          <p:nvPr/>
        </p:nvSpPr>
        <p:spPr>
          <a:xfrm>
            <a:off x="377504" y="623270"/>
            <a:ext cx="31146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latin typeface="+mj-ea"/>
              </a:rPr>
              <a:t>loss_function</a:t>
            </a:r>
            <a:r>
              <a:rPr lang="en-US" altLang="ko-KR" sz="2400" dirty="0">
                <a:latin typeface="+mj-ea"/>
              </a:rPr>
              <a:t> : </a:t>
            </a:r>
            <a:r>
              <a:rPr lang="en-US" altLang="ko-KR" sz="2400" dirty="0" err="1">
                <a:latin typeface="+mj-ea"/>
              </a:rPr>
              <a:t>mse</a:t>
            </a:r>
            <a:endParaRPr lang="en-US" altLang="ko-KR" sz="2400" dirty="0">
              <a:latin typeface="+mj-ea"/>
            </a:endParaRPr>
          </a:p>
          <a:p>
            <a:r>
              <a:rPr lang="ko-KR" altLang="en-US" sz="2400" dirty="0">
                <a:latin typeface="+mj-ea"/>
                <a:ea typeface="+mj-ea"/>
              </a:rPr>
              <a:t>예측코드 </a:t>
            </a:r>
            <a:r>
              <a:rPr lang="en-US" altLang="ko-KR" sz="2400" dirty="0">
                <a:latin typeface="+mj-ea"/>
                <a:ea typeface="+mj-ea"/>
              </a:rPr>
              <a:t>– </a:t>
            </a:r>
            <a:r>
              <a:rPr lang="ko-KR" altLang="en-US" sz="2400" dirty="0" err="1">
                <a:latin typeface="+mj-ea"/>
              </a:rPr>
              <a:t>대곡교</a:t>
            </a:r>
            <a:endParaRPr lang="en-US" altLang="ko-KR" sz="2400" dirty="0">
              <a:latin typeface="+mj-ea"/>
              <a:ea typeface="+mj-ea"/>
            </a:endParaRPr>
          </a:p>
          <a:p>
            <a:endParaRPr lang="ko-KR" altLang="en-US" sz="2400" dirty="0">
              <a:latin typeface="+mj-ea"/>
              <a:ea typeface="+mj-ea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8D549AC2-D228-4DAC-AEBF-1C52C35A5F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3635" y="4329159"/>
            <a:ext cx="3083619" cy="1626489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A35C7F2A-AE1A-43A2-BA9C-03B52261CE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9208" y="4323059"/>
            <a:ext cx="3085187" cy="1637300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57B4136E-5B6A-44D9-8414-07FC99F60A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0924" y="1965958"/>
            <a:ext cx="3034611" cy="1595224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E731DA47-28B0-4229-AD6F-3D45E911244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1866" y="1977703"/>
            <a:ext cx="3043441" cy="1596744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C328495-279D-4A28-9137-6095C70DBBED}"/>
              </a:ext>
            </a:extLst>
          </p:cNvPr>
          <p:cNvSpPr txBox="1"/>
          <p:nvPr/>
        </p:nvSpPr>
        <p:spPr>
          <a:xfrm>
            <a:off x="6261235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testdata_220712</a:t>
            </a:r>
            <a:endParaRPr lang="ko-KR" altLang="en-US" sz="10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60BDD7F-93E6-4C96-AB4C-1017B962BD38}"/>
              </a:ext>
            </a:extLst>
          </p:cNvPr>
          <p:cNvSpPr txBox="1"/>
          <p:nvPr/>
        </p:nvSpPr>
        <p:spPr>
          <a:xfrm>
            <a:off x="9409377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/>
              <a:t>testdata_230711</a:t>
            </a:r>
            <a:endParaRPr lang="ko-KR" altLang="en-US" sz="10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9A17F0E-3F4E-4BC8-9352-459400869BB4}"/>
              </a:ext>
            </a:extLst>
          </p:cNvPr>
          <p:cNvSpPr txBox="1"/>
          <p:nvPr/>
        </p:nvSpPr>
        <p:spPr>
          <a:xfrm>
            <a:off x="6261235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testdata_250716</a:t>
            </a:r>
            <a:endParaRPr lang="ko-KR" altLang="en-US" sz="10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DA7DEC8-810B-489A-A088-A61E2990D654}"/>
              </a:ext>
            </a:extLst>
          </p:cNvPr>
          <p:cNvSpPr txBox="1"/>
          <p:nvPr/>
        </p:nvSpPr>
        <p:spPr>
          <a:xfrm>
            <a:off x="9417592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testdata_250814</a:t>
            </a:r>
            <a:endParaRPr lang="ko-KR" altLang="en-US" sz="1000" dirty="0"/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69EA7857-1F73-4990-9E5D-85A724A502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21884"/>
              </p:ext>
            </p:extLst>
          </p:nvPr>
        </p:nvGraphicFramePr>
        <p:xfrm>
          <a:off x="800836" y="1889775"/>
          <a:ext cx="4328033" cy="415036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</a:rPr>
                        <a:t>대곡교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testdata_220712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0.22127644426133286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0.10905206219080067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0.24274081362618333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0.3302303168862615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testdata_230711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0.7078427228575586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0.26590938043516943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0.3782702791690826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0.5156640189456401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testdata_250716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0.9009047332623752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0.04576081785628601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0.18652880761358479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0.21391778293607572</a:t>
                      </a:r>
                      <a:r>
                        <a:rPr lang="pt-BR" altLang="ko-KR" sz="1400" dirty="0"/>
                        <a:t> 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testdata_250814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0.6478002839292782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0.12224816816139523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0.28486741065979004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0.3496400551444231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621040"/>
                  </a:ext>
                </a:extLst>
              </a:tr>
            </a:tbl>
          </a:graphicData>
        </a:graphic>
      </p:graphicFrame>
      <p:sp>
        <p:nvSpPr>
          <p:cNvPr id="26" name="직사각형 25">
            <a:extLst>
              <a:ext uri="{FF2B5EF4-FFF2-40B4-BE49-F238E27FC236}">
                <a16:creationId xmlns:a16="http://schemas.microsoft.com/office/drawing/2014/main" id="{D79C1DB6-9B53-49D9-9015-6A3685EFAB96}"/>
              </a:ext>
            </a:extLst>
          </p:cNvPr>
          <p:cNvSpPr/>
          <p:nvPr/>
        </p:nvSpPr>
        <p:spPr>
          <a:xfrm>
            <a:off x="2241494" y="1889775"/>
            <a:ext cx="2887375" cy="41503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9955211-837A-41FE-A87C-6673F01BC78B}"/>
              </a:ext>
            </a:extLst>
          </p:cNvPr>
          <p:cNvSpPr txBox="1"/>
          <p:nvPr/>
        </p:nvSpPr>
        <p:spPr>
          <a:xfrm>
            <a:off x="33795" y="3792450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전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026254F-91C2-4049-8763-9FE54377F568}"/>
              </a:ext>
            </a:extLst>
          </p:cNvPr>
          <p:cNvSpPr txBox="1"/>
          <p:nvPr/>
        </p:nvSpPr>
        <p:spPr>
          <a:xfrm>
            <a:off x="33795" y="4260325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후</a:t>
            </a:r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2F600F76-E2A8-4213-A324-7F1D5E7CA1C5}"/>
              </a:ext>
            </a:extLst>
          </p:cNvPr>
          <p:cNvCxnSpPr/>
          <p:nvPr/>
        </p:nvCxnSpPr>
        <p:spPr>
          <a:xfrm flipH="1">
            <a:off x="0" y="4148667"/>
            <a:ext cx="80083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359103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377505" y="623270"/>
            <a:ext cx="28942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latin typeface="+mj-ea"/>
              </a:rPr>
              <a:t>loss_function</a:t>
            </a:r>
            <a:r>
              <a:rPr lang="en-US" altLang="ko-KR" sz="2400" dirty="0">
                <a:latin typeface="+mj-ea"/>
              </a:rPr>
              <a:t> : </a:t>
            </a:r>
            <a:r>
              <a:rPr lang="en-US" altLang="ko-KR" sz="2400" dirty="0" err="1">
                <a:latin typeface="+mj-ea"/>
              </a:rPr>
              <a:t>mae</a:t>
            </a:r>
            <a:r>
              <a:rPr lang="en-US" altLang="ko-KR" sz="2400" dirty="0">
                <a:latin typeface="+mj-ea"/>
              </a:rPr>
              <a:t> </a:t>
            </a:r>
            <a:r>
              <a:rPr lang="ko-KR" altLang="en-US" sz="2400" dirty="0">
                <a:latin typeface="+mj-ea"/>
                <a:ea typeface="+mj-ea"/>
              </a:rPr>
              <a:t>학습 코드 </a:t>
            </a:r>
            <a:r>
              <a:rPr lang="en-US" altLang="ko-KR" sz="2400" dirty="0">
                <a:latin typeface="+mj-ea"/>
                <a:ea typeface="+mj-ea"/>
              </a:rPr>
              <a:t>- </a:t>
            </a:r>
            <a:r>
              <a:rPr lang="ko-KR" altLang="en-US" sz="2400" dirty="0" err="1">
                <a:latin typeface="+mj-ea"/>
              </a:rPr>
              <a:t>대곡교</a:t>
            </a:r>
            <a:endParaRPr lang="ko-KR" altLang="en-US" sz="2400" dirty="0">
              <a:latin typeface="+mj-ea"/>
              <a:ea typeface="+mj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9DB7C3-A352-4434-832E-7169C75AB765}"/>
              </a:ext>
            </a:extLst>
          </p:cNvPr>
          <p:cNvSpPr txBox="1"/>
          <p:nvPr/>
        </p:nvSpPr>
        <p:spPr>
          <a:xfrm>
            <a:off x="1346199" y="1786468"/>
            <a:ext cx="8602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Train : Valid : Test = 7 : 2 : 1 </a:t>
            </a:r>
            <a:r>
              <a:rPr lang="ko-KR" altLang="en-US" dirty="0"/>
              <a:t>비율로 학습 진행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0B8BFE22-A6DD-4A55-8213-16C5AD4073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778" y="3743618"/>
            <a:ext cx="5316223" cy="178840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545FBF0-BD23-47BA-AE23-A9041F51CCD9}"/>
              </a:ext>
            </a:extLst>
          </p:cNvPr>
          <p:cNvSpPr txBox="1"/>
          <p:nvPr/>
        </p:nvSpPr>
        <p:spPr>
          <a:xfrm>
            <a:off x="900984" y="3109677"/>
            <a:ext cx="1740616" cy="402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200" dirty="0">
                <a:latin typeface="+mj-ea"/>
              </a:rPr>
              <a:t>Train Chart</a:t>
            </a:r>
            <a:endParaRPr lang="ko-KR" altLang="en-US" sz="1200" dirty="0">
              <a:latin typeface="+mj-ea"/>
            </a:endParaRP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D238A5F0-299E-4077-9F8D-068951B62B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7094581"/>
              </p:ext>
            </p:extLst>
          </p:nvPr>
        </p:nvGraphicFramePr>
        <p:xfrm>
          <a:off x="6951132" y="3017967"/>
          <a:ext cx="38360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734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Train</a:t>
                      </a:r>
                    </a:p>
                    <a:p>
                      <a:pPr latinLnBrk="1"/>
                      <a:r>
                        <a:rPr lang="en-US" altLang="ko-KR" sz="800" dirty="0"/>
                        <a:t>(5199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0.0955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0.0341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0.1955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0.948953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0.954236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7.418984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B7D669A1-8907-4568-A2E1-25292B6DBE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6121429"/>
              </p:ext>
            </p:extLst>
          </p:nvPr>
        </p:nvGraphicFramePr>
        <p:xfrm>
          <a:off x="6951132" y="4259181"/>
          <a:ext cx="38360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734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Valid</a:t>
                      </a:r>
                    </a:p>
                    <a:p>
                      <a:pPr latinLnBrk="1"/>
                      <a:r>
                        <a:rPr lang="en-US" altLang="ko-KR" sz="800" dirty="0"/>
                        <a:t>(1247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0.0907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0.0332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0.1312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0.954134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0.954752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2.454251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F056712E-EC2D-4F0E-9021-989704D3D2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0500453"/>
              </p:ext>
            </p:extLst>
          </p:nvPr>
        </p:nvGraphicFramePr>
        <p:xfrm>
          <a:off x="6951132" y="5500395"/>
          <a:ext cx="37852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226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Test</a:t>
                      </a:r>
                    </a:p>
                    <a:p>
                      <a:pPr latinLnBrk="1"/>
                      <a:r>
                        <a:rPr lang="en-US" altLang="ko-KR" sz="800" dirty="0"/>
                        <a:t>(693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0.0863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0.0313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0.1373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0.928315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0.932271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7.094862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49A9D48B-61C4-43DD-8BFB-A77057EC0466}"/>
              </a:ext>
            </a:extLst>
          </p:cNvPr>
          <p:cNvSpPr txBox="1"/>
          <p:nvPr/>
        </p:nvSpPr>
        <p:spPr>
          <a:xfrm>
            <a:off x="6823157" y="2491201"/>
            <a:ext cx="23123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일괄 예측 수행 결과</a:t>
            </a:r>
          </a:p>
        </p:txBody>
      </p:sp>
    </p:spTree>
    <p:extLst>
      <p:ext uri="{BB962C8B-B14F-4D97-AF65-F5344CB8AC3E}">
        <p14:creationId xmlns:p14="http://schemas.microsoft.com/office/powerpoint/2010/main" val="371127212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57C67BA-B213-4D78-9FE6-DF21AEB555D8}"/>
              </a:ext>
            </a:extLst>
          </p:cNvPr>
          <p:cNvSpPr txBox="1"/>
          <p:nvPr/>
        </p:nvSpPr>
        <p:spPr>
          <a:xfrm>
            <a:off x="377504" y="623270"/>
            <a:ext cx="31146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latin typeface="+mj-ea"/>
              </a:rPr>
              <a:t>loss_function</a:t>
            </a:r>
            <a:r>
              <a:rPr lang="en-US" altLang="ko-KR" sz="2400" dirty="0">
                <a:latin typeface="+mj-ea"/>
              </a:rPr>
              <a:t> : </a:t>
            </a:r>
            <a:r>
              <a:rPr lang="en-US" altLang="ko-KR" sz="2400" dirty="0" err="1">
                <a:latin typeface="+mj-ea"/>
              </a:rPr>
              <a:t>mae</a:t>
            </a:r>
            <a:r>
              <a:rPr lang="en-US" altLang="ko-KR" sz="2400" dirty="0">
                <a:latin typeface="+mj-ea"/>
              </a:rPr>
              <a:t> </a:t>
            </a:r>
            <a:r>
              <a:rPr lang="ko-KR" altLang="en-US" sz="2400" dirty="0">
                <a:latin typeface="+mj-ea"/>
                <a:ea typeface="+mj-ea"/>
              </a:rPr>
              <a:t>예측코드 </a:t>
            </a:r>
            <a:r>
              <a:rPr lang="en-US" altLang="ko-KR" sz="2400" dirty="0">
                <a:latin typeface="+mj-ea"/>
                <a:ea typeface="+mj-ea"/>
              </a:rPr>
              <a:t>– </a:t>
            </a:r>
            <a:r>
              <a:rPr lang="ko-KR" altLang="en-US" sz="2400" dirty="0" err="1">
                <a:latin typeface="+mj-ea"/>
              </a:rPr>
              <a:t>대곡교</a:t>
            </a:r>
            <a:endParaRPr lang="en-US" altLang="ko-KR" sz="2400" dirty="0">
              <a:latin typeface="+mj-ea"/>
              <a:ea typeface="+mj-ea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870DAE88-89D1-4365-87E1-FBFF0ABEAB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8777" y="4324448"/>
            <a:ext cx="3073335" cy="1635911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9CC2F532-FFD0-4A20-9C83-AA2931377F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5629" y="4323059"/>
            <a:ext cx="3072345" cy="1637300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5C7BFFB7-7BD2-469B-AE71-D07AFD0081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0924" y="1966235"/>
            <a:ext cx="3034611" cy="1594670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DA77A378-F2E4-42E5-BD72-C5E526D88D6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1866" y="1965127"/>
            <a:ext cx="3043441" cy="162189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DC35017A-3C61-479F-8AC5-D7A54D6D90EF}"/>
              </a:ext>
            </a:extLst>
          </p:cNvPr>
          <p:cNvSpPr txBox="1"/>
          <p:nvPr/>
        </p:nvSpPr>
        <p:spPr>
          <a:xfrm>
            <a:off x="6261235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testdata_220712</a:t>
            </a:r>
            <a:endParaRPr lang="ko-KR" altLang="en-US" sz="1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A78EA19-5EE8-42BC-9B46-AD86E553F169}"/>
              </a:ext>
            </a:extLst>
          </p:cNvPr>
          <p:cNvSpPr txBox="1"/>
          <p:nvPr/>
        </p:nvSpPr>
        <p:spPr>
          <a:xfrm>
            <a:off x="9409377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/>
              <a:t>testdata_230711</a:t>
            </a:r>
            <a:endParaRPr lang="ko-KR" altLang="en-US" sz="10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24D4BE5-0A42-4ABD-884B-59F1198F30D3}"/>
              </a:ext>
            </a:extLst>
          </p:cNvPr>
          <p:cNvSpPr txBox="1"/>
          <p:nvPr/>
        </p:nvSpPr>
        <p:spPr>
          <a:xfrm>
            <a:off x="6261235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testdata_250716</a:t>
            </a:r>
            <a:endParaRPr lang="ko-KR" altLang="en-US" sz="10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E7E0FF2-1285-41FA-B3DE-117D4D9A396D}"/>
              </a:ext>
            </a:extLst>
          </p:cNvPr>
          <p:cNvSpPr txBox="1"/>
          <p:nvPr/>
        </p:nvSpPr>
        <p:spPr>
          <a:xfrm>
            <a:off x="9417592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testdata_250814</a:t>
            </a:r>
            <a:endParaRPr lang="ko-KR" altLang="en-US" sz="1000" dirty="0"/>
          </a:p>
        </p:txBody>
      </p:sp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B46B42C9-AB75-43B5-BD7D-60B22669D4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3066777"/>
              </p:ext>
            </p:extLst>
          </p:nvPr>
        </p:nvGraphicFramePr>
        <p:xfrm>
          <a:off x="800836" y="1889775"/>
          <a:ext cx="4328033" cy="415036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</a:rPr>
                        <a:t>대곡교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testdata_220712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0.029128645059933733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0.13596034510316254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0.2899722901980082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0.3687280096536776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testdata_230711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0.7954479485971804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0.18617475418470464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0.33957783407635156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0.4314797262730946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testdata_250716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0.955878028785127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0.020374913501872607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0.10596535987324186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0.14274072124615528</a:t>
                      </a:r>
                      <a:r>
                        <a:rPr lang="pt-BR" altLang="ko-KR" sz="1400" dirty="0"/>
                        <a:t> 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testdata_250814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0.8412813204617778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0.05509109445916487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0.18988143099678878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0.23471492167982178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621040"/>
                  </a:ext>
                </a:extLst>
              </a:tr>
            </a:tbl>
          </a:graphicData>
        </a:graphic>
      </p:graphicFrame>
      <p:sp>
        <p:nvSpPr>
          <p:cNvPr id="30" name="직사각형 29">
            <a:extLst>
              <a:ext uri="{FF2B5EF4-FFF2-40B4-BE49-F238E27FC236}">
                <a16:creationId xmlns:a16="http://schemas.microsoft.com/office/drawing/2014/main" id="{2F348C4C-E040-4C81-A6D5-E9669A27A3E1}"/>
              </a:ext>
            </a:extLst>
          </p:cNvPr>
          <p:cNvSpPr/>
          <p:nvPr/>
        </p:nvSpPr>
        <p:spPr>
          <a:xfrm>
            <a:off x="2241494" y="1889775"/>
            <a:ext cx="2887375" cy="41503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1A39D47-5919-4F4C-9E3B-1262150F175A}"/>
              </a:ext>
            </a:extLst>
          </p:cNvPr>
          <p:cNvSpPr txBox="1"/>
          <p:nvPr/>
        </p:nvSpPr>
        <p:spPr>
          <a:xfrm>
            <a:off x="33795" y="3792450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전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841C743-64C1-4DFA-B2F0-92A98CE7980B}"/>
              </a:ext>
            </a:extLst>
          </p:cNvPr>
          <p:cNvSpPr txBox="1"/>
          <p:nvPr/>
        </p:nvSpPr>
        <p:spPr>
          <a:xfrm>
            <a:off x="33795" y="4260325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후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A3E91D27-765F-4E82-9835-419F6D1AFCD6}"/>
              </a:ext>
            </a:extLst>
          </p:cNvPr>
          <p:cNvCxnSpPr/>
          <p:nvPr/>
        </p:nvCxnSpPr>
        <p:spPr>
          <a:xfrm flipH="1">
            <a:off x="0" y="4148667"/>
            <a:ext cx="80083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178545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2308225" y="2551837"/>
            <a:ext cx="757555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b="1" dirty="0">
                <a:solidFill>
                  <a:schemeClr val="accent5"/>
                </a:solidFill>
                <a:latin typeface="+mj-ea"/>
                <a:ea typeface="+mj-ea"/>
              </a:rPr>
              <a:t>예측에 사용할 데이터 학습에서 제외 </a:t>
            </a:r>
            <a:r>
              <a:rPr lang="en-US" altLang="ko-KR" sz="3600" b="1" dirty="0">
                <a:solidFill>
                  <a:schemeClr val="accent5"/>
                </a:solidFill>
                <a:latin typeface="+mj-ea"/>
                <a:ea typeface="+mj-ea"/>
              </a:rPr>
              <a:t>3 </a:t>
            </a:r>
            <a:r>
              <a:rPr lang="en-US" altLang="ko-KR" sz="3600" b="1" dirty="0">
                <a:solidFill>
                  <a:schemeClr val="accent5"/>
                </a:solidFill>
                <a:latin typeface="+mj-ea"/>
              </a:rPr>
              <a:t>, learning rate </a:t>
            </a:r>
            <a:r>
              <a:rPr lang="ko-KR" altLang="en-US" sz="3600" b="1" dirty="0">
                <a:solidFill>
                  <a:schemeClr val="accent5"/>
                </a:solidFill>
                <a:latin typeface="+mj-ea"/>
              </a:rPr>
              <a:t>변경</a:t>
            </a:r>
            <a:r>
              <a:rPr lang="en-US" altLang="ko-KR" sz="3600" b="1" dirty="0">
                <a:solidFill>
                  <a:schemeClr val="accent5"/>
                </a:solidFill>
                <a:latin typeface="+mj-ea"/>
              </a:rPr>
              <a:t>,</a:t>
            </a:r>
          </a:p>
          <a:p>
            <a:pPr algn="ctr"/>
            <a:r>
              <a:rPr lang="ko-KR" altLang="en-US" sz="3600" b="1" dirty="0">
                <a:solidFill>
                  <a:schemeClr val="accent5"/>
                </a:solidFill>
                <a:latin typeface="+mj-ea"/>
                <a:ea typeface="+mj-ea"/>
              </a:rPr>
              <a:t>학습데이터 순서 변경</a:t>
            </a:r>
            <a:endParaRPr lang="en-US" altLang="ko-KR" sz="3600" b="1" dirty="0">
              <a:solidFill>
                <a:schemeClr val="accent5"/>
              </a:solidFill>
              <a:latin typeface="+mj-ea"/>
              <a:ea typeface="+mj-ea"/>
            </a:endParaRPr>
          </a:p>
          <a:p>
            <a:pPr algn="ctr"/>
            <a:r>
              <a:rPr lang="en-US" altLang="ko-KR" sz="3600" b="1" dirty="0">
                <a:solidFill>
                  <a:schemeClr val="accent5"/>
                </a:solidFill>
                <a:latin typeface="+mj-ea"/>
                <a:ea typeface="+mj-ea"/>
              </a:rPr>
              <a:t>( </a:t>
            </a:r>
            <a:r>
              <a:rPr lang="ko-KR" altLang="en-US" sz="3600" b="1" dirty="0">
                <a:solidFill>
                  <a:schemeClr val="accent5"/>
                </a:solidFill>
                <a:latin typeface="+mj-ea"/>
                <a:ea typeface="+mj-ea"/>
              </a:rPr>
              <a:t>증설 전 후 비교 </a:t>
            </a:r>
            <a:r>
              <a:rPr lang="en-US" altLang="ko-KR" sz="3600" b="1" dirty="0">
                <a:solidFill>
                  <a:schemeClr val="accent5"/>
                </a:solidFill>
                <a:latin typeface="+mj-ea"/>
                <a:ea typeface="+mj-ea"/>
              </a:rPr>
              <a:t>)</a:t>
            </a:r>
            <a:endParaRPr lang="en-US" altLang="ko-KR" sz="3600" b="1" dirty="0">
              <a:solidFill>
                <a:schemeClr val="accent5"/>
              </a:solidFill>
              <a:latin typeface="+mj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F5B805-F240-47A3-9716-5E255C3C26B3}"/>
              </a:ext>
            </a:extLst>
          </p:cNvPr>
          <p:cNvSpPr txBox="1"/>
          <p:nvPr/>
        </p:nvSpPr>
        <p:spPr>
          <a:xfrm>
            <a:off x="9270999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/dg)_(</a:t>
            </a:r>
            <a:r>
              <a:rPr lang="en-US" altLang="ko-KR" sz="1050" dirty="0" err="1"/>
              <a:t>mse</a:t>
            </a:r>
            <a:r>
              <a:rPr lang="en-US" altLang="ko-KR" sz="1050" dirty="0"/>
              <a:t>/</a:t>
            </a:r>
            <a:r>
              <a:rPr lang="en-US" altLang="ko-KR" sz="1050" dirty="0" err="1"/>
              <a:t>mae</a:t>
            </a:r>
            <a:r>
              <a:rPr lang="en-US" altLang="ko-KR" sz="1050" dirty="0"/>
              <a:t>)_2</a:t>
            </a:r>
            <a:endParaRPr lang="ko-KR" altLang="en-US" sz="1050" dirty="0">
              <a:latin typeface="+mj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B51ABC-10EA-46B6-819E-BADFC725B3FF}"/>
              </a:ext>
            </a:extLst>
          </p:cNvPr>
          <p:cNvSpPr txBox="1"/>
          <p:nvPr/>
        </p:nvSpPr>
        <p:spPr>
          <a:xfrm>
            <a:off x="9270999" y="6013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/dg)_(</a:t>
            </a:r>
            <a:r>
              <a:rPr lang="en-US" altLang="ko-KR" sz="1050" dirty="0" err="1"/>
              <a:t>mse</a:t>
            </a:r>
            <a:r>
              <a:rPr lang="en-US" altLang="ko-KR" sz="1050" dirty="0"/>
              <a:t>/</a:t>
            </a:r>
            <a:r>
              <a:rPr lang="en-US" altLang="ko-KR" sz="1050" dirty="0" err="1"/>
              <a:t>mae</a:t>
            </a:r>
            <a:r>
              <a:rPr lang="en-US" altLang="ko-KR" sz="1050" dirty="0"/>
              <a:t>)_3</a:t>
            </a:r>
            <a:endParaRPr lang="ko-KR" altLang="en-US" sz="1050" dirty="0">
              <a:latin typeface="+mj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C9F516-1147-448A-9E35-16FD0841306A}"/>
              </a:ext>
            </a:extLst>
          </p:cNvPr>
          <p:cNvSpPr txBox="1"/>
          <p:nvPr/>
        </p:nvSpPr>
        <p:spPr>
          <a:xfrm>
            <a:off x="9270999" y="10331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/dg)_(</a:t>
            </a:r>
            <a:r>
              <a:rPr lang="en-US" altLang="ko-KR" sz="1050" dirty="0" err="1"/>
              <a:t>mse</a:t>
            </a:r>
            <a:r>
              <a:rPr lang="en-US" altLang="ko-KR" sz="1050" dirty="0"/>
              <a:t>/</a:t>
            </a:r>
            <a:r>
              <a:rPr lang="en-US" altLang="ko-KR" sz="1050" dirty="0" err="1"/>
              <a:t>mae</a:t>
            </a:r>
            <a:r>
              <a:rPr lang="en-US" altLang="ko-KR" sz="1050" dirty="0"/>
              <a:t>)_4</a:t>
            </a:r>
            <a:endParaRPr lang="ko-KR" altLang="en-US" sz="1050" dirty="0">
              <a:latin typeface="+mj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01DC66-4EC1-4689-96D9-DDCE6AB287A4}"/>
              </a:ext>
            </a:extLst>
          </p:cNvPr>
          <p:cNvSpPr txBox="1"/>
          <p:nvPr/>
        </p:nvSpPr>
        <p:spPr>
          <a:xfrm>
            <a:off x="9270999" y="14649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/dg)_(</a:t>
            </a:r>
            <a:r>
              <a:rPr lang="en-US" altLang="ko-KR" sz="1050" dirty="0" err="1"/>
              <a:t>mse</a:t>
            </a:r>
            <a:r>
              <a:rPr lang="en-US" altLang="ko-KR" sz="1050" dirty="0"/>
              <a:t>/</a:t>
            </a:r>
            <a:r>
              <a:rPr lang="en-US" altLang="ko-KR" sz="1050" dirty="0" err="1"/>
              <a:t>mae</a:t>
            </a:r>
            <a:r>
              <a:rPr lang="en-US" altLang="ko-KR" sz="1050" dirty="0"/>
              <a:t>)_5</a:t>
            </a:r>
            <a:endParaRPr lang="ko-KR" altLang="en-US" sz="1050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01707837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57C67BA-B213-4D78-9FE6-DF21AEB555D8}"/>
              </a:ext>
            </a:extLst>
          </p:cNvPr>
          <p:cNvSpPr txBox="1"/>
          <p:nvPr/>
        </p:nvSpPr>
        <p:spPr>
          <a:xfrm>
            <a:off x="377504" y="623270"/>
            <a:ext cx="33816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+mj-ea"/>
              </a:rPr>
              <a:t>MIET</a:t>
            </a:r>
            <a:r>
              <a:rPr lang="ko-KR" altLang="en-US" sz="2400" b="1" dirty="0">
                <a:latin typeface="+mj-ea"/>
              </a:rPr>
              <a:t> </a:t>
            </a:r>
            <a:r>
              <a:rPr lang="ko-KR" altLang="en-US" sz="2400" dirty="0">
                <a:latin typeface="+mj-ea"/>
                <a:ea typeface="+mj-ea"/>
              </a:rPr>
              <a:t>학습 데이터 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3EEA5D01-22F3-4984-8E02-DD8FCAC01A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7853846"/>
              </p:ext>
            </p:extLst>
          </p:nvPr>
        </p:nvGraphicFramePr>
        <p:xfrm>
          <a:off x="1142998" y="2186093"/>
          <a:ext cx="9692641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0560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6750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10814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4048918556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522523455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2162001719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38635649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4099286348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21081817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time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성남북초교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광주시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남한산초교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대장동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구미초교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한국학중앙연구원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2014-07-24 15:30:00</a:t>
                      </a:r>
                    </a:p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1.12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5.11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2.17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40.56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0F34946-E3D3-42D3-9474-97847E9700A7}"/>
              </a:ext>
            </a:extLst>
          </p:cNvPr>
          <p:cNvSpPr txBox="1"/>
          <p:nvPr/>
        </p:nvSpPr>
        <p:spPr>
          <a:xfrm>
            <a:off x="1066797" y="1557867"/>
            <a:ext cx="8602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홍수통제소 </a:t>
            </a:r>
            <a:r>
              <a:rPr lang="en-US" altLang="ko-KR" dirty="0"/>
              <a:t>API </a:t>
            </a:r>
            <a:r>
              <a:rPr lang="ko-KR" altLang="en-US" dirty="0"/>
              <a:t>호출 → </a:t>
            </a:r>
            <a:r>
              <a:rPr lang="en-US" altLang="ko-KR" dirty="0"/>
              <a:t>MIET</a:t>
            </a:r>
            <a:r>
              <a:rPr lang="ko-KR" altLang="en-US" dirty="0"/>
              <a:t> 활용 강우 이벤트 추출 → 관심 강우 포함 파일 추출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FCAFFAB-E3EC-4ABC-B056-47EE38272BC3}"/>
              </a:ext>
            </a:extLst>
          </p:cNvPr>
          <p:cNvSpPr txBox="1"/>
          <p:nvPr/>
        </p:nvSpPr>
        <p:spPr>
          <a:xfrm>
            <a:off x="1066797" y="3584415"/>
            <a:ext cx="80179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+ </a:t>
            </a:r>
            <a:r>
              <a:rPr lang="ko-KR" altLang="en-US" dirty="0"/>
              <a:t>기존 학습 데이터 통합 후</a:t>
            </a:r>
            <a:r>
              <a:rPr lang="en-US" altLang="ko-KR" dirty="0"/>
              <a:t> </a:t>
            </a:r>
            <a:r>
              <a:rPr lang="ko-KR" altLang="en-US" dirty="0"/>
              <a:t>중복 이벤트 제거</a:t>
            </a: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C74A5352-C7B7-4275-9E0B-4BA1B67E88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9380374"/>
              </p:ext>
            </p:extLst>
          </p:nvPr>
        </p:nvGraphicFramePr>
        <p:xfrm>
          <a:off x="1142998" y="4194202"/>
          <a:ext cx="8012114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763588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6750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10814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4048918556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2162001719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4099286348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21081817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time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성남북초교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광주시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남한산초교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대장동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구미초교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한국학중앙연구원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KoPub돋움체 Medium"/>
                          <a:ea typeface="+mn-ea"/>
                          <a:cs typeface="+mn-cs"/>
                        </a:rPr>
                        <a:t>2014-08-20 10:50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0.96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1.84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09DBF372-14B3-481F-A0BC-69E398337249}"/>
              </a:ext>
            </a:extLst>
          </p:cNvPr>
          <p:cNvSpPr txBox="1"/>
          <p:nvPr/>
        </p:nvSpPr>
        <p:spPr>
          <a:xfrm>
            <a:off x="296331" y="5545669"/>
            <a:ext cx="116162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학습 </a:t>
            </a:r>
            <a:r>
              <a:rPr lang="en-US" altLang="ko-KR" dirty="0"/>
              <a:t>: </a:t>
            </a:r>
            <a:r>
              <a:rPr lang="ko-KR" altLang="en-US" dirty="0"/>
              <a:t>총 </a:t>
            </a:r>
            <a:r>
              <a:rPr lang="en-US" altLang="ko-KR" dirty="0"/>
              <a:t>67</a:t>
            </a:r>
            <a:r>
              <a:rPr lang="ko-KR" altLang="en-US" dirty="0"/>
              <a:t>개 中 </a:t>
            </a:r>
            <a:r>
              <a:rPr lang="en-US" altLang="ko-KR" dirty="0"/>
              <a:t>64</a:t>
            </a:r>
            <a:r>
              <a:rPr lang="ko-KR" altLang="en-US" dirty="0"/>
              <a:t>개 데이터 사용 </a:t>
            </a:r>
            <a:r>
              <a:rPr lang="en-US" altLang="ko-KR" dirty="0"/>
              <a:t>( 2014 </a:t>
            </a:r>
            <a:r>
              <a:rPr lang="ko-KR" altLang="en-US" dirty="0"/>
              <a:t>년 강우이벤트를 </a:t>
            </a:r>
            <a:r>
              <a:rPr lang="en-US" altLang="ko-KR" dirty="0"/>
              <a:t>Train</a:t>
            </a:r>
            <a:r>
              <a:rPr lang="ko-KR" altLang="en-US" dirty="0"/>
              <a:t>에서 </a:t>
            </a:r>
            <a:r>
              <a:rPr lang="en-US" altLang="ko-KR" dirty="0"/>
              <a:t>Test</a:t>
            </a:r>
            <a:r>
              <a:rPr lang="ko-KR" altLang="en-US" dirty="0"/>
              <a:t>로 이동 </a:t>
            </a:r>
            <a:r>
              <a:rPr lang="en-US" altLang="ko-KR" dirty="0"/>
              <a:t>) </a:t>
            </a:r>
          </a:p>
          <a:p>
            <a:br>
              <a:rPr lang="en-US" altLang="ko-KR" dirty="0"/>
            </a:br>
            <a:r>
              <a:rPr lang="ko-KR" altLang="en-US" dirty="0"/>
              <a:t>검증 </a:t>
            </a:r>
            <a:r>
              <a:rPr lang="en-US" altLang="ko-KR" dirty="0"/>
              <a:t>: </a:t>
            </a:r>
            <a:r>
              <a:rPr lang="ko-KR" altLang="en-US" dirty="0"/>
              <a:t>학습 데이터에서 제외한 </a:t>
            </a:r>
            <a:r>
              <a:rPr lang="en-US" altLang="ko-KR" dirty="0"/>
              <a:t>2</a:t>
            </a:r>
            <a:r>
              <a:rPr lang="ko-KR" altLang="en-US" dirty="0"/>
              <a:t>개 데이터 </a:t>
            </a:r>
            <a:r>
              <a:rPr lang="en-US" altLang="ko-KR" dirty="0"/>
              <a:t>(220713, 230711) + </a:t>
            </a:r>
            <a:r>
              <a:rPr lang="ko-KR" altLang="en-US" dirty="0"/>
              <a:t>학습에서 검증에 사용된 데이터 </a:t>
            </a:r>
            <a:r>
              <a:rPr lang="en-US" altLang="ko-KR" dirty="0"/>
              <a:t>(250716, 250814) </a:t>
            </a:r>
            <a:r>
              <a:rPr lang="ko-KR" altLang="en-US" dirty="0"/>
              <a:t>사용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D00494-A5E8-4259-BF23-B27A56DB11CF}"/>
              </a:ext>
            </a:extLst>
          </p:cNvPr>
          <p:cNvSpPr txBox="1"/>
          <p:nvPr/>
        </p:nvSpPr>
        <p:spPr>
          <a:xfrm>
            <a:off x="4461930" y="6468999"/>
            <a:ext cx="122766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22</a:t>
            </a:r>
            <a:r>
              <a:rPr lang="ko-KR" altLang="en-US" sz="900" dirty="0"/>
              <a:t>년 </a:t>
            </a:r>
            <a:r>
              <a:rPr lang="en-US" altLang="ko-KR" sz="900" dirty="0"/>
              <a:t>7</a:t>
            </a:r>
            <a:r>
              <a:rPr lang="ko-KR" altLang="en-US" sz="900" dirty="0"/>
              <a:t>월 </a:t>
            </a:r>
            <a:r>
              <a:rPr lang="en-US" altLang="ko-KR" sz="900" dirty="0"/>
              <a:t>12 +13  </a:t>
            </a:r>
            <a:r>
              <a:rPr lang="ko-KR" altLang="en-US" sz="900" dirty="0"/>
              <a:t>자료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C2D5DEF-2449-43F7-80CA-C9565D56B9C1}"/>
              </a:ext>
            </a:extLst>
          </p:cNvPr>
          <p:cNvSpPr txBox="1"/>
          <p:nvPr/>
        </p:nvSpPr>
        <p:spPr>
          <a:xfrm>
            <a:off x="8432803" y="279650"/>
            <a:ext cx="3759198" cy="10152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50" b="1" dirty="0"/>
              <a:t>관심 수위 </a:t>
            </a:r>
            <a:r>
              <a:rPr lang="en-US" altLang="ko-KR" sz="1050" b="1" dirty="0"/>
              <a:t>: </a:t>
            </a:r>
            <a:r>
              <a:rPr lang="ko-KR" altLang="en-US" sz="1050" b="1" dirty="0" err="1"/>
              <a:t>궁내교</a:t>
            </a:r>
            <a:r>
              <a:rPr lang="ko-KR" altLang="en-US" sz="1050" b="1" dirty="0"/>
              <a:t> </a:t>
            </a:r>
            <a:r>
              <a:rPr lang="en-US" altLang="ko-KR" sz="1050" b="1" dirty="0"/>
              <a:t>( 2 )  </a:t>
            </a:r>
            <a:r>
              <a:rPr lang="ko-KR" altLang="en-US" sz="1050" b="1" dirty="0" err="1"/>
              <a:t>대곡교</a:t>
            </a:r>
            <a:r>
              <a:rPr lang="ko-KR" altLang="en-US" sz="1050" b="1" dirty="0"/>
              <a:t> </a:t>
            </a:r>
            <a:r>
              <a:rPr lang="en-US" altLang="ko-KR" sz="1050" b="1" dirty="0"/>
              <a:t>( 3.8 )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0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smoothing : </a:t>
            </a:r>
            <a:r>
              <a:rPr lang="ko-KR" altLang="en-US" sz="105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궁내교</a:t>
            </a:r>
            <a:r>
              <a:rPr lang="ko-KR" altLang="en-US" sz="10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ko-KR" sz="10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( </a:t>
            </a:r>
            <a:r>
              <a:rPr lang="en-US" altLang="ko-KR" sz="105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</a:rPr>
              <a:t>1 ) </a:t>
            </a:r>
            <a:r>
              <a:rPr lang="ko-KR" altLang="en-US" sz="105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</a:rPr>
              <a:t>대곡교</a:t>
            </a:r>
            <a:r>
              <a:rPr lang="ko-KR" altLang="en-US" sz="105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</a:rPr>
              <a:t> </a:t>
            </a:r>
            <a:r>
              <a:rPr lang="en-US" altLang="ko-KR" sz="105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</a:rPr>
              <a:t>( 2 )</a:t>
            </a:r>
            <a:endParaRPr lang="en-US" altLang="ko-KR" sz="1050" b="1" dirty="0"/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050" b="1" dirty="0" err="1">
                <a:latin typeface="+mj-ea"/>
              </a:rPr>
              <a:t>learning_rate</a:t>
            </a:r>
            <a:r>
              <a:rPr lang="en-US" altLang="ko-KR" sz="1050" b="1" dirty="0">
                <a:latin typeface="+mj-ea"/>
              </a:rPr>
              <a:t> = 0.0005 , 0.0001 , 0.0003 , 0.00005</a:t>
            </a:r>
            <a:endParaRPr lang="ko-KR" altLang="en-US" sz="1050" dirty="0"/>
          </a:p>
        </p:txBody>
      </p:sp>
    </p:spTree>
    <p:extLst>
      <p:ext uri="{BB962C8B-B14F-4D97-AF65-F5344CB8AC3E}">
        <p14:creationId xmlns:p14="http://schemas.microsoft.com/office/powerpoint/2010/main" val="82211009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3526716" y="3105834"/>
            <a:ext cx="51385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 err="1">
                <a:solidFill>
                  <a:schemeClr val="accent6"/>
                </a:solidFill>
                <a:latin typeface="+mj-ea"/>
              </a:rPr>
              <a:t>learning_rate</a:t>
            </a:r>
            <a:r>
              <a:rPr lang="en-US" altLang="ko-KR" sz="3600" b="1" dirty="0">
                <a:solidFill>
                  <a:schemeClr val="accent6"/>
                </a:solidFill>
                <a:latin typeface="+mj-ea"/>
              </a:rPr>
              <a:t> =0.0005</a:t>
            </a:r>
            <a:endParaRPr lang="ko-KR" altLang="en-US" sz="3600" dirty="0">
              <a:solidFill>
                <a:schemeClr val="accent6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ED5B79-B543-4038-9142-5702889041B3}"/>
              </a:ext>
            </a:extLst>
          </p:cNvPr>
          <p:cNvSpPr txBox="1"/>
          <p:nvPr/>
        </p:nvSpPr>
        <p:spPr>
          <a:xfrm>
            <a:off x="9474199" y="279650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/dg)_(</a:t>
            </a:r>
            <a:r>
              <a:rPr lang="en-US" altLang="ko-KR" sz="1050" dirty="0" err="1"/>
              <a:t>mse</a:t>
            </a:r>
            <a:r>
              <a:rPr lang="en-US" altLang="ko-KR" sz="1050" dirty="0"/>
              <a:t>/</a:t>
            </a:r>
            <a:r>
              <a:rPr lang="en-US" altLang="ko-KR" sz="1050" dirty="0" err="1"/>
              <a:t>mae</a:t>
            </a:r>
            <a:r>
              <a:rPr lang="en-US" altLang="ko-KR" sz="1050" dirty="0"/>
              <a:t>)2</a:t>
            </a:r>
            <a:r>
              <a:rPr lang="en-US" altLang="ko-KR" sz="1050" dirty="0">
                <a:latin typeface="+mj-ea"/>
              </a:rPr>
              <a:t> </a:t>
            </a:r>
            <a:endParaRPr lang="ko-KR" altLang="en-US" sz="1050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49982859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3526716" y="3105834"/>
            <a:ext cx="51385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 err="1">
                <a:solidFill>
                  <a:schemeClr val="accent6"/>
                </a:solidFill>
                <a:latin typeface="+mj-ea"/>
              </a:rPr>
              <a:t>learning_rate</a:t>
            </a:r>
            <a:r>
              <a:rPr lang="en-US" altLang="ko-KR" sz="3600" b="1" dirty="0">
                <a:solidFill>
                  <a:schemeClr val="accent6"/>
                </a:solidFill>
                <a:latin typeface="+mj-ea"/>
              </a:rPr>
              <a:t> =0.0001</a:t>
            </a:r>
            <a:endParaRPr lang="ko-KR" altLang="en-US" sz="3600" dirty="0">
              <a:solidFill>
                <a:schemeClr val="accent6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6FFBD9-A7E5-4B81-851D-7955BE741E35}"/>
              </a:ext>
            </a:extLst>
          </p:cNvPr>
          <p:cNvSpPr txBox="1"/>
          <p:nvPr/>
        </p:nvSpPr>
        <p:spPr>
          <a:xfrm>
            <a:off x="9270999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/dg)_(</a:t>
            </a:r>
            <a:r>
              <a:rPr lang="en-US" altLang="ko-KR" sz="1050" dirty="0" err="1"/>
              <a:t>mse</a:t>
            </a:r>
            <a:r>
              <a:rPr lang="en-US" altLang="ko-KR" sz="1050" dirty="0"/>
              <a:t>/</a:t>
            </a:r>
            <a:r>
              <a:rPr lang="en-US" altLang="ko-KR" sz="1050" dirty="0" err="1"/>
              <a:t>mae</a:t>
            </a:r>
            <a:r>
              <a:rPr lang="en-US" altLang="ko-KR" sz="1050" dirty="0"/>
              <a:t>)_3</a:t>
            </a:r>
            <a:endParaRPr lang="ko-KR" altLang="en-US" sz="1050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5289752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4648899" y="2828835"/>
            <a:ext cx="28942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b="1" dirty="0" err="1">
                <a:latin typeface="+mj-ea"/>
                <a:ea typeface="+mj-ea"/>
              </a:rPr>
              <a:t>궁내교</a:t>
            </a:r>
            <a:endParaRPr lang="en-US" altLang="ko-KR" sz="3600" b="1" dirty="0">
              <a:latin typeface="+mj-ea"/>
              <a:ea typeface="+mj-ea"/>
            </a:endParaRPr>
          </a:p>
          <a:p>
            <a:pPr algn="ctr"/>
            <a:r>
              <a:rPr lang="en-US" altLang="ko-KR" sz="3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smoothing = </a:t>
            </a:r>
            <a:r>
              <a:rPr lang="en-US" altLang="ko-KR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</a:rPr>
              <a:t>1</a:t>
            </a:r>
            <a:endParaRPr lang="ko-KR" altLang="en-US" sz="3600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96286802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377505" y="623270"/>
            <a:ext cx="28942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latin typeface="+mj-ea"/>
              </a:rPr>
              <a:t>loss_function</a:t>
            </a:r>
            <a:r>
              <a:rPr lang="en-US" altLang="ko-KR" sz="2400" dirty="0">
                <a:latin typeface="+mj-ea"/>
              </a:rPr>
              <a:t> : </a:t>
            </a:r>
            <a:r>
              <a:rPr lang="en-US" altLang="ko-KR" sz="2400" dirty="0" err="1">
                <a:latin typeface="+mj-ea"/>
              </a:rPr>
              <a:t>mse</a:t>
            </a:r>
            <a:r>
              <a:rPr lang="en-US" altLang="ko-KR" sz="2400" dirty="0">
                <a:latin typeface="+mj-ea"/>
              </a:rPr>
              <a:t> </a:t>
            </a:r>
            <a:r>
              <a:rPr lang="ko-KR" altLang="en-US" sz="2400" dirty="0">
                <a:latin typeface="+mj-ea"/>
                <a:ea typeface="+mj-ea"/>
              </a:rPr>
              <a:t>학습 코드 </a:t>
            </a:r>
            <a:r>
              <a:rPr lang="en-US" altLang="ko-KR" sz="2400" dirty="0">
                <a:latin typeface="+mj-ea"/>
                <a:ea typeface="+mj-ea"/>
              </a:rPr>
              <a:t>- </a:t>
            </a:r>
            <a:r>
              <a:rPr lang="ko-KR" altLang="en-US" sz="2400" dirty="0" err="1">
                <a:latin typeface="+mj-ea"/>
                <a:ea typeface="+mj-ea"/>
              </a:rPr>
              <a:t>궁내교</a:t>
            </a:r>
            <a:endParaRPr lang="ko-KR" altLang="en-US" sz="2400" dirty="0">
              <a:latin typeface="+mj-ea"/>
              <a:ea typeface="+mj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9DB7C3-A352-4434-832E-7169C75AB765}"/>
              </a:ext>
            </a:extLst>
          </p:cNvPr>
          <p:cNvSpPr txBox="1"/>
          <p:nvPr/>
        </p:nvSpPr>
        <p:spPr>
          <a:xfrm>
            <a:off x="1346199" y="1786468"/>
            <a:ext cx="8602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Train : Valid : Test = 5 : 1 : 1 </a:t>
            </a:r>
            <a:r>
              <a:rPr lang="ko-KR" altLang="en-US" dirty="0"/>
              <a:t>비율로 학습 진행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2F37C692-0D2E-44D5-8AE7-B05779A9F167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951132" y="3017967"/>
          <a:ext cx="38360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734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Train</a:t>
                      </a:r>
                    </a:p>
                    <a:p>
                      <a:pPr latinLnBrk="1"/>
                      <a:r>
                        <a:rPr lang="en-US" altLang="ko-KR" sz="800" dirty="0"/>
                        <a:t>(5112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0.0406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0.0264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0.0632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0.988320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0.988722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8.370593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B08A13AB-CF40-41FC-85F4-AA63438CD538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951132" y="4259181"/>
          <a:ext cx="38360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734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Valid</a:t>
                      </a:r>
                    </a:p>
                    <a:p>
                      <a:pPr latinLnBrk="1"/>
                      <a:r>
                        <a:rPr lang="en-US" altLang="ko-KR" sz="800" dirty="0"/>
                        <a:t>(1118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0.0738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0.0590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0.0997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0.915736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0.924870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6.234111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BF3AC006-682A-4D96-B009-F19CB094C06A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951132" y="5500395"/>
          <a:ext cx="37344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226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Test</a:t>
                      </a:r>
                    </a:p>
                    <a:p>
                      <a:pPr latinLnBrk="1"/>
                      <a:r>
                        <a:rPr lang="en-US" altLang="ko-KR" sz="800" dirty="0"/>
                        <a:t>(909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0.0566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0.0392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0.0930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0.930270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0.932822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0.277249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pic>
        <p:nvPicPr>
          <p:cNvPr id="13" name="그림 12">
            <a:extLst>
              <a:ext uri="{FF2B5EF4-FFF2-40B4-BE49-F238E27FC236}">
                <a16:creationId xmlns:a16="http://schemas.microsoft.com/office/drawing/2014/main" id="{0B8BFE22-A6DD-4A55-8213-16C5AD4073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312" y="3740036"/>
            <a:ext cx="5409155" cy="179556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545FBF0-BD23-47BA-AE23-A9041F51CCD9}"/>
              </a:ext>
            </a:extLst>
          </p:cNvPr>
          <p:cNvSpPr txBox="1"/>
          <p:nvPr/>
        </p:nvSpPr>
        <p:spPr>
          <a:xfrm>
            <a:off x="900984" y="3109677"/>
            <a:ext cx="1740616" cy="402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200" dirty="0">
                <a:latin typeface="+mj-ea"/>
              </a:rPr>
              <a:t>Train Chart</a:t>
            </a:r>
            <a:endParaRPr lang="ko-KR" altLang="en-US" sz="1200" dirty="0">
              <a:latin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2E70C8B-0378-41AB-8FAC-941DC946C20B}"/>
              </a:ext>
            </a:extLst>
          </p:cNvPr>
          <p:cNvSpPr txBox="1"/>
          <p:nvPr/>
        </p:nvSpPr>
        <p:spPr>
          <a:xfrm>
            <a:off x="6823157" y="2491201"/>
            <a:ext cx="23123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일괄 예측 수행 결과</a:t>
            </a:r>
          </a:p>
        </p:txBody>
      </p:sp>
    </p:spTree>
    <p:extLst>
      <p:ext uri="{BB962C8B-B14F-4D97-AF65-F5344CB8AC3E}">
        <p14:creationId xmlns:p14="http://schemas.microsoft.com/office/powerpoint/2010/main" val="209610152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11C99160-6B77-45EA-8F2B-8F764820117B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800836" y="1889775"/>
          <a:ext cx="4328033" cy="415036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</a:rPr>
                        <a:t>궁내교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testdata_220712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-0.8660661448633538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0.07404250970720465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0.22651568240589567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0.2721075333525418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testdata_230711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0.9173872788953554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0.023118424191847026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0.11795920928319292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0.1520474405961739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testdata_250716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0.7104807689773868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0.029045212632257497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0.12238042977121137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0.17042656081801774</a:t>
                      </a:r>
                      <a:r>
                        <a:rPr lang="pt-BR" altLang="ko-KR" sz="1400" dirty="0"/>
                        <a:t> 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testdata_250814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0.85113363889279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0.010495388596310606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0.08006758908430733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0.10244700384252634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621040"/>
                  </a:ext>
                </a:extLst>
              </a:tr>
            </a:tbl>
          </a:graphicData>
        </a:graphic>
      </p:graphicFrame>
      <p:sp>
        <p:nvSpPr>
          <p:cNvPr id="27" name="직사각형 26">
            <a:extLst>
              <a:ext uri="{FF2B5EF4-FFF2-40B4-BE49-F238E27FC236}">
                <a16:creationId xmlns:a16="http://schemas.microsoft.com/office/drawing/2014/main" id="{4EF33900-A573-48EF-8975-0A2C5750C40D}"/>
              </a:ext>
            </a:extLst>
          </p:cNvPr>
          <p:cNvSpPr/>
          <p:nvPr/>
        </p:nvSpPr>
        <p:spPr>
          <a:xfrm>
            <a:off x="2241494" y="1889775"/>
            <a:ext cx="2887375" cy="41503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1A56FFC-2A2A-4585-A698-824F987F091A}"/>
              </a:ext>
            </a:extLst>
          </p:cNvPr>
          <p:cNvSpPr txBox="1"/>
          <p:nvPr/>
        </p:nvSpPr>
        <p:spPr>
          <a:xfrm>
            <a:off x="377504" y="623270"/>
            <a:ext cx="31146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latin typeface="+mj-ea"/>
              </a:rPr>
              <a:t>loss_function</a:t>
            </a:r>
            <a:r>
              <a:rPr lang="en-US" altLang="ko-KR" sz="2400" dirty="0">
                <a:latin typeface="+mj-ea"/>
              </a:rPr>
              <a:t> : </a:t>
            </a:r>
            <a:r>
              <a:rPr lang="en-US" altLang="ko-KR" sz="2400" dirty="0" err="1">
                <a:latin typeface="+mj-ea"/>
              </a:rPr>
              <a:t>mse</a:t>
            </a:r>
            <a:endParaRPr lang="en-US" altLang="ko-KR" sz="2400" dirty="0">
              <a:latin typeface="+mj-ea"/>
            </a:endParaRPr>
          </a:p>
          <a:p>
            <a:r>
              <a:rPr lang="ko-KR" altLang="en-US" sz="2400" dirty="0">
                <a:latin typeface="+mj-ea"/>
                <a:ea typeface="+mj-ea"/>
              </a:rPr>
              <a:t>예측코드 </a:t>
            </a:r>
            <a:r>
              <a:rPr lang="en-US" altLang="ko-KR" sz="2400" dirty="0">
                <a:latin typeface="+mj-ea"/>
                <a:ea typeface="+mj-ea"/>
              </a:rPr>
              <a:t>– </a:t>
            </a:r>
            <a:r>
              <a:rPr lang="ko-KR" altLang="en-US" sz="2400" dirty="0" err="1">
                <a:latin typeface="+mj-ea"/>
                <a:ea typeface="+mj-ea"/>
              </a:rPr>
              <a:t>궁내교</a:t>
            </a:r>
            <a:endParaRPr lang="ko-KR" altLang="en-US" sz="2400" dirty="0">
              <a:latin typeface="+mj-ea"/>
              <a:ea typeface="+mj-ea"/>
            </a:endParaRP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CC287890-8D3F-4F75-B6EE-54A24D7225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3635" y="4330501"/>
            <a:ext cx="3083619" cy="1623803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34B44F8C-A4EF-4214-B85D-838A2A05AD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6872" y="4326463"/>
            <a:ext cx="3089860" cy="1630490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D1DF17EE-4843-4A32-BDAC-03BBE1594C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4441" y="1970948"/>
            <a:ext cx="3007577" cy="1585244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77E4CA0B-D49E-45B1-BAE8-60B9B42BF1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1866" y="1971487"/>
            <a:ext cx="3043441" cy="1609175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9666F396-617E-4A87-B71B-140F779486DE}"/>
              </a:ext>
            </a:extLst>
          </p:cNvPr>
          <p:cNvSpPr txBox="1"/>
          <p:nvPr/>
        </p:nvSpPr>
        <p:spPr>
          <a:xfrm>
            <a:off x="6261235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testdata_220712</a:t>
            </a:r>
            <a:endParaRPr lang="ko-KR" altLang="en-US" sz="1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CA25465-4979-4F8A-9B0A-4264AEA6DA31}"/>
              </a:ext>
            </a:extLst>
          </p:cNvPr>
          <p:cNvSpPr txBox="1"/>
          <p:nvPr/>
        </p:nvSpPr>
        <p:spPr>
          <a:xfrm>
            <a:off x="9409377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/>
              <a:t>testdata_230711</a:t>
            </a:r>
            <a:endParaRPr lang="ko-KR" altLang="en-US" sz="10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6B302A1-B195-4A71-8F8A-E20D52E67826}"/>
              </a:ext>
            </a:extLst>
          </p:cNvPr>
          <p:cNvSpPr txBox="1"/>
          <p:nvPr/>
        </p:nvSpPr>
        <p:spPr>
          <a:xfrm>
            <a:off x="6261235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testdata_250716</a:t>
            </a:r>
            <a:endParaRPr lang="ko-KR" altLang="en-US" sz="10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9417592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testdata_250814</a:t>
            </a:r>
            <a:endParaRPr lang="ko-KR" altLang="en-US" sz="1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A4AFE95-2DED-42BC-A1CA-CCD46CBA4F68}"/>
              </a:ext>
            </a:extLst>
          </p:cNvPr>
          <p:cNvSpPr txBox="1"/>
          <p:nvPr/>
        </p:nvSpPr>
        <p:spPr>
          <a:xfrm>
            <a:off x="33795" y="3792450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전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E878C64-9135-48B4-AD37-DDB91950CAEC}"/>
              </a:ext>
            </a:extLst>
          </p:cNvPr>
          <p:cNvSpPr txBox="1"/>
          <p:nvPr/>
        </p:nvSpPr>
        <p:spPr>
          <a:xfrm>
            <a:off x="33795" y="4260325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후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05E4055-07E8-4C56-93F5-5CE2B0B1AE01}"/>
              </a:ext>
            </a:extLst>
          </p:cNvPr>
          <p:cNvCxnSpPr/>
          <p:nvPr/>
        </p:nvCxnSpPr>
        <p:spPr>
          <a:xfrm flipH="1">
            <a:off x="0" y="4148667"/>
            <a:ext cx="80083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700554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377505" y="623270"/>
            <a:ext cx="28942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latin typeface="+mj-ea"/>
              </a:rPr>
              <a:t>loss_function</a:t>
            </a:r>
            <a:r>
              <a:rPr lang="en-US" altLang="ko-KR" sz="2400" dirty="0">
                <a:latin typeface="+mj-ea"/>
              </a:rPr>
              <a:t> : </a:t>
            </a:r>
            <a:r>
              <a:rPr lang="en-US" altLang="ko-KR" sz="2400" dirty="0" err="1">
                <a:latin typeface="+mj-ea"/>
              </a:rPr>
              <a:t>mae</a:t>
            </a:r>
            <a:r>
              <a:rPr lang="en-US" altLang="ko-KR" sz="2400" dirty="0">
                <a:latin typeface="+mj-ea"/>
              </a:rPr>
              <a:t> </a:t>
            </a:r>
            <a:r>
              <a:rPr lang="ko-KR" altLang="en-US" sz="2400" dirty="0">
                <a:latin typeface="+mj-ea"/>
                <a:ea typeface="+mj-ea"/>
              </a:rPr>
              <a:t>학습 코드 </a:t>
            </a:r>
            <a:r>
              <a:rPr lang="en-US" altLang="ko-KR" sz="2400" dirty="0">
                <a:latin typeface="+mj-ea"/>
                <a:ea typeface="+mj-ea"/>
              </a:rPr>
              <a:t>- </a:t>
            </a:r>
            <a:r>
              <a:rPr lang="ko-KR" altLang="en-US" sz="2400" dirty="0" err="1">
                <a:latin typeface="+mj-ea"/>
                <a:ea typeface="+mj-ea"/>
              </a:rPr>
              <a:t>궁내교</a:t>
            </a:r>
            <a:endParaRPr lang="ko-KR" altLang="en-US" sz="2400" dirty="0">
              <a:latin typeface="+mj-ea"/>
              <a:ea typeface="+mj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9DB7C3-A352-4434-832E-7169C75AB765}"/>
              </a:ext>
            </a:extLst>
          </p:cNvPr>
          <p:cNvSpPr txBox="1"/>
          <p:nvPr/>
        </p:nvSpPr>
        <p:spPr>
          <a:xfrm>
            <a:off x="1346199" y="1786468"/>
            <a:ext cx="8602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Train : Valid : Test = 5 : 1 : 1 </a:t>
            </a:r>
            <a:r>
              <a:rPr lang="ko-KR" altLang="en-US" dirty="0"/>
              <a:t>비율로 학습 진행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0B8BFE22-A6DD-4A55-8213-16C5AD4073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700" y="3763838"/>
            <a:ext cx="5282379" cy="174796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545FBF0-BD23-47BA-AE23-A9041F51CCD9}"/>
              </a:ext>
            </a:extLst>
          </p:cNvPr>
          <p:cNvSpPr txBox="1"/>
          <p:nvPr/>
        </p:nvSpPr>
        <p:spPr>
          <a:xfrm>
            <a:off x="900984" y="3109677"/>
            <a:ext cx="1740616" cy="402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200" dirty="0">
                <a:latin typeface="+mj-ea"/>
              </a:rPr>
              <a:t>Train Chart</a:t>
            </a:r>
            <a:endParaRPr lang="ko-KR" altLang="en-US" sz="1200" dirty="0">
              <a:latin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9A9D48B-61C4-43DD-8BFB-A77057EC0466}"/>
              </a:ext>
            </a:extLst>
          </p:cNvPr>
          <p:cNvSpPr txBox="1"/>
          <p:nvPr/>
        </p:nvSpPr>
        <p:spPr>
          <a:xfrm>
            <a:off x="6823157" y="2491201"/>
            <a:ext cx="23123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일괄 예측 수행 결과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0D4A3F26-5DA8-42E1-AE79-412B97694DC4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951132" y="3017967"/>
          <a:ext cx="38360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734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Train</a:t>
                      </a:r>
                    </a:p>
                    <a:p>
                      <a:pPr latinLnBrk="1"/>
                      <a:r>
                        <a:rPr lang="en-US" altLang="ko-KR" sz="800" dirty="0"/>
                        <a:t>(5112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0.0610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0.0333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0.1854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0.899597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0.903558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1.632025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AED3E1A0-DC6F-4D70-A5AC-7F4943253C94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951132" y="4259181"/>
          <a:ext cx="38360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734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Valid</a:t>
                      </a:r>
                    </a:p>
                    <a:p>
                      <a:pPr latinLnBrk="1"/>
                      <a:r>
                        <a:rPr lang="en-US" altLang="ko-KR" sz="800" dirty="0"/>
                        <a:t>(1118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0.0661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0.0511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0.1002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0.914883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0.920608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10.540136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048BAD03-D33B-4BC3-B099-B0689EE144DD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951132" y="5500395"/>
          <a:ext cx="37344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226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Test</a:t>
                      </a:r>
                    </a:p>
                    <a:p>
                      <a:pPr latinLnBrk="1"/>
                      <a:r>
                        <a:rPr lang="en-US" altLang="ko-KR" sz="800" dirty="0"/>
                        <a:t>(909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0.0531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0.0353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0.0967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0.924536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0.930873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5.521413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203981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57C67BA-B213-4D78-9FE6-DF21AEB555D8}"/>
              </a:ext>
            </a:extLst>
          </p:cNvPr>
          <p:cNvSpPr txBox="1"/>
          <p:nvPr/>
        </p:nvSpPr>
        <p:spPr>
          <a:xfrm>
            <a:off x="377504" y="623270"/>
            <a:ext cx="31146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latin typeface="+mj-ea"/>
              </a:rPr>
              <a:t>loss_function</a:t>
            </a:r>
            <a:r>
              <a:rPr lang="en-US" altLang="ko-KR" sz="2400" dirty="0">
                <a:latin typeface="+mj-ea"/>
              </a:rPr>
              <a:t> : </a:t>
            </a:r>
            <a:r>
              <a:rPr lang="en-US" altLang="ko-KR" sz="2400" dirty="0" err="1">
                <a:latin typeface="+mj-ea"/>
              </a:rPr>
              <a:t>mae</a:t>
            </a:r>
            <a:r>
              <a:rPr lang="en-US" altLang="ko-KR" sz="2400" dirty="0">
                <a:latin typeface="+mj-ea"/>
              </a:rPr>
              <a:t> </a:t>
            </a:r>
            <a:r>
              <a:rPr lang="ko-KR" altLang="en-US" sz="2400" dirty="0">
                <a:latin typeface="+mj-ea"/>
                <a:ea typeface="+mj-ea"/>
              </a:rPr>
              <a:t>예측코드 </a:t>
            </a:r>
            <a:r>
              <a:rPr lang="en-US" altLang="ko-KR" sz="2400" dirty="0">
                <a:latin typeface="+mj-ea"/>
                <a:ea typeface="+mj-ea"/>
              </a:rPr>
              <a:t>– </a:t>
            </a:r>
            <a:r>
              <a:rPr lang="ko-KR" altLang="en-US" sz="2400" dirty="0" err="1">
                <a:latin typeface="+mj-ea"/>
                <a:ea typeface="+mj-ea"/>
              </a:rPr>
              <a:t>궁내교</a:t>
            </a:r>
            <a:endParaRPr lang="en-US" altLang="ko-KR" sz="2400" dirty="0">
              <a:latin typeface="+mj-ea"/>
              <a:ea typeface="+mj-ea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29258BC8-300A-4917-B6C0-6B3E2239EE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1060" y="4327591"/>
            <a:ext cx="3048768" cy="1629624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0A28F5C4-1571-4948-8FC5-C9E26EECB6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0416" y="4332528"/>
            <a:ext cx="3042772" cy="1618361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1C328593-F0C8-4C05-869C-2E9036894D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3556" y="1964465"/>
            <a:ext cx="3029346" cy="1598209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0E6775A9-3F0F-4735-AAC1-D0B018AEF0E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5584" y="1979661"/>
            <a:ext cx="3016005" cy="159282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1B7BEA1-2DCD-4FA1-926E-D1B031EE60BE}"/>
              </a:ext>
            </a:extLst>
          </p:cNvPr>
          <p:cNvSpPr txBox="1"/>
          <p:nvPr/>
        </p:nvSpPr>
        <p:spPr>
          <a:xfrm>
            <a:off x="6261235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testdata_220712</a:t>
            </a:r>
            <a:endParaRPr lang="ko-KR" altLang="en-US" sz="1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B8B16D2-2274-4240-95EA-0D9F51415B30}"/>
              </a:ext>
            </a:extLst>
          </p:cNvPr>
          <p:cNvSpPr txBox="1"/>
          <p:nvPr/>
        </p:nvSpPr>
        <p:spPr>
          <a:xfrm>
            <a:off x="9409377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/>
              <a:t>testdata_230711</a:t>
            </a:r>
            <a:endParaRPr lang="ko-KR" altLang="en-US" sz="10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6403807-EAAD-4E93-A185-4FCE5E92A63B}"/>
              </a:ext>
            </a:extLst>
          </p:cNvPr>
          <p:cNvSpPr txBox="1"/>
          <p:nvPr/>
        </p:nvSpPr>
        <p:spPr>
          <a:xfrm>
            <a:off x="6261235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testdata_250716</a:t>
            </a:r>
            <a:endParaRPr lang="ko-KR" altLang="en-US" sz="10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01AE80B-E09F-4D46-AD44-1EBAFD64BC7B}"/>
              </a:ext>
            </a:extLst>
          </p:cNvPr>
          <p:cNvSpPr txBox="1"/>
          <p:nvPr/>
        </p:nvSpPr>
        <p:spPr>
          <a:xfrm>
            <a:off x="9417592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testdata_250814</a:t>
            </a:r>
            <a:endParaRPr lang="ko-KR" altLang="en-US" sz="1000" dirty="0"/>
          </a:p>
        </p:txBody>
      </p:sp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9CE26397-A1C1-478C-BB6C-4EA56E0CF6D1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800836" y="1889775"/>
          <a:ext cx="4328033" cy="415036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</a:rPr>
                        <a:t>궁내교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testdata_220712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0.48350324625474395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0.020493762243204518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0.10971201062202456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0.1431564257838415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testdata_230711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0.8566634699470248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0.04011143392498437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0.12565590659777326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0.20027839105850728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testdata_250716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0.6931006243265065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0.03078882736617747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0.13623218384053967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0.17546745386588783</a:t>
                      </a:r>
                      <a:r>
                        <a:rPr lang="pt-BR" altLang="ko-KR" sz="1400" dirty="0"/>
                        <a:t> 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testdata_250814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0.6177622192625288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0.02694855987070158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0.1293952695528666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0.1641601652981063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621040"/>
                  </a:ext>
                </a:extLst>
              </a:tr>
            </a:tbl>
          </a:graphicData>
        </a:graphic>
      </p:graphicFrame>
      <p:sp>
        <p:nvSpPr>
          <p:cNvPr id="30" name="직사각형 29">
            <a:extLst>
              <a:ext uri="{FF2B5EF4-FFF2-40B4-BE49-F238E27FC236}">
                <a16:creationId xmlns:a16="http://schemas.microsoft.com/office/drawing/2014/main" id="{9B1990D9-AB9F-4D64-B649-1D8F42C7BDF8}"/>
              </a:ext>
            </a:extLst>
          </p:cNvPr>
          <p:cNvSpPr/>
          <p:nvPr/>
        </p:nvSpPr>
        <p:spPr>
          <a:xfrm>
            <a:off x="2241494" y="1889775"/>
            <a:ext cx="2887375" cy="41503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56C3715-BB04-44D6-99DC-43441B2676C1}"/>
              </a:ext>
            </a:extLst>
          </p:cNvPr>
          <p:cNvSpPr txBox="1"/>
          <p:nvPr/>
        </p:nvSpPr>
        <p:spPr>
          <a:xfrm>
            <a:off x="33795" y="3792450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전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1D6FB3A-09CE-44BB-A8F8-E21576526E1A}"/>
              </a:ext>
            </a:extLst>
          </p:cNvPr>
          <p:cNvSpPr txBox="1"/>
          <p:nvPr/>
        </p:nvSpPr>
        <p:spPr>
          <a:xfrm>
            <a:off x="33795" y="4260325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후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5FAE8F29-FB44-4F7B-AAD9-9F49DFA3781A}"/>
              </a:ext>
            </a:extLst>
          </p:cNvPr>
          <p:cNvCxnSpPr/>
          <p:nvPr/>
        </p:nvCxnSpPr>
        <p:spPr>
          <a:xfrm flipH="1">
            <a:off x="0" y="4148667"/>
            <a:ext cx="80083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266517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11C99160-6B77-45EA-8F2B-8F764820117B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800836" y="1889775"/>
          <a:ext cx="4328033" cy="415036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</a:rPr>
                        <a:t>궁내교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testdata_220630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0.6931006243265065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0.03078882736617747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0.13623218384053967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0.17546745386588783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testdata_220808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0.9924956911191448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0.006907648577594287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0.06417400201161705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0.08311226490473164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testdata_220630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0.9328815422847411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0.014795373233673977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0.09148696263631188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0.12163623322708565</a:t>
                      </a:r>
                      <a:r>
                        <a:rPr lang="pt-BR" altLang="ko-KR" sz="1400" dirty="0"/>
                        <a:t> 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testdata_220808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0.9818703163715436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0.01668821010923914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0.10055554813808862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0.1291828553223652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621040"/>
                  </a:ext>
                </a:extLst>
              </a:tr>
            </a:tbl>
          </a:graphicData>
        </a:graphic>
      </p:graphicFrame>
      <p:sp>
        <p:nvSpPr>
          <p:cNvPr id="27" name="직사각형 26">
            <a:extLst>
              <a:ext uri="{FF2B5EF4-FFF2-40B4-BE49-F238E27FC236}">
                <a16:creationId xmlns:a16="http://schemas.microsoft.com/office/drawing/2014/main" id="{4EF33900-A573-48EF-8975-0A2C5750C40D}"/>
              </a:ext>
            </a:extLst>
          </p:cNvPr>
          <p:cNvSpPr/>
          <p:nvPr/>
        </p:nvSpPr>
        <p:spPr>
          <a:xfrm>
            <a:off x="2241494" y="1889775"/>
            <a:ext cx="2887375" cy="41503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1A56FFC-2A2A-4585-A698-824F987F091A}"/>
              </a:ext>
            </a:extLst>
          </p:cNvPr>
          <p:cNvSpPr txBox="1"/>
          <p:nvPr/>
        </p:nvSpPr>
        <p:spPr>
          <a:xfrm>
            <a:off x="377504" y="623270"/>
            <a:ext cx="3114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latin typeface="+mj-ea"/>
                <a:ea typeface="+mj-ea"/>
              </a:rPr>
              <a:t>+) </a:t>
            </a:r>
            <a:r>
              <a:rPr lang="ko-KR" altLang="en-US" sz="2400" dirty="0">
                <a:latin typeface="+mj-ea"/>
                <a:ea typeface="+mj-ea"/>
              </a:rPr>
              <a:t>예측코드 </a:t>
            </a:r>
            <a:r>
              <a:rPr lang="en-US" altLang="ko-KR" sz="2400" dirty="0">
                <a:latin typeface="+mj-ea"/>
                <a:ea typeface="+mj-ea"/>
              </a:rPr>
              <a:t>– </a:t>
            </a:r>
            <a:r>
              <a:rPr lang="ko-KR" altLang="en-US" sz="2400" dirty="0" err="1">
                <a:latin typeface="+mj-ea"/>
                <a:ea typeface="+mj-ea"/>
              </a:rPr>
              <a:t>궁내교</a:t>
            </a:r>
            <a:endParaRPr lang="ko-KR" altLang="en-US" sz="2400" dirty="0">
              <a:latin typeface="+mj-ea"/>
              <a:ea typeface="+mj-ea"/>
            </a:endParaRP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CC287890-8D3F-4F75-B6EE-54A24D7225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4314" y="4330501"/>
            <a:ext cx="3042261" cy="1623803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34B44F8C-A4EF-4214-B85D-838A2A05AD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6872" y="4332459"/>
            <a:ext cx="3089860" cy="1618498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D1DF17EE-4843-4A32-BDAC-03BBE1594C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4441" y="1975797"/>
            <a:ext cx="3007577" cy="1575545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77E4CA0B-D49E-45B1-BAE8-60B9B42BF1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8699" y="1971487"/>
            <a:ext cx="3029774" cy="1609175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9666F396-617E-4A87-B71B-140F779486DE}"/>
              </a:ext>
            </a:extLst>
          </p:cNvPr>
          <p:cNvSpPr txBox="1"/>
          <p:nvPr/>
        </p:nvSpPr>
        <p:spPr>
          <a:xfrm>
            <a:off x="6261235" y="3605498"/>
            <a:ext cx="12684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testdata_220630 (</a:t>
            </a:r>
            <a:r>
              <a:rPr lang="en-US" altLang="ko-KR" sz="1000" dirty="0" err="1"/>
              <a:t>mse</a:t>
            </a:r>
            <a:r>
              <a:rPr lang="en-US" altLang="ko-KR" sz="1000" dirty="0"/>
              <a:t>)</a:t>
            </a:r>
            <a:endParaRPr lang="ko-KR" altLang="en-US" sz="1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CA25465-4979-4F8A-9B0A-4264AEA6DA31}"/>
              </a:ext>
            </a:extLst>
          </p:cNvPr>
          <p:cNvSpPr txBox="1"/>
          <p:nvPr/>
        </p:nvSpPr>
        <p:spPr>
          <a:xfrm>
            <a:off x="9409377" y="3605498"/>
            <a:ext cx="12684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testdata_220808 (</a:t>
            </a:r>
            <a:r>
              <a:rPr lang="en-US" altLang="ko-KR" sz="1000" dirty="0" err="1"/>
              <a:t>mse</a:t>
            </a:r>
            <a:r>
              <a:rPr lang="en-US" altLang="ko-KR" sz="1000" dirty="0"/>
              <a:t>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6B302A1-B195-4A71-8F8A-E20D52E67826}"/>
              </a:ext>
            </a:extLst>
          </p:cNvPr>
          <p:cNvSpPr txBox="1"/>
          <p:nvPr/>
        </p:nvSpPr>
        <p:spPr>
          <a:xfrm>
            <a:off x="6261235" y="6040135"/>
            <a:ext cx="12684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testdata_220630</a:t>
            </a:r>
          </a:p>
          <a:p>
            <a:pPr algn="ctr" latinLnBrk="1"/>
            <a:r>
              <a:rPr lang="en-US" altLang="ko-KR" sz="1000" dirty="0"/>
              <a:t>(</a:t>
            </a:r>
            <a:r>
              <a:rPr lang="en-US" altLang="ko-KR" sz="1000" dirty="0" err="1"/>
              <a:t>mae</a:t>
            </a:r>
            <a:r>
              <a:rPr lang="en-US" altLang="ko-KR" sz="1000" dirty="0"/>
              <a:t>)</a:t>
            </a:r>
            <a:endParaRPr lang="ko-KR" altLang="en-US" sz="10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9417592" y="6040135"/>
            <a:ext cx="12684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testdata_220808</a:t>
            </a:r>
          </a:p>
          <a:p>
            <a:pPr algn="ctr" latinLnBrk="1"/>
            <a:r>
              <a:rPr lang="en-US" altLang="ko-KR" sz="1000" dirty="0"/>
              <a:t>(</a:t>
            </a:r>
            <a:r>
              <a:rPr lang="en-US" altLang="ko-KR" sz="1000" dirty="0" err="1"/>
              <a:t>mae</a:t>
            </a:r>
            <a:r>
              <a:rPr lang="en-US" altLang="ko-KR" sz="1000" dirty="0"/>
              <a:t>)</a:t>
            </a:r>
            <a:endParaRPr lang="ko-KR" altLang="en-US" sz="1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A4AFE95-2DED-42BC-A1CA-CCD46CBA4F68}"/>
              </a:ext>
            </a:extLst>
          </p:cNvPr>
          <p:cNvSpPr txBox="1"/>
          <p:nvPr/>
        </p:nvSpPr>
        <p:spPr>
          <a:xfrm>
            <a:off x="33795" y="3792450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 err="1"/>
              <a:t>mse</a:t>
            </a:r>
            <a:endParaRPr lang="ko-KR" altLang="en-US" sz="10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E878C64-9135-48B4-AD37-DDB91950CAEC}"/>
              </a:ext>
            </a:extLst>
          </p:cNvPr>
          <p:cNvSpPr txBox="1"/>
          <p:nvPr/>
        </p:nvSpPr>
        <p:spPr>
          <a:xfrm>
            <a:off x="33795" y="4260325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 err="1"/>
              <a:t>mae</a:t>
            </a:r>
            <a:endParaRPr lang="ko-KR" altLang="en-US" sz="1000" dirty="0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05E4055-07E8-4C56-93F5-5CE2B0B1AE01}"/>
              </a:ext>
            </a:extLst>
          </p:cNvPr>
          <p:cNvCxnSpPr/>
          <p:nvPr/>
        </p:nvCxnSpPr>
        <p:spPr>
          <a:xfrm flipH="1">
            <a:off x="0" y="4148667"/>
            <a:ext cx="80083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D76CA17-1386-4F7F-B295-8127F117FF6F}"/>
              </a:ext>
            </a:extLst>
          </p:cNvPr>
          <p:cNvSpPr txBox="1"/>
          <p:nvPr/>
        </p:nvSpPr>
        <p:spPr>
          <a:xfrm>
            <a:off x="3492155" y="804534"/>
            <a:ext cx="20044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( </a:t>
            </a:r>
            <a:r>
              <a:rPr lang="ko-KR" altLang="en-US" sz="1200" dirty="0"/>
              <a:t>학습에도 사용 된 데이터 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3803082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4648899" y="2828835"/>
            <a:ext cx="28942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b="1" dirty="0" err="1">
                <a:latin typeface="+mj-ea"/>
                <a:ea typeface="+mj-ea"/>
              </a:rPr>
              <a:t>대곡교</a:t>
            </a:r>
            <a:endParaRPr lang="en-US" altLang="ko-KR" sz="3600" b="1" dirty="0">
              <a:latin typeface="+mj-ea"/>
              <a:ea typeface="+mj-ea"/>
            </a:endParaRPr>
          </a:p>
          <a:p>
            <a:pPr algn="ctr"/>
            <a:r>
              <a:rPr lang="en-US" altLang="ko-KR" sz="3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smoothing = </a:t>
            </a:r>
            <a:r>
              <a:rPr lang="en-US" altLang="ko-KR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</a:rPr>
              <a:t>2</a:t>
            </a:r>
            <a:endParaRPr lang="ko-KR" altLang="en-US" sz="3600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12087319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377505" y="623270"/>
            <a:ext cx="28942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latin typeface="+mj-ea"/>
              </a:rPr>
              <a:t>loss_function</a:t>
            </a:r>
            <a:r>
              <a:rPr lang="en-US" altLang="ko-KR" sz="2400" dirty="0">
                <a:latin typeface="+mj-ea"/>
              </a:rPr>
              <a:t> : </a:t>
            </a:r>
            <a:r>
              <a:rPr lang="en-US" altLang="ko-KR" sz="2400" dirty="0" err="1">
                <a:latin typeface="+mj-ea"/>
              </a:rPr>
              <a:t>mse</a:t>
            </a:r>
            <a:r>
              <a:rPr lang="en-US" altLang="ko-KR" sz="2400" dirty="0">
                <a:latin typeface="+mj-ea"/>
              </a:rPr>
              <a:t> </a:t>
            </a:r>
            <a:r>
              <a:rPr lang="ko-KR" altLang="en-US" sz="2400" dirty="0">
                <a:latin typeface="+mj-ea"/>
                <a:ea typeface="+mj-ea"/>
              </a:rPr>
              <a:t>학습 코드 </a:t>
            </a:r>
            <a:r>
              <a:rPr lang="en-US" altLang="ko-KR" sz="2400" dirty="0">
                <a:latin typeface="+mj-ea"/>
                <a:ea typeface="+mj-ea"/>
              </a:rPr>
              <a:t>- </a:t>
            </a:r>
            <a:r>
              <a:rPr lang="ko-KR" altLang="en-US" sz="2400" dirty="0" err="1">
                <a:latin typeface="+mj-ea"/>
                <a:ea typeface="+mj-ea"/>
              </a:rPr>
              <a:t>대곡교</a:t>
            </a:r>
            <a:endParaRPr lang="ko-KR" altLang="en-US" sz="2400" dirty="0">
              <a:latin typeface="+mj-ea"/>
              <a:ea typeface="+mj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9DB7C3-A352-4434-832E-7169C75AB765}"/>
              </a:ext>
            </a:extLst>
          </p:cNvPr>
          <p:cNvSpPr txBox="1"/>
          <p:nvPr/>
        </p:nvSpPr>
        <p:spPr>
          <a:xfrm>
            <a:off x="1346199" y="1786468"/>
            <a:ext cx="8602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Train : Valid : Test = 5 : 1 : 1 </a:t>
            </a:r>
            <a:r>
              <a:rPr lang="ko-KR" altLang="en-US" dirty="0"/>
              <a:t>비율로 학습 진행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2F37C692-0D2E-44D5-8AE7-B05779A9F167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951132" y="3017967"/>
          <a:ext cx="38360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734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Train</a:t>
                      </a:r>
                    </a:p>
                    <a:p>
                      <a:pPr latinLnBrk="1"/>
                      <a:r>
                        <a:rPr lang="en-US" altLang="ko-KR" sz="800" dirty="0"/>
                        <a:t>(5112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0.0532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0.0188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0.0845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0.990552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0.990683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3.483236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B08A13AB-CF40-41FC-85F4-AA63438CD538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951132" y="4259181"/>
          <a:ext cx="38360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734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Valid</a:t>
                      </a:r>
                    </a:p>
                    <a:p>
                      <a:pPr latinLnBrk="1"/>
                      <a:r>
                        <a:rPr lang="en-US" altLang="ko-KR" sz="800" dirty="0"/>
                        <a:t>(1118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0.0995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0.0384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0.1426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0.927635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0.927990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4.866550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BF3AC006-682A-4D96-B009-F19CB094C06A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951132" y="5500395"/>
          <a:ext cx="37852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226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Test</a:t>
                      </a:r>
                    </a:p>
                    <a:p>
                      <a:pPr latinLnBrk="1"/>
                      <a:r>
                        <a:rPr lang="en-US" altLang="ko-KR" sz="800" dirty="0"/>
                        <a:t>(909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0.0775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0.0289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0.1231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0.953586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0.953834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10.480178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pic>
        <p:nvPicPr>
          <p:cNvPr id="13" name="그림 12">
            <a:extLst>
              <a:ext uri="{FF2B5EF4-FFF2-40B4-BE49-F238E27FC236}">
                <a16:creationId xmlns:a16="http://schemas.microsoft.com/office/drawing/2014/main" id="{0B8BFE22-A6DD-4A55-8213-16C5AD4073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923" y="3737094"/>
            <a:ext cx="5327933" cy="180145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545FBF0-BD23-47BA-AE23-A9041F51CCD9}"/>
              </a:ext>
            </a:extLst>
          </p:cNvPr>
          <p:cNvSpPr txBox="1"/>
          <p:nvPr/>
        </p:nvSpPr>
        <p:spPr>
          <a:xfrm>
            <a:off x="900984" y="3109677"/>
            <a:ext cx="1740616" cy="402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200" dirty="0">
                <a:latin typeface="+mj-ea"/>
              </a:rPr>
              <a:t>Train Chart</a:t>
            </a:r>
            <a:endParaRPr lang="ko-KR" altLang="en-US" sz="1200" dirty="0">
              <a:latin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2E70C8B-0378-41AB-8FAC-941DC946C20B}"/>
              </a:ext>
            </a:extLst>
          </p:cNvPr>
          <p:cNvSpPr txBox="1"/>
          <p:nvPr/>
        </p:nvSpPr>
        <p:spPr>
          <a:xfrm>
            <a:off x="6823157" y="2491201"/>
            <a:ext cx="23123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일괄 예측 수행 결과</a:t>
            </a:r>
          </a:p>
        </p:txBody>
      </p:sp>
    </p:spTree>
    <p:extLst>
      <p:ext uri="{BB962C8B-B14F-4D97-AF65-F5344CB8AC3E}">
        <p14:creationId xmlns:p14="http://schemas.microsoft.com/office/powerpoint/2010/main" val="166440871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57C67BA-B213-4D78-9FE6-DF21AEB555D8}"/>
              </a:ext>
            </a:extLst>
          </p:cNvPr>
          <p:cNvSpPr txBox="1"/>
          <p:nvPr/>
        </p:nvSpPr>
        <p:spPr>
          <a:xfrm>
            <a:off x="377504" y="623270"/>
            <a:ext cx="31146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latin typeface="+mj-ea"/>
              </a:rPr>
              <a:t>loss_function</a:t>
            </a:r>
            <a:r>
              <a:rPr lang="en-US" altLang="ko-KR" sz="2400" dirty="0">
                <a:latin typeface="+mj-ea"/>
              </a:rPr>
              <a:t> : </a:t>
            </a:r>
            <a:r>
              <a:rPr lang="en-US" altLang="ko-KR" sz="2400" dirty="0" err="1">
                <a:latin typeface="+mj-ea"/>
              </a:rPr>
              <a:t>mse</a:t>
            </a:r>
            <a:endParaRPr lang="en-US" altLang="ko-KR" sz="2400" dirty="0">
              <a:latin typeface="+mj-ea"/>
            </a:endParaRPr>
          </a:p>
          <a:p>
            <a:r>
              <a:rPr lang="ko-KR" altLang="en-US" sz="2400" dirty="0">
                <a:latin typeface="+mj-ea"/>
                <a:ea typeface="+mj-ea"/>
              </a:rPr>
              <a:t>예측코드 </a:t>
            </a:r>
            <a:r>
              <a:rPr lang="en-US" altLang="ko-KR" sz="2400" dirty="0">
                <a:latin typeface="+mj-ea"/>
                <a:ea typeface="+mj-ea"/>
              </a:rPr>
              <a:t>– </a:t>
            </a:r>
            <a:r>
              <a:rPr lang="ko-KR" altLang="en-US" sz="2400" dirty="0" err="1">
                <a:latin typeface="+mj-ea"/>
              </a:rPr>
              <a:t>대곡교</a:t>
            </a:r>
            <a:endParaRPr lang="en-US" altLang="ko-KR" sz="2400" dirty="0">
              <a:latin typeface="+mj-ea"/>
              <a:ea typeface="+mj-ea"/>
            </a:endParaRPr>
          </a:p>
          <a:p>
            <a:endParaRPr lang="ko-KR" altLang="en-US" sz="2400" dirty="0">
              <a:latin typeface="+mj-ea"/>
              <a:ea typeface="+mj-ea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8D549AC2-D228-4DAC-AEBF-1C52C35A5F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3635" y="4332953"/>
            <a:ext cx="3083619" cy="161890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A35C7F2A-AE1A-43A2-BA9C-03B52261CE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9208" y="4324759"/>
            <a:ext cx="3085187" cy="1633899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57B4136E-5B6A-44D9-8414-07FC99F60A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7027" y="1965958"/>
            <a:ext cx="3002405" cy="1595224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E731DA47-28B0-4229-AD6F-3D45E911244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1542" y="1977703"/>
            <a:ext cx="3024088" cy="1596744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C328495-279D-4A28-9137-6095C70DBBED}"/>
              </a:ext>
            </a:extLst>
          </p:cNvPr>
          <p:cNvSpPr txBox="1"/>
          <p:nvPr/>
        </p:nvSpPr>
        <p:spPr>
          <a:xfrm>
            <a:off x="6261235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testdata_220712</a:t>
            </a:r>
            <a:endParaRPr lang="ko-KR" altLang="en-US" sz="10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60BDD7F-93E6-4C96-AB4C-1017B962BD38}"/>
              </a:ext>
            </a:extLst>
          </p:cNvPr>
          <p:cNvSpPr txBox="1"/>
          <p:nvPr/>
        </p:nvSpPr>
        <p:spPr>
          <a:xfrm>
            <a:off x="9409377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/>
              <a:t>testdata_230711</a:t>
            </a:r>
            <a:endParaRPr lang="ko-KR" altLang="en-US" sz="10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9A17F0E-3F4E-4BC8-9352-459400869BB4}"/>
              </a:ext>
            </a:extLst>
          </p:cNvPr>
          <p:cNvSpPr txBox="1"/>
          <p:nvPr/>
        </p:nvSpPr>
        <p:spPr>
          <a:xfrm>
            <a:off x="6261235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testdata_250716</a:t>
            </a:r>
            <a:endParaRPr lang="ko-KR" altLang="en-US" sz="10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DA7DEC8-810B-489A-A088-A61E2990D654}"/>
              </a:ext>
            </a:extLst>
          </p:cNvPr>
          <p:cNvSpPr txBox="1"/>
          <p:nvPr/>
        </p:nvSpPr>
        <p:spPr>
          <a:xfrm>
            <a:off x="9417592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testdata_250814</a:t>
            </a:r>
            <a:endParaRPr lang="ko-KR" altLang="en-US" sz="1000" dirty="0"/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69EA7857-1F73-4990-9E5D-85A724A50236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800836" y="1889775"/>
          <a:ext cx="4328033" cy="415036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</a:rPr>
                        <a:t>대곡교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testdata_220712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0.6192848002881184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0.053315168560145905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0.17582903226216626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0.23090077643902782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testdata_230711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0.8730247156992079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0.11556761313373512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0.2791214652856191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0.3399523689191401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testdata_250716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0.9576316738162141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0.019565104582697595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0.11279573056432939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0.13987531798962102</a:t>
                      </a:r>
                      <a:r>
                        <a:rPr lang="pt-BR" altLang="ko-KR" sz="1400" dirty="0"/>
                        <a:t> 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testdata_250814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0.8403428495808809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0.05541683676055683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0.1667659605873955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0.2354078094723215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621040"/>
                  </a:ext>
                </a:extLst>
              </a:tr>
            </a:tbl>
          </a:graphicData>
        </a:graphic>
      </p:graphicFrame>
      <p:sp>
        <p:nvSpPr>
          <p:cNvPr id="26" name="직사각형 25">
            <a:extLst>
              <a:ext uri="{FF2B5EF4-FFF2-40B4-BE49-F238E27FC236}">
                <a16:creationId xmlns:a16="http://schemas.microsoft.com/office/drawing/2014/main" id="{D79C1DB6-9B53-49D9-9015-6A3685EFAB96}"/>
              </a:ext>
            </a:extLst>
          </p:cNvPr>
          <p:cNvSpPr/>
          <p:nvPr/>
        </p:nvSpPr>
        <p:spPr>
          <a:xfrm>
            <a:off x="2241494" y="1889775"/>
            <a:ext cx="2887375" cy="41503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9955211-837A-41FE-A87C-6673F01BC78B}"/>
              </a:ext>
            </a:extLst>
          </p:cNvPr>
          <p:cNvSpPr txBox="1"/>
          <p:nvPr/>
        </p:nvSpPr>
        <p:spPr>
          <a:xfrm>
            <a:off x="33795" y="3792450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전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026254F-91C2-4049-8763-9FE54377F568}"/>
              </a:ext>
            </a:extLst>
          </p:cNvPr>
          <p:cNvSpPr txBox="1"/>
          <p:nvPr/>
        </p:nvSpPr>
        <p:spPr>
          <a:xfrm>
            <a:off x="33795" y="4260325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후</a:t>
            </a:r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2F600F76-E2A8-4213-A324-7F1D5E7CA1C5}"/>
              </a:ext>
            </a:extLst>
          </p:cNvPr>
          <p:cNvCxnSpPr/>
          <p:nvPr/>
        </p:nvCxnSpPr>
        <p:spPr>
          <a:xfrm flipH="1">
            <a:off x="0" y="4148667"/>
            <a:ext cx="80083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799920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377505" y="623270"/>
            <a:ext cx="28942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latin typeface="+mj-ea"/>
              </a:rPr>
              <a:t>loss_function</a:t>
            </a:r>
            <a:r>
              <a:rPr lang="en-US" altLang="ko-KR" sz="2400" dirty="0">
                <a:latin typeface="+mj-ea"/>
              </a:rPr>
              <a:t> : </a:t>
            </a:r>
            <a:r>
              <a:rPr lang="en-US" altLang="ko-KR" sz="2400" dirty="0" err="1">
                <a:latin typeface="+mj-ea"/>
              </a:rPr>
              <a:t>mae</a:t>
            </a:r>
            <a:r>
              <a:rPr lang="en-US" altLang="ko-KR" sz="2400" dirty="0">
                <a:latin typeface="+mj-ea"/>
              </a:rPr>
              <a:t> </a:t>
            </a:r>
            <a:r>
              <a:rPr lang="ko-KR" altLang="en-US" sz="2400" dirty="0">
                <a:latin typeface="+mj-ea"/>
                <a:ea typeface="+mj-ea"/>
              </a:rPr>
              <a:t>학습 코드 </a:t>
            </a:r>
            <a:r>
              <a:rPr lang="en-US" altLang="ko-KR" sz="2400" dirty="0">
                <a:latin typeface="+mj-ea"/>
                <a:ea typeface="+mj-ea"/>
              </a:rPr>
              <a:t>- </a:t>
            </a:r>
            <a:r>
              <a:rPr lang="ko-KR" altLang="en-US" sz="2400" dirty="0" err="1">
                <a:latin typeface="+mj-ea"/>
              </a:rPr>
              <a:t>대곡교</a:t>
            </a:r>
            <a:endParaRPr lang="ko-KR" altLang="en-US" sz="2400" dirty="0">
              <a:latin typeface="+mj-ea"/>
              <a:ea typeface="+mj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9DB7C3-A352-4434-832E-7169C75AB765}"/>
              </a:ext>
            </a:extLst>
          </p:cNvPr>
          <p:cNvSpPr txBox="1"/>
          <p:nvPr/>
        </p:nvSpPr>
        <p:spPr>
          <a:xfrm>
            <a:off x="1346199" y="1786468"/>
            <a:ext cx="8602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Train : Valid : Test = 5 : 1 : 1 </a:t>
            </a:r>
            <a:r>
              <a:rPr lang="ko-KR" altLang="en-US" dirty="0"/>
              <a:t>비율로 학습 진행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0B8BFE22-A6DD-4A55-8213-16C5AD4073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778" y="3746349"/>
            <a:ext cx="5316223" cy="178294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545FBF0-BD23-47BA-AE23-A9041F51CCD9}"/>
              </a:ext>
            </a:extLst>
          </p:cNvPr>
          <p:cNvSpPr txBox="1"/>
          <p:nvPr/>
        </p:nvSpPr>
        <p:spPr>
          <a:xfrm>
            <a:off x="900984" y="3109677"/>
            <a:ext cx="1740616" cy="402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200" dirty="0">
                <a:latin typeface="+mj-ea"/>
              </a:rPr>
              <a:t>Train Chart</a:t>
            </a:r>
            <a:endParaRPr lang="ko-KR" altLang="en-US" sz="1200" dirty="0">
              <a:latin typeface="+mj-ea"/>
            </a:endParaRP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D238A5F0-299E-4077-9F8D-068951B62BC1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951132" y="3017967"/>
          <a:ext cx="38360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734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Train</a:t>
                      </a:r>
                    </a:p>
                    <a:p>
                      <a:pPr latinLnBrk="1"/>
                      <a:r>
                        <a:rPr lang="en-US" altLang="ko-KR" sz="800" dirty="0"/>
                        <a:t>(5112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0.0917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0.0329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0.1823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0.955965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0.958530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4.670675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B7D669A1-8907-4568-A2E1-25292B6DBEE0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951132" y="4259181"/>
          <a:ext cx="38360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734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Valid</a:t>
                      </a:r>
                    </a:p>
                    <a:p>
                      <a:pPr latinLnBrk="1"/>
                      <a:r>
                        <a:rPr lang="en-US" altLang="ko-KR" sz="800" dirty="0"/>
                        <a:t>(1118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0.0920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0.0353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0.1294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0.940395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0.944118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5.373765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F056712E-EC2D-4F0E-9021-989704D3D209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951132" y="5500395"/>
          <a:ext cx="3785235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226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4845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5861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Test</a:t>
                      </a:r>
                    </a:p>
                    <a:p>
                      <a:pPr latinLnBrk="1"/>
                      <a:r>
                        <a:rPr lang="en-US" altLang="ko-KR" sz="800" dirty="0"/>
                        <a:t>(909 </a:t>
                      </a:r>
                      <a:r>
                        <a:rPr lang="ko-KR" altLang="en-US" sz="800" dirty="0"/>
                        <a:t>건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MAPE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RMSE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NSE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CoR2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QER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0.0834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0.0316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0.1313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0.947177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0.951074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10.481600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49A9D48B-61C4-43DD-8BFB-A77057EC0466}"/>
              </a:ext>
            </a:extLst>
          </p:cNvPr>
          <p:cNvSpPr txBox="1"/>
          <p:nvPr/>
        </p:nvSpPr>
        <p:spPr>
          <a:xfrm>
            <a:off x="6823157" y="2491201"/>
            <a:ext cx="23123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일괄 예측 수행 결과</a:t>
            </a:r>
          </a:p>
        </p:txBody>
      </p:sp>
    </p:spTree>
    <p:extLst>
      <p:ext uri="{BB962C8B-B14F-4D97-AF65-F5344CB8AC3E}">
        <p14:creationId xmlns:p14="http://schemas.microsoft.com/office/powerpoint/2010/main" val="103316646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57C67BA-B213-4D78-9FE6-DF21AEB555D8}"/>
              </a:ext>
            </a:extLst>
          </p:cNvPr>
          <p:cNvSpPr txBox="1"/>
          <p:nvPr/>
        </p:nvSpPr>
        <p:spPr>
          <a:xfrm>
            <a:off x="377504" y="623270"/>
            <a:ext cx="31146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latin typeface="+mj-ea"/>
              </a:rPr>
              <a:t>loss_function</a:t>
            </a:r>
            <a:r>
              <a:rPr lang="en-US" altLang="ko-KR" sz="2400" dirty="0">
                <a:latin typeface="+mj-ea"/>
              </a:rPr>
              <a:t> : </a:t>
            </a:r>
            <a:r>
              <a:rPr lang="en-US" altLang="ko-KR" sz="2400" dirty="0" err="1">
                <a:latin typeface="+mj-ea"/>
              </a:rPr>
              <a:t>mae</a:t>
            </a:r>
            <a:r>
              <a:rPr lang="en-US" altLang="ko-KR" sz="2400" dirty="0">
                <a:latin typeface="+mj-ea"/>
              </a:rPr>
              <a:t> </a:t>
            </a:r>
            <a:r>
              <a:rPr lang="ko-KR" altLang="en-US" sz="2400" dirty="0">
                <a:latin typeface="+mj-ea"/>
                <a:ea typeface="+mj-ea"/>
              </a:rPr>
              <a:t>예측코드 </a:t>
            </a:r>
            <a:r>
              <a:rPr lang="en-US" altLang="ko-KR" sz="2400" dirty="0">
                <a:latin typeface="+mj-ea"/>
                <a:ea typeface="+mj-ea"/>
              </a:rPr>
              <a:t>– </a:t>
            </a:r>
            <a:r>
              <a:rPr lang="ko-KR" altLang="en-US" sz="2400" dirty="0" err="1">
                <a:latin typeface="+mj-ea"/>
              </a:rPr>
              <a:t>대곡교</a:t>
            </a:r>
            <a:endParaRPr lang="en-US" altLang="ko-KR" sz="2400" dirty="0">
              <a:latin typeface="+mj-ea"/>
              <a:ea typeface="+mj-ea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870DAE88-89D1-4365-87E1-FBFF0ABEAB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8777" y="4327842"/>
            <a:ext cx="3073335" cy="1629122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9CC2F532-FFD0-4A20-9C83-AA2931377F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5629" y="4334377"/>
            <a:ext cx="3072345" cy="1614663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5C7BFFB7-7BD2-469B-AE71-D07AFD0081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8740" y="1966235"/>
            <a:ext cx="2998978" cy="1594670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DA77A378-F2E4-42E5-BD72-C5E526D88D6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1866" y="1968696"/>
            <a:ext cx="3043441" cy="161475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DC35017A-3C61-479F-8AC5-D7A54D6D90EF}"/>
              </a:ext>
            </a:extLst>
          </p:cNvPr>
          <p:cNvSpPr txBox="1"/>
          <p:nvPr/>
        </p:nvSpPr>
        <p:spPr>
          <a:xfrm>
            <a:off x="6261235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testdata_220712</a:t>
            </a:r>
            <a:endParaRPr lang="ko-KR" altLang="en-US" sz="1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A78EA19-5EE8-42BC-9B46-AD86E553F169}"/>
              </a:ext>
            </a:extLst>
          </p:cNvPr>
          <p:cNvSpPr txBox="1"/>
          <p:nvPr/>
        </p:nvSpPr>
        <p:spPr>
          <a:xfrm>
            <a:off x="9409377" y="3605498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000" dirty="0"/>
              <a:t>testdata_230711</a:t>
            </a:r>
            <a:endParaRPr lang="ko-KR" altLang="en-US" sz="10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24D4BE5-0A42-4ABD-884B-59F1198F30D3}"/>
              </a:ext>
            </a:extLst>
          </p:cNvPr>
          <p:cNvSpPr txBox="1"/>
          <p:nvPr/>
        </p:nvSpPr>
        <p:spPr>
          <a:xfrm>
            <a:off x="6261235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testdata_250716</a:t>
            </a:r>
            <a:endParaRPr lang="ko-KR" altLang="en-US" sz="10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E7E0FF2-1285-41FA-B3DE-117D4D9A396D}"/>
              </a:ext>
            </a:extLst>
          </p:cNvPr>
          <p:cNvSpPr txBox="1"/>
          <p:nvPr/>
        </p:nvSpPr>
        <p:spPr>
          <a:xfrm>
            <a:off x="9417592" y="6040135"/>
            <a:ext cx="1268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testdata_250814</a:t>
            </a:r>
            <a:endParaRPr lang="ko-KR" altLang="en-US" sz="1000" dirty="0"/>
          </a:p>
        </p:txBody>
      </p:sp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B46B42C9-AB75-43B5-BD7D-60B22669D40C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800836" y="1889775"/>
          <a:ext cx="4328033" cy="415036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bg1"/>
                          </a:solidFill>
                        </a:rPr>
                        <a:t>대곡교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testdata_220712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0.1707880218587715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0.11612243593150111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0.267141786151462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0.34076742205131805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testdata_230711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0.714071445867047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0.26024025628205844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0.4118883290555742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0.5101374876266774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testdata_250716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0.9559205520047541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0.020355276869649035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0.10858701308568325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0.1426719203965834</a:t>
                      </a:r>
                      <a:r>
                        <a:rPr lang="pt-BR" altLang="ko-KR" sz="1400" dirty="0"/>
                        <a:t> 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testdata_250814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0.8317512041579551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0.0583989882686915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0.20596396313773252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0.24165882617585374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621040"/>
                  </a:ext>
                </a:extLst>
              </a:tr>
            </a:tbl>
          </a:graphicData>
        </a:graphic>
      </p:graphicFrame>
      <p:sp>
        <p:nvSpPr>
          <p:cNvPr id="30" name="직사각형 29">
            <a:extLst>
              <a:ext uri="{FF2B5EF4-FFF2-40B4-BE49-F238E27FC236}">
                <a16:creationId xmlns:a16="http://schemas.microsoft.com/office/drawing/2014/main" id="{2F348C4C-E040-4C81-A6D5-E9669A27A3E1}"/>
              </a:ext>
            </a:extLst>
          </p:cNvPr>
          <p:cNvSpPr/>
          <p:nvPr/>
        </p:nvSpPr>
        <p:spPr>
          <a:xfrm>
            <a:off x="2241494" y="1889775"/>
            <a:ext cx="2887375" cy="41503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1A39D47-5919-4F4C-9E3B-1262150F175A}"/>
              </a:ext>
            </a:extLst>
          </p:cNvPr>
          <p:cNvSpPr txBox="1"/>
          <p:nvPr/>
        </p:nvSpPr>
        <p:spPr>
          <a:xfrm>
            <a:off x="33795" y="3792450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전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841C743-64C1-4DFA-B2F0-92A98CE7980B}"/>
              </a:ext>
            </a:extLst>
          </p:cNvPr>
          <p:cNvSpPr txBox="1"/>
          <p:nvPr/>
        </p:nvSpPr>
        <p:spPr>
          <a:xfrm>
            <a:off x="33795" y="4260325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ko-KR" altLang="en-US" sz="1000" dirty="0"/>
              <a:t>증설 후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A3E91D27-765F-4E82-9835-419F6D1AFCD6}"/>
              </a:ext>
            </a:extLst>
          </p:cNvPr>
          <p:cNvCxnSpPr/>
          <p:nvPr/>
        </p:nvCxnSpPr>
        <p:spPr>
          <a:xfrm flipH="1">
            <a:off x="0" y="4148667"/>
            <a:ext cx="80083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962778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11C99160-6B77-45EA-8F2B-8F764820117B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800836" y="1889775"/>
          <a:ext cx="4328033" cy="415036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49578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2878455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kern="1200" dirty="0" err="1">
                          <a:solidFill>
                            <a:schemeClr val="bg1"/>
                          </a:solidFill>
                          <a:latin typeface="+mj-ea"/>
                          <a:ea typeface="+mn-ea"/>
                          <a:cs typeface="+mn-cs"/>
                        </a:rPr>
                        <a:t>대곡교</a:t>
                      </a:r>
                      <a:endParaRPr lang="ko-KR" alt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testdata_220630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0.9777236746934758</a:t>
                      </a:r>
                    </a:p>
                    <a:p>
                      <a:pPr algn="ctr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0.016233493919632053</a:t>
                      </a:r>
                    </a:p>
                    <a:p>
                      <a:pPr algn="ctr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0.11147989061143665</a:t>
                      </a:r>
                    </a:p>
                    <a:p>
                      <a:pPr algn="ctr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0.12741072921709556</a:t>
                      </a:r>
                      <a:endParaRPr lang="pt-BR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testdata_220808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0.9339835003971326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0.034606867864965064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0.16529195626576734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0.18602921239677672</a:t>
                      </a:r>
                      <a:endParaRPr lang="ko-KR" altLang="en-US" sz="14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testdata_220630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0.9442066711562173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0.04065844128592935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0.17462185700734456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0.2016393842629196</a:t>
                      </a:r>
                      <a:r>
                        <a:rPr lang="pt-BR" altLang="ko-KR" sz="1400" dirty="0"/>
                        <a:t> </a:t>
                      </a:r>
                      <a:endParaRPr lang="ko-KR" altLang="en-US" sz="1400" b="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/>
                        <a:t>testdata_220808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dirty="0"/>
                        <a:t>r2 : </a:t>
                      </a:r>
                      <a:r>
                        <a:rPr lang="en-US" altLang="ko-KR" sz="1400" dirty="0"/>
                        <a:t>0.8683925832391469</a:t>
                      </a:r>
                      <a:endParaRPr lang="pt-BR" altLang="ko-KR" sz="1400" dirty="0"/>
                    </a:p>
                    <a:p>
                      <a:pPr algn="ctr" latinLnBrk="1"/>
                      <a:r>
                        <a:rPr lang="pt-BR" altLang="ko-KR" sz="1400" dirty="0"/>
                        <a:t>mse : </a:t>
                      </a:r>
                      <a:r>
                        <a:rPr lang="en-US" altLang="ko-KR" sz="1400" dirty="0"/>
                        <a:t>0.0689906388446929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mae : </a:t>
                      </a:r>
                      <a:r>
                        <a:rPr lang="en-US" altLang="ko-KR" sz="1400" dirty="0"/>
                        <a:t>0.2161240265104505</a:t>
                      </a:r>
                      <a:r>
                        <a:rPr lang="pt-BR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pt-BR" altLang="ko-KR" sz="1400" dirty="0"/>
                        <a:t>rmse : </a:t>
                      </a:r>
                      <a:r>
                        <a:rPr lang="en-US" altLang="ko-KR" sz="1400" dirty="0"/>
                        <a:t>0.2626606914722736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621040"/>
                  </a:ext>
                </a:extLst>
              </a:tr>
            </a:tbl>
          </a:graphicData>
        </a:graphic>
      </p:graphicFrame>
      <p:sp>
        <p:nvSpPr>
          <p:cNvPr id="27" name="직사각형 26">
            <a:extLst>
              <a:ext uri="{FF2B5EF4-FFF2-40B4-BE49-F238E27FC236}">
                <a16:creationId xmlns:a16="http://schemas.microsoft.com/office/drawing/2014/main" id="{4EF33900-A573-48EF-8975-0A2C5750C40D}"/>
              </a:ext>
            </a:extLst>
          </p:cNvPr>
          <p:cNvSpPr/>
          <p:nvPr/>
        </p:nvSpPr>
        <p:spPr>
          <a:xfrm>
            <a:off x="2241494" y="1889775"/>
            <a:ext cx="2887375" cy="41503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1A56FFC-2A2A-4585-A698-824F987F091A}"/>
              </a:ext>
            </a:extLst>
          </p:cNvPr>
          <p:cNvSpPr txBox="1"/>
          <p:nvPr/>
        </p:nvSpPr>
        <p:spPr>
          <a:xfrm>
            <a:off x="377504" y="623270"/>
            <a:ext cx="3114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latin typeface="+mj-ea"/>
                <a:ea typeface="+mj-ea"/>
              </a:rPr>
              <a:t>+) </a:t>
            </a:r>
            <a:r>
              <a:rPr lang="ko-KR" altLang="en-US" sz="2400" dirty="0">
                <a:latin typeface="+mj-ea"/>
                <a:ea typeface="+mj-ea"/>
              </a:rPr>
              <a:t>예측코드 </a:t>
            </a:r>
            <a:r>
              <a:rPr lang="en-US" altLang="ko-KR" sz="2400" dirty="0">
                <a:latin typeface="+mj-ea"/>
                <a:ea typeface="+mj-ea"/>
              </a:rPr>
              <a:t>– </a:t>
            </a:r>
            <a:r>
              <a:rPr lang="ko-KR" altLang="en-US" sz="2400" dirty="0" err="1">
                <a:latin typeface="+mj-ea"/>
                <a:ea typeface="+mj-ea"/>
              </a:rPr>
              <a:t>대곡교</a:t>
            </a:r>
            <a:endParaRPr lang="ko-KR" altLang="en-US" sz="2400" dirty="0">
              <a:latin typeface="+mj-ea"/>
              <a:ea typeface="+mj-ea"/>
            </a:endParaRP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CC287890-8D3F-4F75-B6EE-54A24D7225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3635" y="4334712"/>
            <a:ext cx="3083619" cy="1615381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34B44F8C-A4EF-4214-B85D-838A2A05AD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5810" y="4326463"/>
            <a:ext cx="3071983" cy="1630490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D1DF17EE-4843-4A32-BDAC-03BBE1594C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6787" y="1970948"/>
            <a:ext cx="2982885" cy="1585244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77E4CA0B-D49E-45B1-BAE8-60B9B42BF1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4414" y="1971487"/>
            <a:ext cx="2998345" cy="1609175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9666F396-617E-4A87-B71B-140F779486DE}"/>
              </a:ext>
            </a:extLst>
          </p:cNvPr>
          <p:cNvSpPr txBox="1"/>
          <p:nvPr/>
        </p:nvSpPr>
        <p:spPr>
          <a:xfrm>
            <a:off x="6261235" y="3605498"/>
            <a:ext cx="12684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testdata_220630 (</a:t>
            </a:r>
            <a:r>
              <a:rPr lang="en-US" altLang="ko-KR" sz="1000" dirty="0" err="1"/>
              <a:t>mse</a:t>
            </a:r>
            <a:r>
              <a:rPr lang="en-US" altLang="ko-KR" sz="1000" dirty="0"/>
              <a:t>)</a:t>
            </a:r>
            <a:endParaRPr lang="ko-KR" altLang="en-US" sz="1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CA25465-4979-4F8A-9B0A-4264AEA6DA31}"/>
              </a:ext>
            </a:extLst>
          </p:cNvPr>
          <p:cNvSpPr txBox="1"/>
          <p:nvPr/>
        </p:nvSpPr>
        <p:spPr>
          <a:xfrm>
            <a:off x="9409377" y="3605498"/>
            <a:ext cx="12684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testdata_220808 (</a:t>
            </a:r>
            <a:r>
              <a:rPr lang="en-US" altLang="ko-KR" sz="1000" dirty="0" err="1"/>
              <a:t>mse</a:t>
            </a:r>
            <a:r>
              <a:rPr lang="en-US" altLang="ko-KR" sz="1000" dirty="0"/>
              <a:t>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6B302A1-B195-4A71-8F8A-E20D52E67826}"/>
              </a:ext>
            </a:extLst>
          </p:cNvPr>
          <p:cNvSpPr txBox="1"/>
          <p:nvPr/>
        </p:nvSpPr>
        <p:spPr>
          <a:xfrm>
            <a:off x="6261235" y="6040135"/>
            <a:ext cx="12684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testdata_220630</a:t>
            </a:r>
          </a:p>
          <a:p>
            <a:pPr algn="ctr" latinLnBrk="1"/>
            <a:r>
              <a:rPr lang="en-US" altLang="ko-KR" sz="1000" dirty="0"/>
              <a:t>(</a:t>
            </a:r>
            <a:r>
              <a:rPr lang="en-US" altLang="ko-KR" sz="1000" dirty="0" err="1"/>
              <a:t>mae</a:t>
            </a:r>
            <a:r>
              <a:rPr lang="en-US" altLang="ko-KR" sz="1000" dirty="0"/>
              <a:t>)</a:t>
            </a:r>
            <a:endParaRPr lang="ko-KR" altLang="en-US" sz="10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CD4B0EC-3B8B-4308-B662-5880CA2DCDE8}"/>
              </a:ext>
            </a:extLst>
          </p:cNvPr>
          <p:cNvSpPr txBox="1"/>
          <p:nvPr/>
        </p:nvSpPr>
        <p:spPr>
          <a:xfrm>
            <a:off x="9417592" y="6040135"/>
            <a:ext cx="12684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/>
              <a:t>testdata_220808</a:t>
            </a:r>
          </a:p>
          <a:p>
            <a:pPr algn="ctr" latinLnBrk="1"/>
            <a:r>
              <a:rPr lang="en-US" altLang="ko-KR" sz="1000" dirty="0"/>
              <a:t>(</a:t>
            </a:r>
            <a:r>
              <a:rPr lang="en-US" altLang="ko-KR" sz="1000" dirty="0" err="1"/>
              <a:t>mae</a:t>
            </a:r>
            <a:r>
              <a:rPr lang="en-US" altLang="ko-KR" sz="1000" dirty="0"/>
              <a:t>)</a:t>
            </a:r>
            <a:endParaRPr lang="ko-KR" altLang="en-US" sz="1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A4AFE95-2DED-42BC-A1CA-CCD46CBA4F68}"/>
              </a:ext>
            </a:extLst>
          </p:cNvPr>
          <p:cNvSpPr txBox="1"/>
          <p:nvPr/>
        </p:nvSpPr>
        <p:spPr>
          <a:xfrm>
            <a:off x="33795" y="3792450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 err="1"/>
              <a:t>mse</a:t>
            </a:r>
            <a:endParaRPr lang="ko-KR" altLang="en-US" sz="10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E878C64-9135-48B4-AD37-DDB91950CAEC}"/>
              </a:ext>
            </a:extLst>
          </p:cNvPr>
          <p:cNvSpPr txBox="1"/>
          <p:nvPr/>
        </p:nvSpPr>
        <p:spPr>
          <a:xfrm>
            <a:off x="33795" y="4260325"/>
            <a:ext cx="732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US" altLang="ko-KR" sz="1000" dirty="0" err="1"/>
              <a:t>mae</a:t>
            </a:r>
            <a:endParaRPr lang="ko-KR" altLang="en-US" sz="1000" dirty="0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05E4055-07E8-4C56-93F5-5CE2B0B1AE01}"/>
              </a:ext>
            </a:extLst>
          </p:cNvPr>
          <p:cNvCxnSpPr/>
          <p:nvPr/>
        </p:nvCxnSpPr>
        <p:spPr>
          <a:xfrm flipH="1">
            <a:off x="0" y="4148667"/>
            <a:ext cx="80083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D76CA17-1386-4F7F-B295-8127F117FF6F}"/>
              </a:ext>
            </a:extLst>
          </p:cNvPr>
          <p:cNvSpPr txBox="1"/>
          <p:nvPr/>
        </p:nvSpPr>
        <p:spPr>
          <a:xfrm>
            <a:off x="3492155" y="804534"/>
            <a:ext cx="20044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( </a:t>
            </a:r>
            <a:r>
              <a:rPr lang="ko-KR" altLang="en-US" sz="1200" dirty="0"/>
              <a:t>학습에도 사용 된 데이터 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99249841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3526716" y="3105834"/>
            <a:ext cx="51385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 err="1">
                <a:solidFill>
                  <a:schemeClr val="accent6"/>
                </a:solidFill>
                <a:latin typeface="+mj-ea"/>
              </a:rPr>
              <a:t>learning_rate</a:t>
            </a:r>
            <a:r>
              <a:rPr lang="en-US" altLang="ko-KR" sz="3600" b="1" dirty="0">
                <a:solidFill>
                  <a:schemeClr val="accent6"/>
                </a:solidFill>
                <a:latin typeface="+mj-ea"/>
              </a:rPr>
              <a:t> =0.0003</a:t>
            </a:r>
          </a:p>
          <a:p>
            <a:pPr algn="ctr"/>
            <a:r>
              <a:rPr lang="en-US" altLang="ko-KR" sz="3600" b="1" dirty="0">
                <a:solidFill>
                  <a:schemeClr val="accent6"/>
                </a:solidFill>
                <a:latin typeface="+mj-ea"/>
              </a:rPr>
              <a:t>= 0.0001 </a:t>
            </a:r>
            <a:r>
              <a:rPr lang="ko-KR" altLang="en-US" sz="3600" b="1" dirty="0">
                <a:solidFill>
                  <a:schemeClr val="accent6"/>
                </a:solidFill>
                <a:latin typeface="+mj-ea"/>
              </a:rPr>
              <a:t>과 동일</a:t>
            </a:r>
            <a:endParaRPr lang="ko-KR" altLang="en-US" sz="3600" dirty="0">
              <a:solidFill>
                <a:schemeClr val="accent6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E5EB28-1DF1-4528-AB3A-C5237392F39A}"/>
              </a:ext>
            </a:extLst>
          </p:cNvPr>
          <p:cNvSpPr txBox="1"/>
          <p:nvPr/>
        </p:nvSpPr>
        <p:spPr>
          <a:xfrm>
            <a:off x="9270999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/dg)_(</a:t>
            </a:r>
            <a:r>
              <a:rPr lang="en-US" altLang="ko-KR" sz="1050" dirty="0" err="1"/>
              <a:t>mse</a:t>
            </a:r>
            <a:r>
              <a:rPr lang="en-US" altLang="ko-KR" sz="1050" dirty="0"/>
              <a:t>/</a:t>
            </a:r>
            <a:r>
              <a:rPr lang="en-US" altLang="ko-KR" sz="1050" dirty="0" err="1"/>
              <a:t>mae</a:t>
            </a:r>
            <a:r>
              <a:rPr lang="en-US" altLang="ko-KR" sz="1050" dirty="0"/>
              <a:t>)_4</a:t>
            </a:r>
            <a:endParaRPr lang="ko-KR" altLang="en-US" sz="1050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51226931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3431291" y="2828835"/>
            <a:ext cx="532941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 err="1">
                <a:solidFill>
                  <a:schemeClr val="accent6"/>
                </a:solidFill>
                <a:latin typeface="+mj-ea"/>
              </a:rPr>
              <a:t>learning_rate</a:t>
            </a:r>
            <a:r>
              <a:rPr lang="en-US" altLang="ko-KR" sz="3600" b="1" dirty="0">
                <a:solidFill>
                  <a:schemeClr val="accent6"/>
                </a:solidFill>
                <a:latin typeface="+mj-ea"/>
              </a:rPr>
              <a:t> =0.00005</a:t>
            </a:r>
          </a:p>
          <a:p>
            <a:pPr algn="ctr"/>
            <a:r>
              <a:rPr lang="en-US" altLang="ko-KR" sz="3600" b="1" dirty="0">
                <a:solidFill>
                  <a:schemeClr val="accent6"/>
                </a:solidFill>
                <a:latin typeface="+mj-ea"/>
              </a:rPr>
              <a:t>= 0.0001 </a:t>
            </a:r>
            <a:r>
              <a:rPr lang="ko-KR" altLang="en-US" sz="3600" b="1" dirty="0">
                <a:solidFill>
                  <a:schemeClr val="accent6"/>
                </a:solidFill>
                <a:latin typeface="+mj-ea"/>
              </a:rPr>
              <a:t>과 동일</a:t>
            </a:r>
            <a:endParaRPr lang="ko-KR" altLang="en-US" sz="3600" dirty="0">
              <a:solidFill>
                <a:schemeClr val="accent6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56CD0D-4C02-4620-9B35-2BA448B1E77F}"/>
              </a:ext>
            </a:extLst>
          </p:cNvPr>
          <p:cNvSpPr txBox="1"/>
          <p:nvPr/>
        </p:nvSpPr>
        <p:spPr>
          <a:xfrm>
            <a:off x="9270999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/dg)_(</a:t>
            </a:r>
            <a:r>
              <a:rPr lang="en-US" altLang="ko-KR" sz="1050" dirty="0" err="1"/>
              <a:t>mse</a:t>
            </a:r>
            <a:r>
              <a:rPr lang="en-US" altLang="ko-KR" sz="1050" dirty="0"/>
              <a:t>/</a:t>
            </a:r>
            <a:r>
              <a:rPr lang="en-US" altLang="ko-KR" sz="1050" dirty="0" err="1"/>
              <a:t>mae</a:t>
            </a:r>
            <a:r>
              <a:rPr lang="en-US" altLang="ko-KR" sz="1050" dirty="0"/>
              <a:t>)_5</a:t>
            </a:r>
            <a:endParaRPr lang="ko-KR" altLang="en-US" sz="1050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65496215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7084293" y="538530"/>
            <a:ext cx="7987242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 b="1" dirty="0">
                <a:latin typeface="+mj-ea"/>
                <a:ea typeface="+mj-ea"/>
              </a:rPr>
              <a:t>학습 데이터 증강 </a:t>
            </a:r>
            <a:r>
              <a:rPr lang="en-US" altLang="ko-KR" sz="1050" b="1" dirty="0">
                <a:latin typeface="+mj-ea"/>
                <a:ea typeface="+mj-ea"/>
              </a:rPr>
              <a:t>&amp;</a:t>
            </a:r>
          </a:p>
          <a:p>
            <a:pPr algn="ctr"/>
            <a:r>
              <a:rPr lang="ko-KR" altLang="en-US" sz="1050" b="1" dirty="0">
                <a:latin typeface="+mj-ea"/>
                <a:ea typeface="+mj-ea"/>
              </a:rPr>
              <a:t>예측 데이터 학습에서 제외 </a:t>
            </a:r>
            <a:r>
              <a:rPr lang="en-US" altLang="ko-KR" sz="1050" b="1" dirty="0">
                <a:latin typeface="+mj-ea"/>
                <a:ea typeface="+mj-ea"/>
              </a:rPr>
              <a:t>&amp; </a:t>
            </a:r>
          </a:p>
          <a:p>
            <a:pPr algn="ctr"/>
            <a:r>
              <a:rPr lang="ko-KR" altLang="en-US" sz="1050" b="1" dirty="0" err="1">
                <a:latin typeface="+mj-ea"/>
                <a:ea typeface="+mj-ea"/>
              </a:rPr>
              <a:t>학습률</a:t>
            </a:r>
            <a:r>
              <a:rPr lang="ko-KR" altLang="en-US" sz="1050" b="1" dirty="0">
                <a:latin typeface="+mj-ea"/>
                <a:ea typeface="+mj-ea"/>
              </a:rPr>
              <a:t> </a:t>
            </a:r>
            <a:r>
              <a:rPr lang="en-US" altLang="ko-KR" sz="1050" b="1" dirty="0">
                <a:latin typeface="+mj-ea"/>
              </a:rPr>
              <a:t>0.0005 -&gt; 0.0001</a:t>
            </a:r>
            <a:r>
              <a:rPr lang="ko-KR" altLang="en-US" sz="1050" dirty="0"/>
              <a:t> </a:t>
            </a:r>
            <a:r>
              <a:rPr lang="ko-KR" altLang="en-US" sz="1050" b="1" dirty="0">
                <a:latin typeface="+mj-ea"/>
                <a:ea typeface="+mj-ea"/>
              </a:rPr>
              <a:t>조정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029137-3F7E-4038-8EB0-41F68A7248A3}"/>
              </a:ext>
            </a:extLst>
          </p:cNvPr>
          <p:cNvSpPr txBox="1"/>
          <p:nvPr/>
        </p:nvSpPr>
        <p:spPr>
          <a:xfrm>
            <a:off x="2102379" y="3105834"/>
            <a:ext cx="79872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b="1" dirty="0">
                <a:solidFill>
                  <a:srgbClr val="FF0000"/>
                </a:solidFill>
                <a:latin typeface="+mj-ea"/>
                <a:ea typeface="+mj-ea"/>
              </a:rPr>
              <a:t>발표 자료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E1407D-00A0-42D0-A051-C02AE3022067}"/>
              </a:ext>
            </a:extLst>
          </p:cNvPr>
          <p:cNvSpPr txBox="1"/>
          <p:nvPr/>
        </p:nvSpPr>
        <p:spPr>
          <a:xfrm>
            <a:off x="9270999" y="169583"/>
            <a:ext cx="271780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050" dirty="0"/>
              <a:t>* model_(</a:t>
            </a:r>
            <a:r>
              <a:rPr lang="en-US" altLang="ko-KR" sz="1050" dirty="0" err="1"/>
              <a:t>gn</a:t>
            </a:r>
            <a:r>
              <a:rPr lang="en-US" altLang="ko-KR" sz="1050" dirty="0"/>
              <a:t>/dg)_(</a:t>
            </a:r>
            <a:r>
              <a:rPr lang="en-US" altLang="ko-KR" sz="1050" dirty="0" err="1"/>
              <a:t>mse</a:t>
            </a:r>
            <a:r>
              <a:rPr lang="en-US" altLang="ko-KR" sz="1050" dirty="0"/>
              <a:t>/</a:t>
            </a:r>
            <a:r>
              <a:rPr lang="en-US" altLang="ko-KR" sz="1050" dirty="0" err="1"/>
              <a:t>mae</a:t>
            </a:r>
            <a:r>
              <a:rPr lang="en-US" altLang="ko-KR" sz="1050" dirty="0"/>
              <a:t>)_3</a:t>
            </a:r>
            <a:endParaRPr lang="ko-KR" altLang="en-US" sz="1050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99805477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57C67BA-B213-4D78-9FE6-DF21AEB555D8}"/>
              </a:ext>
            </a:extLst>
          </p:cNvPr>
          <p:cNvSpPr txBox="1"/>
          <p:nvPr/>
        </p:nvSpPr>
        <p:spPr>
          <a:xfrm>
            <a:off x="377504" y="623270"/>
            <a:ext cx="33816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+mj-ea"/>
              </a:rPr>
              <a:t>MIET</a:t>
            </a:r>
            <a:r>
              <a:rPr lang="ko-KR" altLang="en-US" sz="2400" b="1" dirty="0">
                <a:latin typeface="+mj-ea"/>
              </a:rPr>
              <a:t> </a:t>
            </a:r>
            <a:r>
              <a:rPr lang="ko-KR" altLang="en-US" sz="2400" dirty="0">
                <a:latin typeface="+mj-ea"/>
                <a:ea typeface="+mj-ea"/>
              </a:rPr>
              <a:t>학습 데이터 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3EEA5D01-22F3-4984-8E02-DD8FCAC01A2A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140458" y="2419329"/>
          <a:ext cx="9692641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0560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6750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10814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4048918556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522523455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2162001719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38635649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4099286348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21081817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time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성남북초교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광주시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남한산초교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대장동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구미초교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한국학중앙연구원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2014-07-24 15:30:00</a:t>
                      </a:r>
                    </a:p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1.12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5.11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2.17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40.56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0F34946-E3D3-42D3-9474-97847E9700A7}"/>
              </a:ext>
            </a:extLst>
          </p:cNvPr>
          <p:cNvSpPr txBox="1"/>
          <p:nvPr/>
        </p:nvSpPr>
        <p:spPr>
          <a:xfrm>
            <a:off x="1064257" y="1791103"/>
            <a:ext cx="8602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홍수통제소 </a:t>
            </a:r>
            <a:r>
              <a:rPr lang="en-US" altLang="ko-KR" dirty="0"/>
              <a:t>API </a:t>
            </a:r>
            <a:r>
              <a:rPr lang="ko-KR" altLang="en-US" dirty="0"/>
              <a:t>호출 → </a:t>
            </a:r>
            <a:r>
              <a:rPr lang="en-US" altLang="ko-KR" dirty="0"/>
              <a:t>MIET</a:t>
            </a:r>
            <a:r>
              <a:rPr lang="ko-KR" altLang="en-US" dirty="0"/>
              <a:t> 활용 강우 이벤트 추출 → 관심 강우 포함 파일 추출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FCAFFAB-E3EC-4ABC-B056-47EE38272BC3}"/>
              </a:ext>
            </a:extLst>
          </p:cNvPr>
          <p:cNvSpPr txBox="1"/>
          <p:nvPr/>
        </p:nvSpPr>
        <p:spPr>
          <a:xfrm>
            <a:off x="1064257" y="3817651"/>
            <a:ext cx="80179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+ </a:t>
            </a:r>
            <a:r>
              <a:rPr lang="ko-KR" altLang="en-US" dirty="0"/>
              <a:t>기존 학습 데이터 통합 후</a:t>
            </a:r>
            <a:r>
              <a:rPr lang="en-US" altLang="ko-KR" dirty="0"/>
              <a:t> </a:t>
            </a:r>
            <a:r>
              <a:rPr lang="ko-KR" altLang="en-US" dirty="0"/>
              <a:t>중복 이벤트 제거</a:t>
            </a: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C74A5352-C7B7-4275-9E0B-4BA1B67E886D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140458" y="4427438"/>
          <a:ext cx="8012114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763588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6750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10814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4048918556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2162001719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4099286348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21081817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time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성남북초교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광주시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남한산초교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대장동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구미초교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한국학중앙연구원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KoPub돋움체 Medium"/>
                          <a:ea typeface="+mn-ea"/>
                          <a:cs typeface="+mn-cs"/>
                        </a:rPr>
                        <a:t>2014-08-20 10:50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0.96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1.84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09DBF372-14B3-481F-A0BC-69E398337249}"/>
              </a:ext>
            </a:extLst>
          </p:cNvPr>
          <p:cNvSpPr txBox="1"/>
          <p:nvPr/>
        </p:nvSpPr>
        <p:spPr>
          <a:xfrm>
            <a:off x="267438" y="5619425"/>
            <a:ext cx="115943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학습 </a:t>
            </a:r>
            <a:r>
              <a:rPr lang="en-US" altLang="ko-KR" dirty="0"/>
              <a:t>: </a:t>
            </a:r>
            <a:r>
              <a:rPr lang="ko-KR" altLang="en-US" dirty="0"/>
              <a:t>총 </a:t>
            </a:r>
            <a:r>
              <a:rPr lang="en-US" altLang="ko-KR" dirty="0"/>
              <a:t>67</a:t>
            </a:r>
            <a:r>
              <a:rPr lang="ko-KR" altLang="en-US" dirty="0"/>
              <a:t>개 中 </a:t>
            </a:r>
            <a:r>
              <a:rPr lang="en-US" altLang="ko-KR" dirty="0"/>
              <a:t>64</a:t>
            </a:r>
            <a:r>
              <a:rPr lang="ko-KR" altLang="en-US" dirty="0"/>
              <a:t>개  데이터 사용 </a:t>
            </a:r>
            <a:r>
              <a:rPr lang="en-US" altLang="ko-KR" dirty="0"/>
              <a:t>( 2014 </a:t>
            </a:r>
            <a:r>
              <a:rPr lang="ko-KR" altLang="en-US" dirty="0"/>
              <a:t>년 강우이벤트를 </a:t>
            </a:r>
            <a:r>
              <a:rPr lang="en-US" altLang="ko-KR" dirty="0"/>
              <a:t>Train</a:t>
            </a:r>
            <a:r>
              <a:rPr lang="ko-KR" altLang="en-US" dirty="0"/>
              <a:t>에서 </a:t>
            </a:r>
            <a:r>
              <a:rPr lang="en-US" altLang="ko-KR" dirty="0"/>
              <a:t>Test</a:t>
            </a:r>
            <a:r>
              <a:rPr lang="ko-KR" altLang="en-US" dirty="0"/>
              <a:t>로 이동 </a:t>
            </a:r>
            <a:r>
              <a:rPr lang="en-US" altLang="ko-KR" dirty="0"/>
              <a:t>) </a:t>
            </a:r>
          </a:p>
          <a:p>
            <a:br>
              <a:rPr lang="en-US" altLang="ko-KR" dirty="0"/>
            </a:br>
            <a:r>
              <a:rPr lang="ko-KR" altLang="en-US" dirty="0"/>
              <a:t>검증 </a:t>
            </a:r>
            <a:r>
              <a:rPr lang="en-US" altLang="ko-KR" dirty="0"/>
              <a:t>: </a:t>
            </a:r>
            <a:r>
              <a:rPr lang="ko-KR" altLang="en-US" dirty="0"/>
              <a:t>학습 데이터에서 제외한 </a:t>
            </a:r>
            <a:r>
              <a:rPr lang="en-US" altLang="ko-KR" dirty="0"/>
              <a:t>2</a:t>
            </a:r>
            <a:r>
              <a:rPr lang="ko-KR" altLang="en-US" dirty="0"/>
              <a:t>개 데이터 </a:t>
            </a:r>
            <a:r>
              <a:rPr lang="en-US" altLang="ko-KR" dirty="0"/>
              <a:t>(220713, 230711) + </a:t>
            </a:r>
            <a:r>
              <a:rPr lang="ko-KR" altLang="en-US" dirty="0"/>
              <a:t>학습에서 검증에 사용된 데이터 </a:t>
            </a:r>
            <a:r>
              <a:rPr lang="en-US" altLang="ko-KR" dirty="0"/>
              <a:t>(250716, 250814) </a:t>
            </a:r>
            <a:r>
              <a:rPr lang="ko-KR" altLang="en-US" dirty="0"/>
              <a:t>사용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D00494-A5E8-4259-BF23-B27A56DB11CF}"/>
              </a:ext>
            </a:extLst>
          </p:cNvPr>
          <p:cNvSpPr txBox="1"/>
          <p:nvPr/>
        </p:nvSpPr>
        <p:spPr>
          <a:xfrm>
            <a:off x="4459390" y="6498443"/>
            <a:ext cx="122766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22</a:t>
            </a:r>
            <a:r>
              <a:rPr lang="ko-KR" altLang="en-US" sz="900" dirty="0"/>
              <a:t>년 </a:t>
            </a:r>
            <a:r>
              <a:rPr lang="en-US" altLang="ko-KR" sz="900" dirty="0"/>
              <a:t>7</a:t>
            </a:r>
            <a:r>
              <a:rPr lang="ko-KR" altLang="en-US" sz="900" dirty="0"/>
              <a:t>월 </a:t>
            </a:r>
            <a:r>
              <a:rPr lang="en-US" altLang="ko-KR" sz="900" dirty="0"/>
              <a:t>12 +13  </a:t>
            </a:r>
            <a:r>
              <a:rPr lang="ko-KR" altLang="en-US" sz="900" dirty="0"/>
              <a:t>자료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8D13435-A4EF-4D70-923E-82CAF22BAC28}"/>
              </a:ext>
            </a:extLst>
          </p:cNvPr>
          <p:cNvSpPr txBox="1"/>
          <p:nvPr/>
        </p:nvSpPr>
        <p:spPr>
          <a:xfrm>
            <a:off x="9474199" y="279650"/>
            <a:ext cx="2717801" cy="10152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50" b="1" dirty="0"/>
              <a:t>관심 수위 </a:t>
            </a:r>
            <a:r>
              <a:rPr lang="en-US" altLang="ko-KR" sz="1050" b="1" dirty="0"/>
              <a:t>: </a:t>
            </a:r>
            <a:r>
              <a:rPr lang="ko-KR" altLang="en-US" sz="1050" b="1" dirty="0" err="1"/>
              <a:t>궁내교</a:t>
            </a:r>
            <a:r>
              <a:rPr lang="ko-KR" altLang="en-US" sz="1050" b="1" dirty="0"/>
              <a:t> </a:t>
            </a:r>
            <a:r>
              <a:rPr lang="en-US" altLang="ko-KR" sz="1050" b="1" dirty="0"/>
              <a:t>( 2 )  </a:t>
            </a:r>
            <a:r>
              <a:rPr lang="ko-KR" altLang="en-US" sz="1050" b="1" dirty="0" err="1"/>
              <a:t>대곡교</a:t>
            </a:r>
            <a:r>
              <a:rPr lang="ko-KR" altLang="en-US" sz="1050" b="1" dirty="0"/>
              <a:t> </a:t>
            </a:r>
            <a:r>
              <a:rPr lang="en-US" altLang="ko-KR" sz="1050" b="1" dirty="0"/>
              <a:t>( 3.8 )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0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smoothing : </a:t>
            </a:r>
            <a:r>
              <a:rPr lang="ko-KR" altLang="en-US" sz="105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궁내교</a:t>
            </a:r>
            <a:r>
              <a:rPr lang="ko-KR" altLang="en-US" sz="10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ko-KR" sz="10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( </a:t>
            </a:r>
            <a:r>
              <a:rPr lang="en-US" altLang="ko-KR" sz="105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</a:rPr>
              <a:t>1 ) </a:t>
            </a:r>
            <a:r>
              <a:rPr lang="ko-KR" altLang="en-US" sz="105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</a:rPr>
              <a:t>대곡교</a:t>
            </a:r>
            <a:r>
              <a:rPr lang="ko-KR" altLang="en-US" sz="105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</a:rPr>
              <a:t> </a:t>
            </a:r>
            <a:r>
              <a:rPr lang="en-US" altLang="ko-KR" sz="105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</a:rPr>
              <a:t>( 2 )</a:t>
            </a:r>
            <a:endParaRPr lang="en-US" altLang="ko-KR" sz="1050" b="1" dirty="0"/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050" b="1" dirty="0" err="1">
                <a:latin typeface="+mj-ea"/>
              </a:rPr>
              <a:t>learning_rate</a:t>
            </a:r>
            <a:r>
              <a:rPr lang="en-US" altLang="ko-KR" sz="1050" b="1" dirty="0">
                <a:latin typeface="+mj-ea"/>
              </a:rPr>
              <a:t> = 0.0005 </a:t>
            </a:r>
            <a:r>
              <a:rPr lang="ko-KR" altLang="en-US" sz="1050" b="1" dirty="0">
                <a:latin typeface="+mj-ea"/>
              </a:rPr>
              <a:t>→ </a:t>
            </a:r>
            <a:r>
              <a:rPr lang="en-US" altLang="ko-KR" sz="1050" b="1" dirty="0">
                <a:latin typeface="+mj-ea"/>
              </a:rPr>
              <a:t>0.0001</a:t>
            </a:r>
            <a:endParaRPr lang="ko-KR" altLang="en-US" sz="1050" dirty="0"/>
          </a:p>
        </p:txBody>
      </p:sp>
    </p:spTree>
    <p:extLst>
      <p:ext uri="{BB962C8B-B14F-4D97-AF65-F5344CB8AC3E}">
        <p14:creationId xmlns:p14="http://schemas.microsoft.com/office/powerpoint/2010/main" val="278024067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4648899" y="2828835"/>
            <a:ext cx="28942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b="1" dirty="0" err="1">
                <a:latin typeface="+mj-ea"/>
                <a:ea typeface="+mj-ea"/>
              </a:rPr>
              <a:t>궁내교</a:t>
            </a:r>
            <a:endParaRPr lang="en-US" altLang="ko-KR" sz="3600" b="1" dirty="0">
              <a:latin typeface="+mj-ea"/>
              <a:ea typeface="+mj-ea"/>
            </a:endParaRPr>
          </a:p>
          <a:p>
            <a:pPr algn="ctr"/>
            <a:r>
              <a:rPr lang="en-US" altLang="ko-KR" sz="3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smoothing = </a:t>
            </a:r>
            <a:r>
              <a:rPr lang="en-US" altLang="ko-KR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</a:rPr>
              <a:t>1</a:t>
            </a:r>
            <a:endParaRPr lang="ko-KR" altLang="en-US" sz="3600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0447238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>
            <a:extLst>
              <a:ext uri="{FF2B5EF4-FFF2-40B4-BE49-F238E27FC236}">
                <a16:creationId xmlns:a16="http://schemas.microsoft.com/office/drawing/2014/main" id="{21A56FFC-2A2A-4585-A698-824F987F091A}"/>
              </a:ext>
            </a:extLst>
          </p:cNvPr>
          <p:cNvSpPr txBox="1"/>
          <p:nvPr/>
        </p:nvSpPr>
        <p:spPr>
          <a:xfrm>
            <a:off x="377504" y="623270"/>
            <a:ext cx="3114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err="1">
                <a:latin typeface="+mj-ea"/>
                <a:ea typeface="+mj-ea"/>
              </a:rPr>
              <a:t>궁내교</a:t>
            </a:r>
            <a:endParaRPr lang="ko-KR" altLang="en-US" sz="2400" b="1" dirty="0">
              <a:latin typeface="+mj-ea"/>
              <a:ea typeface="+mj-ea"/>
            </a:endParaRPr>
          </a:p>
        </p:txBody>
      </p:sp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19B83AEC-78DC-4360-A863-01F81D187A0B}"/>
              </a:ext>
            </a:extLst>
          </p:cNvPr>
          <p:cNvGraphicFramePr>
            <a:graphicFrameLocks noGrp="1"/>
          </p:cNvGraphicFramePr>
          <p:nvPr/>
        </p:nvGraphicFramePr>
        <p:xfrm>
          <a:off x="970095" y="1718010"/>
          <a:ext cx="2329498" cy="427482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759143">
                  <a:extLst>
                    <a:ext uri="{9D8B030D-6E8A-4147-A177-3AD203B41FA5}">
                      <a16:colId xmlns:a16="http://schemas.microsoft.com/office/drawing/2014/main" val="3939058255"/>
                    </a:ext>
                  </a:extLst>
                </a:gridCol>
                <a:gridCol w="626745">
                  <a:extLst>
                    <a:ext uri="{9D8B030D-6E8A-4147-A177-3AD203B41FA5}">
                      <a16:colId xmlns:a16="http://schemas.microsoft.com/office/drawing/2014/main" val="4282892620"/>
                    </a:ext>
                  </a:extLst>
                </a:gridCol>
                <a:gridCol w="492443">
                  <a:extLst>
                    <a:ext uri="{9D8B030D-6E8A-4147-A177-3AD203B41FA5}">
                      <a16:colId xmlns:a16="http://schemas.microsoft.com/office/drawing/2014/main" val="1182470354"/>
                    </a:ext>
                  </a:extLst>
                </a:gridCol>
                <a:gridCol w="451167">
                  <a:extLst>
                    <a:ext uri="{9D8B030D-6E8A-4147-A177-3AD203B41FA5}">
                      <a16:colId xmlns:a16="http://schemas.microsoft.com/office/drawing/2014/main" val="1583914280"/>
                    </a:ext>
                  </a:extLst>
                </a:gridCol>
              </a:tblGrid>
              <a:tr h="2207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/>
                        <a:t>20230711</a:t>
                      </a:r>
                      <a:endParaRPr lang="ko-KR" altLang="en-US" sz="1050" b="1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b="1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b="1" dirty="0"/>
                        <a:t> MSE</a:t>
                      </a:r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MAE</a:t>
                      </a:r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539868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07</a:t>
                      </a:r>
                      <a:r>
                        <a:rPr lang="ko-KR" altLang="en-US" sz="1050" dirty="0"/>
                        <a:t>시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R2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0.92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0.86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05810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MSE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0.02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0.04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541845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MAE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0.12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0.13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366521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RMSE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0.15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0.20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6693033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08</a:t>
                      </a:r>
                      <a:r>
                        <a:rPr lang="ko-KR" altLang="en-US" sz="1050" dirty="0"/>
                        <a:t>시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R2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0.91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0.86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109894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MSE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0.02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0.03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691677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MAE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0.12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0.12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106658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RMSE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0.14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0.17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5993519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09</a:t>
                      </a:r>
                      <a:r>
                        <a:rPr lang="ko-KR" altLang="en-US" sz="1050" dirty="0"/>
                        <a:t>시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R2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0.65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0.78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84129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MSE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0.04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0.03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507010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MAE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0.16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0.14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394271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RMSE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0.21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0.16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1421413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10</a:t>
                      </a:r>
                      <a:r>
                        <a:rPr lang="ko-KR" altLang="en-US" sz="1050" dirty="0"/>
                        <a:t>시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R2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-0.26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0.11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603724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MSE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0.03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0.02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695456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MAE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0.16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0.13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773282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RMSE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0.17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0.14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9353580"/>
                  </a:ext>
                </a:extLst>
              </a:tr>
            </a:tbl>
          </a:graphicData>
        </a:graphic>
      </p:graphicFrame>
      <p:graphicFrame>
        <p:nvGraphicFramePr>
          <p:cNvPr id="20" name="차트 19">
            <a:extLst>
              <a:ext uri="{FF2B5EF4-FFF2-40B4-BE49-F238E27FC236}">
                <a16:creationId xmlns:a16="http://schemas.microsoft.com/office/drawing/2014/main" id="{23E1F8AA-F986-41DF-8AB1-0C8D19F288C7}"/>
              </a:ext>
            </a:extLst>
          </p:cNvPr>
          <p:cNvGraphicFramePr>
            <a:graphicFrameLocks/>
          </p:cNvGraphicFramePr>
          <p:nvPr/>
        </p:nvGraphicFramePr>
        <p:xfrm>
          <a:off x="4473576" y="889170"/>
          <a:ext cx="3552824" cy="238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1" name="차트 20">
            <a:extLst>
              <a:ext uri="{FF2B5EF4-FFF2-40B4-BE49-F238E27FC236}">
                <a16:creationId xmlns:a16="http://schemas.microsoft.com/office/drawing/2014/main" id="{A22B7C75-0B5C-46A0-8DD5-1253C3EA1E1E}"/>
              </a:ext>
            </a:extLst>
          </p:cNvPr>
          <p:cNvGraphicFramePr>
            <a:graphicFrameLocks/>
          </p:cNvGraphicFramePr>
          <p:nvPr/>
        </p:nvGraphicFramePr>
        <p:xfrm>
          <a:off x="8171922" y="889170"/>
          <a:ext cx="3552824" cy="238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3" name="차트 22">
            <a:extLst>
              <a:ext uri="{FF2B5EF4-FFF2-40B4-BE49-F238E27FC236}">
                <a16:creationId xmlns:a16="http://schemas.microsoft.com/office/drawing/2014/main" id="{3BF3D94B-875C-4D4C-94EF-ED04C47C6C22}"/>
              </a:ext>
            </a:extLst>
          </p:cNvPr>
          <p:cNvGraphicFramePr>
            <a:graphicFrameLocks/>
          </p:cNvGraphicFramePr>
          <p:nvPr/>
        </p:nvGraphicFramePr>
        <p:xfrm>
          <a:off x="4353456" y="3855420"/>
          <a:ext cx="3552824" cy="238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6" name="차트 25">
            <a:extLst>
              <a:ext uri="{FF2B5EF4-FFF2-40B4-BE49-F238E27FC236}">
                <a16:creationId xmlns:a16="http://schemas.microsoft.com/office/drawing/2014/main" id="{8BD79857-B1A5-4D77-888D-80308FB23AC6}"/>
              </a:ext>
            </a:extLst>
          </p:cNvPr>
          <p:cNvGraphicFramePr>
            <a:graphicFrameLocks/>
          </p:cNvGraphicFramePr>
          <p:nvPr/>
        </p:nvGraphicFramePr>
        <p:xfrm>
          <a:off x="8171922" y="3855420"/>
          <a:ext cx="3552824" cy="238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B69BF9FF-E3B3-4610-9B4D-614545F1F526}"/>
              </a:ext>
            </a:extLst>
          </p:cNvPr>
          <p:cNvSpPr txBox="1"/>
          <p:nvPr/>
        </p:nvSpPr>
        <p:spPr>
          <a:xfrm>
            <a:off x="775944" y="6401050"/>
            <a:ext cx="271780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>
              <a:defRPr/>
            </a:pPr>
            <a:r>
              <a:rPr lang="en-US" altLang="ko-KR" sz="1050" dirty="0"/>
              <a:t>* R2(%) MSE(m²) MAE(m) </a:t>
            </a:r>
            <a:r>
              <a:rPr lang="pt-BR" altLang="ko-KR" sz="1050" dirty="0"/>
              <a:t>RMSE(m)</a:t>
            </a:r>
          </a:p>
        </p:txBody>
      </p:sp>
    </p:spTree>
    <p:extLst>
      <p:ext uri="{BB962C8B-B14F-4D97-AF65-F5344CB8AC3E}">
        <p14:creationId xmlns:p14="http://schemas.microsoft.com/office/powerpoint/2010/main" val="307577545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>
            <a:extLst>
              <a:ext uri="{FF2B5EF4-FFF2-40B4-BE49-F238E27FC236}">
                <a16:creationId xmlns:a16="http://schemas.microsoft.com/office/drawing/2014/main" id="{21A56FFC-2A2A-4585-A698-824F987F091A}"/>
              </a:ext>
            </a:extLst>
          </p:cNvPr>
          <p:cNvSpPr txBox="1"/>
          <p:nvPr/>
        </p:nvSpPr>
        <p:spPr>
          <a:xfrm>
            <a:off x="377504" y="623270"/>
            <a:ext cx="3114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err="1">
                <a:latin typeface="+mj-ea"/>
                <a:ea typeface="+mj-ea"/>
              </a:rPr>
              <a:t>궁내교</a:t>
            </a:r>
            <a:endParaRPr lang="ko-KR" altLang="en-US" sz="2400" b="1" dirty="0">
              <a:latin typeface="+mj-ea"/>
              <a:ea typeface="+mj-ea"/>
            </a:endParaRP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329ABAA1-D8AE-4AE7-8C85-12613176C5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6906" y="268875"/>
            <a:ext cx="2499539" cy="1307400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27F7CFD9-27CB-433C-BCA8-32238E42D1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9815" y="1874737"/>
            <a:ext cx="2487414" cy="1313950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4B26263B-FB8C-4864-82A2-94220B5321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1990" y="3483874"/>
            <a:ext cx="2503063" cy="1317402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294B0B60-55C1-4BB2-BD5B-7DF39BB6F94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4416" y="5096463"/>
            <a:ext cx="2502682" cy="1313950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BCBE775B-A1ED-42FB-86E3-0B0FF8C86F1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2049" y="265600"/>
            <a:ext cx="2498168" cy="1313950"/>
          </a:xfrm>
          <a:prstGeom prst="rect">
            <a:avLst/>
          </a:prstGeom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32D9C79C-E266-44DE-92B5-B7ED3B1FF41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2706" y="1874737"/>
            <a:ext cx="2490547" cy="1313950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C868E2D7-2738-4BBE-97D3-CC8F12558A0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4319" y="3483874"/>
            <a:ext cx="2487321" cy="1317402"/>
          </a:xfrm>
          <a:prstGeom prst="rect">
            <a:avLst/>
          </a:prstGeom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08DE597D-FD10-4E6F-8529-0657D5ED40B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1962" y="5096463"/>
            <a:ext cx="2496505" cy="13139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67022EF-56EA-4155-8E90-B216DF98392B}"/>
              </a:ext>
            </a:extLst>
          </p:cNvPr>
          <p:cNvSpPr txBox="1"/>
          <p:nvPr/>
        </p:nvSpPr>
        <p:spPr>
          <a:xfrm>
            <a:off x="7529088" y="1559353"/>
            <a:ext cx="66886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/>
              <a:t>07_mse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1ABE912-B8C2-4CFD-A2DC-98437C9FAB00}"/>
              </a:ext>
            </a:extLst>
          </p:cNvPr>
          <p:cNvSpPr txBox="1"/>
          <p:nvPr/>
        </p:nvSpPr>
        <p:spPr>
          <a:xfrm>
            <a:off x="7529087" y="3188687"/>
            <a:ext cx="66886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/>
              <a:t>08_mse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3E351A7-F58E-45DC-B85F-5F89BA250C65}"/>
              </a:ext>
            </a:extLst>
          </p:cNvPr>
          <p:cNvSpPr txBox="1"/>
          <p:nvPr/>
        </p:nvSpPr>
        <p:spPr>
          <a:xfrm>
            <a:off x="7529087" y="4756553"/>
            <a:ext cx="66886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/>
              <a:t>09_mse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67CE9C5-81EC-48C4-AA9E-721AA523E9E8}"/>
              </a:ext>
            </a:extLst>
          </p:cNvPr>
          <p:cNvSpPr txBox="1"/>
          <p:nvPr/>
        </p:nvSpPr>
        <p:spPr>
          <a:xfrm>
            <a:off x="7529087" y="6451684"/>
            <a:ext cx="66886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/>
              <a:t>10_mse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CB2DFA1-1DA9-45DB-9D7D-CF0BC589A171}"/>
              </a:ext>
            </a:extLst>
          </p:cNvPr>
          <p:cNvSpPr txBox="1"/>
          <p:nvPr/>
        </p:nvSpPr>
        <p:spPr>
          <a:xfrm>
            <a:off x="10556960" y="1559353"/>
            <a:ext cx="66886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/>
              <a:t>07_mae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74CD721-AD84-4A48-A823-70AAEFF339EC}"/>
              </a:ext>
            </a:extLst>
          </p:cNvPr>
          <p:cNvSpPr txBox="1"/>
          <p:nvPr/>
        </p:nvSpPr>
        <p:spPr>
          <a:xfrm>
            <a:off x="10556959" y="3188687"/>
            <a:ext cx="66886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/>
              <a:t>08_mae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D864674-90B1-41A6-9E1C-BEA798C4C827}"/>
              </a:ext>
            </a:extLst>
          </p:cNvPr>
          <p:cNvSpPr txBox="1"/>
          <p:nvPr/>
        </p:nvSpPr>
        <p:spPr>
          <a:xfrm>
            <a:off x="10556959" y="4756553"/>
            <a:ext cx="66886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/>
              <a:t>09_mae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1DFB552-939F-442E-8988-0E420C1D3D20}"/>
              </a:ext>
            </a:extLst>
          </p:cNvPr>
          <p:cNvSpPr txBox="1"/>
          <p:nvPr/>
        </p:nvSpPr>
        <p:spPr>
          <a:xfrm>
            <a:off x="10556959" y="6451684"/>
            <a:ext cx="66886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/>
              <a:t>10_mae</a:t>
            </a:r>
          </a:p>
        </p:txBody>
      </p:sp>
    </p:spTree>
    <p:extLst>
      <p:ext uri="{BB962C8B-B14F-4D97-AF65-F5344CB8AC3E}">
        <p14:creationId xmlns:p14="http://schemas.microsoft.com/office/powerpoint/2010/main" val="3305138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>
            <a:extLst>
              <a:ext uri="{FF2B5EF4-FFF2-40B4-BE49-F238E27FC236}">
                <a16:creationId xmlns:a16="http://schemas.microsoft.com/office/drawing/2014/main" id="{21A56FFC-2A2A-4585-A698-824F987F091A}"/>
              </a:ext>
            </a:extLst>
          </p:cNvPr>
          <p:cNvSpPr txBox="1"/>
          <p:nvPr/>
        </p:nvSpPr>
        <p:spPr>
          <a:xfrm>
            <a:off x="377504" y="623270"/>
            <a:ext cx="3114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err="1">
                <a:latin typeface="+mj-ea"/>
                <a:ea typeface="+mj-ea"/>
              </a:rPr>
              <a:t>궁내교</a:t>
            </a:r>
            <a:endParaRPr lang="ko-KR" altLang="en-US" sz="2400" b="1" dirty="0">
              <a:latin typeface="+mj-ea"/>
              <a:ea typeface="+mj-ea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80AE669-691B-49D9-AA20-2737160C7409}"/>
              </a:ext>
            </a:extLst>
          </p:cNvPr>
          <p:cNvSpPr txBox="1"/>
          <p:nvPr/>
        </p:nvSpPr>
        <p:spPr>
          <a:xfrm>
            <a:off x="775944" y="6401050"/>
            <a:ext cx="271780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>
              <a:defRPr/>
            </a:pPr>
            <a:r>
              <a:rPr lang="en-US" altLang="ko-KR" sz="1050" dirty="0"/>
              <a:t>* R2(%) MSE(m²) MAE(m) </a:t>
            </a:r>
            <a:r>
              <a:rPr lang="pt-BR" altLang="ko-KR" sz="1050" dirty="0"/>
              <a:t>RMSE(m)</a:t>
            </a:r>
          </a:p>
        </p:txBody>
      </p:sp>
      <p:graphicFrame>
        <p:nvGraphicFramePr>
          <p:cNvPr id="31" name="표 30">
            <a:extLst>
              <a:ext uri="{FF2B5EF4-FFF2-40B4-BE49-F238E27FC236}">
                <a16:creationId xmlns:a16="http://schemas.microsoft.com/office/drawing/2014/main" id="{9758E58F-5D42-4043-8BA1-5A105EF74F88}"/>
              </a:ext>
            </a:extLst>
          </p:cNvPr>
          <p:cNvGraphicFramePr>
            <a:graphicFrameLocks noGrp="1"/>
          </p:cNvGraphicFramePr>
          <p:nvPr/>
        </p:nvGraphicFramePr>
        <p:xfrm>
          <a:off x="970095" y="1605582"/>
          <a:ext cx="2329498" cy="427482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759143">
                  <a:extLst>
                    <a:ext uri="{9D8B030D-6E8A-4147-A177-3AD203B41FA5}">
                      <a16:colId xmlns:a16="http://schemas.microsoft.com/office/drawing/2014/main" val="3939058255"/>
                    </a:ext>
                  </a:extLst>
                </a:gridCol>
                <a:gridCol w="626745">
                  <a:extLst>
                    <a:ext uri="{9D8B030D-6E8A-4147-A177-3AD203B41FA5}">
                      <a16:colId xmlns:a16="http://schemas.microsoft.com/office/drawing/2014/main" val="4282892620"/>
                    </a:ext>
                  </a:extLst>
                </a:gridCol>
                <a:gridCol w="492443">
                  <a:extLst>
                    <a:ext uri="{9D8B030D-6E8A-4147-A177-3AD203B41FA5}">
                      <a16:colId xmlns:a16="http://schemas.microsoft.com/office/drawing/2014/main" val="1182470354"/>
                    </a:ext>
                  </a:extLst>
                </a:gridCol>
                <a:gridCol w="451167">
                  <a:extLst>
                    <a:ext uri="{9D8B030D-6E8A-4147-A177-3AD203B41FA5}">
                      <a16:colId xmlns:a16="http://schemas.microsoft.com/office/drawing/2014/main" val="1583914280"/>
                    </a:ext>
                  </a:extLst>
                </a:gridCol>
              </a:tblGrid>
              <a:tr h="2207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/>
                        <a:t>20250814</a:t>
                      </a:r>
                      <a:endParaRPr lang="ko-KR" altLang="en-US" sz="1050" b="1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b="1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b="1" dirty="0"/>
                        <a:t> MSE</a:t>
                      </a:r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MAE</a:t>
                      </a:r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539868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04</a:t>
                      </a:r>
                      <a:r>
                        <a:rPr lang="ko-KR" altLang="en-US" sz="1050" dirty="0"/>
                        <a:t>시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R2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0.96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0.75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05810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MSE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0.01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0.03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541845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MAE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0.06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0.12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366521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RMSE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0.07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0.17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6693033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05</a:t>
                      </a:r>
                      <a:r>
                        <a:rPr lang="ko-KR" altLang="en-US" sz="1050" dirty="0"/>
                        <a:t>시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R2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0.84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0.62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109894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MSE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0.06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0.03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691677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MAE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0.17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0.13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106658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RMSE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0.24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0.16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5993519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06</a:t>
                      </a:r>
                      <a:r>
                        <a:rPr lang="ko-KR" altLang="en-US" sz="1050" dirty="0"/>
                        <a:t>시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R2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0.39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0.47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84129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MSE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0.02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0.02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507010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MAE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0.14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0.11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394271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RMSE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0.16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0.15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1421413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07</a:t>
                      </a:r>
                      <a:r>
                        <a:rPr lang="ko-KR" altLang="en-US" sz="1050" dirty="0"/>
                        <a:t>시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R2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0.72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0.65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603724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MSE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0.01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0.02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695456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MAE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0.10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0.10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773282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RMSE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0.12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0.14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9353580"/>
                  </a:ext>
                </a:extLst>
              </a:tr>
            </a:tbl>
          </a:graphicData>
        </a:graphic>
      </p:graphicFrame>
      <p:graphicFrame>
        <p:nvGraphicFramePr>
          <p:cNvPr id="32" name="차트 31">
            <a:extLst>
              <a:ext uri="{FF2B5EF4-FFF2-40B4-BE49-F238E27FC236}">
                <a16:creationId xmlns:a16="http://schemas.microsoft.com/office/drawing/2014/main" id="{6A661D92-44DA-4498-839E-7431995C1AD7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4099615" y="884986"/>
          <a:ext cx="3552824" cy="238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3" name="차트 32">
            <a:extLst>
              <a:ext uri="{FF2B5EF4-FFF2-40B4-BE49-F238E27FC236}">
                <a16:creationId xmlns:a16="http://schemas.microsoft.com/office/drawing/2014/main" id="{E859B1ED-3057-4D92-B17A-F691C17F635F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8002748" y="884986"/>
          <a:ext cx="3552824" cy="238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4" name="차트 33">
            <a:extLst>
              <a:ext uri="{FF2B5EF4-FFF2-40B4-BE49-F238E27FC236}">
                <a16:creationId xmlns:a16="http://schemas.microsoft.com/office/drawing/2014/main" id="{86D88965-D4E6-49B9-B31E-F7223D0B8D12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4099615" y="3619719"/>
          <a:ext cx="3552824" cy="238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35" name="차트 34">
            <a:extLst>
              <a:ext uri="{FF2B5EF4-FFF2-40B4-BE49-F238E27FC236}">
                <a16:creationId xmlns:a16="http://schemas.microsoft.com/office/drawing/2014/main" id="{DE53E125-79E3-4C53-A0FB-2245E37E1355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8002748" y="3780586"/>
          <a:ext cx="3552824" cy="238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14876747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>
            <a:extLst>
              <a:ext uri="{FF2B5EF4-FFF2-40B4-BE49-F238E27FC236}">
                <a16:creationId xmlns:a16="http://schemas.microsoft.com/office/drawing/2014/main" id="{21A56FFC-2A2A-4585-A698-824F987F091A}"/>
              </a:ext>
            </a:extLst>
          </p:cNvPr>
          <p:cNvSpPr txBox="1"/>
          <p:nvPr/>
        </p:nvSpPr>
        <p:spPr>
          <a:xfrm>
            <a:off x="377504" y="623270"/>
            <a:ext cx="3114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err="1">
                <a:latin typeface="+mj-ea"/>
                <a:ea typeface="+mj-ea"/>
              </a:rPr>
              <a:t>궁내교</a:t>
            </a:r>
            <a:endParaRPr lang="ko-KR" altLang="en-US" sz="2400" b="1" dirty="0">
              <a:latin typeface="+mj-ea"/>
              <a:ea typeface="+mj-ea"/>
            </a:endParaRP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329ABAA1-D8AE-4AE7-8C85-12613176C5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6906" y="266508"/>
            <a:ext cx="2499539" cy="1312133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27F7CFD9-27CB-433C-BCA8-32238E42D1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4868" y="1874737"/>
            <a:ext cx="2477308" cy="1313950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4B26263B-FB8C-4864-82A2-94220B5321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3176" y="3483874"/>
            <a:ext cx="2480692" cy="1317402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294B0B60-55C1-4BB2-BD5B-7DF39BB6F94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2515" y="5096463"/>
            <a:ext cx="2506484" cy="1313950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BCBE775B-A1ED-42FB-86E3-0B0FF8C86F1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8790" y="265600"/>
            <a:ext cx="2464686" cy="1313950"/>
          </a:xfrm>
          <a:prstGeom prst="rect">
            <a:avLst/>
          </a:prstGeom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32D9C79C-E266-44DE-92B5-B7ED3B1FF41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6097" y="1877582"/>
            <a:ext cx="2503766" cy="1308259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C868E2D7-2738-4BBE-97D3-CC8F12558A0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2935" y="3483874"/>
            <a:ext cx="2490089" cy="1317402"/>
          </a:xfrm>
          <a:prstGeom prst="rect">
            <a:avLst/>
          </a:prstGeom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08DE597D-FD10-4E6F-8529-0657D5ED40B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8713" y="5096463"/>
            <a:ext cx="2483003" cy="13139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67022EF-56EA-4155-8E90-B216DF98392B}"/>
              </a:ext>
            </a:extLst>
          </p:cNvPr>
          <p:cNvSpPr txBox="1"/>
          <p:nvPr/>
        </p:nvSpPr>
        <p:spPr>
          <a:xfrm>
            <a:off x="7529088" y="1559353"/>
            <a:ext cx="66886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/>
              <a:t>04_mse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1ABE912-B8C2-4CFD-A2DC-98437C9FAB00}"/>
              </a:ext>
            </a:extLst>
          </p:cNvPr>
          <p:cNvSpPr txBox="1"/>
          <p:nvPr/>
        </p:nvSpPr>
        <p:spPr>
          <a:xfrm>
            <a:off x="7529087" y="3188687"/>
            <a:ext cx="66886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/>
              <a:t>05_mse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3E351A7-F58E-45DC-B85F-5F89BA250C65}"/>
              </a:ext>
            </a:extLst>
          </p:cNvPr>
          <p:cNvSpPr txBox="1"/>
          <p:nvPr/>
        </p:nvSpPr>
        <p:spPr>
          <a:xfrm>
            <a:off x="7529087" y="4756553"/>
            <a:ext cx="66886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/>
              <a:t>06_mse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67CE9C5-81EC-48C4-AA9E-721AA523E9E8}"/>
              </a:ext>
            </a:extLst>
          </p:cNvPr>
          <p:cNvSpPr txBox="1"/>
          <p:nvPr/>
        </p:nvSpPr>
        <p:spPr>
          <a:xfrm>
            <a:off x="7529087" y="6451684"/>
            <a:ext cx="66886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/>
              <a:t>07_mse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CB2DFA1-1DA9-45DB-9D7D-CF0BC589A171}"/>
              </a:ext>
            </a:extLst>
          </p:cNvPr>
          <p:cNvSpPr txBox="1"/>
          <p:nvPr/>
        </p:nvSpPr>
        <p:spPr>
          <a:xfrm>
            <a:off x="10556960" y="1559353"/>
            <a:ext cx="66886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/>
              <a:t>04_mae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74CD721-AD84-4A48-A823-70AAEFF339EC}"/>
              </a:ext>
            </a:extLst>
          </p:cNvPr>
          <p:cNvSpPr txBox="1"/>
          <p:nvPr/>
        </p:nvSpPr>
        <p:spPr>
          <a:xfrm>
            <a:off x="10556959" y="3188687"/>
            <a:ext cx="66886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/>
              <a:t>05_mae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D864674-90B1-41A6-9E1C-BEA798C4C827}"/>
              </a:ext>
            </a:extLst>
          </p:cNvPr>
          <p:cNvSpPr txBox="1"/>
          <p:nvPr/>
        </p:nvSpPr>
        <p:spPr>
          <a:xfrm>
            <a:off x="10556959" y="4756553"/>
            <a:ext cx="66886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/>
              <a:t>06_mae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1DFB552-939F-442E-8988-0E420C1D3D20}"/>
              </a:ext>
            </a:extLst>
          </p:cNvPr>
          <p:cNvSpPr txBox="1"/>
          <p:nvPr/>
        </p:nvSpPr>
        <p:spPr>
          <a:xfrm>
            <a:off x="10556959" y="6451684"/>
            <a:ext cx="66886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/>
              <a:t>07_mae</a:t>
            </a:r>
          </a:p>
        </p:txBody>
      </p:sp>
    </p:spTree>
    <p:extLst>
      <p:ext uri="{BB962C8B-B14F-4D97-AF65-F5344CB8AC3E}">
        <p14:creationId xmlns:p14="http://schemas.microsoft.com/office/powerpoint/2010/main" val="399302448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CFCE6-C3D3-4B96-9F52-BA607F1A8468}"/>
              </a:ext>
            </a:extLst>
          </p:cNvPr>
          <p:cNvSpPr txBox="1"/>
          <p:nvPr/>
        </p:nvSpPr>
        <p:spPr>
          <a:xfrm>
            <a:off x="4648899" y="2828835"/>
            <a:ext cx="28942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b="1" dirty="0" err="1">
                <a:latin typeface="+mj-ea"/>
                <a:ea typeface="+mj-ea"/>
              </a:rPr>
              <a:t>대곡교</a:t>
            </a:r>
            <a:endParaRPr lang="en-US" altLang="ko-KR" sz="3600" b="1" dirty="0">
              <a:latin typeface="+mj-ea"/>
              <a:ea typeface="+mj-ea"/>
            </a:endParaRPr>
          </a:p>
          <a:p>
            <a:pPr algn="ctr"/>
            <a:r>
              <a:rPr lang="en-US" altLang="ko-KR" sz="3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smoothing = </a:t>
            </a:r>
            <a:r>
              <a:rPr lang="en-US" altLang="ko-KR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</a:rPr>
              <a:t>2</a:t>
            </a:r>
            <a:endParaRPr lang="ko-KR" altLang="en-US" sz="3600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14420265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>
            <a:extLst>
              <a:ext uri="{FF2B5EF4-FFF2-40B4-BE49-F238E27FC236}">
                <a16:creationId xmlns:a16="http://schemas.microsoft.com/office/drawing/2014/main" id="{21A56FFC-2A2A-4585-A698-824F987F091A}"/>
              </a:ext>
            </a:extLst>
          </p:cNvPr>
          <p:cNvSpPr txBox="1"/>
          <p:nvPr/>
        </p:nvSpPr>
        <p:spPr>
          <a:xfrm>
            <a:off x="377504" y="623270"/>
            <a:ext cx="3114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err="1">
                <a:latin typeface="+mj-ea"/>
                <a:ea typeface="+mj-ea"/>
              </a:rPr>
              <a:t>대곡교</a:t>
            </a:r>
            <a:endParaRPr lang="ko-KR" altLang="en-US" sz="2400" b="1" dirty="0">
              <a:latin typeface="+mj-ea"/>
              <a:ea typeface="+mj-ea"/>
            </a:endParaRPr>
          </a:p>
        </p:txBody>
      </p:sp>
      <p:graphicFrame>
        <p:nvGraphicFramePr>
          <p:cNvPr id="20" name="차트 19">
            <a:extLst>
              <a:ext uri="{FF2B5EF4-FFF2-40B4-BE49-F238E27FC236}">
                <a16:creationId xmlns:a16="http://schemas.microsoft.com/office/drawing/2014/main" id="{81AA2FEF-D23A-43E7-A9F2-FA3D6B652B33}"/>
              </a:ext>
            </a:extLst>
          </p:cNvPr>
          <p:cNvGraphicFramePr>
            <a:graphicFrameLocks/>
          </p:cNvGraphicFramePr>
          <p:nvPr/>
        </p:nvGraphicFramePr>
        <p:xfrm>
          <a:off x="4405843" y="874312"/>
          <a:ext cx="3552824" cy="238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1" name="차트 20">
            <a:extLst>
              <a:ext uri="{FF2B5EF4-FFF2-40B4-BE49-F238E27FC236}">
                <a16:creationId xmlns:a16="http://schemas.microsoft.com/office/drawing/2014/main" id="{B0AD09EE-216F-4DB1-8745-EE16FCD85524}"/>
              </a:ext>
            </a:extLst>
          </p:cNvPr>
          <p:cNvGraphicFramePr>
            <a:graphicFrameLocks/>
          </p:cNvGraphicFramePr>
          <p:nvPr/>
        </p:nvGraphicFramePr>
        <p:xfrm>
          <a:off x="8129589" y="874312"/>
          <a:ext cx="3552824" cy="238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2" name="차트 21">
            <a:extLst>
              <a:ext uri="{FF2B5EF4-FFF2-40B4-BE49-F238E27FC236}">
                <a16:creationId xmlns:a16="http://schemas.microsoft.com/office/drawing/2014/main" id="{85737A34-F4C2-4750-BDF2-CDCC070A614B}"/>
              </a:ext>
            </a:extLst>
          </p:cNvPr>
          <p:cNvGraphicFramePr>
            <a:graphicFrameLocks/>
          </p:cNvGraphicFramePr>
          <p:nvPr/>
        </p:nvGraphicFramePr>
        <p:xfrm>
          <a:off x="4405843" y="3783414"/>
          <a:ext cx="3552824" cy="238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3" name="차트 22">
            <a:extLst>
              <a:ext uri="{FF2B5EF4-FFF2-40B4-BE49-F238E27FC236}">
                <a16:creationId xmlns:a16="http://schemas.microsoft.com/office/drawing/2014/main" id="{F87F8B4C-689E-437B-B8D0-457798850577}"/>
              </a:ext>
            </a:extLst>
          </p:cNvPr>
          <p:cNvGraphicFramePr>
            <a:graphicFrameLocks/>
          </p:cNvGraphicFramePr>
          <p:nvPr/>
        </p:nvGraphicFramePr>
        <p:xfrm>
          <a:off x="8163456" y="3783414"/>
          <a:ext cx="3552824" cy="238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1C5407E1-18F6-46C9-B821-777F6B866E7E}"/>
              </a:ext>
            </a:extLst>
          </p:cNvPr>
          <p:cNvSpPr txBox="1"/>
          <p:nvPr/>
        </p:nvSpPr>
        <p:spPr>
          <a:xfrm>
            <a:off x="775944" y="6401050"/>
            <a:ext cx="271780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>
              <a:defRPr/>
            </a:pPr>
            <a:r>
              <a:rPr lang="en-US" altLang="ko-KR" sz="1050" dirty="0"/>
              <a:t>* R2(%) MSE(m²) MAE(m) </a:t>
            </a:r>
            <a:r>
              <a:rPr lang="pt-BR" altLang="ko-KR" sz="1050" dirty="0"/>
              <a:t>RMSE(m)</a:t>
            </a:r>
          </a:p>
        </p:txBody>
      </p:sp>
      <p:graphicFrame>
        <p:nvGraphicFramePr>
          <p:cNvPr id="30" name="표 29">
            <a:extLst>
              <a:ext uri="{FF2B5EF4-FFF2-40B4-BE49-F238E27FC236}">
                <a16:creationId xmlns:a16="http://schemas.microsoft.com/office/drawing/2014/main" id="{A0D1020D-2DC7-41B2-A939-AB4D911945A3}"/>
              </a:ext>
            </a:extLst>
          </p:cNvPr>
          <p:cNvGraphicFramePr>
            <a:graphicFrameLocks noGrp="1"/>
          </p:cNvGraphicFramePr>
          <p:nvPr/>
        </p:nvGraphicFramePr>
        <p:xfrm>
          <a:off x="970095" y="1646004"/>
          <a:ext cx="2329498" cy="427482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759143">
                  <a:extLst>
                    <a:ext uri="{9D8B030D-6E8A-4147-A177-3AD203B41FA5}">
                      <a16:colId xmlns:a16="http://schemas.microsoft.com/office/drawing/2014/main" val="3939058255"/>
                    </a:ext>
                  </a:extLst>
                </a:gridCol>
                <a:gridCol w="626745">
                  <a:extLst>
                    <a:ext uri="{9D8B030D-6E8A-4147-A177-3AD203B41FA5}">
                      <a16:colId xmlns:a16="http://schemas.microsoft.com/office/drawing/2014/main" val="4282892620"/>
                    </a:ext>
                  </a:extLst>
                </a:gridCol>
                <a:gridCol w="492443">
                  <a:extLst>
                    <a:ext uri="{9D8B030D-6E8A-4147-A177-3AD203B41FA5}">
                      <a16:colId xmlns:a16="http://schemas.microsoft.com/office/drawing/2014/main" val="1182470354"/>
                    </a:ext>
                  </a:extLst>
                </a:gridCol>
                <a:gridCol w="451167">
                  <a:extLst>
                    <a:ext uri="{9D8B030D-6E8A-4147-A177-3AD203B41FA5}">
                      <a16:colId xmlns:a16="http://schemas.microsoft.com/office/drawing/2014/main" val="1583914280"/>
                    </a:ext>
                  </a:extLst>
                </a:gridCol>
              </a:tblGrid>
              <a:tr h="2207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/>
                        <a:t>20230711</a:t>
                      </a:r>
                      <a:endParaRPr lang="ko-KR" altLang="en-US" sz="1050" b="1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b="1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b="1" dirty="0"/>
                        <a:t> MSE</a:t>
                      </a:r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MAE</a:t>
                      </a:r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539868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07</a:t>
                      </a:r>
                      <a:r>
                        <a:rPr lang="ko-KR" altLang="en-US" sz="1050" dirty="0"/>
                        <a:t>시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R2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0.87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0.71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05810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MSE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0.12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0.26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541845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MAE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0.28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0.41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366521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RMSE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0.34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0.51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6693033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08</a:t>
                      </a:r>
                      <a:r>
                        <a:rPr lang="ko-KR" altLang="en-US" sz="1050" dirty="0"/>
                        <a:t>시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R2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0.87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0.84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109894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MSE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0.10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0.12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691677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MAE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0.29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0.30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106658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RMSE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0.32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0.35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5993519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09</a:t>
                      </a:r>
                      <a:r>
                        <a:rPr lang="ko-KR" altLang="en-US" sz="1050" dirty="0"/>
                        <a:t>시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R2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0.95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0.85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84129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MSE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0.03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0.10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507010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MAE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0.16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0.25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394271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RMSE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0.19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0.32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1421413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10</a:t>
                      </a:r>
                      <a:r>
                        <a:rPr lang="ko-KR" altLang="en-US" sz="1050" dirty="0"/>
                        <a:t>시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R2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0.91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0.84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603724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MSE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0.06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0.10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695456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MAE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0.21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0.25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773282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RMSE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0.24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0.32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93535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364268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>
            <a:extLst>
              <a:ext uri="{FF2B5EF4-FFF2-40B4-BE49-F238E27FC236}">
                <a16:creationId xmlns:a16="http://schemas.microsoft.com/office/drawing/2014/main" id="{21A56FFC-2A2A-4585-A698-824F987F091A}"/>
              </a:ext>
            </a:extLst>
          </p:cNvPr>
          <p:cNvSpPr txBox="1"/>
          <p:nvPr/>
        </p:nvSpPr>
        <p:spPr>
          <a:xfrm>
            <a:off x="377504" y="623270"/>
            <a:ext cx="3114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err="1">
                <a:latin typeface="+mj-ea"/>
                <a:ea typeface="+mj-ea"/>
              </a:rPr>
              <a:t>대곡교</a:t>
            </a:r>
            <a:endParaRPr lang="ko-KR" altLang="en-US" sz="2400" b="1" dirty="0">
              <a:latin typeface="+mj-ea"/>
              <a:ea typeface="+mj-ea"/>
            </a:endParaRP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329ABAA1-D8AE-4AE7-8C85-12613176C5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6906" y="266426"/>
            <a:ext cx="2499539" cy="1312299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27F7CFD9-27CB-433C-BCA8-32238E42D1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5104" y="1874737"/>
            <a:ext cx="2496836" cy="1313950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4B26263B-FB8C-4864-82A2-94220B5321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1639" y="3485440"/>
            <a:ext cx="2503766" cy="1314269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294B0B60-55C1-4BB2-BD5B-7DF39BB6F94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0483" y="5096463"/>
            <a:ext cx="2490547" cy="1313950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BCBE775B-A1ED-42FB-86E3-0B0FF8C86F1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1364" y="271099"/>
            <a:ext cx="2499539" cy="1302951"/>
          </a:xfrm>
          <a:prstGeom prst="rect">
            <a:avLst/>
          </a:prstGeom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32D9C79C-E266-44DE-92B5-B7ED3B1FF41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6097" y="1875095"/>
            <a:ext cx="2503766" cy="1313233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C868E2D7-2738-4BBE-97D3-CC8F12558A0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6097" y="3485836"/>
            <a:ext cx="2503766" cy="1313478"/>
          </a:xfrm>
          <a:prstGeom prst="rect">
            <a:avLst/>
          </a:prstGeom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08DE597D-FD10-4E6F-8529-0657D5ED40B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8987" y="5096463"/>
            <a:ext cx="2482456" cy="13139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67022EF-56EA-4155-8E90-B216DF98392B}"/>
              </a:ext>
            </a:extLst>
          </p:cNvPr>
          <p:cNvSpPr txBox="1"/>
          <p:nvPr/>
        </p:nvSpPr>
        <p:spPr>
          <a:xfrm>
            <a:off x="7529088" y="1559353"/>
            <a:ext cx="66886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/>
              <a:t>07_mse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1ABE912-B8C2-4CFD-A2DC-98437C9FAB00}"/>
              </a:ext>
            </a:extLst>
          </p:cNvPr>
          <p:cNvSpPr txBox="1"/>
          <p:nvPr/>
        </p:nvSpPr>
        <p:spPr>
          <a:xfrm>
            <a:off x="7529087" y="3188687"/>
            <a:ext cx="66886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/>
              <a:t>08_mse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3E351A7-F58E-45DC-B85F-5F89BA250C65}"/>
              </a:ext>
            </a:extLst>
          </p:cNvPr>
          <p:cNvSpPr txBox="1"/>
          <p:nvPr/>
        </p:nvSpPr>
        <p:spPr>
          <a:xfrm>
            <a:off x="7529087" y="4756553"/>
            <a:ext cx="66886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/>
              <a:t>09_mse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67CE9C5-81EC-48C4-AA9E-721AA523E9E8}"/>
              </a:ext>
            </a:extLst>
          </p:cNvPr>
          <p:cNvSpPr txBox="1"/>
          <p:nvPr/>
        </p:nvSpPr>
        <p:spPr>
          <a:xfrm>
            <a:off x="7529087" y="6451684"/>
            <a:ext cx="66886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/>
              <a:t>10_mse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CB2DFA1-1DA9-45DB-9D7D-CF0BC589A171}"/>
              </a:ext>
            </a:extLst>
          </p:cNvPr>
          <p:cNvSpPr txBox="1"/>
          <p:nvPr/>
        </p:nvSpPr>
        <p:spPr>
          <a:xfrm>
            <a:off x="10556960" y="1559353"/>
            <a:ext cx="66886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/>
              <a:t>07_mae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74CD721-AD84-4A48-A823-70AAEFF339EC}"/>
              </a:ext>
            </a:extLst>
          </p:cNvPr>
          <p:cNvSpPr txBox="1"/>
          <p:nvPr/>
        </p:nvSpPr>
        <p:spPr>
          <a:xfrm>
            <a:off x="10556959" y="3188687"/>
            <a:ext cx="66886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/>
              <a:t>08_mae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D864674-90B1-41A6-9E1C-BEA798C4C827}"/>
              </a:ext>
            </a:extLst>
          </p:cNvPr>
          <p:cNvSpPr txBox="1"/>
          <p:nvPr/>
        </p:nvSpPr>
        <p:spPr>
          <a:xfrm>
            <a:off x="10556959" y="4756553"/>
            <a:ext cx="66886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/>
              <a:t>09_mae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1DFB552-939F-442E-8988-0E420C1D3D20}"/>
              </a:ext>
            </a:extLst>
          </p:cNvPr>
          <p:cNvSpPr txBox="1"/>
          <p:nvPr/>
        </p:nvSpPr>
        <p:spPr>
          <a:xfrm>
            <a:off x="10556959" y="6451684"/>
            <a:ext cx="66886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/>
              <a:t>10_mae</a:t>
            </a:r>
          </a:p>
        </p:txBody>
      </p:sp>
    </p:spTree>
    <p:extLst>
      <p:ext uri="{BB962C8B-B14F-4D97-AF65-F5344CB8AC3E}">
        <p14:creationId xmlns:p14="http://schemas.microsoft.com/office/powerpoint/2010/main" val="233750926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>
            <a:extLst>
              <a:ext uri="{FF2B5EF4-FFF2-40B4-BE49-F238E27FC236}">
                <a16:creationId xmlns:a16="http://schemas.microsoft.com/office/drawing/2014/main" id="{21A56FFC-2A2A-4585-A698-824F987F091A}"/>
              </a:ext>
            </a:extLst>
          </p:cNvPr>
          <p:cNvSpPr txBox="1"/>
          <p:nvPr/>
        </p:nvSpPr>
        <p:spPr>
          <a:xfrm>
            <a:off x="377504" y="623270"/>
            <a:ext cx="3114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err="1">
                <a:latin typeface="+mj-ea"/>
              </a:rPr>
              <a:t>대곡교</a:t>
            </a:r>
            <a:endParaRPr lang="ko-KR" altLang="en-US" sz="2400" b="1" dirty="0">
              <a:latin typeface="+mj-ea"/>
              <a:ea typeface="+mj-ea"/>
            </a:endParaRPr>
          </a:p>
        </p:txBody>
      </p:sp>
      <p:graphicFrame>
        <p:nvGraphicFramePr>
          <p:cNvPr id="21" name="차트 20">
            <a:extLst>
              <a:ext uri="{FF2B5EF4-FFF2-40B4-BE49-F238E27FC236}">
                <a16:creationId xmlns:a16="http://schemas.microsoft.com/office/drawing/2014/main" id="{465D928E-B84E-4DE5-9AED-5616D7ED1780}"/>
              </a:ext>
            </a:extLst>
          </p:cNvPr>
          <p:cNvGraphicFramePr>
            <a:graphicFrameLocks/>
          </p:cNvGraphicFramePr>
          <p:nvPr/>
        </p:nvGraphicFramePr>
        <p:xfrm>
          <a:off x="3965044" y="909109"/>
          <a:ext cx="3533775" cy="238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2" name="차트 21">
            <a:extLst>
              <a:ext uri="{FF2B5EF4-FFF2-40B4-BE49-F238E27FC236}">
                <a16:creationId xmlns:a16="http://schemas.microsoft.com/office/drawing/2014/main" id="{18914A89-33A3-441D-BCF2-365153CEE5FB}"/>
              </a:ext>
            </a:extLst>
          </p:cNvPr>
          <p:cNvGraphicFramePr>
            <a:graphicFrameLocks/>
          </p:cNvGraphicFramePr>
          <p:nvPr/>
        </p:nvGraphicFramePr>
        <p:xfrm>
          <a:off x="7944378" y="909109"/>
          <a:ext cx="3533775" cy="238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3" name="차트 22">
            <a:extLst>
              <a:ext uri="{FF2B5EF4-FFF2-40B4-BE49-F238E27FC236}">
                <a16:creationId xmlns:a16="http://schemas.microsoft.com/office/drawing/2014/main" id="{3CB21322-AAB9-46FA-8A2B-4635A1917CF2}"/>
              </a:ext>
            </a:extLst>
          </p:cNvPr>
          <p:cNvGraphicFramePr>
            <a:graphicFrameLocks/>
          </p:cNvGraphicFramePr>
          <p:nvPr/>
        </p:nvGraphicFramePr>
        <p:xfrm>
          <a:off x="3965044" y="3720042"/>
          <a:ext cx="3533775" cy="238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6" name="차트 25">
            <a:extLst>
              <a:ext uri="{FF2B5EF4-FFF2-40B4-BE49-F238E27FC236}">
                <a16:creationId xmlns:a16="http://schemas.microsoft.com/office/drawing/2014/main" id="{9F85A48A-C3C2-4D31-B70D-DFC2F5F58558}"/>
              </a:ext>
            </a:extLst>
          </p:cNvPr>
          <p:cNvGraphicFramePr>
            <a:graphicFrameLocks/>
          </p:cNvGraphicFramePr>
          <p:nvPr/>
        </p:nvGraphicFramePr>
        <p:xfrm>
          <a:off x="7944377" y="3720042"/>
          <a:ext cx="3533775" cy="238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7F511B93-DEE7-4918-9BC8-0A4939ED9C24}"/>
              </a:ext>
            </a:extLst>
          </p:cNvPr>
          <p:cNvSpPr txBox="1"/>
          <p:nvPr/>
        </p:nvSpPr>
        <p:spPr>
          <a:xfrm>
            <a:off x="775944" y="6401050"/>
            <a:ext cx="271780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>
              <a:defRPr/>
            </a:pPr>
            <a:r>
              <a:rPr lang="en-US" altLang="ko-KR" sz="1050" dirty="0"/>
              <a:t>* R2(%) MSE(m²) MAE(m) </a:t>
            </a:r>
            <a:r>
              <a:rPr lang="pt-BR" altLang="ko-KR" sz="1050" dirty="0"/>
              <a:t>RMSE(m)</a:t>
            </a:r>
          </a:p>
        </p:txBody>
      </p:sp>
      <p:graphicFrame>
        <p:nvGraphicFramePr>
          <p:cNvPr id="30" name="표 29">
            <a:extLst>
              <a:ext uri="{FF2B5EF4-FFF2-40B4-BE49-F238E27FC236}">
                <a16:creationId xmlns:a16="http://schemas.microsoft.com/office/drawing/2014/main" id="{3F3938A1-12A9-472B-9C9B-0316BA5217A8}"/>
              </a:ext>
            </a:extLst>
          </p:cNvPr>
          <p:cNvGraphicFramePr>
            <a:graphicFrameLocks noGrp="1"/>
          </p:cNvGraphicFramePr>
          <p:nvPr/>
        </p:nvGraphicFramePr>
        <p:xfrm>
          <a:off x="970095" y="1582632"/>
          <a:ext cx="2329498" cy="427482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759143">
                  <a:extLst>
                    <a:ext uri="{9D8B030D-6E8A-4147-A177-3AD203B41FA5}">
                      <a16:colId xmlns:a16="http://schemas.microsoft.com/office/drawing/2014/main" val="3939058255"/>
                    </a:ext>
                  </a:extLst>
                </a:gridCol>
                <a:gridCol w="626745">
                  <a:extLst>
                    <a:ext uri="{9D8B030D-6E8A-4147-A177-3AD203B41FA5}">
                      <a16:colId xmlns:a16="http://schemas.microsoft.com/office/drawing/2014/main" val="4282892620"/>
                    </a:ext>
                  </a:extLst>
                </a:gridCol>
                <a:gridCol w="492443">
                  <a:extLst>
                    <a:ext uri="{9D8B030D-6E8A-4147-A177-3AD203B41FA5}">
                      <a16:colId xmlns:a16="http://schemas.microsoft.com/office/drawing/2014/main" val="1182470354"/>
                    </a:ext>
                  </a:extLst>
                </a:gridCol>
                <a:gridCol w="451167">
                  <a:extLst>
                    <a:ext uri="{9D8B030D-6E8A-4147-A177-3AD203B41FA5}">
                      <a16:colId xmlns:a16="http://schemas.microsoft.com/office/drawing/2014/main" val="1583914280"/>
                    </a:ext>
                  </a:extLst>
                </a:gridCol>
              </a:tblGrid>
              <a:tr h="2207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dirty="0"/>
                        <a:t>20250814</a:t>
                      </a:r>
                      <a:endParaRPr lang="ko-KR" altLang="en-US" sz="1050" b="1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b="1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b="1" dirty="0"/>
                        <a:t> MSE</a:t>
                      </a:r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/>
                        <a:t>MAE</a:t>
                      </a:r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539868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04</a:t>
                      </a:r>
                      <a:r>
                        <a:rPr lang="ko-KR" altLang="en-US" sz="1050" dirty="0"/>
                        <a:t>시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R2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0.86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0.90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05810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MSE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0.06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0.05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541845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MAE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0.19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0.16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366521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RMSE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0.25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0.22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6693033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05</a:t>
                      </a:r>
                      <a:r>
                        <a:rPr lang="ko-KR" altLang="en-US" sz="1050" dirty="0"/>
                        <a:t>시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R2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0.84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0.83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109894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MSE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0.06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0.06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691677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MAE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0.17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0.21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106658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RMSE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0.24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0.24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5993519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06</a:t>
                      </a:r>
                      <a:r>
                        <a:rPr lang="ko-KR" altLang="en-US" sz="1050" dirty="0"/>
                        <a:t>시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R2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0.71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0.59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84129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MSE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0.06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0.08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507010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MAE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0.18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0.20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394271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RMSE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0.24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0.28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1421413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07</a:t>
                      </a:r>
                      <a:r>
                        <a:rPr lang="ko-KR" altLang="en-US" sz="1050" dirty="0"/>
                        <a:t>시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R2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0.88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0.73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603724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MSE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0.03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0.06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695456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MAE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0.14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/>
                        <a:t>0.20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773282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RMSE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0.16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050" dirty="0"/>
                        <a:t>0.24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93535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714551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>
            <a:extLst>
              <a:ext uri="{FF2B5EF4-FFF2-40B4-BE49-F238E27FC236}">
                <a16:creationId xmlns:a16="http://schemas.microsoft.com/office/drawing/2014/main" id="{21A56FFC-2A2A-4585-A698-824F987F091A}"/>
              </a:ext>
            </a:extLst>
          </p:cNvPr>
          <p:cNvSpPr txBox="1"/>
          <p:nvPr/>
        </p:nvSpPr>
        <p:spPr>
          <a:xfrm>
            <a:off x="377504" y="623270"/>
            <a:ext cx="3114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err="1">
                <a:latin typeface="+mj-ea"/>
              </a:rPr>
              <a:t>대곡교</a:t>
            </a:r>
            <a:endParaRPr lang="ko-KR" altLang="en-US" sz="2400" b="1" dirty="0">
              <a:latin typeface="+mj-ea"/>
              <a:ea typeface="+mj-ea"/>
            </a:endParaRP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329ABAA1-D8AE-4AE7-8C85-12613176C5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2968" y="265600"/>
            <a:ext cx="2487414" cy="1313950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27F7CFD9-27CB-433C-BCA8-32238E42D1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0081" y="1874737"/>
            <a:ext cx="2486882" cy="1313950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4B26263B-FB8C-4864-82A2-94220B5321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1639" y="3488333"/>
            <a:ext cx="2503766" cy="1308483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294B0B60-55C1-4BB2-BD5B-7DF39BB6F94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1639" y="5098500"/>
            <a:ext cx="2508236" cy="1309875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BCBE775B-A1ED-42FB-86E3-0B0FF8C86F1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9905" y="265600"/>
            <a:ext cx="2482456" cy="1313950"/>
          </a:xfrm>
          <a:prstGeom prst="rect">
            <a:avLst/>
          </a:prstGeom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32D9C79C-E266-44DE-92B5-B7ED3B1FF41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1793" y="1874737"/>
            <a:ext cx="2492373" cy="1313950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C868E2D7-2738-4BBE-97D3-CC8F12558A0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1834" y="3483874"/>
            <a:ext cx="2492292" cy="1317402"/>
          </a:xfrm>
          <a:prstGeom prst="rect">
            <a:avLst/>
          </a:prstGeom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08DE597D-FD10-4E6F-8529-0657D5ED40B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8251" y="5096463"/>
            <a:ext cx="2483927" cy="13139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67022EF-56EA-4155-8E90-B216DF98392B}"/>
              </a:ext>
            </a:extLst>
          </p:cNvPr>
          <p:cNvSpPr txBox="1"/>
          <p:nvPr/>
        </p:nvSpPr>
        <p:spPr>
          <a:xfrm>
            <a:off x="7529088" y="1559353"/>
            <a:ext cx="66886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/>
              <a:t>04_mse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1ABE912-B8C2-4CFD-A2DC-98437C9FAB00}"/>
              </a:ext>
            </a:extLst>
          </p:cNvPr>
          <p:cNvSpPr txBox="1"/>
          <p:nvPr/>
        </p:nvSpPr>
        <p:spPr>
          <a:xfrm>
            <a:off x="7529087" y="3188687"/>
            <a:ext cx="66886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/>
              <a:t>05_mse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3E351A7-F58E-45DC-B85F-5F89BA250C65}"/>
              </a:ext>
            </a:extLst>
          </p:cNvPr>
          <p:cNvSpPr txBox="1"/>
          <p:nvPr/>
        </p:nvSpPr>
        <p:spPr>
          <a:xfrm>
            <a:off x="7529087" y="4756553"/>
            <a:ext cx="66886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/>
              <a:t>06_mse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67CE9C5-81EC-48C4-AA9E-721AA523E9E8}"/>
              </a:ext>
            </a:extLst>
          </p:cNvPr>
          <p:cNvSpPr txBox="1"/>
          <p:nvPr/>
        </p:nvSpPr>
        <p:spPr>
          <a:xfrm>
            <a:off x="7529087" y="6451684"/>
            <a:ext cx="66886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/>
              <a:t>07_mse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CB2DFA1-1DA9-45DB-9D7D-CF0BC589A171}"/>
              </a:ext>
            </a:extLst>
          </p:cNvPr>
          <p:cNvSpPr txBox="1"/>
          <p:nvPr/>
        </p:nvSpPr>
        <p:spPr>
          <a:xfrm>
            <a:off x="10556960" y="1559353"/>
            <a:ext cx="66886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/>
              <a:t>04_mae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74CD721-AD84-4A48-A823-70AAEFF339EC}"/>
              </a:ext>
            </a:extLst>
          </p:cNvPr>
          <p:cNvSpPr txBox="1"/>
          <p:nvPr/>
        </p:nvSpPr>
        <p:spPr>
          <a:xfrm>
            <a:off x="10556959" y="3188687"/>
            <a:ext cx="66886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/>
              <a:t>05_mae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D864674-90B1-41A6-9E1C-BEA798C4C827}"/>
              </a:ext>
            </a:extLst>
          </p:cNvPr>
          <p:cNvSpPr txBox="1"/>
          <p:nvPr/>
        </p:nvSpPr>
        <p:spPr>
          <a:xfrm>
            <a:off x="10556959" y="4756553"/>
            <a:ext cx="66886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/>
              <a:t>06_mae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1DFB552-939F-442E-8988-0E420C1D3D20}"/>
              </a:ext>
            </a:extLst>
          </p:cNvPr>
          <p:cNvSpPr txBox="1"/>
          <p:nvPr/>
        </p:nvSpPr>
        <p:spPr>
          <a:xfrm>
            <a:off x="10556959" y="6451684"/>
            <a:ext cx="66886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/>
              <a:t>07_mae</a:t>
            </a:r>
          </a:p>
        </p:txBody>
      </p:sp>
    </p:spTree>
    <p:extLst>
      <p:ext uri="{BB962C8B-B14F-4D97-AF65-F5344CB8AC3E}">
        <p14:creationId xmlns:p14="http://schemas.microsoft.com/office/powerpoint/2010/main" val="729505393"/>
      </p:ext>
    </p:extLst>
  </p:cSld>
  <p:clrMapOvr>
    <a:masterClrMapping/>
  </p:clrMapOvr>
</p:sld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2368</TotalTime>
  <Words>5285</Words>
  <Application>Microsoft Office PowerPoint</Application>
  <PresentationFormat>와이드스크린</PresentationFormat>
  <Paragraphs>2184</Paragraphs>
  <Slides>73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73</vt:i4>
      </vt:variant>
    </vt:vector>
  </HeadingPairs>
  <TitlesOfParts>
    <vt:vector size="80" baseType="lpstr">
      <vt:lpstr>KoPub돋움체 Medium</vt:lpstr>
      <vt:lpstr>맑은 고딕</vt:lpstr>
      <vt:lpstr>Arial</vt:lpstr>
      <vt:lpstr>Calibri</vt:lpstr>
      <vt:lpstr>Calibri Light</vt:lpstr>
      <vt:lpstr>Wingdings 2</vt:lpstr>
      <vt:lpstr>HDOfficeLightV0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magpie</dc:creator>
  <cp:lastModifiedBy>magpie</cp:lastModifiedBy>
  <cp:revision>337</cp:revision>
  <dcterms:created xsi:type="dcterms:W3CDTF">2025-11-18T00:02:37Z</dcterms:created>
  <dcterms:modified xsi:type="dcterms:W3CDTF">2025-12-18T06:29:59Z</dcterms:modified>
</cp:coreProperties>
</file>