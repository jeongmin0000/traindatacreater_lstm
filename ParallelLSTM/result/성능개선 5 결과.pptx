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717" r:id="rId3"/>
    <p:sldId id="663" r:id="rId4"/>
    <p:sldId id="664" r:id="rId5"/>
    <p:sldId id="666" r:id="rId6"/>
    <p:sldId id="667" r:id="rId7"/>
    <p:sldId id="668" r:id="rId8"/>
    <p:sldId id="592" r:id="rId9"/>
    <p:sldId id="593" r:id="rId10"/>
    <p:sldId id="643" r:id="rId11"/>
    <p:sldId id="646" r:id="rId12"/>
    <p:sldId id="653" r:id="rId13"/>
    <p:sldId id="703" r:id="rId14"/>
    <p:sldId id="710" r:id="rId15"/>
    <p:sldId id="711" r:id="rId16"/>
    <p:sldId id="700" r:id="rId17"/>
    <p:sldId id="712" r:id="rId18"/>
    <p:sldId id="713" r:id="rId19"/>
    <p:sldId id="714" r:id="rId20"/>
    <p:sldId id="715" r:id="rId21"/>
    <p:sldId id="716" r:id="rId22"/>
    <p:sldId id="685" r:id="rId23"/>
    <p:sldId id="690" r:id="rId24"/>
    <p:sldId id="718" r:id="rId25"/>
    <p:sldId id="719" r:id="rId26"/>
    <p:sldId id="720" r:id="rId27"/>
    <p:sldId id="680" r:id="rId28"/>
    <p:sldId id="681" r:id="rId29"/>
    <p:sldId id="682" r:id="rId30"/>
    <p:sldId id="683" r:id="rId31"/>
    <p:sldId id="669" r:id="rId32"/>
    <p:sldId id="670" r:id="rId33"/>
    <p:sldId id="671" r:id="rId34"/>
    <p:sldId id="672" r:id="rId35"/>
    <p:sldId id="673" r:id="rId36"/>
    <p:sldId id="674" r:id="rId37"/>
    <p:sldId id="679" r:id="rId38"/>
    <p:sldId id="676" r:id="rId39"/>
    <p:sldId id="677" r:id="rId40"/>
    <p:sldId id="678" r:id="rId41"/>
    <p:sldId id="744" r:id="rId42"/>
    <p:sldId id="747" r:id="rId43"/>
    <p:sldId id="745" r:id="rId44"/>
    <p:sldId id="691" r:id="rId45"/>
    <p:sldId id="692" r:id="rId46"/>
    <p:sldId id="693" r:id="rId47"/>
    <p:sldId id="694" r:id="rId48"/>
    <p:sldId id="695" r:id="rId49"/>
    <p:sldId id="697" r:id="rId50"/>
    <p:sldId id="698" r:id="rId51"/>
    <p:sldId id="69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43.png"/><Relationship Id="rId18" Type="http://schemas.openxmlformats.org/officeDocument/2006/relationships/image" Target="../media/image18.png"/><Relationship Id="rId3" Type="http://schemas.openxmlformats.org/officeDocument/2006/relationships/image" Target="../media/image39.png"/><Relationship Id="rId7" Type="http://schemas.openxmlformats.org/officeDocument/2006/relationships/image" Target="../media/image7.png"/><Relationship Id="rId12" Type="http://schemas.openxmlformats.org/officeDocument/2006/relationships/image" Target="../media/image42.png"/><Relationship Id="rId17" Type="http://schemas.openxmlformats.org/officeDocument/2006/relationships/image" Target="../media/image17.png"/><Relationship Id="rId2" Type="http://schemas.openxmlformats.org/officeDocument/2006/relationships/image" Target="../media/image38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0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49.png"/><Relationship Id="rId18" Type="http://schemas.openxmlformats.org/officeDocument/2006/relationships/image" Target="../media/image36.png"/><Relationship Id="rId3" Type="http://schemas.openxmlformats.org/officeDocument/2006/relationships/image" Target="../media/image45.png"/><Relationship Id="rId7" Type="http://schemas.openxmlformats.org/officeDocument/2006/relationships/image" Target="../media/image25.png"/><Relationship Id="rId12" Type="http://schemas.openxmlformats.org/officeDocument/2006/relationships/image" Target="../media/image48.png"/><Relationship Id="rId17" Type="http://schemas.openxmlformats.org/officeDocument/2006/relationships/image" Target="../media/image35.png"/><Relationship Id="rId2" Type="http://schemas.openxmlformats.org/officeDocument/2006/relationships/image" Target="../media/image44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7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46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50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42.png"/><Relationship Id="rId18" Type="http://schemas.openxmlformats.org/officeDocument/2006/relationships/image" Target="../media/image82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1.png"/><Relationship Id="rId2" Type="http://schemas.openxmlformats.org/officeDocument/2006/relationships/image" Target="../media/image67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79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3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" Type="http://schemas.openxmlformats.org/officeDocument/2006/relationships/image" Target="../media/image119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5" Type="http://schemas.openxmlformats.org/officeDocument/2006/relationships/image" Target="../media/image132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18" Type="http://schemas.openxmlformats.org/officeDocument/2006/relationships/image" Target="../media/image5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" Type="http://schemas.openxmlformats.org/officeDocument/2006/relationships/image" Target="../media/image137.png"/><Relationship Id="rId16" Type="http://schemas.openxmlformats.org/officeDocument/2006/relationships/image" Target="../media/image1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10" Type="http://schemas.openxmlformats.org/officeDocument/2006/relationships/image" Target="../media/image145.png"/><Relationship Id="rId19" Type="http://schemas.openxmlformats.org/officeDocument/2006/relationships/image" Target="../media/image153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18" Type="http://schemas.openxmlformats.org/officeDocument/2006/relationships/image" Target="../media/image164.png"/><Relationship Id="rId3" Type="http://schemas.openxmlformats.org/officeDocument/2006/relationships/image" Target="../media/image155.png"/><Relationship Id="rId7" Type="http://schemas.openxmlformats.org/officeDocument/2006/relationships/image" Target="../media/image7.png"/><Relationship Id="rId12" Type="http://schemas.openxmlformats.org/officeDocument/2006/relationships/image" Target="../media/image161.png"/><Relationship Id="rId17" Type="http://schemas.openxmlformats.org/officeDocument/2006/relationships/image" Target="../media/image163.png"/><Relationship Id="rId2" Type="http://schemas.openxmlformats.org/officeDocument/2006/relationships/image" Target="../media/image154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60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59.png"/><Relationship Id="rId19" Type="http://schemas.openxmlformats.org/officeDocument/2006/relationships/image" Target="../media/image165.png"/><Relationship Id="rId4" Type="http://schemas.openxmlformats.org/officeDocument/2006/relationships/image" Target="../media/image156.png"/><Relationship Id="rId9" Type="http://schemas.openxmlformats.org/officeDocument/2006/relationships/image" Target="../media/image158.png"/><Relationship Id="rId1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6.png"/><Relationship Id="rId3" Type="http://schemas.openxmlformats.org/officeDocument/2006/relationships/image" Target="../media/image167.png"/><Relationship Id="rId7" Type="http://schemas.openxmlformats.org/officeDocument/2006/relationships/image" Target="../media/image25.png"/><Relationship Id="rId12" Type="http://schemas.openxmlformats.org/officeDocument/2006/relationships/image" Target="../media/image173.png"/><Relationship Id="rId17" Type="http://schemas.openxmlformats.org/officeDocument/2006/relationships/image" Target="../media/image175.png"/><Relationship Id="rId2" Type="http://schemas.openxmlformats.org/officeDocument/2006/relationships/image" Target="../media/image166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72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171.png"/><Relationship Id="rId19" Type="http://schemas.openxmlformats.org/officeDocument/2006/relationships/image" Target="../media/image177.png"/><Relationship Id="rId4" Type="http://schemas.openxmlformats.org/officeDocument/2006/relationships/image" Target="../media/image168.png"/><Relationship Id="rId9" Type="http://schemas.openxmlformats.org/officeDocument/2006/relationships/image" Target="../media/image170.png"/><Relationship Id="rId1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3.png"/><Relationship Id="rId18" Type="http://schemas.openxmlformats.org/officeDocument/2006/relationships/image" Target="../media/image18.png"/><Relationship Id="rId3" Type="http://schemas.openxmlformats.org/officeDocument/2006/relationships/image" Target="../media/image179.png"/><Relationship Id="rId7" Type="http://schemas.openxmlformats.org/officeDocument/2006/relationships/image" Target="../media/image7.png"/><Relationship Id="rId12" Type="http://schemas.openxmlformats.org/officeDocument/2006/relationships/image" Target="../media/image182.png"/><Relationship Id="rId17" Type="http://schemas.openxmlformats.org/officeDocument/2006/relationships/image" Target="../media/image17.png"/><Relationship Id="rId2" Type="http://schemas.openxmlformats.org/officeDocument/2006/relationships/image" Target="../media/image178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8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180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9.png"/><Relationship Id="rId18" Type="http://schemas.openxmlformats.org/officeDocument/2006/relationships/image" Target="../media/image18.png"/><Relationship Id="rId3" Type="http://schemas.openxmlformats.org/officeDocument/2006/relationships/image" Target="../media/image185.png"/><Relationship Id="rId7" Type="http://schemas.openxmlformats.org/officeDocument/2006/relationships/image" Target="../media/image7.png"/><Relationship Id="rId12" Type="http://schemas.openxmlformats.org/officeDocument/2006/relationships/image" Target="../media/image188.png"/><Relationship Id="rId17" Type="http://schemas.openxmlformats.org/officeDocument/2006/relationships/image" Target="../media/image17.png"/><Relationship Id="rId2" Type="http://schemas.openxmlformats.org/officeDocument/2006/relationships/image" Target="../media/image184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87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186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95.png"/><Relationship Id="rId18" Type="http://schemas.openxmlformats.org/officeDocument/2006/relationships/image" Target="../media/image36.png"/><Relationship Id="rId3" Type="http://schemas.openxmlformats.org/officeDocument/2006/relationships/image" Target="../media/image191.png"/><Relationship Id="rId7" Type="http://schemas.openxmlformats.org/officeDocument/2006/relationships/image" Target="../media/image25.png"/><Relationship Id="rId12" Type="http://schemas.openxmlformats.org/officeDocument/2006/relationships/image" Target="../media/image194.png"/><Relationship Id="rId17" Type="http://schemas.openxmlformats.org/officeDocument/2006/relationships/image" Target="../media/image35.png"/><Relationship Id="rId2" Type="http://schemas.openxmlformats.org/officeDocument/2006/relationships/image" Target="../media/image19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193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19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18" Type="http://schemas.openxmlformats.org/officeDocument/2006/relationships/image" Target="../media/image206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12" Type="http://schemas.openxmlformats.org/officeDocument/2006/relationships/image" Target="../media/image200.png"/><Relationship Id="rId17" Type="http://schemas.openxmlformats.org/officeDocument/2006/relationships/image" Target="../media/image205.png"/><Relationship Id="rId2" Type="http://schemas.openxmlformats.org/officeDocument/2006/relationships/image" Target="../media/image5.png"/><Relationship Id="rId16" Type="http://schemas.openxmlformats.org/officeDocument/2006/relationships/image" Target="../media/image2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9.png"/><Relationship Id="rId5" Type="http://schemas.openxmlformats.org/officeDocument/2006/relationships/image" Target="../media/image14.png"/><Relationship Id="rId15" Type="http://schemas.openxmlformats.org/officeDocument/2006/relationships/image" Target="../media/image203.pn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4" Type="http://schemas.openxmlformats.org/officeDocument/2006/relationships/image" Target="../media/image7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image" Target="../media/image5.png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11.png"/><Relationship Id="rId5" Type="http://schemas.openxmlformats.org/officeDocument/2006/relationships/image" Target="../media/image14.png"/><Relationship Id="rId15" Type="http://schemas.openxmlformats.org/officeDocument/2006/relationships/image" Target="../media/image215.png"/><Relationship Id="rId10" Type="http://schemas.openxmlformats.org/officeDocument/2006/relationships/image" Target="../media/image210.png"/><Relationship Id="rId19" Type="http://schemas.openxmlformats.org/officeDocument/2006/relationships/image" Target="../media/image219.png"/><Relationship Id="rId4" Type="http://schemas.openxmlformats.org/officeDocument/2006/relationships/image" Target="../media/image7.png"/><Relationship Id="rId9" Type="http://schemas.openxmlformats.org/officeDocument/2006/relationships/image" Target="../media/image209.png"/><Relationship Id="rId14" Type="http://schemas.openxmlformats.org/officeDocument/2006/relationships/image" Target="../media/image21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5.png"/><Relationship Id="rId3" Type="http://schemas.openxmlformats.org/officeDocument/2006/relationships/image" Target="../media/image221.png"/><Relationship Id="rId7" Type="http://schemas.openxmlformats.org/officeDocument/2006/relationships/image" Target="../media/image225.png"/><Relationship Id="rId12" Type="http://schemas.openxmlformats.org/officeDocument/2006/relationships/image" Target="../media/image2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4.png"/><Relationship Id="rId11" Type="http://schemas.openxmlformats.org/officeDocument/2006/relationships/image" Target="../media/image226.png"/><Relationship Id="rId5" Type="http://schemas.openxmlformats.org/officeDocument/2006/relationships/image" Target="../media/image223.png"/><Relationship Id="rId10" Type="http://schemas.openxmlformats.org/officeDocument/2006/relationships/image" Target="../media/image78.png"/><Relationship Id="rId4" Type="http://schemas.openxmlformats.org/officeDocument/2006/relationships/image" Target="../media/image222.png"/><Relationship Id="rId9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236.png"/><Relationship Id="rId3" Type="http://schemas.openxmlformats.org/officeDocument/2006/relationships/image" Target="../media/image229.png"/><Relationship Id="rId7" Type="http://schemas.openxmlformats.org/officeDocument/2006/relationships/image" Target="../media/image233.png"/><Relationship Id="rId12" Type="http://schemas.openxmlformats.org/officeDocument/2006/relationships/image" Target="../media/image235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2.png"/><Relationship Id="rId11" Type="http://schemas.openxmlformats.org/officeDocument/2006/relationships/image" Target="../media/image132.png"/><Relationship Id="rId5" Type="http://schemas.openxmlformats.org/officeDocument/2006/relationships/image" Target="../media/image231.png"/><Relationship Id="rId10" Type="http://schemas.openxmlformats.org/officeDocument/2006/relationships/image" Target="../media/image123.png"/><Relationship Id="rId4" Type="http://schemas.openxmlformats.org/officeDocument/2006/relationships/image" Target="../media/image230.png"/><Relationship Id="rId9" Type="http://schemas.openxmlformats.org/officeDocument/2006/relationships/image" Target="../media/image23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42.png"/><Relationship Id="rId18" Type="http://schemas.openxmlformats.org/officeDocument/2006/relationships/image" Target="../media/image18.png"/><Relationship Id="rId3" Type="http://schemas.openxmlformats.org/officeDocument/2006/relationships/image" Target="../media/image238.png"/><Relationship Id="rId7" Type="http://schemas.openxmlformats.org/officeDocument/2006/relationships/image" Target="../media/image7.png"/><Relationship Id="rId12" Type="http://schemas.openxmlformats.org/officeDocument/2006/relationships/image" Target="../media/image241.png"/><Relationship Id="rId17" Type="http://schemas.openxmlformats.org/officeDocument/2006/relationships/image" Target="../media/image17.png"/><Relationship Id="rId2" Type="http://schemas.openxmlformats.org/officeDocument/2006/relationships/image" Target="../media/image237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40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39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48.png"/><Relationship Id="rId18" Type="http://schemas.openxmlformats.org/officeDocument/2006/relationships/image" Target="../media/image36.png"/><Relationship Id="rId3" Type="http://schemas.openxmlformats.org/officeDocument/2006/relationships/image" Target="../media/image244.png"/><Relationship Id="rId7" Type="http://schemas.openxmlformats.org/officeDocument/2006/relationships/image" Target="../media/image25.png"/><Relationship Id="rId12" Type="http://schemas.openxmlformats.org/officeDocument/2006/relationships/image" Target="../media/image247.png"/><Relationship Id="rId17" Type="http://schemas.openxmlformats.org/officeDocument/2006/relationships/image" Target="../media/image35.png"/><Relationship Id="rId2" Type="http://schemas.openxmlformats.org/officeDocument/2006/relationships/image" Target="../media/image243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46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45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54.png"/><Relationship Id="rId18" Type="http://schemas.openxmlformats.org/officeDocument/2006/relationships/image" Target="../media/image18.png"/><Relationship Id="rId3" Type="http://schemas.openxmlformats.org/officeDocument/2006/relationships/image" Target="../media/image250.png"/><Relationship Id="rId7" Type="http://schemas.openxmlformats.org/officeDocument/2006/relationships/image" Target="../media/image7.png"/><Relationship Id="rId12" Type="http://schemas.openxmlformats.org/officeDocument/2006/relationships/image" Target="../media/image253.png"/><Relationship Id="rId17" Type="http://schemas.openxmlformats.org/officeDocument/2006/relationships/image" Target="../media/image17.png"/><Relationship Id="rId2" Type="http://schemas.openxmlformats.org/officeDocument/2006/relationships/image" Target="../media/image249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5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251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60.png"/><Relationship Id="rId18" Type="http://schemas.openxmlformats.org/officeDocument/2006/relationships/image" Target="../media/image36.png"/><Relationship Id="rId3" Type="http://schemas.openxmlformats.org/officeDocument/2006/relationships/image" Target="../media/image256.png"/><Relationship Id="rId7" Type="http://schemas.openxmlformats.org/officeDocument/2006/relationships/image" Target="../media/image25.png"/><Relationship Id="rId12" Type="http://schemas.openxmlformats.org/officeDocument/2006/relationships/image" Target="../media/image259.png"/><Relationship Id="rId17" Type="http://schemas.openxmlformats.org/officeDocument/2006/relationships/image" Target="../media/image35.png"/><Relationship Id="rId2" Type="http://schemas.openxmlformats.org/officeDocument/2006/relationships/image" Target="../media/image255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58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4" Type="http://schemas.openxmlformats.org/officeDocument/2006/relationships/image" Target="../media/image257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3044279"/>
            <a:ext cx="66969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AI </a:t>
            </a:r>
            <a:r>
              <a:rPr lang="ko-KR" altLang="en-US" sz="4400" b="1" dirty="0">
                <a:latin typeface="+mj-ea"/>
                <a:ea typeface="+mj-ea"/>
              </a:rPr>
              <a:t>모델 성능 개선 결과</a:t>
            </a:r>
            <a:endParaRPr lang="ko-KR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아직 남은 것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1E5AB-3F86-4026-A404-76277B4F6D66}"/>
              </a:ext>
            </a:extLst>
          </p:cNvPr>
          <p:cNvSpPr txBox="1"/>
          <p:nvPr/>
        </p:nvSpPr>
        <p:spPr>
          <a:xfrm>
            <a:off x="2368491" y="2836333"/>
            <a:ext cx="8640350" cy="1891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관측 예측 하나 그래프로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+mj-ea"/>
              </a:rPr>
              <a:t>대곡교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ko-KR" altLang="en-US" sz="1600" b="1" dirty="0" err="1">
                <a:latin typeface="+mj-ea"/>
              </a:rPr>
              <a:t>궁내교</a:t>
            </a:r>
            <a:r>
              <a:rPr lang="ko-KR" altLang="en-US" sz="1600" b="1" dirty="0">
                <a:latin typeface="+mj-ea"/>
              </a:rPr>
              <a:t> 수위 같이 그려서 비교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3</a:t>
            </a:r>
            <a:r>
              <a:rPr lang="ko-KR" altLang="en-US" sz="1600" b="1" dirty="0">
                <a:latin typeface="+mj-ea"/>
              </a:rPr>
              <a:t>시간 예측 </a:t>
            </a:r>
            <a:r>
              <a:rPr lang="en-US" altLang="ko-KR" sz="1600" b="1" dirty="0">
                <a:latin typeface="+mj-ea"/>
              </a:rPr>
              <a:t>R2 </a:t>
            </a:r>
            <a:r>
              <a:rPr lang="ko-KR" altLang="en-US" sz="1600" b="1" dirty="0">
                <a:latin typeface="+mj-ea"/>
              </a:rPr>
              <a:t>한번 확인</a:t>
            </a:r>
            <a:endParaRPr lang="en-US" altLang="ko-KR" sz="1600" b="1" dirty="0">
              <a:latin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23</a:t>
            </a:r>
            <a:r>
              <a:rPr lang="ko-KR" altLang="en-US" sz="1600" b="1" dirty="0">
                <a:latin typeface="+mj-ea"/>
              </a:rPr>
              <a:t>년</a:t>
            </a:r>
            <a:r>
              <a:rPr lang="en-US" altLang="ko-KR" sz="1600" b="1" dirty="0">
                <a:latin typeface="+mj-ea"/>
              </a:rPr>
              <a:t>, 24</a:t>
            </a:r>
            <a:r>
              <a:rPr lang="ko-KR" altLang="en-US" sz="1600" b="1" dirty="0">
                <a:latin typeface="+mj-ea"/>
              </a:rPr>
              <a:t>년</a:t>
            </a:r>
            <a:r>
              <a:rPr lang="en-US" altLang="ko-KR" sz="1600" b="1" dirty="0">
                <a:latin typeface="+mj-ea"/>
              </a:rPr>
              <a:t>, 25</a:t>
            </a:r>
            <a:r>
              <a:rPr lang="ko-KR" altLang="en-US" sz="1600" b="1" dirty="0">
                <a:latin typeface="+mj-ea"/>
              </a:rPr>
              <a:t>년은 시점을 좀 앞으로 </a:t>
            </a:r>
            <a:r>
              <a:rPr lang="ko-KR" altLang="en-US" sz="1600" b="1" dirty="0" err="1">
                <a:latin typeface="+mj-ea"/>
              </a:rPr>
              <a:t>땡겨</a:t>
            </a:r>
            <a:endParaRPr lang="ko-KR" altLang="en-US" sz="1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5154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75825" y="3234266"/>
            <a:ext cx="864035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관심 강우</a:t>
            </a:r>
            <a:r>
              <a:rPr lang="en-US" altLang="ko-KR" sz="1600" b="1" dirty="0">
                <a:latin typeface="+mj-ea"/>
              </a:rPr>
              <a:t>+MAE </a:t>
            </a:r>
            <a:r>
              <a:rPr lang="ko-KR" altLang="en-US" sz="1600" b="1" dirty="0">
                <a:latin typeface="+mj-ea"/>
              </a:rPr>
              <a:t>가 가장 안정적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20</a:t>
            </a:r>
            <a:r>
              <a:rPr lang="ko-KR" altLang="en-US" sz="1600" b="1" dirty="0">
                <a:latin typeface="+mj-ea"/>
              </a:rPr>
              <a:t>년 이후 학습 모델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>
                <a:latin typeface="+mj-ea"/>
              </a:rPr>
              <a:t>최신성우수</a:t>
            </a:r>
            <a:r>
              <a:rPr lang="en-US" altLang="ko-KR" sz="1600" b="1" dirty="0">
                <a:latin typeface="+mj-ea"/>
              </a:rPr>
              <a:t>, 22</a:t>
            </a:r>
            <a:r>
              <a:rPr lang="ko-KR" altLang="en-US" sz="1600" b="1" dirty="0">
                <a:latin typeface="+mj-ea"/>
              </a:rPr>
              <a:t>년 이벤트 음수</a:t>
            </a: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72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6049D-7362-4111-BC96-6F8E3CDCAA3B}"/>
              </a:ext>
            </a:extLst>
          </p:cNvPr>
          <p:cNvSpPr txBox="1"/>
          <p:nvPr/>
        </p:nvSpPr>
        <p:spPr>
          <a:xfrm>
            <a:off x="4356099" y="3813720"/>
            <a:ext cx="3344334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050" b="1" dirty="0"/>
              <a:t>72</a:t>
            </a:r>
            <a:r>
              <a:rPr lang="ko-KR" altLang="en-US" sz="1050" b="1" dirty="0"/>
              <a:t>시간 예측 후 </a:t>
            </a:r>
            <a:r>
              <a:rPr lang="en-US" altLang="ko-KR" sz="1050" b="1" dirty="0"/>
              <a:t> </a:t>
            </a:r>
            <a:r>
              <a:rPr lang="ko-KR" altLang="en-US" sz="1050" b="1" dirty="0">
                <a:latin typeface="+mj-ea"/>
              </a:rPr>
              <a:t>뒷부분 날리고</a:t>
            </a:r>
            <a:r>
              <a:rPr lang="en-US" altLang="ko-KR" sz="1050" b="1" dirty="0">
                <a:latin typeface="+mj-ea"/>
              </a:rPr>
              <a:t> </a:t>
            </a:r>
            <a:r>
              <a:rPr lang="ko-KR" altLang="en-US" sz="1050" b="1" dirty="0">
                <a:latin typeface="+mj-ea"/>
              </a:rPr>
              <a:t>앞 </a:t>
            </a:r>
            <a:r>
              <a:rPr lang="en-US" altLang="ko-KR" sz="1050" b="1" dirty="0">
                <a:latin typeface="+mj-ea"/>
              </a:rPr>
              <a:t>36</a:t>
            </a:r>
            <a:r>
              <a:rPr lang="ko-KR" altLang="en-US" sz="1050" b="1" dirty="0">
                <a:latin typeface="+mj-ea"/>
              </a:rPr>
              <a:t>시간만 예측</a:t>
            </a:r>
          </a:p>
        </p:txBody>
      </p:sp>
    </p:spTree>
    <p:extLst>
      <p:ext uri="{BB962C8B-B14F-4D97-AF65-F5344CB8AC3E}">
        <p14:creationId xmlns:p14="http://schemas.microsoft.com/office/powerpoint/2010/main" val="1966476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72</a:t>
            </a:r>
            <a:r>
              <a:rPr lang="ko-KR" altLang="en-US" sz="2000" b="1" dirty="0">
                <a:latin typeface="+mj-ea"/>
              </a:rPr>
              <a:t>시간 예측 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2168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0.0262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0.0960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0.9934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0.0039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0.0495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0.0631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-1.9263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-0.4222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0.4462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0.7968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0.7761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0.4514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0.6043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0.2256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0.1918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0.4520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0.1855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0.2331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0.2621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0.3169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MAE/RMSE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모두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78738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- 62.3% )  ,  </a:t>
            </a:r>
            <a:r>
              <a:rPr lang="ko-KR" altLang="en-US" dirty="0" err="1"/>
              <a:t>대곡교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- 33.9%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478EF-A400-48AA-B4F2-4325273EA3F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1605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2" y="5558659"/>
            <a:ext cx="2140858" cy="1127236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527" y="1542445"/>
            <a:ext cx="2152473" cy="1125461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09519"/>
            <a:ext cx="2141986" cy="1119978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631" y="5559298"/>
            <a:ext cx="2134672" cy="1125957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598" y="1550687"/>
            <a:ext cx="2102021" cy="110897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920" y="3513369"/>
            <a:ext cx="2131866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0.7968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-1.9263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0.8759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0.8114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0.4520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0.6043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E2DD57-C3A9-49FB-A079-0384D31C676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4350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48" y="5560519"/>
            <a:ext cx="2144214" cy="112007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128" y="1545631"/>
            <a:ext cx="2135738" cy="1115651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82" y="3510532"/>
            <a:ext cx="2123518" cy="1114517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322" y="5569020"/>
            <a:ext cx="2122486" cy="1103076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88" y="1548055"/>
            <a:ext cx="2099637" cy="1110804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990" y="3516446"/>
            <a:ext cx="2106921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09363"/>
            <a:ext cx="2103138" cy="10941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024"/>
            <a:ext cx="2105029" cy="11083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0.7761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-0.4222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0.9934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0.7106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0.8822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0.2256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F05467-A858-4D90-B290-2F8EDD80C1B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</a:t>
            </a:r>
            <a:r>
              <a:rPr lang="en-US" altLang="ko-KR" sz="1050" b="1" dirty="0" err="1"/>
              <a:t>model_sungnam</a:t>
            </a:r>
            <a:r>
              <a:rPr lang="en-US" altLang="ko-KR" sz="1050" b="1" dirty="0"/>
              <a:t>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/dg)72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891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highlight>
                  <a:srgbClr val="FFFF00"/>
                </a:highlight>
                <a:latin typeface="+mj-ea"/>
                <a:ea typeface="+mj-ea"/>
              </a:rPr>
              <a:t>+ MAE</a:t>
            </a: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449658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타이밍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&amp;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크기 가장 정확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모든 실험 대비 가장 안정적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모델 대비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피크값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추적력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고수위 예측 정확도 향상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589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2" y="5556722"/>
            <a:ext cx="2140858" cy="1131111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527" y="1541316"/>
            <a:ext cx="2152473" cy="1127719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04803"/>
            <a:ext cx="2141986" cy="1129411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59298"/>
            <a:ext cx="2144214" cy="1125957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240" y="1550687"/>
            <a:ext cx="2138738" cy="110897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3513369"/>
            <a:ext cx="2141986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0.8622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0.4201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0.9656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0.5087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0.7947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0.7308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722502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E82C4-13F6-42C6-9C9D-DAA9DDD04171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48" y="5560469"/>
            <a:ext cx="2144214" cy="112017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806" y="1545631"/>
            <a:ext cx="2098382" cy="1115651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691" y="3509223"/>
            <a:ext cx="2103099" cy="1117135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322" y="5564564"/>
            <a:ext cx="2122486" cy="1111988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6599" y="1548055"/>
            <a:ext cx="2097215" cy="1110804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505" y="3516446"/>
            <a:ext cx="2081892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09363"/>
            <a:ext cx="2103138" cy="10941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024"/>
            <a:ext cx="2105029" cy="11083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0.8659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0.5503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0.8748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0.8781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0.9470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0.6749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36412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11988" y="2705725"/>
            <a:ext cx="6968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 </a:t>
            </a:r>
            <a:r>
              <a:rPr lang="en-US" altLang="ko-KR" sz="4400" b="1" dirty="0">
                <a:latin typeface="+mj-ea"/>
                <a:ea typeface="+mj-ea"/>
              </a:rPr>
              <a:t>+ MAE</a:t>
            </a: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1</a:t>
            </a:r>
            <a:r>
              <a:rPr lang="ko-KR" altLang="en-US" sz="4400" b="1" dirty="0">
                <a:latin typeface="+mj-ea"/>
                <a:ea typeface="+mj-ea"/>
              </a:rPr>
              <a:t>시간 단위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32924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1</a:t>
            </a:r>
            <a:r>
              <a:rPr lang="ko-KR" altLang="en-US" sz="2000" b="1" dirty="0">
                <a:latin typeface="+mj-ea"/>
              </a:rPr>
              <a:t>시간 단위 예측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42400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Lead 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낮음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이동에 강건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궁내교보다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Lead-time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후행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시간에서 성능 급락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±1h shift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비슷하게 유지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20763-343A-4A25-BAC3-5D5833244E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4BC8555-88BC-43AA-B0D0-E89D3D4C3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36443"/>
              </p:ext>
            </p:extLst>
          </p:nvPr>
        </p:nvGraphicFramePr>
        <p:xfrm>
          <a:off x="5603343" y="2605601"/>
          <a:ext cx="6402384" cy="40614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78005247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Test data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time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20.08.02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01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0.9627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0.0085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0.8421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0.0716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0.1783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0.2676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02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0.0072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0.0558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0.0852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0.8748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0.0763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0.2763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69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03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0.8581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0.0236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0.1028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0.1538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0.8667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0.0633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0.2096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0.2517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927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22.07.12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0.8698</a:t>
                      </a:r>
                      <a:endParaRPr lang="en-US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0.0108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0.0845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0.1041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0.9276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0.0271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0.1433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0.1648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0.5503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0.2509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821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0.7777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0.0148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0.0844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0.1218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0.3852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0.1563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0.3768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0.3953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97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23.07.11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0.8966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0.0368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0.1150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0.1920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0.8208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0.1877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0.2735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0.4333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0.3492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0.8323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0.0351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0.1005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0.1874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0.9018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0.0779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0.2423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0.2791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0228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47D86C-79DE-4B3D-A2D6-5A764D1BA978}"/>
              </a:ext>
            </a:extLst>
          </p:cNvPr>
          <p:cNvSpPr/>
          <p:nvPr/>
        </p:nvSpPr>
        <p:spPr>
          <a:xfrm>
            <a:off x="6828737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971287-AAE6-40BB-A0F5-25DB65107EDD}"/>
              </a:ext>
            </a:extLst>
          </p:cNvPr>
          <p:cNvSpPr/>
          <p:nvPr/>
        </p:nvSpPr>
        <p:spPr>
          <a:xfrm>
            <a:off x="9417231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588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MAE 1</a:t>
            </a:r>
            <a:r>
              <a:rPr lang="ko-KR" altLang="en-US" sz="2000" b="1" dirty="0">
                <a:latin typeface="+mj-ea"/>
              </a:rPr>
              <a:t>시간 단위 예측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20763-343A-4A25-BAC3-5D5833244E5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5F8B177-AFE9-4DC7-AD46-F80052E6E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003981"/>
              </p:ext>
            </p:extLst>
          </p:nvPr>
        </p:nvGraphicFramePr>
        <p:xfrm>
          <a:off x="5603341" y="2615313"/>
          <a:ext cx="6402384" cy="40614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1205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482917">
                  <a:extLst>
                    <a:ext uri="{9D8B030D-6E8A-4147-A177-3AD203B41FA5}">
                      <a16:colId xmlns:a16="http://schemas.microsoft.com/office/drawing/2014/main" val="780052470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4960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Test data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time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1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0.6247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0.0329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0.0925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0.1816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0.6779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0.0171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0.1038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0.1311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0.7308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0.6749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0.1244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269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19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0.7209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0.0217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0.0892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0.1475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0.4809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0.0191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0.1026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0.1385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9274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25.07.16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0.0283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0.1263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0.1684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0.9713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0.0168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0.1071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0.1298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17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08217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18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0.8285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0.0174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0.1056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0.1319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0.9366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0.0201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0.1147</a:t>
                      </a:r>
                      <a:endParaRPr lang="pt-BR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0.1419</a:t>
                      </a:r>
                      <a:endParaRPr lang="pt-BR" altLang="ko-K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497496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25.08.14</a:t>
                      </a:r>
                      <a:endParaRPr lang="ko-KR" altLang="en-US" sz="11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04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0.7630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0.0277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0.1195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0.1665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0.8931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0.0489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0.1846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0.2211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05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0.5087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0.0423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0.1589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4735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06</a:t>
                      </a:r>
                      <a:endParaRPr lang="ko-KR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0.6803</a:t>
                      </a:r>
                      <a:endParaRPr lang="pt-BR" altLang="ko-KR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0.0131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0.0906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0.1146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rgbClr val="FF0000"/>
                          </a:solidFill>
                        </a:rPr>
                        <a:t>0.6361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0.0707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0.2163</a:t>
                      </a:r>
                      <a:endParaRPr lang="ko-KR" alt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0.2659</a:t>
                      </a:r>
                      <a:endParaRPr lang="ko-KR" altLang="en-US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5022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5543A98-ED3C-4FE5-A394-FCE5A01D5211}"/>
              </a:ext>
            </a:extLst>
          </p:cNvPr>
          <p:cNvSpPr/>
          <p:nvPr/>
        </p:nvSpPr>
        <p:spPr>
          <a:xfrm>
            <a:off x="6828737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9AE703-8E58-45C1-B836-F467BBF7E3B6}"/>
              </a:ext>
            </a:extLst>
          </p:cNvPr>
          <p:cNvSpPr/>
          <p:nvPr/>
        </p:nvSpPr>
        <p:spPr>
          <a:xfrm>
            <a:off x="9417231" y="2963337"/>
            <a:ext cx="660400" cy="371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B9857-F487-47DE-9A42-8A1E807D04AF}"/>
              </a:ext>
            </a:extLst>
          </p:cNvPr>
          <p:cNvSpPr txBox="1"/>
          <p:nvPr/>
        </p:nvSpPr>
        <p:spPr>
          <a:xfrm>
            <a:off x="499533" y="1389410"/>
            <a:ext cx="9042400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 Lead 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낮음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 이동에 강건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궁내교보다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Lead-time sensitivity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큼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특히 후행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시간에서 성능 급락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위치가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±1h shift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되어도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비슷하게 유지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152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26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0AFF5D-522F-4031-87B5-FFA45E3E8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1659617"/>
            <a:ext cx="1905738" cy="997488"/>
          </a:xfrm>
          <a:prstGeom prst="rect">
            <a:avLst/>
          </a:prstGeom>
          <a:ln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D5C3ABC-9F95-47DE-BCC8-7AE44624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32" y="1064824"/>
            <a:ext cx="3957964" cy="60300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685C350-162D-4870-AEAF-D4283A52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1668439"/>
            <a:ext cx="1864188" cy="979844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F3608B7-7CC6-411C-B590-C0903FFE2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3451171"/>
            <a:ext cx="1905738" cy="990508"/>
          </a:xfrm>
          <a:prstGeom prst="rect">
            <a:avLst/>
          </a:prstGeom>
          <a:ln>
            <a:noFill/>
          </a:ln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190EDE9-8060-423A-ACAD-956A42D0F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32" y="2852888"/>
            <a:ext cx="3957964" cy="603003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726F418-DBF2-4E5E-A889-6C78766B12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3461356"/>
            <a:ext cx="1864188" cy="970138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8F7CBEE-CB5B-4554-B789-63F49E13A7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920" y="5235264"/>
            <a:ext cx="1903790" cy="998450"/>
          </a:xfrm>
          <a:prstGeom prst="rect">
            <a:avLst/>
          </a:prstGeom>
          <a:ln>
            <a:noFill/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B9ED638-C971-421D-A93B-1BAB58859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32" y="4640952"/>
            <a:ext cx="3957964" cy="603003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65D06CC-DA80-4EC2-B7DB-F5548ED2D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5244518"/>
            <a:ext cx="1864188" cy="979942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5B6ECE2-976C-41A5-B370-F0A97A5E4F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621" y="1659136"/>
            <a:ext cx="1890556" cy="998450"/>
          </a:xfrm>
          <a:prstGeom prst="rect">
            <a:avLst/>
          </a:prstGeom>
          <a:ln>
            <a:noFill/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6132EA4-1E9E-422A-B4E3-80C0347B46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64" y="1064824"/>
            <a:ext cx="3895813" cy="60300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C0F7AB4-97C6-4758-AE6B-72DE2DC9F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1668488"/>
            <a:ext cx="1864188" cy="979747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73FFAB3-EB30-409B-85D7-60B4EA5C48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22" y="3447200"/>
            <a:ext cx="1899753" cy="998450"/>
          </a:xfrm>
          <a:prstGeom prst="rect">
            <a:avLst/>
          </a:prstGeom>
          <a:ln>
            <a:noFill/>
          </a:ln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F2D697D-2379-4DD3-8EA6-90D80E389D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64" y="2852888"/>
            <a:ext cx="3895813" cy="603003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AFE15F14-D7DA-438A-9504-BD345822B4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854" y="3455748"/>
            <a:ext cx="1860260" cy="981355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5D3A6C8-0CEA-43B8-97DD-646C0E5591F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030" y="5236309"/>
            <a:ext cx="1905738" cy="996360"/>
          </a:xfrm>
          <a:prstGeom prst="rect">
            <a:avLst/>
          </a:prstGeom>
          <a:ln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4B121DDE-3600-42B4-8136-E7B12240E0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65" y="4640952"/>
            <a:ext cx="3895812" cy="6030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42B6836-58BD-4341-9A34-46AFF18D3F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5249381"/>
            <a:ext cx="1864188" cy="97021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70ED-7178-40F7-BA9D-A966F5590DF7}"/>
              </a:ext>
            </a:extLst>
          </p:cNvPr>
          <p:cNvGrpSpPr/>
          <p:nvPr/>
        </p:nvGrpSpPr>
        <p:grpSpPr>
          <a:xfrm>
            <a:off x="174600" y="3507782"/>
            <a:ext cx="1633480" cy="616376"/>
            <a:chOff x="241022" y="1566310"/>
            <a:chExt cx="1384578" cy="6163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1E4860-907C-40B9-ACCB-A777CCFC435E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60AA5B-23BA-4A1B-8640-663AFA45A7F2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0.9656</a:t>
              </a:r>
              <a:endParaRPr lang="ko-KR" altLang="en-US" sz="1200" b="1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1A7DF94-8DC0-4F2C-88D1-250C66EDA6CF}"/>
              </a:ext>
            </a:extLst>
          </p:cNvPr>
          <p:cNvGrpSpPr/>
          <p:nvPr/>
        </p:nvGrpSpPr>
        <p:grpSpPr>
          <a:xfrm>
            <a:off x="423502" y="1675927"/>
            <a:ext cx="1384578" cy="616376"/>
            <a:chOff x="241022" y="1566310"/>
            <a:chExt cx="1384578" cy="61637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9519C-DC6F-4DAF-8904-28686DC5B6C4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37A26D-9367-472D-8069-ADEAB92BCD6E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0.9627</a:t>
              </a:r>
              <a:endParaRPr lang="ko-KR" altLang="en-US" sz="1200" b="1" dirty="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14B6D4D-F229-4826-9B82-18D699918F17}"/>
              </a:ext>
            </a:extLst>
          </p:cNvPr>
          <p:cNvGrpSpPr/>
          <p:nvPr/>
        </p:nvGrpSpPr>
        <p:grpSpPr>
          <a:xfrm>
            <a:off x="423502" y="5304578"/>
            <a:ext cx="1384578" cy="616376"/>
            <a:chOff x="241022" y="1566310"/>
            <a:chExt cx="1384578" cy="61637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10496E-F27E-4EE1-B4DC-93C87272EAED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E069D4-46E3-4B26-B834-C0A0CDDBFC1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0.8581</a:t>
              </a:r>
              <a:endParaRPr lang="ko-KR" altLang="en-US" sz="1200" b="1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E920ACEC-6285-43E5-B050-3E2F3BEDAF49}"/>
              </a:ext>
            </a:extLst>
          </p:cNvPr>
          <p:cNvGrpSpPr/>
          <p:nvPr/>
        </p:nvGrpSpPr>
        <p:grpSpPr>
          <a:xfrm>
            <a:off x="5957458" y="3507782"/>
            <a:ext cx="1633480" cy="616376"/>
            <a:chOff x="241022" y="1566310"/>
            <a:chExt cx="1384578" cy="6163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5BA2A-6932-40EB-B6F8-87D83DAC5D02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( 16 )</a:t>
              </a:r>
              <a:endParaRPr lang="ko-KR" altLang="en-US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92974D-B192-4FF4-BF08-93D3E812425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0.4201</a:t>
              </a:r>
              <a:endParaRPr lang="ko-KR" altLang="en-US" sz="1200" b="1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861FC6B-5745-4859-8401-A7659A7EE645}"/>
              </a:ext>
            </a:extLst>
          </p:cNvPr>
          <p:cNvGrpSpPr/>
          <p:nvPr/>
        </p:nvGrpSpPr>
        <p:grpSpPr>
          <a:xfrm>
            <a:off x="6206360" y="1675927"/>
            <a:ext cx="1384578" cy="616376"/>
            <a:chOff x="241022" y="1566310"/>
            <a:chExt cx="1384578" cy="61637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68AFC1-1153-4161-A1B0-5FDA19D8DDD0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807320-054D-49DF-BD1E-A2C18846A11C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0.8698</a:t>
              </a:r>
              <a:endParaRPr lang="ko-KR" altLang="en-US" sz="1200" b="1" dirty="0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EE29380-D7FE-48E6-B272-3FE9EBD45B6E}"/>
              </a:ext>
            </a:extLst>
          </p:cNvPr>
          <p:cNvGrpSpPr/>
          <p:nvPr/>
        </p:nvGrpSpPr>
        <p:grpSpPr>
          <a:xfrm>
            <a:off x="6206360" y="5304578"/>
            <a:ext cx="1384578" cy="616376"/>
            <a:chOff x="241022" y="1566310"/>
            <a:chExt cx="1384578" cy="61637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E10D860-BDF0-4034-B5AE-843B1A7FB7A5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0C71A8-A334-4EA5-A33D-5DB064BE89F5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0.7777</a:t>
              </a:r>
              <a:endParaRPr lang="ko-KR" altLang="en-US" sz="1200" b="1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257B6D4-5AF2-4307-BB5C-E2ECFB720DB3}"/>
              </a:ext>
            </a:extLst>
          </p:cNvPr>
          <p:cNvSpPr txBox="1"/>
          <p:nvPr/>
        </p:nvSpPr>
        <p:spPr>
          <a:xfrm>
            <a:off x="6337022" y="95943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09E504-04BF-4D74-8AA6-B31EC94E2313}"/>
              </a:ext>
            </a:extLst>
          </p:cNvPr>
          <p:cNvSpPr txBox="1"/>
          <p:nvPr/>
        </p:nvSpPr>
        <p:spPr>
          <a:xfrm>
            <a:off x="6337022" y="129880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0.9656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047363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26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0AFF5D-522F-4031-87B5-FFA45E3E8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467" y="1666961"/>
            <a:ext cx="1894696" cy="982799"/>
          </a:xfrm>
          <a:prstGeom prst="rect">
            <a:avLst/>
          </a:prstGeom>
          <a:ln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D5C3ABC-9F95-47DE-BCC8-7AE44624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811" y="1064824"/>
            <a:ext cx="3922185" cy="60300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685C350-162D-4870-AEAF-D4283A52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48" y="1672797"/>
            <a:ext cx="1856904" cy="971129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F3608B7-7CC6-411C-B590-C0903FFE2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729" y="3449884"/>
            <a:ext cx="1884171" cy="993082"/>
          </a:xfrm>
          <a:prstGeom prst="rect">
            <a:avLst/>
          </a:prstGeom>
          <a:ln>
            <a:noFill/>
          </a:ln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190EDE9-8060-423A-ACAD-956A42D0F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921" y="2852888"/>
            <a:ext cx="3922185" cy="603003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726F418-DBF2-4E5E-A889-6C78766B12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3456133"/>
            <a:ext cx="1864188" cy="980584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8F7CBEE-CB5B-4554-B789-63F49E13A7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309" y="5235264"/>
            <a:ext cx="1889012" cy="998450"/>
          </a:xfrm>
          <a:prstGeom prst="rect">
            <a:avLst/>
          </a:prstGeom>
          <a:ln>
            <a:noFill/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B9ED638-C971-421D-A93B-1BAB58859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921" y="4640952"/>
            <a:ext cx="3922185" cy="603003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65D06CC-DA80-4EC2-B7DB-F5548ED2D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995" y="5243812"/>
            <a:ext cx="1859810" cy="981355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5B6ECE2-976C-41A5-B370-F0A97A5E4F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806" y="1659136"/>
            <a:ext cx="1902185" cy="998450"/>
          </a:xfrm>
          <a:prstGeom prst="rect">
            <a:avLst/>
          </a:prstGeom>
          <a:ln>
            <a:noFill/>
          </a:ln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C0F7AB4-97C6-4758-AE6B-72DE2DC9F7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1673711"/>
            <a:ext cx="1864188" cy="969301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73FFAB3-EB30-409B-85D7-60B4EA5C48D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030" y="3452345"/>
            <a:ext cx="1905737" cy="988160"/>
          </a:xfrm>
          <a:prstGeom prst="rect">
            <a:avLst/>
          </a:prstGeom>
          <a:ln>
            <a:noFill/>
          </a:ln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F2D697D-2379-4DD3-8EA6-90D80E389D4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54" y="2852888"/>
            <a:ext cx="3954242" cy="603003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AFE15F14-D7DA-438A-9504-BD345822B4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3464215"/>
            <a:ext cx="1864188" cy="964421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5D3A6C8-0CEA-43B8-97DD-646C0E5591F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753" y="5235264"/>
            <a:ext cx="1894292" cy="998450"/>
          </a:xfrm>
          <a:prstGeom prst="rect">
            <a:avLst/>
          </a:prstGeom>
          <a:ln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4B121DDE-3600-42B4-8136-E7B12240E02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806" y="4640952"/>
            <a:ext cx="3922185" cy="6030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42B6836-58BD-4341-9A34-46AFF18D3FB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5251287"/>
            <a:ext cx="1864188" cy="96640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70ED-7178-40F7-BA9D-A966F5590DF7}"/>
              </a:ext>
            </a:extLst>
          </p:cNvPr>
          <p:cNvGrpSpPr/>
          <p:nvPr/>
        </p:nvGrpSpPr>
        <p:grpSpPr>
          <a:xfrm>
            <a:off x="174600" y="3507782"/>
            <a:ext cx="1633480" cy="616376"/>
            <a:chOff x="241022" y="1566310"/>
            <a:chExt cx="1384578" cy="6163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1E4860-907C-40B9-ACCB-A777CCFC435E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60AA5B-23BA-4A1B-8640-663AFA45A7F2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1A7DF94-8DC0-4F2C-88D1-250C66EDA6CF}"/>
              </a:ext>
            </a:extLst>
          </p:cNvPr>
          <p:cNvGrpSpPr/>
          <p:nvPr/>
        </p:nvGrpSpPr>
        <p:grpSpPr>
          <a:xfrm>
            <a:off x="423502" y="1675927"/>
            <a:ext cx="1384578" cy="616376"/>
            <a:chOff x="241022" y="1566310"/>
            <a:chExt cx="1384578" cy="61637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9519C-DC6F-4DAF-8904-28686DC5B6C4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37A26D-9367-472D-8069-ADEAB92BCD6E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0.8622</a:t>
              </a:r>
              <a:endParaRPr lang="ko-KR" altLang="en-US" sz="1200" b="1" dirty="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14B6D4D-F229-4826-9B82-18D699918F17}"/>
              </a:ext>
            </a:extLst>
          </p:cNvPr>
          <p:cNvGrpSpPr/>
          <p:nvPr/>
        </p:nvGrpSpPr>
        <p:grpSpPr>
          <a:xfrm>
            <a:off x="423502" y="5304578"/>
            <a:ext cx="1384578" cy="616376"/>
            <a:chOff x="241022" y="1566310"/>
            <a:chExt cx="1384578" cy="61637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10496E-F27E-4EE1-B4DC-93C87272EAED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E069D4-46E3-4B26-B834-C0A0CDDBFC1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0.8323</a:t>
              </a:r>
              <a:endParaRPr lang="ko-KR" altLang="en-US" sz="1200" b="1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E920ACEC-6285-43E5-B050-3E2F3BEDAF49}"/>
              </a:ext>
            </a:extLst>
          </p:cNvPr>
          <p:cNvGrpSpPr/>
          <p:nvPr/>
        </p:nvGrpSpPr>
        <p:grpSpPr>
          <a:xfrm>
            <a:off x="5957458" y="3507782"/>
            <a:ext cx="1633480" cy="616376"/>
            <a:chOff x="241022" y="1566310"/>
            <a:chExt cx="1384578" cy="6163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5BA2A-6932-40EB-B6F8-87D83DAC5D02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92974D-B192-4FF4-BF08-93D3E812425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0.7308</a:t>
              </a:r>
              <a:endParaRPr lang="ko-KR" altLang="en-US" sz="1200" b="1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861FC6B-5745-4859-8401-A7659A7EE645}"/>
              </a:ext>
            </a:extLst>
          </p:cNvPr>
          <p:cNvGrpSpPr/>
          <p:nvPr/>
        </p:nvGrpSpPr>
        <p:grpSpPr>
          <a:xfrm>
            <a:off x="6206360" y="1675927"/>
            <a:ext cx="1384578" cy="616376"/>
            <a:chOff x="241022" y="1566310"/>
            <a:chExt cx="1384578" cy="61637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68AFC1-1153-4161-A1B0-5FDA19D8DDD0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807320-054D-49DF-BD1E-A2C18846A11C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0.6247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EE29380-D7FE-48E6-B272-3FE9EBD45B6E}"/>
              </a:ext>
            </a:extLst>
          </p:cNvPr>
          <p:cNvGrpSpPr/>
          <p:nvPr/>
        </p:nvGrpSpPr>
        <p:grpSpPr>
          <a:xfrm>
            <a:off x="6206360" y="5304578"/>
            <a:ext cx="1384578" cy="616376"/>
            <a:chOff x="241022" y="1566310"/>
            <a:chExt cx="1384578" cy="61637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E10D860-BDF0-4034-B5AE-843B1A7FB7A5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0C71A8-A334-4EA5-A33D-5DB064BE89F5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0.7209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425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26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rgbClr val="FF0000"/>
                </a:solidFill>
                <a:latin typeface="+mj-ea"/>
              </a:rPr>
              <a:t>1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0AFF5D-522F-4031-87B5-FFA45E3E8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1659617"/>
            <a:ext cx="1905738" cy="997488"/>
          </a:xfrm>
          <a:prstGeom prst="rect">
            <a:avLst/>
          </a:prstGeom>
          <a:ln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D5C3ABC-9F95-47DE-BCC8-7AE44624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72" y="1064824"/>
            <a:ext cx="3957964" cy="60300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685C350-162D-4870-AEAF-D4283A52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1675124"/>
            <a:ext cx="1864188" cy="966474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F3608B7-7CC6-411C-B590-C0903FFE2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3449630"/>
            <a:ext cx="1905738" cy="993590"/>
          </a:xfrm>
          <a:prstGeom prst="rect">
            <a:avLst/>
          </a:prstGeom>
          <a:ln>
            <a:noFill/>
          </a:ln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190EDE9-8060-423A-ACAD-956A42D0F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598" y="2852888"/>
            <a:ext cx="3884832" cy="603003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726F418-DBF2-4E5E-A889-6C78766B12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3462817"/>
            <a:ext cx="1864188" cy="967216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8F7CBEE-CB5B-4554-B789-63F49E13A7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5236309"/>
            <a:ext cx="1905738" cy="996360"/>
          </a:xfrm>
          <a:prstGeom prst="rect">
            <a:avLst/>
          </a:prstGeom>
          <a:ln>
            <a:noFill/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B9ED638-C971-421D-A93B-1BAB58859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672" y="4640952"/>
            <a:ext cx="3929012" cy="603003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65D06CC-DA80-4EC2-B7DB-F5548ED2D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5251781"/>
            <a:ext cx="1864188" cy="965417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5B6ECE2-976C-41A5-B370-F0A97A5E4F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766" y="1659136"/>
            <a:ext cx="1896265" cy="998450"/>
          </a:xfrm>
          <a:prstGeom prst="rect">
            <a:avLst/>
          </a:prstGeom>
          <a:ln>
            <a:noFill/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6132EA4-1E9E-422A-B4E3-80C0347B46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018" y="1064824"/>
            <a:ext cx="3917750" cy="60300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C0F7AB4-97C6-4758-AE6B-72DE2DC9F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1672717"/>
            <a:ext cx="1864188" cy="97128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73FFAB3-EB30-409B-85D7-60B4EA5C48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22" y="3447200"/>
            <a:ext cx="1899753" cy="998450"/>
          </a:xfrm>
          <a:prstGeom prst="rect">
            <a:avLst/>
          </a:prstGeom>
          <a:ln>
            <a:noFill/>
          </a:ln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F2D697D-2379-4DD3-8EA6-90D80E389D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018" y="2852888"/>
            <a:ext cx="3957964" cy="603003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AFE15F14-D7DA-438A-9504-BD345822B4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3462817"/>
            <a:ext cx="1864188" cy="967216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5D3A6C8-0CEA-43B8-97DD-646C0E5591F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911" y="5235264"/>
            <a:ext cx="1903975" cy="998450"/>
          </a:xfrm>
          <a:prstGeom prst="rect">
            <a:avLst/>
          </a:prstGeom>
          <a:ln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4B121DDE-3600-42B4-8136-E7B12240E0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018" y="4640952"/>
            <a:ext cx="3913013" cy="6030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42B6836-58BD-4341-9A34-46AFF18D3F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5247475"/>
            <a:ext cx="1864188" cy="974028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70ED-7178-40F7-BA9D-A966F5590DF7}"/>
              </a:ext>
            </a:extLst>
          </p:cNvPr>
          <p:cNvGrpSpPr/>
          <p:nvPr/>
        </p:nvGrpSpPr>
        <p:grpSpPr>
          <a:xfrm>
            <a:off x="174600" y="3507782"/>
            <a:ext cx="1633480" cy="616376"/>
            <a:chOff x="241022" y="1566310"/>
            <a:chExt cx="1384578" cy="6163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1E4860-907C-40B9-ACCB-A777CCFC435E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60AA5B-23BA-4A1B-8640-663AFA45A7F2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0.7947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1A7DF94-8DC0-4F2C-88D1-250C66EDA6CF}"/>
              </a:ext>
            </a:extLst>
          </p:cNvPr>
          <p:cNvGrpSpPr/>
          <p:nvPr/>
        </p:nvGrpSpPr>
        <p:grpSpPr>
          <a:xfrm>
            <a:off x="423502" y="1675927"/>
            <a:ext cx="1384578" cy="616376"/>
            <a:chOff x="241022" y="1566310"/>
            <a:chExt cx="1384578" cy="61637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9519C-DC6F-4DAF-8904-28686DC5B6C4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37A26D-9367-472D-8069-ADEAB92BCD6E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0.7968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14B6D4D-F229-4826-9B82-18D699918F17}"/>
              </a:ext>
            </a:extLst>
          </p:cNvPr>
          <p:cNvGrpSpPr/>
          <p:nvPr/>
        </p:nvGrpSpPr>
        <p:grpSpPr>
          <a:xfrm>
            <a:off x="423502" y="5304578"/>
            <a:ext cx="1384578" cy="616376"/>
            <a:chOff x="241022" y="1566310"/>
            <a:chExt cx="1384578" cy="61637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10496E-F27E-4EE1-B4DC-93C87272EAED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E069D4-46E3-4B26-B834-C0A0CDDBFC1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0.8285</a:t>
              </a:r>
              <a:endParaRPr lang="ko-KR" altLang="en-US" sz="1200" b="1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E920ACEC-6285-43E5-B050-3E2F3BEDAF49}"/>
              </a:ext>
            </a:extLst>
          </p:cNvPr>
          <p:cNvGrpSpPr/>
          <p:nvPr/>
        </p:nvGrpSpPr>
        <p:grpSpPr>
          <a:xfrm>
            <a:off x="5957458" y="3507782"/>
            <a:ext cx="1633480" cy="616376"/>
            <a:chOff x="241022" y="1566310"/>
            <a:chExt cx="1384578" cy="6163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5BA2A-6932-40EB-B6F8-87D83DAC5D02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( 05 )</a:t>
              </a:r>
              <a:endParaRPr lang="ko-KR" altLang="en-US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92974D-B192-4FF4-BF08-93D3E812425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0.5087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861FC6B-5745-4859-8401-A7659A7EE645}"/>
              </a:ext>
            </a:extLst>
          </p:cNvPr>
          <p:cNvGrpSpPr/>
          <p:nvPr/>
        </p:nvGrpSpPr>
        <p:grpSpPr>
          <a:xfrm>
            <a:off x="6206360" y="1675927"/>
            <a:ext cx="1384578" cy="616376"/>
            <a:chOff x="241022" y="1566310"/>
            <a:chExt cx="1384578" cy="61637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68AFC1-1153-4161-A1B0-5FDA19D8DDD0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807320-054D-49DF-BD1E-A2C18846A11C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0.7630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EE29380-D7FE-48E6-B272-3FE9EBD45B6E}"/>
              </a:ext>
            </a:extLst>
          </p:cNvPr>
          <p:cNvGrpSpPr/>
          <p:nvPr/>
        </p:nvGrpSpPr>
        <p:grpSpPr>
          <a:xfrm>
            <a:off x="6206360" y="5304578"/>
            <a:ext cx="1384578" cy="616376"/>
            <a:chOff x="241022" y="1566310"/>
            <a:chExt cx="1384578" cy="61637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E10D860-BDF0-4034-B5AE-843B1A7FB7A5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0C71A8-A334-4EA5-A33D-5DB064BE89F5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0.6803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4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D40AFF5D-522F-4031-87B5-FFA45E3E8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1660135"/>
            <a:ext cx="1905738" cy="996451"/>
          </a:xfrm>
          <a:prstGeom prst="rect">
            <a:avLst/>
          </a:prstGeom>
          <a:ln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D5C3ABC-9F95-47DE-BCC8-7AE44624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244" y="1064824"/>
            <a:ext cx="3946440" cy="60300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685C350-162D-4870-AEAF-D4283A52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1671803"/>
            <a:ext cx="1864188" cy="973117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F3608B7-7CC6-411C-B590-C0903FFE2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949" y="3449630"/>
            <a:ext cx="1867731" cy="993590"/>
          </a:xfrm>
          <a:prstGeom prst="rect">
            <a:avLst/>
          </a:prstGeom>
          <a:ln>
            <a:noFill/>
          </a:ln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190EDE9-8060-423A-ACAD-956A42D0F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794" y="2852888"/>
            <a:ext cx="3946440" cy="603003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726F418-DBF2-4E5E-A889-6C78766B12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3461521"/>
            <a:ext cx="1864188" cy="969808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8F7CBEE-CB5B-4554-B789-63F49E13A7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5238719"/>
            <a:ext cx="1905738" cy="991539"/>
          </a:xfrm>
          <a:prstGeom prst="rect">
            <a:avLst/>
          </a:prstGeom>
          <a:ln>
            <a:noFill/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B9ED638-C971-421D-A93B-1BAB58859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245" y="4640952"/>
            <a:ext cx="3938990" cy="603003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65D06CC-DA80-4EC2-B7DB-F5548ED2D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5247432"/>
            <a:ext cx="1864188" cy="974114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5B6ECE2-976C-41A5-B370-F0A97A5E4F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889" y="1659136"/>
            <a:ext cx="1900020" cy="998450"/>
          </a:xfrm>
          <a:prstGeom prst="rect">
            <a:avLst/>
          </a:prstGeom>
          <a:ln>
            <a:noFill/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6132EA4-1E9E-422A-B4E3-80C0347B46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496" y="1064824"/>
            <a:ext cx="3909533" cy="60300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C0F7AB4-97C6-4758-AE6B-72DE2DC9F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1669940"/>
            <a:ext cx="1864188" cy="976842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73FFAB3-EB30-409B-85D7-60B4EA5C48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737" y="3447200"/>
            <a:ext cx="1882322" cy="998450"/>
          </a:xfrm>
          <a:prstGeom prst="rect">
            <a:avLst/>
          </a:prstGeom>
          <a:ln>
            <a:noFill/>
          </a:ln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F2D697D-2379-4DD3-8EA6-90D80E389D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496" y="2852888"/>
            <a:ext cx="3877204" cy="603003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AFE15F14-D7DA-438A-9504-BD345822B4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3460116"/>
            <a:ext cx="1864188" cy="972619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5D3A6C8-0CEA-43B8-97DD-646C0E5591F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030" y="5238760"/>
            <a:ext cx="1905738" cy="991458"/>
          </a:xfrm>
          <a:prstGeom prst="rect">
            <a:avLst/>
          </a:prstGeom>
          <a:ln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4B121DDE-3600-42B4-8136-E7B12240E0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070" y="4640952"/>
            <a:ext cx="3938990" cy="6030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42B6836-58BD-4341-9A34-46AFF18D3F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5247475"/>
            <a:ext cx="1864188" cy="974028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70ED-7178-40F7-BA9D-A966F5590DF7}"/>
              </a:ext>
            </a:extLst>
          </p:cNvPr>
          <p:cNvGrpSpPr/>
          <p:nvPr/>
        </p:nvGrpSpPr>
        <p:grpSpPr>
          <a:xfrm>
            <a:off x="174600" y="3507782"/>
            <a:ext cx="1633480" cy="616376"/>
            <a:chOff x="241022" y="1566310"/>
            <a:chExt cx="1384578" cy="6163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1E4860-907C-40B9-ACCB-A777CCFC435E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 ( 02 )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60AA5B-23BA-4A1B-8640-663AFA45A7F2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0.8748</a:t>
              </a:r>
              <a:endParaRPr lang="ko-KR" altLang="en-US" sz="1200" b="1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1A7DF94-8DC0-4F2C-88D1-250C66EDA6CF}"/>
              </a:ext>
            </a:extLst>
          </p:cNvPr>
          <p:cNvGrpSpPr/>
          <p:nvPr/>
        </p:nvGrpSpPr>
        <p:grpSpPr>
          <a:xfrm>
            <a:off x="423502" y="1675927"/>
            <a:ext cx="1384578" cy="616376"/>
            <a:chOff x="241022" y="1566310"/>
            <a:chExt cx="1384578" cy="61637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9519C-DC6F-4DAF-8904-28686DC5B6C4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( 01 )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37A26D-9367-472D-8069-ADEAB92BCD6E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0.8421</a:t>
              </a:r>
              <a:endParaRPr lang="ko-KR" altLang="en-US" sz="1200" b="1" dirty="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14B6D4D-F229-4826-9B82-18D699918F17}"/>
              </a:ext>
            </a:extLst>
          </p:cNvPr>
          <p:cNvGrpSpPr/>
          <p:nvPr/>
        </p:nvGrpSpPr>
        <p:grpSpPr>
          <a:xfrm>
            <a:off x="423502" y="5304578"/>
            <a:ext cx="1384578" cy="616376"/>
            <a:chOff x="241022" y="1566310"/>
            <a:chExt cx="1384578" cy="61637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10496E-F27E-4EE1-B4DC-93C87272EAED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( 03 )</a:t>
              </a:r>
              <a:endParaRPr lang="ko-KR" altLang="en-US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E069D4-46E3-4B26-B834-C0A0CDDBFC1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0.8667</a:t>
              </a:r>
              <a:endParaRPr lang="ko-KR" altLang="en-US" sz="1200" b="1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E920ACEC-6285-43E5-B050-3E2F3BEDAF49}"/>
              </a:ext>
            </a:extLst>
          </p:cNvPr>
          <p:cNvGrpSpPr/>
          <p:nvPr/>
        </p:nvGrpSpPr>
        <p:grpSpPr>
          <a:xfrm>
            <a:off x="5957458" y="3507782"/>
            <a:ext cx="1633480" cy="616376"/>
            <a:chOff x="241022" y="1566310"/>
            <a:chExt cx="1384578" cy="6163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5BA2A-6932-40EB-B6F8-87D83DAC5D02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 ( 16 )</a:t>
              </a:r>
              <a:endParaRPr lang="ko-KR" altLang="en-US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92974D-B192-4FF4-BF08-93D3E812425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0.5503</a:t>
              </a:r>
              <a:endParaRPr lang="ko-KR" altLang="en-US" sz="1200" b="1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861FC6B-5745-4859-8401-A7659A7EE645}"/>
              </a:ext>
            </a:extLst>
          </p:cNvPr>
          <p:cNvGrpSpPr/>
          <p:nvPr/>
        </p:nvGrpSpPr>
        <p:grpSpPr>
          <a:xfrm>
            <a:off x="6206360" y="1675927"/>
            <a:ext cx="1384578" cy="616376"/>
            <a:chOff x="241022" y="1566310"/>
            <a:chExt cx="1384578" cy="61637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68AFC1-1153-4161-A1B0-5FDA19D8DDD0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( 15 )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807320-054D-49DF-BD1E-A2C18846A11C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0.9276</a:t>
              </a:r>
              <a:endParaRPr lang="ko-KR" altLang="en-US" sz="1200" b="1" dirty="0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EE29380-D7FE-48E6-B272-3FE9EBD45B6E}"/>
              </a:ext>
            </a:extLst>
          </p:cNvPr>
          <p:cNvGrpSpPr/>
          <p:nvPr/>
        </p:nvGrpSpPr>
        <p:grpSpPr>
          <a:xfrm>
            <a:off x="6206360" y="5304578"/>
            <a:ext cx="1384578" cy="616376"/>
            <a:chOff x="241022" y="1566310"/>
            <a:chExt cx="1384578" cy="61637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E10D860-BDF0-4034-B5AE-843B1A7FB7A5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0C71A8-A334-4EA5-A33D-5DB064BE89F5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0.3852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0F6E842-F224-4122-BCEE-A794C3A81974}"/>
              </a:ext>
            </a:extLst>
          </p:cNvPr>
          <p:cNvSpPr txBox="1"/>
          <p:nvPr/>
        </p:nvSpPr>
        <p:spPr>
          <a:xfrm>
            <a:off x="270933" y="230419"/>
            <a:ext cx="26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7812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D40AFF5D-522F-4031-87B5-FFA45E3E8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1660181"/>
            <a:ext cx="1905738" cy="996360"/>
          </a:xfrm>
          <a:prstGeom prst="rect">
            <a:avLst/>
          </a:prstGeom>
          <a:ln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D5C3ABC-9F95-47DE-BCC8-7AE44624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257" y="1064824"/>
            <a:ext cx="3934739" cy="60300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685C350-162D-4870-AEAF-D4283A52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1672797"/>
            <a:ext cx="1864188" cy="971129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F3608B7-7CC6-411C-B590-C0903FFE2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946" y="3448334"/>
            <a:ext cx="1905737" cy="996181"/>
          </a:xfrm>
          <a:prstGeom prst="rect">
            <a:avLst/>
          </a:prstGeom>
          <a:ln>
            <a:noFill/>
          </a:ln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190EDE9-8060-423A-ACAD-956A42D0F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257" y="2852888"/>
            <a:ext cx="3911513" cy="603003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726F418-DBF2-4E5E-A889-6C78766B12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3460116"/>
            <a:ext cx="1864188" cy="972619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8F7CBEE-CB5B-4554-B789-63F49E13A7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709" y="5235264"/>
            <a:ext cx="1900211" cy="998450"/>
          </a:xfrm>
          <a:prstGeom prst="rect">
            <a:avLst/>
          </a:prstGeom>
          <a:ln>
            <a:noFill/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B9ED638-C971-421D-A93B-1BAB58859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257" y="4640952"/>
            <a:ext cx="3911513" cy="603003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65D06CC-DA80-4EC2-B7DB-F5548ED2D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5246023"/>
            <a:ext cx="1864188" cy="976933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5B6ECE2-976C-41A5-B370-F0A97A5E4F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8652" y="1659136"/>
            <a:ext cx="1894494" cy="998450"/>
          </a:xfrm>
          <a:prstGeom prst="rect">
            <a:avLst/>
          </a:prstGeom>
          <a:ln>
            <a:noFill/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6132EA4-1E9E-422A-B4E3-80C0347B46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751" y="1064824"/>
            <a:ext cx="3934738" cy="60300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C0F7AB4-97C6-4758-AE6B-72DE2DC9F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1673253"/>
            <a:ext cx="1864188" cy="970216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73FFAB3-EB30-409B-85D7-60B4EA5C48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309" y="3447200"/>
            <a:ext cx="1887180" cy="998450"/>
          </a:xfrm>
          <a:prstGeom prst="rect">
            <a:avLst/>
          </a:prstGeom>
          <a:ln>
            <a:noFill/>
          </a:ln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F2D697D-2379-4DD3-8EA6-90D80E389D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116" y="2854707"/>
            <a:ext cx="3957964" cy="599364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AFE15F14-D7DA-438A-9504-BD345822B4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854" y="3455748"/>
            <a:ext cx="1860260" cy="981355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5D3A6C8-0CEA-43B8-97DD-646C0E5591F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900" y="5235264"/>
            <a:ext cx="1901997" cy="998450"/>
          </a:xfrm>
          <a:prstGeom prst="rect">
            <a:avLst/>
          </a:prstGeom>
          <a:ln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4B121DDE-3600-42B4-8136-E7B12240E0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1525" y="4640952"/>
            <a:ext cx="3957964" cy="6030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42B6836-58BD-4341-9A34-46AFF18D3F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5250793"/>
            <a:ext cx="1864188" cy="967393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70ED-7178-40F7-BA9D-A966F5590DF7}"/>
              </a:ext>
            </a:extLst>
          </p:cNvPr>
          <p:cNvGrpSpPr/>
          <p:nvPr/>
        </p:nvGrpSpPr>
        <p:grpSpPr>
          <a:xfrm>
            <a:off x="174600" y="3507782"/>
            <a:ext cx="1633480" cy="616376"/>
            <a:chOff x="241022" y="1566310"/>
            <a:chExt cx="1384578" cy="6163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1E4860-907C-40B9-ACCB-A777CCFC435E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230711 ( 07 )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60AA5B-23BA-4A1B-8640-663AFA45A7F2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0.8659</a:t>
              </a:r>
              <a:endParaRPr lang="ko-KR" altLang="en-US" sz="1200" b="1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1A7DF94-8DC0-4F2C-88D1-250C66EDA6CF}"/>
              </a:ext>
            </a:extLst>
          </p:cNvPr>
          <p:cNvGrpSpPr/>
          <p:nvPr/>
        </p:nvGrpSpPr>
        <p:grpSpPr>
          <a:xfrm>
            <a:off x="423502" y="1675927"/>
            <a:ext cx="1384578" cy="616376"/>
            <a:chOff x="241022" y="1566310"/>
            <a:chExt cx="1384578" cy="61637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9519C-DC6F-4DAF-8904-28686DC5B6C4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37A26D-9367-472D-8069-ADEAB92BCD6E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0.8208</a:t>
              </a:r>
              <a:endParaRPr lang="ko-KR" altLang="en-US" sz="1200" b="1" dirty="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14B6D4D-F229-4826-9B82-18D699918F17}"/>
              </a:ext>
            </a:extLst>
          </p:cNvPr>
          <p:cNvGrpSpPr/>
          <p:nvPr/>
        </p:nvGrpSpPr>
        <p:grpSpPr>
          <a:xfrm>
            <a:off x="423502" y="5304578"/>
            <a:ext cx="1384578" cy="616376"/>
            <a:chOff x="241022" y="1566310"/>
            <a:chExt cx="1384578" cy="61637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10496E-F27E-4EE1-B4DC-93C87272EAED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( 08 )</a:t>
              </a:r>
              <a:endParaRPr lang="ko-KR" altLang="en-US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E069D4-46E3-4B26-B834-C0A0CDDBFC1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0.9018</a:t>
              </a:r>
              <a:endParaRPr lang="ko-KR" altLang="en-US" sz="1200" b="1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E920ACEC-6285-43E5-B050-3E2F3BEDAF49}"/>
              </a:ext>
            </a:extLst>
          </p:cNvPr>
          <p:cNvGrpSpPr/>
          <p:nvPr/>
        </p:nvGrpSpPr>
        <p:grpSpPr>
          <a:xfrm>
            <a:off x="5957458" y="3507782"/>
            <a:ext cx="1633480" cy="616376"/>
            <a:chOff x="241022" y="1566310"/>
            <a:chExt cx="1384578" cy="6163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5BA2A-6932-40EB-B6F8-87D83DAC5D02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 ( 18 )</a:t>
              </a:r>
              <a:endParaRPr lang="ko-KR" altLang="en-US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92974D-B192-4FF4-BF08-93D3E812425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0.6749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861FC6B-5745-4859-8401-A7659A7EE645}"/>
              </a:ext>
            </a:extLst>
          </p:cNvPr>
          <p:cNvGrpSpPr/>
          <p:nvPr/>
        </p:nvGrpSpPr>
        <p:grpSpPr>
          <a:xfrm>
            <a:off x="6206360" y="1675927"/>
            <a:ext cx="1384578" cy="616376"/>
            <a:chOff x="241022" y="1566310"/>
            <a:chExt cx="1384578" cy="61637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68AFC1-1153-4161-A1B0-5FDA19D8DDD0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( 17 )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807320-054D-49DF-BD1E-A2C18846A11C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0.6779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EE29380-D7FE-48E6-B272-3FE9EBD45B6E}"/>
              </a:ext>
            </a:extLst>
          </p:cNvPr>
          <p:cNvGrpSpPr/>
          <p:nvPr/>
        </p:nvGrpSpPr>
        <p:grpSpPr>
          <a:xfrm>
            <a:off x="6206360" y="5304578"/>
            <a:ext cx="1384578" cy="616376"/>
            <a:chOff x="241022" y="1566310"/>
            <a:chExt cx="1384578" cy="61637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E10D860-BDF0-4034-B5AE-843B1A7FB7A5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( 19 )</a:t>
              </a:r>
              <a:endParaRPr lang="ko-KR" altLang="en-US" sz="12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0C71A8-A334-4EA5-A33D-5DB064BE89F5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0.4809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A90B39C-D1FA-4C49-A588-D82BFB7C6486}"/>
              </a:ext>
            </a:extLst>
          </p:cNvPr>
          <p:cNvSpPr txBox="1"/>
          <p:nvPr/>
        </p:nvSpPr>
        <p:spPr>
          <a:xfrm>
            <a:off x="270933" y="230419"/>
            <a:ext cx="26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3259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D40AFF5D-522F-4031-87B5-FFA45E3E8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20" y="1659136"/>
            <a:ext cx="1905590" cy="998450"/>
          </a:xfrm>
          <a:prstGeom prst="rect">
            <a:avLst/>
          </a:prstGeom>
          <a:ln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D5C3ABC-9F95-47DE-BCC8-7AE446240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598" y="1064824"/>
            <a:ext cx="3957964" cy="60300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2685C350-162D-4870-AEAF-D4283A520B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1674665"/>
            <a:ext cx="1864188" cy="967393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5F3608B7-7CC6-411C-B590-C0903FFE2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058" y="3452243"/>
            <a:ext cx="1867514" cy="988363"/>
          </a:xfrm>
          <a:prstGeom prst="rect">
            <a:avLst/>
          </a:prstGeom>
          <a:ln>
            <a:noFill/>
          </a:ln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7190EDE9-8060-423A-ACAD-956A42D0FD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412" y="2852888"/>
            <a:ext cx="3877204" cy="603003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5726F418-DBF2-4E5E-A889-6C78766B12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06" y="3462817"/>
            <a:ext cx="1864188" cy="967216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88F7CBEE-CB5B-4554-B789-63F49E13A7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709" y="5235264"/>
            <a:ext cx="1900211" cy="998450"/>
          </a:xfrm>
          <a:prstGeom prst="rect">
            <a:avLst/>
          </a:prstGeom>
          <a:ln>
            <a:noFill/>
          </a:ln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4B9ED638-C971-421D-A93B-1BAB58859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598" y="4640952"/>
            <a:ext cx="3926321" cy="603003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C65D06CC-DA80-4EC2-B7DB-F5548ED2DC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895" y="5243812"/>
            <a:ext cx="1860010" cy="981355"/>
          </a:xfrm>
          <a:prstGeom prst="rect">
            <a:avLst/>
          </a:prstGeom>
        </p:spPr>
      </p:pic>
      <p:pic>
        <p:nvPicPr>
          <p:cNvPr id="90" name="그림 89">
            <a:extLst>
              <a:ext uri="{FF2B5EF4-FFF2-40B4-BE49-F238E27FC236}">
                <a16:creationId xmlns:a16="http://schemas.microsoft.com/office/drawing/2014/main" id="{35B6ECE2-976C-41A5-B370-F0A97A5E4F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030" y="1660653"/>
            <a:ext cx="1905738" cy="995416"/>
          </a:xfrm>
          <a:prstGeom prst="rect">
            <a:avLst/>
          </a:prstGeom>
          <a:ln>
            <a:noFill/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26132EA4-1E9E-422A-B4E3-80C0347B46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394" y="1064824"/>
            <a:ext cx="3916849" cy="603003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3C0F7AB4-97C6-4758-AE6B-72DE2DC9F7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1672757"/>
            <a:ext cx="1864188" cy="971209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73FFAB3-EB30-409B-85D7-60B4EA5C48D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553" y="3447200"/>
            <a:ext cx="1898691" cy="998450"/>
          </a:xfrm>
          <a:prstGeom prst="rect">
            <a:avLst/>
          </a:prstGeom>
          <a:ln>
            <a:noFill/>
          </a:ln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7F2D697D-2379-4DD3-8EA6-90D80E389D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673" y="2852888"/>
            <a:ext cx="3916849" cy="603003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AFE15F14-D7DA-438A-9504-BD345822B4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3456133"/>
            <a:ext cx="1864188" cy="980584"/>
          </a:xfrm>
          <a:prstGeom prst="rect">
            <a:avLst/>
          </a:prstGeom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15D3A6C8-0CEA-43B8-97DD-646C0E5591F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030" y="5237297"/>
            <a:ext cx="1905738" cy="994384"/>
          </a:xfrm>
          <a:prstGeom prst="rect">
            <a:avLst/>
          </a:prstGeom>
          <a:ln>
            <a:noFill/>
          </a:ln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4B121DDE-3600-42B4-8136-E7B12240E02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116" y="4640952"/>
            <a:ext cx="3957964" cy="603003"/>
          </a:xfrm>
          <a:prstGeom prst="rect">
            <a:avLst/>
          </a:prstGeom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442B6836-58BD-4341-9A34-46AFF18D3FB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90" y="5251287"/>
            <a:ext cx="1864188" cy="96640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C7270ED-7178-40F7-BA9D-A966F5590DF7}"/>
              </a:ext>
            </a:extLst>
          </p:cNvPr>
          <p:cNvGrpSpPr/>
          <p:nvPr/>
        </p:nvGrpSpPr>
        <p:grpSpPr>
          <a:xfrm>
            <a:off x="174600" y="3507782"/>
            <a:ext cx="1633480" cy="616376"/>
            <a:chOff x="241022" y="1566310"/>
            <a:chExt cx="1384578" cy="6163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C1E4860-907C-40B9-ACCB-A777CCFC435E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 ( 17 )</a:t>
              </a:r>
              <a:endParaRPr lang="ko-KR" altLang="en-US" sz="12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060AA5B-23BA-4A1B-8640-663AFA45A7F2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0.9470</a:t>
              </a:r>
              <a:endParaRPr lang="ko-KR" altLang="en-US" sz="1200" b="1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D1A7DF94-8DC0-4F2C-88D1-250C66EDA6CF}"/>
              </a:ext>
            </a:extLst>
          </p:cNvPr>
          <p:cNvGrpSpPr/>
          <p:nvPr/>
        </p:nvGrpSpPr>
        <p:grpSpPr>
          <a:xfrm>
            <a:off x="423502" y="1675927"/>
            <a:ext cx="1384578" cy="616376"/>
            <a:chOff x="241022" y="1566310"/>
            <a:chExt cx="1384578" cy="616376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B89519C-DC6F-4DAF-8904-28686DC5B6C4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( 16 )</a:t>
              </a:r>
              <a:endParaRPr lang="ko-KR" altLang="en-US" sz="1200" b="1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937A26D-9367-472D-8069-ADEAB92BCD6E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0.9713</a:t>
              </a:r>
              <a:endParaRPr lang="ko-KR" altLang="en-US" sz="1200" b="1" dirty="0"/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114B6D4D-F229-4826-9B82-18D699918F17}"/>
              </a:ext>
            </a:extLst>
          </p:cNvPr>
          <p:cNvGrpSpPr/>
          <p:nvPr/>
        </p:nvGrpSpPr>
        <p:grpSpPr>
          <a:xfrm>
            <a:off x="423502" y="5304578"/>
            <a:ext cx="1384578" cy="616376"/>
            <a:chOff x="241022" y="1566310"/>
            <a:chExt cx="1384578" cy="616376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D10496E-F27E-4EE1-B4DC-93C87272EAED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( 18 )</a:t>
              </a:r>
              <a:endParaRPr lang="ko-KR" altLang="en-US" sz="1200" b="1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0E069D4-46E3-4B26-B834-C0A0CDDBFC1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0.9366</a:t>
              </a:r>
              <a:endParaRPr lang="ko-KR" altLang="en-US" sz="1200" b="1" dirty="0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E920ACEC-6285-43E5-B050-3E2F3BEDAF49}"/>
              </a:ext>
            </a:extLst>
          </p:cNvPr>
          <p:cNvGrpSpPr/>
          <p:nvPr/>
        </p:nvGrpSpPr>
        <p:grpSpPr>
          <a:xfrm>
            <a:off x="5957458" y="3507782"/>
            <a:ext cx="1633480" cy="616376"/>
            <a:chOff x="241022" y="1566310"/>
            <a:chExt cx="1384578" cy="616376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085BA2A-6932-40EB-B6F8-87D83DAC5D02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250814 ( 05 )</a:t>
              </a:r>
              <a:endParaRPr lang="ko-KR" altLang="en-US" sz="12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B892974D-B192-4FF4-BF08-93D3E8124259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0.8781</a:t>
              </a:r>
              <a:endParaRPr lang="ko-KR" altLang="en-US" sz="1200" b="1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861FC6B-5745-4859-8401-A7659A7EE645}"/>
              </a:ext>
            </a:extLst>
          </p:cNvPr>
          <p:cNvGrpSpPr/>
          <p:nvPr/>
        </p:nvGrpSpPr>
        <p:grpSpPr>
          <a:xfrm>
            <a:off x="6206360" y="1675927"/>
            <a:ext cx="1384578" cy="616376"/>
            <a:chOff x="241022" y="1566310"/>
            <a:chExt cx="1384578" cy="61637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168AFC1-1153-4161-A1B0-5FDA19D8DDD0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전 </a:t>
              </a:r>
              <a:r>
                <a:rPr lang="en-US" altLang="ko-KR" sz="1200" b="1" dirty="0"/>
                <a:t>( 04 )</a:t>
              </a:r>
              <a:endParaRPr lang="ko-KR" altLang="en-US" sz="1200" b="1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1807320-054D-49DF-BD1E-A2C18846A11C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0.8931</a:t>
              </a:r>
              <a:endParaRPr lang="ko-KR" altLang="en-US" sz="1200" b="1" dirty="0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EE29380-D7FE-48E6-B272-3FE9EBD45B6E}"/>
              </a:ext>
            </a:extLst>
          </p:cNvPr>
          <p:cNvGrpSpPr/>
          <p:nvPr/>
        </p:nvGrpSpPr>
        <p:grpSpPr>
          <a:xfrm>
            <a:off x="6206360" y="5304578"/>
            <a:ext cx="1384578" cy="616376"/>
            <a:chOff x="241022" y="1566310"/>
            <a:chExt cx="1384578" cy="616376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E10D860-BDF0-4034-B5AE-843B1A7FB7A5}"/>
                </a:ext>
              </a:extLst>
            </p:cNvPr>
            <p:cNvSpPr txBox="1"/>
            <p:nvPr/>
          </p:nvSpPr>
          <p:spPr>
            <a:xfrm>
              <a:off x="241022" y="1566310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1</a:t>
              </a:r>
              <a:r>
                <a:rPr lang="ko-KR" altLang="en-US" sz="1200" b="1" dirty="0"/>
                <a:t>시간 후 </a:t>
              </a:r>
              <a:r>
                <a:rPr lang="en-US" altLang="ko-KR" sz="1200" b="1" dirty="0"/>
                <a:t>( 06 )</a:t>
              </a:r>
              <a:endParaRPr lang="ko-KR" altLang="en-US" sz="1200" b="1" dirty="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5E0C71A8-A334-4EA5-A33D-5DB064BE89F5}"/>
                </a:ext>
              </a:extLst>
            </p:cNvPr>
            <p:cNvSpPr txBox="1"/>
            <p:nvPr/>
          </p:nvSpPr>
          <p:spPr>
            <a:xfrm>
              <a:off x="241022" y="190568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0.6361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066059A-B669-483A-854C-7337761D8FFA}"/>
              </a:ext>
            </a:extLst>
          </p:cNvPr>
          <p:cNvSpPr txBox="1"/>
          <p:nvPr/>
        </p:nvSpPr>
        <p:spPr>
          <a:xfrm>
            <a:off x="270933" y="230419"/>
            <a:ext cx="2675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 </a:t>
            </a:r>
            <a:r>
              <a:rPr lang="en-US" altLang="ko-KR" sz="2000" b="1" dirty="0">
                <a:solidFill>
                  <a:schemeClr val="accent5"/>
                </a:solidFill>
                <a:latin typeface="+mj-ea"/>
              </a:rPr>
              <a:t>- 1</a:t>
            </a:r>
            <a:r>
              <a:rPr lang="ko-KR" altLang="en-US" sz="2000" b="1" dirty="0">
                <a:solidFill>
                  <a:schemeClr val="accent5"/>
                </a:solidFill>
                <a:latin typeface="+mj-ea"/>
              </a:rPr>
              <a:t>시간 단위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5672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유량 예측 모델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75356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7780867" y="126666"/>
            <a:ext cx="4284136" cy="3095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유량 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( 1.45 – 200.45 )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( 3.93 – 712.55 )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수위 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유량 </a:t>
            </a:r>
            <a:r>
              <a:rPr lang="ko-KR" altLang="en-US" sz="900" b="1" dirty="0" err="1">
                <a:latin typeface="+mn-ea"/>
              </a:rPr>
              <a:t>곡선식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: 23</a:t>
            </a:r>
            <a:r>
              <a:rPr lang="ko-KR" altLang="en-US" sz="900" b="1" dirty="0">
                <a:latin typeface="+mn-ea"/>
              </a:rPr>
              <a:t>년 </a:t>
            </a:r>
            <a:r>
              <a:rPr lang="en-US" altLang="ko-KR" sz="900" b="1" dirty="0">
                <a:latin typeface="+mn-ea"/>
              </a:rPr>
              <a:t>11</a:t>
            </a:r>
            <a:r>
              <a:rPr lang="ko-KR" altLang="en-US" sz="900" b="1" dirty="0">
                <a:latin typeface="+mn-ea"/>
              </a:rPr>
              <a:t>월 이후 </a:t>
            </a:r>
            <a:r>
              <a:rPr lang="en-US" altLang="ko-KR" sz="900" b="1" dirty="0">
                <a:latin typeface="+mn-ea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659324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유량 예측 모델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유량 비교 </a:t>
            </a:r>
            <a:r>
              <a:rPr lang="en-US" altLang="ko-KR" sz="2000" b="1" dirty="0">
                <a:latin typeface="+mj-ea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평균적으로 안정적이나 특정 이벤트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22.07.12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유독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안맞음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음수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1E3F0B-DA34-47B0-B4F4-88DEB1CB6C7E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18E859D-EBD2-4A84-8D67-C7F09C6F1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849969"/>
              </p:ext>
            </p:extLst>
          </p:nvPr>
        </p:nvGraphicFramePr>
        <p:xfrm>
          <a:off x="4614334" y="3429000"/>
          <a:ext cx="709366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810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87996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874539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2955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946318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719613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797077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0.9470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133.2941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7.6087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11.5453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2119.8319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31.4251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46.0416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1225.0217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27.96738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35.0003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0.9411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849.6534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22.2570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29.14881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187.9712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10.4154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13.71025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0.7145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8592.75005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69.7216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92.6970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0.7854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99.3442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6.1220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9.9671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0.7932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92.4420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6.9991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9.6146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113.8457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8.1333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10.6698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0.8734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916.8551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24.9128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30.2796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0.7481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88.8281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7.2954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9.4248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0.9158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666.7448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22.7927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25.8214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5422724" y="378401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8572325" y="3784018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5E48DA-1670-4B12-BDEF-4C0FF83218E0}"/>
              </a:ext>
            </a:extLst>
          </p:cNvPr>
          <p:cNvSpPr txBox="1"/>
          <p:nvPr/>
        </p:nvSpPr>
        <p:spPr>
          <a:xfrm>
            <a:off x="5018529" y="2914649"/>
            <a:ext cx="6978738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- 9%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+ 5.4%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5755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302" y="5568995"/>
            <a:ext cx="2107638" cy="1106563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522" y="1543941"/>
            <a:ext cx="2150482" cy="1122467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298" y="3514626"/>
            <a:ext cx="2109417" cy="1109765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42793"/>
            <a:ext cx="2105544" cy="109695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6569"/>
            <a:ext cx="2103138" cy="11031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65818"/>
            <a:ext cx="2105029" cy="1090219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63727"/>
            <a:ext cx="2144214" cy="1117098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2413" y="1559006"/>
            <a:ext cx="2078392" cy="1092337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888" y="3513369"/>
            <a:ext cx="2107928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913" y="1544134"/>
            <a:ext cx="2080317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461" y="3514921"/>
            <a:ext cx="206514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282" y="5563926"/>
            <a:ext cx="2101864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0.9153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-0.3192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0.9470</a:t>
            </a:r>
            <a:endParaRPr lang="pt-BR" altLang="ko-KR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</a:t>
            </a:r>
            <a:r>
              <a:rPr lang="en-US" altLang="ko-KR" sz="1200" b="1"/>
              <a:t>: </a:t>
            </a:r>
            <a:r>
              <a:rPr lang="en-US" altLang="ko-KR" sz="1200">
                <a:solidFill>
                  <a:srgbClr val="FF0000"/>
                </a:solidFill>
              </a:rPr>
              <a:t>0.7481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 0.7869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0.7854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404A7A-A932-4ACE-8BE0-B47CF0C2724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57035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00" y="5559338"/>
            <a:ext cx="2133509" cy="1122440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115" y="1547534"/>
            <a:ext cx="2127764" cy="1111844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82" y="3513594"/>
            <a:ext cx="2123518" cy="1108393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156" y="1540184"/>
            <a:ext cx="2096607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210" y="3507701"/>
            <a:ext cx="2102425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5176"/>
            <a:ext cx="2105029" cy="1088065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14" y="5570007"/>
            <a:ext cx="2115501" cy="1101101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357" y="1551622"/>
            <a:ext cx="2089698" cy="107853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7394" y="3516446"/>
            <a:ext cx="2106112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8921"/>
            <a:ext cx="2105544" cy="110126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11820"/>
            <a:ext cx="2103138" cy="108924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425"/>
            <a:ext cx="2105029" cy="1107569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0.7145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0.9411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0.8104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0.9158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0.8734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0.7932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141CDB-06C4-4F00-8552-80DEA93712E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/dg)_flow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50043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 err="1">
                <a:latin typeface="+mj-ea"/>
                <a:ea typeface="+mj-ea"/>
              </a:rPr>
              <a:t>대곡교</a:t>
            </a:r>
            <a:r>
              <a:rPr lang="ko-KR" altLang="en-US" sz="4400" b="1" dirty="0">
                <a:latin typeface="+mj-ea"/>
                <a:ea typeface="+mj-ea"/>
              </a:rPr>
              <a:t> 컬럼 제외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75123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348273"/>
              </p:ext>
            </p:extLst>
          </p:nvPr>
        </p:nvGraphicFramePr>
        <p:xfrm>
          <a:off x="1210731" y="3219528"/>
          <a:ext cx="5475923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60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7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55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( 42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20230629 56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008449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latin typeface="+mj-ea"/>
              </a:rPr>
              <a:t>대곡교</a:t>
            </a:r>
            <a:r>
              <a:rPr lang="ko-KR" altLang="en-US" sz="2000" b="1" dirty="0">
                <a:latin typeface="+mj-ea"/>
              </a:rPr>
              <a:t> 컬럼 제외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064171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0.8253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0.0369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0.1334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0.1922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-1.2836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0.0906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0.2571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0.3010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0.9267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0.7720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0.1358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0.7909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/dg)_none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정보 제거 →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예측에도 악영향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하류 수위 상관성이 존재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- 17.5% )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183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8DF26-3638-498C-8546-6762D0FA6823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/dg)_wl18_3_2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2" y="5559886"/>
            <a:ext cx="2140858" cy="1124782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527" y="1543612"/>
            <a:ext cx="2152473" cy="1123126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014" y="3509468"/>
            <a:ext cx="2141986" cy="1120080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641" y="5559298"/>
            <a:ext cx="2138652" cy="1125957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6904" y="1550687"/>
            <a:ext cx="2129409" cy="110897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518" y="3513369"/>
            <a:ext cx="2112670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0.9267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-1.2836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0.8253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0.7909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0.4997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0.7720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914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2020</a:t>
            </a:r>
            <a:r>
              <a:rPr lang="ko-KR" altLang="en-US" sz="4400" b="1" dirty="0"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34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( 24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2369075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022449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0.9513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0.0102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0.0814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0.1013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0.8845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0.0704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0.1797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0.2653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-0.8548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0.2712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-0.1561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0.4023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0.8751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0.0349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0.7304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0.3701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0.4953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0.8136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0.0610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0.6077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0.8213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0.0624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0.1862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0.2498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0.7835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0.0402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0.2006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집중 → 소폭 개선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데이터 감소 → 일반화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지점별 데이터 분리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???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+ 2.5 %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+ 0.5 %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692" y="5566308"/>
            <a:ext cx="2140858" cy="111193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522" y="1541316"/>
            <a:ext cx="2150482" cy="1127719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665" y="3504803"/>
            <a:ext cx="2126683" cy="1129411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59798"/>
            <a:ext cx="2144214" cy="1124957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878" y="1550687"/>
            <a:ext cx="2097462" cy="1108975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206" y="3513369"/>
            <a:ext cx="2127293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0.8751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-0.8548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0.9513</a:t>
            </a:r>
            <a:endParaRPr lang="pt-BR" altLang="ko-KR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0.7835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/>
              <a:t>0.8213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0.8136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566933-09F1-4A5E-9984-AC4CEF6D73A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77697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3248" y="5559338"/>
            <a:ext cx="2144214" cy="1122440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628" y="1547534"/>
            <a:ext cx="2138738" cy="1111844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82" y="3512639"/>
            <a:ext cx="2123518" cy="1110303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0322" y="5570007"/>
            <a:ext cx="2122486" cy="1101101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280" y="1551622"/>
            <a:ext cx="2117853" cy="1103669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605" y="3516446"/>
            <a:ext cx="2113691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09363"/>
            <a:ext cx="2103138" cy="10941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024"/>
            <a:ext cx="2105029" cy="11083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0.7304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-0.1561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0.8845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0.8840</a:t>
            </a:r>
            <a:endParaRPr lang="ko-KR" altLang="en-US" sz="12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0.8647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0.6077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8FF841-3365-49A9-A55A-45DFB223D70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/dg)_20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44938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3044279"/>
            <a:ext cx="68410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dirty="0">
                <a:latin typeface="+mj-ea"/>
                <a:ea typeface="+mj-ea"/>
              </a:rPr>
              <a:t>3</a:t>
            </a:r>
            <a:r>
              <a:rPr lang="ko-KR" altLang="en-US" sz="4400" b="1" dirty="0">
                <a:latin typeface="+mj-ea"/>
                <a:ea typeface="+mj-ea"/>
              </a:rPr>
              <a:t>시간 예측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40717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30420266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 예측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76497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0.5417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0.0184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0.1049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0.1359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0.4341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0.0495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0.1670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/>
                        <a:t>0.2225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0.8669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0.9659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0.0042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0.0452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0.0651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0.9006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0.7131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0.1341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0.3316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0.3663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0.5351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-4.2174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0.0347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0.1570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0.1863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0.6605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0.0984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0.1165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0.0379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0.1619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0.1947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0.2037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0.1493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0.1695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0.8953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0.0140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0.0854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0.1186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이벤트별 변동성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-4.21 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- 13.4%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-26.5%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6487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0.9006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0.8669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0.5417</a:t>
            </a:r>
            <a:endParaRPr lang="pt-BR" altLang="ko-KR" sz="1200" dirty="0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0.2037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 0.6605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0.5351</a:t>
            </a:r>
            <a:endParaRPr lang="pt-BR" altLang="ko-KR" sz="1200" dirty="0">
              <a:solidFill>
                <a:srgbClr val="FF0000"/>
              </a:solidFill>
            </a:endParaRPr>
          </a:p>
          <a:p>
            <a:pPr algn="ctr" latinLnBrk="1"/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0AE350-6840-463F-8B83-347FDF4AD19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3D6305FF-3CE0-4B3F-8B8C-1BAD9306E7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90" y="1569331"/>
            <a:ext cx="3291398" cy="1094578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B36619CC-F692-4724-9037-A0B6B3D30B9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4" y="1555115"/>
            <a:ext cx="1072392" cy="1116553"/>
          </a:xfrm>
          <a:prstGeom prst="rect">
            <a:avLst/>
          </a:prstGeom>
          <a:ln>
            <a:noFill/>
          </a:ln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AF41928A-EC30-499A-9B96-81A64FA01F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90" y="3499059"/>
            <a:ext cx="3291398" cy="1094578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92A7A925-A8BE-4619-A6A9-4C3B9B3F20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4" y="3510254"/>
            <a:ext cx="1072392" cy="1116553"/>
          </a:xfrm>
          <a:prstGeom prst="rect">
            <a:avLst/>
          </a:prstGeom>
          <a:ln>
            <a:noFill/>
          </a:ln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10A0BBEA-DA7E-4E72-A4CE-9BCCC22C2F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91" y="5574014"/>
            <a:ext cx="3291398" cy="1094578"/>
          </a:xfrm>
          <a:prstGeom prst="rect">
            <a:avLst/>
          </a:prstGeom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FE94755E-26DF-4C2E-9A87-9443A57E6F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4" y="5585209"/>
            <a:ext cx="1072392" cy="1083383"/>
          </a:xfrm>
          <a:prstGeom prst="rect">
            <a:avLst/>
          </a:prstGeom>
          <a:ln>
            <a:noFill/>
          </a:ln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96AEB038-F23F-4C99-8AF6-ADC0D172724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42" y="1580526"/>
            <a:ext cx="3291397" cy="1094578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62A96E48-C98D-4F12-9344-C4E7FD801F1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16" y="1575381"/>
            <a:ext cx="1072392" cy="1088528"/>
          </a:xfrm>
          <a:prstGeom prst="rect">
            <a:avLst/>
          </a:prstGeom>
          <a:ln>
            <a:noFill/>
          </a:ln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1680278E-BC9F-459B-9065-77CDF87F2DE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42" y="3510254"/>
            <a:ext cx="3291397" cy="1094578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AA30BD99-DF07-40CA-A69C-FA99A90BC57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16" y="3510253"/>
            <a:ext cx="1072392" cy="1083383"/>
          </a:xfrm>
          <a:prstGeom prst="rect">
            <a:avLst/>
          </a:prstGeom>
          <a:ln>
            <a:noFill/>
          </a:ln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A9F2DDFD-DAF6-43D7-AEB5-AC4B0EB6AE3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41" y="5585209"/>
            <a:ext cx="3291398" cy="1094578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3EF26D04-6220-4E9E-887F-F49FC0C03A5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16" y="5585209"/>
            <a:ext cx="1072392" cy="108338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8072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F5B80E-92E2-4923-BDF0-4F253715DD3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7B3DCD6-4D59-4115-8B98-A13D45816F34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BB393C5-FD4A-4C47-85C2-846813014B13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01565E-BFA0-42C8-80D2-B84B166DF723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90E2B3C-563A-435B-B467-6E29E1989D44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9152D9-EB1B-4457-A708-FF16C0FE528F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6F19B81-CF6A-4AED-88FF-9FD3F19D9256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7141F773-17C0-40CD-BAD2-0D2CB9AA7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4C312812-8E76-412F-B852-D3D71BB2A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E3C603FD-81EC-418D-ADE5-1CAD414A7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101" name="그림 100">
            <a:extLst>
              <a:ext uri="{FF2B5EF4-FFF2-40B4-BE49-F238E27FC236}">
                <a16:creationId xmlns:a16="http://schemas.microsoft.com/office/drawing/2014/main" id="{A6B9E690-98E4-462C-A5C4-4A2714DD1C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1D7C47B7-5418-45EA-8F22-2A0892BF41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0AD63495-0AC7-432C-A644-76E7FE26E1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34567ED1-25FB-4BB9-86DC-C41C982038B0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0.7131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3289655-3873-4AFE-918D-D8E04EAAA0F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0.9659</a:t>
            </a:r>
            <a:endParaRPr lang="ko-KR" altLang="en-US" sz="12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DD935F-EB69-4900-BB73-2F11A0D0FD9C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0.4341</a:t>
            </a:r>
            <a:endParaRPr lang="pt-BR" altLang="ko-KR" sz="1200" dirty="0">
              <a:solidFill>
                <a:srgbClr val="FF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2397D4D-746F-40E1-9B4F-A31771A22456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0.8953</a:t>
            </a:r>
            <a:endParaRPr lang="ko-KR" altLang="en-US" sz="12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A01B34-C475-4DD3-BC00-440F4B6F182B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 0.7288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EDAF3DA4-A793-420F-A907-BD8B60A8FBE3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-4.2174</a:t>
            </a:r>
            <a:endParaRPr lang="pt-BR" altLang="ko-KR" sz="1200" dirty="0">
              <a:solidFill>
                <a:srgbClr val="FF0000"/>
              </a:solidFill>
            </a:endParaRPr>
          </a:p>
          <a:p>
            <a:pPr algn="ctr" latinLnBrk="1"/>
            <a:endParaRPr lang="ko-KR" altLang="en-US" sz="1200" b="1" dirty="0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0CAECD74-474D-4B15-B4D5-9518CAABDB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90" y="1569331"/>
            <a:ext cx="3291398" cy="1094578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26E10BBF-4D7C-4468-9E9A-FFFC22A0E9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4" y="1541441"/>
            <a:ext cx="1072392" cy="1122468"/>
          </a:xfrm>
          <a:prstGeom prst="rect">
            <a:avLst/>
          </a:prstGeom>
          <a:ln>
            <a:noFill/>
          </a:ln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960D17F7-1647-451B-B160-8848304481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90" y="3499059"/>
            <a:ext cx="3291398" cy="1094578"/>
          </a:xfrm>
          <a:prstGeom prst="rect">
            <a:avLst/>
          </a:prstGeom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7F9018DB-12DC-4565-B2F5-6C9B120C9B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4" y="3510255"/>
            <a:ext cx="1072392" cy="1116552"/>
          </a:xfrm>
          <a:prstGeom prst="rect">
            <a:avLst/>
          </a:prstGeom>
          <a:ln>
            <a:noFill/>
          </a:ln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C886FE81-99E6-438B-BCA2-D85B4CFEED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091" y="5574014"/>
            <a:ext cx="3291398" cy="1094578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72D792CB-4A10-4450-A5D8-1EB1B06996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664" y="5585209"/>
            <a:ext cx="1072392" cy="1116552"/>
          </a:xfrm>
          <a:prstGeom prst="rect">
            <a:avLst/>
          </a:prstGeom>
          <a:ln>
            <a:noFill/>
          </a:ln>
        </p:spPr>
      </p:pic>
      <p:pic>
        <p:nvPicPr>
          <p:cNvPr id="116" name="그림 115">
            <a:extLst>
              <a:ext uri="{FF2B5EF4-FFF2-40B4-BE49-F238E27FC236}">
                <a16:creationId xmlns:a16="http://schemas.microsoft.com/office/drawing/2014/main" id="{6AAB3F68-F9BB-4E4D-904C-6FBC1612F4B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42" y="1580526"/>
            <a:ext cx="3291398" cy="1094578"/>
          </a:xfrm>
          <a:prstGeom prst="rect">
            <a:avLst/>
          </a:prstGeom>
        </p:spPr>
      </p:pic>
      <p:pic>
        <p:nvPicPr>
          <p:cNvPr id="117" name="그림 116">
            <a:extLst>
              <a:ext uri="{FF2B5EF4-FFF2-40B4-BE49-F238E27FC236}">
                <a16:creationId xmlns:a16="http://schemas.microsoft.com/office/drawing/2014/main" id="{E57EA87E-5094-457F-94F3-266F10FCBE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16" y="1575381"/>
            <a:ext cx="1072392" cy="1088528"/>
          </a:xfrm>
          <a:prstGeom prst="rect">
            <a:avLst/>
          </a:prstGeom>
          <a:ln>
            <a:noFill/>
          </a:ln>
        </p:spPr>
      </p:pic>
      <p:pic>
        <p:nvPicPr>
          <p:cNvPr id="118" name="그림 117">
            <a:extLst>
              <a:ext uri="{FF2B5EF4-FFF2-40B4-BE49-F238E27FC236}">
                <a16:creationId xmlns:a16="http://schemas.microsoft.com/office/drawing/2014/main" id="{327D3C46-77BC-4F4C-AD01-420F7C432B3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42" y="3510254"/>
            <a:ext cx="3291398" cy="1094578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7FF675FC-28CA-495B-87BB-3FD6A7681E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16" y="3510254"/>
            <a:ext cx="1072392" cy="1083383"/>
          </a:xfrm>
          <a:prstGeom prst="rect">
            <a:avLst/>
          </a:prstGeom>
          <a:ln>
            <a:noFill/>
          </a:ln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44EFB005-2AD1-441C-AD74-7E0876B9ACC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042" y="5585209"/>
            <a:ext cx="3291398" cy="1094578"/>
          </a:xfrm>
          <a:prstGeom prst="rect">
            <a:avLst/>
          </a:prstGeom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CB3B39DA-BC4F-4A00-A216-0138A390867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616" y="5585209"/>
            <a:ext cx="1072392" cy="108338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716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+mj-ea"/>
              </a:rPr>
              <a:t>3</a:t>
            </a:r>
            <a:r>
              <a:rPr lang="ko-KR" altLang="en-US" sz="2000" b="1" dirty="0">
                <a:latin typeface="+mj-ea"/>
              </a:rPr>
              <a:t>시간 예측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예측 시작 시점 </a:t>
            </a:r>
            <a:r>
              <a:rPr lang="en-US" altLang="ko-KR" sz="2000" b="1" dirty="0">
                <a:latin typeface="+mj-ea"/>
              </a:rPr>
              <a:t>-1</a:t>
            </a:r>
            <a:r>
              <a:rPr lang="ko-KR" altLang="en-US" sz="2000" b="1" dirty="0">
                <a:latin typeface="+mj-ea"/>
              </a:rPr>
              <a:t>시간 </a:t>
            </a:r>
            <a:r>
              <a:rPr lang="en-US" altLang="ko-KR" sz="2000" b="1" dirty="0">
                <a:latin typeface="+mj-ea"/>
              </a:rPr>
              <a:t>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0.0315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0.1508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0.1774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0.9113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0.0216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0.1275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0.1470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-0.3291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0.0215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0.1467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-0.1308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0.0159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0.1159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0.1264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0.9196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0.1035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0.7288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0.3538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0.7568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0.5679</a:t>
                      </a:r>
                      <a:endParaRPr lang="pt-BR" altLang="ko-KR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0.9456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0.0045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0.0528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0.5949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0.0571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0.2051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0.2390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-0.9700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0.0607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0.2464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0.8942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0.1387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0.1604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이벤트별 변동성 가장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대곡교에서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-4.21 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- 13.4%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-26.5%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2106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-0.9700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0.9456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0.7568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6" y="1247792"/>
            <a:ext cx="3192888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4" y="3240449"/>
            <a:ext cx="3192889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271474"/>
            <a:ext cx="3192889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54012"/>
            <a:ext cx="319289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40449"/>
            <a:ext cx="3192890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0.9196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-0.3291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0.8214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1F36F4F-CEB0-4E64-B6B8-57448DFFD3CB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7C6BFB-20A7-43B0-90D8-1F7A246BB2B1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330ADC7-5411-4D38-8863-F9B7C91073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9C81B944-E542-455B-92C0-27BEBDE3E8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9BE6D5B-BC93-466C-847A-0645A0B818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E83E87A0-CD57-4F57-92C4-A02C985E38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00CEF64-0372-449C-B3C8-A2BAA38564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4A81F736-890D-487E-AEA3-87DBAFD1CFD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493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0.8942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0.5949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0.5679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54012"/>
            <a:ext cx="3159109" cy="131578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2" y="3240449"/>
            <a:ext cx="3159110" cy="13561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271474"/>
            <a:ext cx="3192889" cy="135610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54012"/>
            <a:ext cx="3159110" cy="1315789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40449"/>
            <a:ext cx="3159109" cy="135610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244" y="5271474"/>
            <a:ext cx="3192889" cy="1356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0.7288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-0.1308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0.9113</a:t>
              </a:r>
              <a:endParaRPr lang="ko-KR" altLang="en-US" sz="12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C4B974EA-9D74-40CE-B5FC-A983C2F579D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/dg)_3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1B2D2B-8083-44DF-8ED3-5FB121DE62C9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A178A2C-983E-4C84-A289-6CC4F0CAF6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7350F9F-F0CB-4B9B-BBE3-E6CB451673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89F72EDA-F404-4FED-95A6-C86631F570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5090526C-ACFD-4894-A654-6209385E45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0C6D0FA9-C1E2-4963-9DD4-1CD5F0B865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4B6D5AA4-0C24-4C8C-8285-4B2E0825A28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816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1495427" y="3044279"/>
            <a:ext cx="9201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데이터 편집 </a:t>
            </a:r>
            <a:r>
              <a:rPr lang="en-US" altLang="ko-KR" sz="4400" b="1" dirty="0">
                <a:latin typeface="+mj-ea"/>
                <a:ea typeface="+mj-ea"/>
              </a:rPr>
              <a:t>( </a:t>
            </a:r>
            <a:r>
              <a:rPr lang="ko-KR" altLang="en-US" sz="4400" b="1" dirty="0">
                <a:latin typeface="+mj-ea"/>
                <a:ea typeface="+mj-ea"/>
              </a:rPr>
              <a:t>수위 </a:t>
            </a:r>
            <a:r>
              <a:rPr lang="en-US" altLang="ko-KR" sz="4400" b="1" dirty="0">
                <a:latin typeface="+mj-ea"/>
                <a:ea typeface="+mj-ea"/>
              </a:rPr>
              <a:t>X 0.98 , x 1.02 )</a:t>
            </a:r>
          </a:p>
        </p:txBody>
      </p:sp>
    </p:spTree>
    <p:extLst>
      <p:ext uri="{BB962C8B-B14F-4D97-AF65-F5344CB8AC3E}">
        <p14:creationId xmlns:p14="http://schemas.microsoft.com/office/powerpoint/2010/main" val="23560086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9273646" y="5102419"/>
            <a:ext cx="2918354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1B2DE-AE9B-4325-9947-5E17F10D700A}"/>
              </a:ext>
            </a:extLst>
          </p:cNvPr>
          <p:cNvSpPr txBox="1"/>
          <p:nvPr/>
        </p:nvSpPr>
        <p:spPr>
          <a:xfrm>
            <a:off x="8466667" y="126666"/>
            <a:ext cx="3598335" cy="226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smoothing 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MAE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 ( 6</a:t>
            </a:r>
            <a:r>
              <a:rPr lang="ko-KR" altLang="en-US" sz="900" b="1" dirty="0">
                <a:latin typeface="+mn-ea"/>
              </a:rPr>
              <a:t>시간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Num_of_layer</a:t>
            </a:r>
            <a:r>
              <a:rPr lang="en-US" altLang="ko-KR" sz="900" b="1" dirty="0">
                <a:latin typeface="+mn-ea"/>
              </a:rPr>
              <a:t> = 18</a:t>
            </a:r>
          </a:p>
        </p:txBody>
      </p:sp>
    </p:spTree>
    <p:extLst>
      <p:ext uri="{BB962C8B-B14F-4D97-AF65-F5344CB8AC3E}">
        <p14:creationId xmlns:p14="http://schemas.microsoft.com/office/powerpoint/2010/main" val="1528941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데이터 편집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0.98 )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14196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0.1350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0.1785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0.8579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0.0867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0.1858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0.2944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0.1397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0.1682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0.1560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0.1787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0.8814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0.1821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0.8246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0.1596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0.3170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0.3995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0.8244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0.5221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0.0227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0.1072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0.1507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0.7627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0.1369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0.9736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0.0856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0.1103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0.4144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0.0412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0.2031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0.7718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0.0791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0.2257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0.2813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편향 보정 효과는 있음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R² </a:t>
            </a:r>
            <a:r>
              <a:rPr lang="ko-KR" altLang="en-US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기준으로는 손해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- 6.2%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- 1.5%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3275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022" y="5566308"/>
            <a:ext cx="2116198" cy="111193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522" y="1541848"/>
            <a:ext cx="2150482" cy="1126655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665" y="3513045"/>
            <a:ext cx="2126683" cy="1112927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61756"/>
            <a:ext cx="2144214" cy="1121041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878" y="1557963"/>
            <a:ext cx="2097462" cy="1094422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333" y="3513369"/>
            <a:ext cx="2123038" cy="111227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0.8814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0.2864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0.8492</a:t>
            </a:r>
            <a:endParaRPr lang="pt-BR" altLang="ko-KR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0.4144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 0.7627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0.8244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82DEBA-C1C7-4FA0-B759-A2DE7B1D75A4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261992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262" y="5559338"/>
            <a:ext cx="2134185" cy="1122440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677" y="1547534"/>
            <a:ext cx="2128639" cy="1111844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601" y="3512639"/>
            <a:ext cx="2115280" cy="1110303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673" y="5570007"/>
            <a:ext cx="2095783" cy="1101101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082" y="1551622"/>
            <a:ext cx="2100249" cy="1103669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076" y="3516446"/>
            <a:ext cx="2102749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09363"/>
            <a:ext cx="2103138" cy="10941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024"/>
            <a:ext cx="2105029" cy="11083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0.8246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0.7718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0.8579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0.7718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0.9736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0.5221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A0D2A7-C2AF-4DB6-86D6-9A4EF6B19B87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/dg)_0.98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292014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데이터 편집 </a:t>
            </a:r>
            <a:r>
              <a:rPr lang="en-US" altLang="ko-KR" sz="2000" b="1" dirty="0">
                <a:latin typeface="+mj-ea"/>
              </a:rPr>
              <a:t>( </a:t>
            </a:r>
            <a:r>
              <a:rPr lang="ko-KR" altLang="en-US" sz="2000" b="1" dirty="0">
                <a:latin typeface="+mj-ea"/>
              </a:rPr>
              <a:t>수위 </a:t>
            </a:r>
            <a:r>
              <a:rPr lang="en-US" altLang="ko-KR" sz="2000" b="1" dirty="0">
                <a:latin typeface="+mj-ea"/>
              </a:rPr>
              <a:t>X 1.02 )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150922"/>
              </p:ext>
            </p:extLst>
          </p:nvPr>
        </p:nvGraphicFramePr>
        <p:xfrm>
          <a:off x="568477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0.7922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0.0439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0.1592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0.2096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0.8688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0.0800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0.1656</a:t>
                      </a:r>
                      <a:endParaRPr lang="pt-BR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0.2829</a:t>
                      </a:r>
                      <a:endParaRPr lang="pt-BR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0.1680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0.1976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0.5974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0.0563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0.2138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0.2374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0.8994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0.1677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0.8086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0.1741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0.3343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0.4173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/>
                        <a:t>0.8400</a:t>
                      </a:r>
                      <a:endParaRPr lang="pt-BR" altLang="ko-KR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0.0691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0.1137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0.4905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0.1086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0.1556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0.8186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0.1220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0.1348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0.9726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0.0917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0.1124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0.4433</a:t>
                      </a:r>
                      <a:endParaRPr lang="pt-BR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0.0392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0.1474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0.1981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0.7639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0.0819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0.2331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0.2862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908403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646006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26691-C012-4322-BE62-DDD99E866745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과대보정 → 분산 증가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peak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근처에서 불안정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501852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- 11.1%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▼저하   </a:t>
            </a:r>
            <a:r>
              <a:rPr lang="en-US" altLang="ko-KR" dirty="0"/>
              <a:t>( - 6.1%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9371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241022" y="5537725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244509" y="35521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241022" y="1566310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135364" y="5503969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135364" y="347869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142232" y="147315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48BE905-C6C4-4EF1-88D4-AA8B876F6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923" y="5566308"/>
            <a:ext cx="2118395" cy="1111938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FEE3C6F0-9A42-4950-B3FA-3B8D42F2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651" y="1541316"/>
            <a:ext cx="2144223" cy="1127719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ECABD2C3-CBAF-4BC4-837D-787C00BB4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665" y="3515731"/>
            <a:ext cx="2126683" cy="1107555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7489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964" y="2787004"/>
            <a:ext cx="4431036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97138"/>
            <a:ext cx="4475270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195DFFBE-6041-413C-98CA-99F56577C7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454" y="1537064"/>
            <a:ext cx="2105544" cy="110841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6D99D1A-490C-481E-91FB-8B6ADA989E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620" y="3503953"/>
            <a:ext cx="2103138" cy="110841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04855F-117B-44DC-BE67-DED92F3437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854" y="5556722"/>
            <a:ext cx="2105029" cy="110841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3F48BB3-626D-4991-BAEA-C7F3D0E5BA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860" y="5561705"/>
            <a:ext cx="2144214" cy="1121143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135BE032-841B-4953-A165-A7D57426D3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878" y="1554591"/>
            <a:ext cx="2097462" cy="1101167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39E8AF0-0119-4621-9476-BE495E0E6E7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206" y="3513938"/>
            <a:ext cx="2127293" cy="1111140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E4496B11-C129-4B07-89A3-AE395B81944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789290"/>
            <a:ext cx="4431036" cy="67747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38792A48-5415-4B81-9E65-5A85F775823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942" y="2787004"/>
            <a:ext cx="4437903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C2D455-D6D6-400A-B699-743D117DFB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10" y="4797138"/>
            <a:ext cx="4431036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AE86B926-F299-431E-A055-50682FAA08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00" y="1544134"/>
            <a:ext cx="2105544" cy="109427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EBEB951-BA52-4275-A8BA-0ACEC6BEAEA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466" y="3514921"/>
            <a:ext cx="2103138" cy="108647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0DB7602-10B4-4EEA-87AD-9AD411A4C00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700" y="5563926"/>
            <a:ext cx="2105029" cy="1094003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39D6ED76-5BA6-46C0-ACEB-7EF11FC145F6}"/>
              </a:ext>
            </a:extLst>
          </p:cNvPr>
          <p:cNvSpPr txBox="1"/>
          <p:nvPr/>
        </p:nvSpPr>
        <p:spPr>
          <a:xfrm>
            <a:off x="241022" y="5877102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0.8994</a:t>
            </a:r>
            <a:endParaRPr lang="ko-KR" alt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0337C-9FC0-4DE4-B666-46B3E25040EE}"/>
              </a:ext>
            </a:extLst>
          </p:cNvPr>
          <p:cNvSpPr txBox="1"/>
          <p:nvPr/>
        </p:nvSpPr>
        <p:spPr>
          <a:xfrm>
            <a:off x="244509" y="38914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0.0156</a:t>
            </a:r>
            <a:endParaRPr lang="ko-KR" alt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60AA5B-23BA-4A1B-8640-663AFA45A7F2}"/>
              </a:ext>
            </a:extLst>
          </p:cNvPr>
          <p:cNvSpPr txBox="1"/>
          <p:nvPr/>
        </p:nvSpPr>
        <p:spPr>
          <a:xfrm>
            <a:off x="241022" y="1905687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0.7922</a:t>
            </a:r>
            <a:endParaRPr lang="pt-BR" altLang="ko-KR" sz="12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13AD81-9D77-4840-BEEF-57179F7C5A87}"/>
              </a:ext>
            </a:extLst>
          </p:cNvPr>
          <p:cNvSpPr txBox="1"/>
          <p:nvPr/>
        </p:nvSpPr>
        <p:spPr>
          <a:xfrm>
            <a:off x="6135364" y="5843346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0.4433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2ED54-E154-45FD-9E22-F3DB582A0E2E}"/>
              </a:ext>
            </a:extLst>
          </p:cNvPr>
          <p:cNvSpPr txBox="1"/>
          <p:nvPr/>
        </p:nvSpPr>
        <p:spPr>
          <a:xfrm>
            <a:off x="6135364" y="3818074"/>
            <a:ext cx="13845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/>
              <a:t>0.8186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E82EB6-8861-41EE-940F-7D3C39D3265A}"/>
              </a:ext>
            </a:extLst>
          </p:cNvPr>
          <p:cNvSpPr txBox="1"/>
          <p:nvPr/>
        </p:nvSpPr>
        <p:spPr>
          <a:xfrm>
            <a:off x="6142232" y="1812531"/>
            <a:ext cx="13845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0.8400</a:t>
            </a:r>
            <a:endParaRPr lang="pt-BR" altLang="ko-KR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B70D429-1ABB-4C12-822A-C307E0A8F33C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875479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338667" y="5537725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testdata_230711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4BBF56-F2C7-44DC-B70F-E0F75AC7E4D2}"/>
              </a:ext>
            </a:extLst>
          </p:cNvPr>
          <p:cNvSpPr txBox="1"/>
          <p:nvPr/>
        </p:nvSpPr>
        <p:spPr>
          <a:xfrm>
            <a:off x="342154" y="35521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220712</a:t>
            </a:r>
            <a:endParaRPr lang="ko-KR" altLang="en-US" sz="12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1E4860-907C-40B9-ACCB-A777CCFC435E}"/>
              </a:ext>
            </a:extLst>
          </p:cNvPr>
          <p:cNvSpPr txBox="1"/>
          <p:nvPr/>
        </p:nvSpPr>
        <p:spPr>
          <a:xfrm>
            <a:off x="338667" y="1566310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200802</a:t>
            </a:r>
            <a:endParaRPr lang="ko-KR" alt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255B5-0345-410B-80F9-2AFF909E4C46}"/>
              </a:ext>
            </a:extLst>
          </p:cNvPr>
          <p:cNvSpPr txBox="1"/>
          <p:nvPr/>
        </p:nvSpPr>
        <p:spPr>
          <a:xfrm>
            <a:off x="6233009" y="5503969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testdata_250814</a:t>
            </a:r>
            <a:endParaRPr lang="ko-KR" altLang="en-US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9A747-00BF-4A4A-A0D9-CB38768F9B9A}"/>
              </a:ext>
            </a:extLst>
          </p:cNvPr>
          <p:cNvSpPr txBox="1"/>
          <p:nvPr/>
        </p:nvSpPr>
        <p:spPr>
          <a:xfrm>
            <a:off x="6233009" y="347869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250716</a:t>
            </a:r>
            <a:endParaRPr lang="ko-KR" altLang="en-US" sz="12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780478-A6EF-4462-AD5A-1F9DE5B39403}"/>
              </a:ext>
            </a:extLst>
          </p:cNvPr>
          <p:cNvSpPr txBox="1"/>
          <p:nvPr/>
        </p:nvSpPr>
        <p:spPr>
          <a:xfrm>
            <a:off x="6239877" y="147315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 err="1"/>
              <a:t>testdata</a:t>
            </a:r>
            <a:r>
              <a:rPr lang="en-US" altLang="ko-KR" sz="1200" b="1" dirty="0"/>
              <a:t>_ 240723</a:t>
            </a:r>
            <a:endParaRPr lang="ko-KR" altLang="en-US" sz="1200" b="1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CC25DF5C-A68D-4625-9B79-B37CE2DB4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713" y="5559338"/>
            <a:ext cx="2115283" cy="1122440"/>
          </a:xfrm>
          <a:prstGeom prst="rect">
            <a:avLst/>
          </a:prstGeom>
          <a:ln>
            <a:noFill/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F9-0B39-4647-AAC5-1593FEBE5F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888" y="1547534"/>
            <a:ext cx="2124218" cy="1111844"/>
          </a:xfrm>
          <a:prstGeom prst="rect">
            <a:avLst/>
          </a:prstGeom>
          <a:ln>
            <a:noFill/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1D298A3-AA90-4919-A592-66C57E76E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482" y="3517086"/>
            <a:ext cx="2123518" cy="1101409"/>
          </a:xfrm>
          <a:prstGeom prst="rect">
            <a:avLst/>
          </a:prstGeom>
          <a:ln>
            <a:noFill/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3EA2EBF5-CD13-44C8-813F-EEDA34085D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785771"/>
            <a:ext cx="4470400" cy="681074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5870AE6B-76EF-4511-87FC-CE101EB4D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2785286"/>
            <a:ext cx="4470400" cy="69169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A7018E1D-D7C4-4D1A-A317-E4ECAA9EE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4774263"/>
            <a:ext cx="4470399" cy="6897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05DBFA2D-C3C1-4ACF-88D1-0DFA6CA1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88" y="1540184"/>
            <a:ext cx="2105544" cy="10987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47E32F3-DE55-4652-A792-041CB94512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54" y="3507701"/>
            <a:ext cx="2103138" cy="1097479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98F38E7-4884-45CF-89FB-FE3ABE8240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088" y="5560024"/>
            <a:ext cx="2105029" cy="1098370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29CE206-0C98-4091-A6A8-9814A33571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21" y="5570007"/>
            <a:ext cx="2116487" cy="1101101"/>
          </a:xfrm>
          <a:prstGeom prst="rect">
            <a:avLst/>
          </a:prstGeom>
          <a:ln>
            <a:noFill/>
          </a:ln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9FE448DC-5D9B-47BB-AEC6-8B5360EB1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871" y="1551622"/>
            <a:ext cx="2100671" cy="1103669"/>
          </a:xfrm>
          <a:prstGeom prst="rect">
            <a:avLst/>
          </a:prstGeom>
          <a:ln>
            <a:noFill/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0D56D92-6C27-4AF9-B2BC-FBA5E34E993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9177" y="3516446"/>
            <a:ext cx="2102546" cy="1102688"/>
          </a:xfrm>
          <a:prstGeom prst="rect">
            <a:avLst/>
          </a:prstGeom>
          <a:ln>
            <a:noFill/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C2691E6-6B09-4785-BCBF-D3485039FC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9" y="787826"/>
            <a:ext cx="4470398" cy="676963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44744C8E-42F1-4467-BF16-A82BC9F0FA9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8" y="2785286"/>
            <a:ext cx="4470399" cy="69169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61575510-750B-41F7-8F3B-28FBA4F1F4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867" y="4774263"/>
            <a:ext cx="4470399" cy="68978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821FB765-8B9E-41F5-A71A-23A8DB3155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98" y="1536270"/>
            <a:ext cx="2105544" cy="110656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86507EDF-C6A9-4829-8E18-F555F91745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064" y="3509363"/>
            <a:ext cx="2103138" cy="1094155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8CAA81C6-ECC4-426A-930B-218CE06E21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298" y="5555024"/>
            <a:ext cx="2105029" cy="1108371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58EB5B8-0834-49CB-9DEF-62F323CED012}"/>
              </a:ext>
            </a:extLst>
          </p:cNvPr>
          <p:cNvSpPr txBox="1"/>
          <p:nvPr/>
        </p:nvSpPr>
        <p:spPr>
          <a:xfrm>
            <a:off x="338667" y="5877102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0.8086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7E3AD7-2F5E-4C0E-B8DD-BBDA0E999573}"/>
              </a:ext>
            </a:extLst>
          </p:cNvPr>
          <p:cNvSpPr txBox="1"/>
          <p:nvPr/>
        </p:nvSpPr>
        <p:spPr>
          <a:xfrm>
            <a:off x="342154" y="38914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0.5974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F151FD-DED9-4507-9B00-C871C4562999}"/>
              </a:ext>
            </a:extLst>
          </p:cNvPr>
          <p:cNvSpPr txBox="1"/>
          <p:nvPr/>
        </p:nvSpPr>
        <p:spPr>
          <a:xfrm>
            <a:off x="338667" y="1905687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0.8688</a:t>
            </a:r>
            <a:endParaRPr lang="ko-KR" alt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CA2767-C5FF-4340-92EF-D7CFF55312DF}"/>
              </a:ext>
            </a:extLst>
          </p:cNvPr>
          <p:cNvSpPr txBox="1"/>
          <p:nvPr/>
        </p:nvSpPr>
        <p:spPr>
          <a:xfrm>
            <a:off x="6233009" y="5843346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0.7639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2B9BC3-E1EA-4545-8B35-584898123C78}"/>
              </a:ext>
            </a:extLst>
          </p:cNvPr>
          <p:cNvSpPr txBox="1"/>
          <p:nvPr/>
        </p:nvSpPr>
        <p:spPr>
          <a:xfrm>
            <a:off x="6233009" y="3818074"/>
            <a:ext cx="1286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/>
              <a:t>0.9726</a:t>
            </a:r>
            <a:endParaRPr lang="ko-KR" altLang="en-US" sz="12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6821EE-29C4-4C79-9682-1E8E948044F4}"/>
              </a:ext>
            </a:extLst>
          </p:cNvPr>
          <p:cNvSpPr txBox="1"/>
          <p:nvPr/>
        </p:nvSpPr>
        <p:spPr>
          <a:xfrm>
            <a:off x="6239877" y="1812531"/>
            <a:ext cx="1286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200" b="1" dirty="0"/>
              <a:t>R2 : </a:t>
            </a:r>
            <a:r>
              <a:rPr lang="en-US" altLang="ko-KR" sz="1200" dirty="0">
                <a:solidFill>
                  <a:srgbClr val="FF0000"/>
                </a:solidFill>
              </a:rPr>
              <a:t>0.4905</a:t>
            </a:r>
            <a:endParaRPr lang="ko-KR" altLang="en-US" sz="1200" dirty="0"/>
          </a:p>
          <a:p>
            <a:pPr algn="ctr" latinLnBrk="1"/>
            <a:endParaRPr lang="ko-KR" altLang="en-US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260A15-3B32-44C5-BD36-41EDA5307BDA}"/>
              </a:ext>
            </a:extLst>
          </p:cNvPr>
          <p:cNvSpPr txBox="1"/>
          <p:nvPr/>
        </p:nvSpPr>
        <p:spPr>
          <a:xfrm>
            <a:off x="9279466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b="1" dirty="0"/>
              <a:t>* model_(</a:t>
            </a:r>
            <a:r>
              <a:rPr lang="en-US" altLang="ko-KR" sz="1050" b="1" dirty="0" err="1"/>
              <a:t>gn</a:t>
            </a:r>
            <a:r>
              <a:rPr lang="en-US" altLang="ko-KR" sz="1050" b="1" dirty="0"/>
              <a:t>/dg)_1.02</a:t>
            </a:r>
            <a:endParaRPr lang="ko-KR" altLang="en-US" sz="105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375689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8163</TotalTime>
  <Words>3787</Words>
  <Application>Microsoft Office PowerPoint</Application>
  <PresentationFormat>와이드스크린</PresentationFormat>
  <Paragraphs>1448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1066</cp:revision>
  <dcterms:created xsi:type="dcterms:W3CDTF">2025-11-18T00:02:37Z</dcterms:created>
  <dcterms:modified xsi:type="dcterms:W3CDTF">2026-01-26T06:50:58Z</dcterms:modified>
</cp:coreProperties>
</file>