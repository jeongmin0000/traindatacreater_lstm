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1" r:id="rId3"/>
    <p:sldId id="510" r:id="rId4"/>
    <p:sldId id="593" r:id="rId5"/>
    <p:sldId id="793" r:id="rId6"/>
    <p:sldId id="666" r:id="rId7"/>
    <p:sldId id="724" r:id="rId8"/>
    <p:sldId id="729" r:id="rId9"/>
    <p:sldId id="721" r:id="rId10"/>
    <p:sldId id="763" r:id="rId11"/>
    <p:sldId id="774" r:id="rId12"/>
    <p:sldId id="776" r:id="rId13"/>
    <p:sldId id="777" r:id="rId14"/>
    <p:sldId id="719" r:id="rId15"/>
    <p:sldId id="778" r:id="rId16"/>
    <p:sldId id="779" r:id="rId17"/>
    <p:sldId id="726" r:id="rId18"/>
    <p:sldId id="727" r:id="rId19"/>
    <p:sldId id="757" r:id="rId20"/>
    <p:sldId id="772" r:id="rId21"/>
    <p:sldId id="725" r:id="rId22"/>
    <p:sldId id="730" r:id="rId23"/>
    <p:sldId id="723" r:id="rId24"/>
    <p:sldId id="764" r:id="rId25"/>
    <p:sldId id="775" r:id="rId26"/>
    <p:sldId id="732" r:id="rId27"/>
    <p:sldId id="734" r:id="rId28"/>
    <p:sldId id="720" r:id="rId29"/>
    <p:sldId id="780" r:id="rId30"/>
    <p:sldId id="781" r:id="rId31"/>
    <p:sldId id="728" r:id="rId32"/>
    <p:sldId id="758" r:id="rId33"/>
    <p:sldId id="509" r:id="rId34"/>
    <p:sldId id="782" r:id="rId35"/>
    <p:sldId id="794" r:id="rId36"/>
    <p:sldId id="783" r:id="rId37"/>
    <p:sldId id="768" r:id="rId38"/>
    <p:sldId id="785" r:id="rId39"/>
    <p:sldId id="789" r:id="rId40"/>
    <p:sldId id="787" r:id="rId41"/>
    <p:sldId id="791" r:id="rId42"/>
    <p:sldId id="784" r:id="rId43"/>
    <p:sldId id="769" r:id="rId44"/>
    <p:sldId id="786" r:id="rId45"/>
    <p:sldId id="790" r:id="rId46"/>
    <p:sldId id="788" r:id="rId47"/>
    <p:sldId id="792" r:id="rId48"/>
    <p:sldId id="773" r:id="rId49"/>
    <p:sldId id="663" r:id="rId50"/>
    <p:sldId id="771" r:id="rId51"/>
    <p:sldId id="797" r:id="rId52"/>
    <p:sldId id="796" r:id="rId53"/>
    <p:sldId id="731" r:id="rId54"/>
    <p:sldId id="733" r:id="rId55"/>
    <p:sldId id="739" r:id="rId56"/>
    <p:sldId id="740" r:id="rId57"/>
    <p:sldId id="741" r:id="rId58"/>
    <p:sldId id="742" r:id="rId59"/>
    <p:sldId id="743" r:id="rId60"/>
    <p:sldId id="745" r:id="rId61"/>
    <p:sldId id="746" r:id="rId62"/>
    <p:sldId id="747" r:id="rId63"/>
    <p:sldId id="748" r:id="rId64"/>
    <p:sldId id="749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gpie" initials="m" lastIdx="2" clrIdx="0">
    <p:extLst>
      <p:ext uri="{19B8F6BF-5375-455C-9EA6-DF929625EA0E}">
        <p15:presenceInfo xmlns:p15="http://schemas.microsoft.com/office/powerpoint/2012/main" userId="magpi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336" autoAdjust="0"/>
  </p:normalViewPr>
  <p:slideViewPr>
    <p:cSldViewPr snapToGrid="0">
      <p:cViewPr varScale="1">
        <p:scale>
          <a:sx n="113" d="100"/>
          <a:sy n="113" d="100"/>
        </p:scale>
        <p:origin x="5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31.png"/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12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9.png"/><Relationship Id="rId3" Type="http://schemas.openxmlformats.org/officeDocument/2006/relationships/image" Target="../media/image3.png"/><Relationship Id="rId7" Type="http://schemas.openxmlformats.org/officeDocument/2006/relationships/image" Target="../media/image46.png"/><Relationship Id="rId12" Type="http://schemas.openxmlformats.org/officeDocument/2006/relationships/image" Target="../media/image4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47.png"/><Relationship Id="rId5" Type="http://schemas.openxmlformats.org/officeDocument/2006/relationships/image" Target="../media/image44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55.png"/><Relationship Id="rId3" Type="http://schemas.openxmlformats.org/officeDocument/2006/relationships/image" Target="../media/image3.png"/><Relationship Id="rId7" Type="http://schemas.openxmlformats.org/officeDocument/2006/relationships/image" Target="../media/image52.png"/><Relationship Id="rId12" Type="http://schemas.openxmlformats.org/officeDocument/2006/relationships/image" Target="../media/image5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3.png"/><Relationship Id="rId5" Type="http://schemas.openxmlformats.org/officeDocument/2006/relationships/image" Target="../media/image50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1.png"/><Relationship Id="rId3" Type="http://schemas.openxmlformats.org/officeDocument/2006/relationships/image" Target="../media/image3.png"/><Relationship Id="rId7" Type="http://schemas.openxmlformats.org/officeDocument/2006/relationships/image" Target="../media/image58.png"/><Relationship Id="rId12" Type="http://schemas.openxmlformats.org/officeDocument/2006/relationships/image" Target="../media/image6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59.png"/><Relationship Id="rId5" Type="http://schemas.openxmlformats.org/officeDocument/2006/relationships/image" Target="../media/image56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65.png"/><Relationship Id="rId5" Type="http://schemas.openxmlformats.org/officeDocument/2006/relationships/image" Target="../media/image8.png"/><Relationship Id="rId10" Type="http://schemas.openxmlformats.org/officeDocument/2006/relationships/image" Target="../media/image64.png"/><Relationship Id="rId4" Type="http://schemas.openxmlformats.org/officeDocument/2006/relationships/image" Target="../media/image4.png"/><Relationship Id="rId9" Type="http://schemas.openxmlformats.org/officeDocument/2006/relationships/image" Target="../media/image6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33.png"/><Relationship Id="rId7" Type="http://schemas.openxmlformats.org/officeDocument/2006/relationships/image" Target="../media/image42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image" Target="../media/image32.png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71.png"/><Relationship Id="rId5" Type="http://schemas.openxmlformats.org/officeDocument/2006/relationships/image" Target="../media/image38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3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33.png"/><Relationship Id="rId7" Type="http://schemas.openxmlformats.org/officeDocument/2006/relationships/image" Target="../media/image42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image" Target="../media/image32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71.png"/><Relationship Id="rId5" Type="http://schemas.openxmlformats.org/officeDocument/2006/relationships/image" Target="../media/image38.png"/><Relationship Id="rId15" Type="http://schemas.openxmlformats.org/officeDocument/2006/relationships/image" Target="../media/image84.png"/><Relationship Id="rId10" Type="http://schemas.openxmlformats.org/officeDocument/2006/relationships/image" Target="../media/image82.png"/><Relationship Id="rId19" Type="http://schemas.openxmlformats.org/officeDocument/2006/relationships/image" Target="../media/image79.png"/><Relationship Id="rId4" Type="http://schemas.openxmlformats.org/officeDocument/2006/relationships/image" Target="../media/image34.png"/><Relationship Id="rId9" Type="http://schemas.openxmlformats.org/officeDocument/2006/relationships/image" Target="../media/image81.png"/><Relationship Id="rId14" Type="http://schemas.openxmlformats.org/officeDocument/2006/relationships/image" Target="../media/image8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12" Type="http://schemas.openxmlformats.org/officeDocument/2006/relationships/image" Target="../media/image9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89.png"/><Relationship Id="rId5" Type="http://schemas.openxmlformats.org/officeDocument/2006/relationships/image" Target="../media/image8.png"/><Relationship Id="rId10" Type="http://schemas.openxmlformats.org/officeDocument/2006/relationships/image" Target="../media/image88.png"/><Relationship Id="rId4" Type="http://schemas.openxmlformats.org/officeDocument/2006/relationships/image" Target="../media/image4.png"/><Relationship Id="rId9" Type="http://schemas.openxmlformats.org/officeDocument/2006/relationships/image" Target="../media/image8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97.png"/><Relationship Id="rId3" Type="http://schemas.openxmlformats.org/officeDocument/2006/relationships/image" Target="../media/image3.png"/><Relationship Id="rId7" Type="http://schemas.openxmlformats.org/officeDocument/2006/relationships/image" Target="../media/image94.png"/><Relationship Id="rId12" Type="http://schemas.openxmlformats.org/officeDocument/2006/relationships/image" Target="../media/image9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5.png"/><Relationship Id="rId5" Type="http://schemas.openxmlformats.org/officeDocument/2006/relationships/image" Target="../media/image92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42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3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38.png"/><Relationship Id="rId5" Type="http://schemas.openxmlformats.org/officeDocument/2006/relationships/image" Target="../media/image101.png"/><Relationship Id="rId10" Type="http://schemas.openxmlformats.org/officeDocument/2006/relationships/image" Target="../media/image34.png"/><Relationship Id="rId4" Type="http://schemas.openxmlformats.org/officeDocument/2006/relationships/image" Target="../media/image100.pn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15.png"/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12" Type="http://schemas.openxmlformats.org/officeDocument/2006/relationships/image" Target="../media/image114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8.png"/><Relationship Id="rId11" Type="http://schemas.openxmlformats.org/officeDocument/2006/relationships/image" Target="../media/image113.png"/><Relationship Id="rId5" Type="http://schemas.openxmlformats.org/officeDocument/2006/relationships/image" Target="../media/image107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13" Type="http://schemas.openxmlformats.org/officeDocument/2006/relationships/image" Target="../media/image127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12" Type="http://schemas.openxmlformats.org/officeDocument/2006/relationships/image" Target="../media/image126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0.png"/><Relationship Id="rId11" Type="http://schemas.openxmlformats.org/officeDocument/2006/relationships/image" Target="../media/image125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33.png"/><Relationship Id="rId3" Type="http://schemas.openxmlformats.org/officeDocument/2006/relationships/image" Target="../media/image105.png"/><Relationship Id="rId7" Type="http://schemas.openxmlformats.org/officeDocument/2006/relationships/image" Target="../media/image130.png"/><Relationship Id="rId12" Type="http://schemas.openxmlformats.org/officeDocument/2006/relationships/image" Target="../media/image13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1.png"/><Relationship Id="rId5" Type="http://schemas.openxmlformats.org/officeDocument/2006/relationships/image" Target="../media/image128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45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12" Type="http://schemas.openxmlformats.org/officeDocument/2006/relationships/image" Target="../media/image144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8.png"/><Relationship Id="rId11" Type="http://schemas.openxmlformats.org/officeDocument/2006/relationships/image" Target="../media/image143.png"/><Relationship Id="rId5" Type="http://schemas.openxmlformats.org/officeDocument/2006/relationships/image" Target="../media/image137.png"/><Relationship Id="rId10" Type="http://schemas.openxmlformats.org/officeDocument/2006/relationships/image" Target="../media/image142.png"/><Relationship Id="rId4" Type="http://schemas.openxmlformats.org/officeDocument/2006/relationships/image" Target="../media/image136.png"/><Relationship Id="rId9" Type="http://schemas.openxmlformats.org/officeDocument/2006/relationships/image" Target="../media/image14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51.png"/><Relationship Id="rId3" Type="http://schemas.openxmlformats.org/officeDocument/2006/relationships/image" Target="../media/image105.png"/><Relationship Id="rId7" Type="http://schemas.openxmlformats.org/officeDocument/2006/relationships/image" Target="../media/image148.png"/><Relationship Id="rId12" Type="http://schemas.openxmlformats.org/officeDocument/2006/relationships/image" Target="../media/image15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7.png"/><Relationship Id="rId11" Type="http://schemas.openxmlformats.org/officeDocument/2006/relationships/image" Target="../media/image149.png"/><Relationship Id="rId5" Type="http://schemas.openxmlformats.org/officeDocument/2006/relationships/image" Target="../media/image146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57.png"/><Relationship Id="rId3" Type="http://schemas.openxmlformats.org/officeDocument/2006/relationships/image" Target="../media/image105.png"/><Relationship Id="rId7" Type="http://schemas.openxmlformats.org/officeDocument/2006/relationships/image" Target="../media/image154.png"/><Relationship Id="rId12" Type="http://schemas.openxmlformats.org/officeDocument/2006/relationships/image" Target="../media/image156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3.png"/><Relationship Id="rId11" Type="http://schemas.openxmlformats.org/officeDocument/2006/relationships/image" Target="../media/image155.png"/><Relationship Id="rId5" Type="http://schemas.openxmlformats.org/officeDocument/2006/relationships/image" Target="../media/image152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63.png"/><Relationship Id="rId3" Type="http://schemas.openxmlformats.org/officeDocument/2006/relationships/image" Target="../media/image105.png"/><Relationship Id="rId7" Type="http://schemas.openxmlformats.org/officeDocument/2006/relationships/image" Target="../media/image160.png"/><Relationship Id="rId12" Type="http://schemas.openxmlformats.org/officeDocument/2006/relationships/image" Target="../media/image16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9.png"/><Relationship Id="rId11" Type="http://schemas.openxmlformats.org/officeDocument/2006/relationships/image" Target="../media/image161.png"/><Relationship Id="rId5" Type="http://schemas.openxmlformats.org/officeDocument/2006/relationships/image" Target="../media/image158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3" Type="http://schemas.openxmlformats.org/officeDocument/2006/relationships/image" Target="../media/image105.png"/><Relationship Id="rId7" Type="http://schemas.openxmlformats.org/officeDocument/2006/relationships/image" Target="../media/image112.png"/><Relationship Id="rId12" Type="http://schemas.openxmlformats.org/officeDocument/2006/relationships/image" Target="../media/image168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.png"/><Relationship Id="rId11" Type="http://schemas.openxmlformats.org/officeDocument/2006/relationships/image" Target="../media/image167.png"/><Relationship Id="rId5" Type="http://schemas.openxmlformats.org/officeDocument/2006/relationships/image" Target="../media/image110.png"/><Relationship Id="rId10" Type="http://schemas.openxmlformats.org/officeDocument/2006/relationships/image" Target="../media/image166.png"/><Relationship Id="rId4" Type="http://schemas.openxmlformats.org/officeDocument/2006/relationships/image" Target="../media/image106.png"/><Relationship Id="rId9" Type="http://schemas.openxmlformats.org/officeDocument/2006/relationships/image" Target="../media/image16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171.png"/><Relationship Id="rId7" Type="http://schemas.openxmlformats.org/officeDocument/2006/relationships/image" Target="../media/image175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image" Target="../media/image170.png"/><Relationship Id="rId16" Type="http://schemas.openxmlformats.org/officeDocument/2006/relationships/image" Target="../media/image1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4.png"/><Relationship Id="rId11" Type="http://schemas.openxmlformats.org/officeDocument/2006/relationships/image" Target="../media/image71.png"/><Relationship Id="rId5" Type="http://schemas.openxmlformats.org/officeDocument/2006/relationships/image" Target="../media/image173.png"/><Relationship Id="rId15" Type="http://schemas.openxmlformats.org/officeDocument/2006/relationships/image" Target="../media/image180.png"/><Relationship Id="rId10" Type="http://schemas.openxmlformats.org/officeDocument/2006/relationships/image" Target="../media/image178.png"/><Relationship Id="rId19" Type="http://schemas.openxmlformats.org/officeDocument/2006/relationships/image" Target="../media/image79.png"/><Relationship Id="rId4" Type="http://schemas.openxmlformats.org/officeDocument/2006/relationships/image" Target="../media/image172.png"/><Relationship Id="rId9" Type="http://schemas.openxmlformats.org/officeDocument/2006/relationships/image" Target="../media/image177.png"/><Relationship Id="rId14" Type="http://schemas.openxmlformats.org/officeDocument/2006/relationships/image" Target="../media/image17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171.png"/><Relationship Id="rId7" Type="http://schemas.openxmlformats.org/officeDocument/2006/relationships/image" Target="../media/image175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image" Target="../media/image170.png"/><Relationship Id="rId16" Type="http://schemas.openxmlformats.org/officeDocument/2006/relationships/image" Target="../media/image1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4.png"/><Relationship Id="rId11" Type="http://schemas.openxmlformats.org/officeDocument/2006/relationships/image" Target="../media/image71.png"/><Relationship Id="rId5" Type="http://schemas.openxmlformats.org/officeDocument/2006/relationships/image" Target="../media/image173.png"/><Relationship Id="rId15" Type="http://schemas.openxmlformats.org/officeDocument/2006/relationships/image" Target="../media/image186.png"/><Relationship Id="rId10" Type="http://schemas.openxmlformats.org/officeDocument/2006/relationships/image" Target="../media/image184.png"/><Relationship Id="rId19" Type="http://schemas.openxmlformats.org/officeDocument/2006/relationships/image" Target="../media/image79.png"/><Relationship Id="rId4" Type="http://schemas.openxmlformats.org/officeDocument/2006/relationships/image" Target="../media/image172.png"/><Relationship Id="rId9" Type="http://schemas.openxmlformats.org/officeDocument/2006/relationships/image" Target="../media/image183.png"/><Relationship Id="rId14" Type="http://schemas.openxmlformats.org/officeDocument/2006/relationships/image" Target="../media/image18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93.png"/><Relationship Id="rId3" Type="http://schemas.openxmlformats.org/officeDocument/2006/relationships/image" Target="../media/image105.png"/><Relationship Id="rId7" Type="http://schemas.openxmlformats.org/officeDocument/2006/relationships/image" Target="../media/image190.png"/><Relationship Id="rId12" Type="http://schemas.openxmlformats.org/officeDocument/2006/relationships/image" Target="../media/image19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9.png"/><Relationship Id="rId11" Type="http://schemas.openxmlformats.org/officeDocument/2006/relationships/image" Target="../media/image191.png"/><Relationship Id="rId5" Type="http://schemas.openxmlformats.org/officeDocument/2006/relationships/image" Target="../media/image188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13" Type="http://schemas.openxmlformats.org/officeDocument/2006/relationships/image" Target="../media/image142.png"/><Relationship Id="rId3" Type="http://schemas.openxmlformats.org/officeDocument/2006/relationships/image" Target="../media/image195.png"/><Relationship Id="rId7" Type="http://schemas.openxmlformats.org/officeDocument/2006/relationships/image" Target="../media/image199.png"/><Relationship Id="rId12" Type="http://schemas.openxmlformats.org/officeDocument/2006/relationships/image" Target="../media/image141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8.png"/><Relationship Id="rId11" Type="http://schemas.openxmlformats.org/officeDocument/2006/relationships/image" Target="../media/image140.png"/><Relationship Id="rId5" Type="http://schemas.openxmlformats.org/officeDocument/2006/relationships/image" Target="../media/image197.png"/><Relationship Id="rId10" Type="http://schemas.openxmlformats.org/officeDocument/2006/relationships/image" Target="../media/image136.png"/><Relationship Id="rId4" Type="http://schemas.openxmlformats.org/officeDocument/2006/relationships/image" Target="../media/image196.png"/><Relationship Id="rId9" Type="http://schemas.openxmlformats.org/officeDocument/2006/relationships/image" Target="../media/image13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05.png"/><Relationship Id="rId3" Type="http://schemas.openxmlformats.org/officeDocument/2006/relationships/image" Target="../media/image3.png"/><Relationship Id="rId7" Type="http://schemas.openxmlformats.org/officeDocument/2006/relationships/image" Target="../media/image202.png"/><Relationship Id="rId12" Type="http://schemas.openxmlformats.org/officeDocument/2006/relationships/image" Target="../media/image20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1.png"/><Relationship Id="rId11" Type="http://schemas.openxmlformats.org/officeDocument/2006/relationships/image" Target="../media/image203.png"/><Relationship Id="rId5" Type="http://schemas.openxmlformats.org/officeDocument/2006/relationships/image" Target="../media/image200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11.png"/><Relationship Id="rId3" Type="http://schemas.openxmlformats.org/officeDocument/2006/relationships/image" Target="../media/image3.png"/><Relationship Id="rId7" Type="http://schemas.openxmlformats.org/officeDocument/2006/relationships/image" Target="../media/image208.png"/><Relationship Id="rId12" Type="http://schemas.openxmlformats.org/officeDocument/2006/relationships/image" Target="../media/image2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7.png"/><Relationship Id="rId11" Type="http://schemas.openxmlformats.org/officeDocument/2006/relationships/image" Target="../media/image209.png"/><Relationship Id="rId5" Type="http://schemas.openxmlformats.org/officeDocument/2006/relationships/image" Target="../media/image206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217.png"/><Relationship Id="rId3" Type="http://schemas.openxmlformats.org/officeDocument/2006/relationships/image" Target="../media/image33.png"/><Relationship Id="rId7" Type="http://schemas.openxmlformats.org/officeDocument/2006/relationships/image" Target="../media/image214.png"/><Relationship Id="rId12" Type="http://schemas.openxmlformats.org/officeDocument/2006/relationships/image" Target="../media/image4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3.png"/><Relationship Id="rId11" Type="http://schemas.openxmlformats.org/officeDocument/2006/relationships/image" Target="../media/image216.png"/><Relationship Id="rId5" Type="http://schemas.openxmlformats.org/officeDocument/2006/relationships/image" Target="../media/image212.png"/><Relationship Id="rId10" Type="http://schemas.openxmlformats.org/officeDocument/2006/relationships/image" Target="../media/image21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23.png"/><Relationship Id="rId3" Type="http://schemas.openxmlformats.org/officeDocument/2006/relationships/image" Target="../media/image3.png"/><Relationship Id="rId7" Type="http://schemas.openxmlformats.org/officeDocument/2006/relationships/image" Target="../media/image220.png"/><Relationship Id="rId12" Type="http://schemas.openxmlformats.org/officeDocument/2006/relationships/image" Target="../media/image2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9.png"/><Relationship Id="rId11" Type="http://schemas.openxmlformats.org/officeDocument/2006/relationships/image" Target="../media/image221.png"/><Relationship Id="rId5" Type="http://schemas.openxmlformats.org/officeDocument/2006/relationships/image" Target="../media/image218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42.png"/><Relationship Id="rId3" Type="http://schemas.openxmlformats.org/officeDocument/2006/relationships/image" Target="../media/image225.png"/><Relationship Id="rId7" Type="http://schemas.openxmlformats.org/officeDocument/2006/relationships/image" Target="../media/image229.png"/><Relationship Id="rId12" Type="http://schemas.openxmlformats.org/officeDocument/2006/relationships/image" Target="../media/image39.png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8.png"/><Relationship Id="rId11" Type="http://schemas.openxmlformats.org/officeDocument/2006/relationships/image" Target="../media/image38.png"/><Relationship Id="rId5" Type="http://schemas.openxmlformats.org/officeDocument/2006/relationships/image" Target="../media/image227.png"/><Relationship Id="rId10" Type="http://schemas.openxmlformats.org/officeDocument/2006/relationships/image" Target="../media/image34.png"/><Relationship Id="rId4" Type="http://schemas.openxmlformats.org/officeDocument/2006/relationships/image" Target="../media/image226.png"/><Relationship Id="rId9" Type="http://schemas.openxmlformats.org/officeDocument/2006/relationships/image" Target="../media/image3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235.png"/><Relationship Id="rId3" Type="http://schemas.openxmlformats.org/officeDocument/2006/relationships/image" Target="../media/image105.png"/><Relationship Id="rId7" Type="http://schemas.openxmlformats.org/officeDocument/2006/relationships/image" Target="../media/image232.png"/><Relationship Id="rId12" Type="http://schemas.openxmlformats.org/officeDocument/2006/relationships/image" Target="../media/image234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1.png"/><Relationship Id="rId11" Type="http://schemas.openxmlformats.org/officeDocument/2006/relationships/image" Target="../media/image233.png"/><Relationship Id="rId5" Type="http://schemas.openxmlformats.org/officeDocument/2006/relationships/image" Target="../media/image230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241.png"/><Relationship Id="rId3" Type="http://schemas.openxmlformats.org/officeDocument/2006/relationships/image" Target="../media/image105.png"/><Relationship Id="rId7" Type="http://schemas.openxmlformats.org/officeDocument/2006/relationships/image" Target="../media/image238.png"/><Relationship Id="rId12" Type="http://schemas.openxmlformats.org/officeDocument/2006/relationships/image" Target="../media/image24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7.png"/><Relationship Id="rId11" Type="http://schemas.openxmlformats.org/officeDocument/2006/relationships/image" Target="../media/image239.png"/><Relationship Id="rId5" Type="http://schemas.openxmlformats.org/officeDocument/2006/relationships/image" Target="../media/image236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247.png"/><Relationship Id="rId3" Type="http://schemas.openxmlformats.org/officeDocument/2006/relationships/image" Target="../media/image135.png"/><Relationship Id="rId7" Type="http://schemas.openxmlformats.org/officeDocument/2006/relationships/image" Target="../media/image244.png"/><Relationship Id="rId12" Type="http://schemas.openxmlformats.org/officeDocument/2006/relationships/image" Target="../media/image246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3.png"/><Relationship Id="rId11" Type="http://schemas.openxmlformats.org/officeDocument/2006/relationships/image" Target="../media/image245.png"/><Relationship Id="rId5" Type="http://schemas.openxmlformats.org/officeDocument/2006/relationships/image" Target="../media/image242.png"/><Relationship Id="rId10" Type="http://schemas.openxmlformats.org/officeDocument/2006/relationships/image" Target="../media/image142.png"/><Relationship Id="rId4" Type="http://schemas.openxmlformats.org/officeDocument/2006/relationships/image" Target="../media/image136.png"/><Relationship Id="rId9" Type="http://schemas.openxmlformats.org/officeDocument/2006/relationships/image" Target="../media/image141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253.png"/><Relationship Id="rId3" Type="http://schemas.openxmlformats.org/officeDocument/2006/relationships/image" Target="../media/image105.png"/><Relationship Id="rId7" Type="http://schemas.openxmlformats.org/officeDocument/2006/relationships/image" Target="../media/image250.png"/><Relationship Id="rId12" Type="http://schemas.openxmlformats.org/officeDocument/2006/relationships/image" Target="../media/image25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9.png"/><Relationship Id="rId11" Type="http://schemas.openxmlformats.org/officeDocument/2006/relationships/image" Target="../media/image251.png"/><Relationship Id="rId5" Type="http://schemas.openxmlformats.org/officeDocument/2006/relationships/image" Target="../media/image248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13" Type="http://schemas.openxmlformats.org/officeDocument/2006/relationships/image" Target="../media/image142.png"/><Relationship Id="rId3" Type="http://schemas.openxmlformats.org/officeDocument/2006/relationships/image" Target="../media/image255.png"/><Relationship Id="rId7" Type="http://schemas.openxmlformats.org/officeDocument/2006/relationships/image" Target="../media/image259.png"/><Relationship Id="rId12" Type="http://schemas.openxmlformats.org/officeDocument/2006/relationships/image" Target="../media/image141.png"/><Relationship Id="rId2" Type="http://schemas.openxmlformats.org/officeDocument/2006/relationships/image" Target="../media/image2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8.png"/><Relationship Id="rId11" Type="http://schemas.openxmlformats.org/officeDocument/2006/relationships/image" Target="../media/image140.png"/><Relationship Id="rId5" Type="http://schemas.openxmlformats.org/officeDocument/2006/relationships/image" Target="../media/image257.png"/><Relationship Id="rId10" Type="http://schemas.openxmlformats.org/officeDocument/2006/relationships/image" Target="../media/image136.png"/><Relationship Id="rId4" Type="http://schemas.openxmlformats.org/officeDocument/2006/relationships/image" Target="../media/image256.png"/><Relationship Id="rId9" Type="http://schemas.openxmlformats.org/officeDocument/2006/relationships/image" Target="../media/image1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6.png"/><Relationship Id="rId13" Type="http://schemas.openxmlformats.org/officeDocument/2006/relationships/image" Target="../media/image271.png"/><Relationship Id="rId3" Type="http://schemas.openxmlformats.org/officeDocument/2006/relationships/image" Target="../media/image261.png"/><Relationship Id="rId7" Type="http://schemas.openxmlformats.org/officeDocument/2006/relationships/image" Target="../media/image265.png"/><Relationship Id="rId12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4.png"/><Relationship Id="rId11" Type="http://schemas.openxmlformats.org/officeDocument/2006/relationships/image" Target="../media/image269.png"/><Relationship Id="rId5" Type="http://schemas.openxmlformats.org/officeDocument/2006/relationships/image" Target="../media/image263.png"/><Relationship Id="rId10" Type="http://schemas.openxmlformats.org/officeDocument/2006/relationships/image" Target="../media/image268.png"/><Relationship Id="rId4" Type="http://schemas.openxmlformats.org/officeDocument/2006/relationships/image" Target="../media/image262.png"/><Relationship Id="rId9" Type="http://schemas.openxmlformats.org/officeDocument/2006/relationships/image" Target="../media/image26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6.png"/><Relationship Id="rId13" Type="http://schemas.openxmlformats.org/officeDocument/2006/relationships/image" Target="../media/image281.png"/><Relationship Id="rId3" Type="http://schemas.openxmlformats.org/officeDocument/2006/relationships/image" Target="../media/image3.png"/><Relationship Id="rId7" Type="http://schemas.openxmlformats.org/officeDocument/2006/relationships/image" Target="../media/image275.png"/><Relationship Id="rId12" Type="http://schemas.openxmlformats.org/officeDocument/2006/relationships/image" Target="../media/image280.png"/><Relationship Id="rId2" Type="http://schemas.openxmlformats.org/officeDocument/2006/relationships/image" Target="../media/image2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279.png"/><Relationship Id="rId5" Type="http://schemas.openxmlformats.org/officeDocument/2006/relationships/image" Target="../media/image274.png"/><Relationship Id="rId10" Type="http://schemas.openxmlformats.org/officeDocument/2006/relationships/image" Target="../media/image278.png"/><Relationship Id="rId4" Type="http://schemas.openxmlformats.org/officeDocument/2006/relationships/image" Target="../media/image273.png"/><Relationship Id="rId9" Type="http://schemas.openxmlformats.org/officeDocument/2006/relationships/image" Target="../media/image27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8.png"/><Relationship Id="rId13" Type="http://schemas.openxmlformats.org/officeDocument/2006/relationships/image" Target="../media/image293.png"/><Relationship Id="rId3" Type="http://schemas.openxmlformats.org/officeDocument/2006/relationships/image" Target="../media/image283.png"/><Relationship Id="rId7" Type="http://schemas.openxmlformats.org/officeDocument/2006/relationships/image" Target="../media/image287.png"/><Relationship Id="rId12" Type="http://schemas.openxmlformats.org/officeDocument/2006/relationships/image" Target="../media/image292.png"/><Relationship Id="rId2" Type="http://schemas.openxmlformats.org/officeDocument/2006/relationships/image" Target="../media/image28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6.png"/><Relationship Id="rId11" Type="http://schemas.openxmlformats.org/officeDocument/2006/relationships/image" Target="../media/image291.png"/><Relationship Id="rId5" Type="http://schemas.openxmlformats.org/officeDocument/2006/relationships/image" Target="../media/image285.png"/><Relationship Id="rId10" Type="http://schemas.openxmlformats.org/officeDocument/2006/relationships/image" Target="../media/image290.png"/><Relationship Id="rId4" Type="http://schemas.openxmlformats.org/officeDocument/2006/relationships/image" Target="../media/image284.png"/><Relationship Id="rId9" Type="http://schemas.openxmlformats.org/officeDocument/2006/relationships/image" Target="../media/image289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05.png"/><Relationship Id="rId3" Type="http://schemas.openxmlformats.org/officeDocument/2006/relationships/image" Target="../media/image295.png"/><Relationship Id="rId7" Type="http://schemas.openxmlformats.org/officeDocument/2006/relationships/image" Target="../media/image299.png"/><Relationship Id="rId12" Type="http://schemas.openxmlformats.org/officeDocument/2006/relationships/image" Target="../media/image304.png"/><Relationship Id="rId2" Type="http://schemas.openxmlformats.org/officeDocument/2006/relationships/image" Target="../media/image2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8.png"/><Relationship Id="rId11" Type="http://schemas.openxmlformats.org/officeDocument/2006/relationships/image" Target="../media/image303.png"/><Relationship Id="rId5" Type="http://schemas.openxmlformats.org/officeDocument/2006/relationships/image" Target="../media/image297.png"/><Relationship Id="rId10" Type="http://schemas.openxmlformats.org/officeDocument/2006/relationships/image" Target="../media/image302.png"/><Relationship Id="rId4" Type="http://schemas.openxmlformats.org/officeDocument/2006/relationships/image" Target="../media/image296.png"/><Relationship Id="rId9" Type="http://schemas.openxmlformats.org/officeDocument/2006/relationships/image" Target="../media/image301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2.png"/><Relationship Id="rId13" Type="http://schemas.openxmlformats.org/officeDocument/2006/relationships/image" Target="../media/image317.png"/><Relationship Id="rId3" Type="http://schemas.openxmlformats.org/officeDocument/2006/relationships/image" Target="../media/image307.png"/><Relationship Id="rId7" Type="http://schemas.openxmlformats.org/officeDocument/2006/relationships/image" Target="../media/image311.png"/><Relationship Id="rId12" Type="http://schemas.openxmlformats.org/officeDocument/2006/relationships/image" Target="../media/image316.png"/><Relationship Id="rId2" Type="http://schemas.openxmlformats.org/officeDocument/2006/relationships/image" Target="../media/image3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1" Type="http://schemas.openxmlformats.org/officeDocument/2006/relationships/image" Target="../media/image315.png"/><Relationship Id="rId5" Type="http://schemas.openxmlformats.org/officeDocument/2006/relationships/image" Target="../media/image309.png"/><Relationship Id="rId10" Type="http://schemas.openxmlformats.org/officeDocument/2006/relationships/image" Target="../media/image314.png"/><Relationship Id="rId4" Type="http://schemas.openxmlformats.org/officeDocument/2006/relationships/image" Target="../media/image308.png"/><Relationship Id="rId9" Type="http://schemas.openxmlformats.org/officeDocument/2006/relationships/image" Target="../media/image313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4.png"/><Relationship Id="rId13" Type="http://schemas.openxmlformats.org/officeDocument/2006/relationships/image" Target="../media/image329.png"/><Relationship Id="rId3" Type="http://schemas.openxmlformats.org/officeDocument/2006/relationships/image" Target="../media/image319.png"/><Relationship Id="rId7" Type="http://schemas.openxmlformats.org/officeDocument/2006/relationships/image" Target="../media/image323.png"/><Relationship Id="rId12" Type="http://schemas.openxmlformats.org/officeDocument/2006/relationships/image" Target="../media/image328.png"/><Relationship Id="rId2" Type="http://schemas.openxmlformats.org/officeDocument/2006/relationships/image" Target="../media/image3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2.png"/><Relationship Id="rId11" Type="http://schemas.openxmlformats.org/officeDocument/2006/relationships/image" Target="../media/image327.png"/><Relationship Id="rId5" Type="http://schemas.openxmlformats.org/officeDocument/2006/relationships/image" Target="../media/image321.png"/><Relationship Id="rId10" Type="http://schemas.openxmlformats.org/officeDocument/2006/relationships/image" Target="../media/image326.png"/><Relationship Id="rId4" Type="http://schemas.openxmlformats.org/officeDocument/2006/relationships/image" Target="../media/image320.png"/><Relationship Id="rId9" Type="http://schemas.openxmlformats.org/officeDocument/2006/relationships/image" Target="../media/image325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6.png"/><Relationship Id="rId13" Type="http://schemas.openxmlformats.org/officeDocument/2006/relationships/image" Target="../media/image341.png"/><Relationship Id="rId3" Type="http://schemas.openxmlformats.org/officeDocument/2006/relationships/image" Target="../media/image331.png"/><Relationship Id="rId7" Type="http://schemas.openxmlformats.org/officeDocument/2006/relationships/image" Target="../media/image335.png"/><Relationship Id="rId12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4.png"/><Relationship Id="rId11" Type="http://schemas.openxmlformats.org/officeDocument/2006/relationships/image" Target="../media/image339.png"/><Relationship Id="rId5" Type="http://schemas.openxmlformats.org/officeDocument/2006/relationships/image" Target="../media/image333.png"/><Relationship Id="rId10" Type="http://schemas.openxmlformats.org/officeDocument/2006/relationships/image" Target="../media/image338.png"/><Relationship Id="rId4" Type="http://schemas.openxmlformats.org/officeDocument/2006/relationships/image" Target="../media/image332.png"/><Relationship Id="rId9" Type="http://schemas.openxmlformats.org/officeDocument/2006/relationships/image" Target="../media/image337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6.png"/><Relationship Id="rId13" Type="http://schemas.openxmlformats.org/officeDocument/2006/relationships/image" Target="../media/image351.png"/><Relationship Id="rId3" Type="http://schemas.openxmlformats.org/officeDocument/2006/relationships/image" Target="../media/image105.png"/><Relationship Id="rId7" Type="http://schemas.openxmlformats.org/officeDocument/2006/relationships/image" Target="../media/image345.png"/><Relationship Id="rId12" Type="http://schemas.openxmlformats.org/officeDocument/2006/relationships/image" Target="../media/image350.png"/><Relationship Id="rId2" Type="http://schemas.openxmlformats.org/officeDocument/2006/relationships/image" Target="../media/image3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9.png"/><Relationship Id="rId11" Type="http://schemas.openxmlformats.org/officeDocument/2006/relationships/image" Target="../media/image349.png"/><Relationship Id="rId5" Type="http://schemas.openxmlformats.org/officeDocument/2006/relationships/image" Target="../media/image344.png"/><Relationship Id="rId10" Type="http://schemas.openxmlformats.org/officeDocument/2006/relationships/image" Target="../media/image348.png"/><Relationship Id="rId4" Type="http://schemas.openxmlformats.org/officeDocument/2006/relationships/image" Target="../media/image343.png"/><Relationship Id="rId9" Type="http://schemas.openxmlformats.org/officeDocument/2006/relationships/image" Target="../media/image34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8.png"/><Relationship Id="rId13" Type="http://schemas.openxmlformats.org/officeDocument/2006/relationships/image" Target="../media/image363.png"/><Relationship Id="rId3" Type="http://schemas.openxmlformats.org/officeDocument/2006/relationships/image" Target="../media/image353.png"/><Relationship Id="rId7" Type="http://schemas.openxmlformats.org/officeDocument/2006/relationships/image" Target="../media/image357.png"/><Relationship Id="rId12" Type="http://schemas.openxmlformats.org/officeDocument/2006/relationships/image" Target="../media/image362.png"/><Relationship Id="rId2" Type="http://schemas.openxmlformats.org/officeDocument/2006/relationships/image" Target="../media/image3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6.png"/><Relationship Id="rId11" Type="http://schemas.openxmlformats.org/officeDocument/2006/relationships/image" Target="../media/image361.png"/><Relationship Id="rId5" Type="http://schemas.openxmlformats.org/officeDocument/2006/relationships/image" Target="../media/image355.png"/><Relationship Id="rId10" Type="http://schemas.openxmlformats.org/officeDocument/2006/relationships/image" Target="../media/image360.png"/><Relationship Id="rId4" Type="http://schemas.openxmlformats.org/officeDocument/2006/relationships/image" Target="../media/image354.png"/><Relationship Id="rId9" Type="http://schemas.openxmlformats.org/officeDocument/2006/relationships/image" Target="../media/image359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13" Type="http://schemas.openxmlformats.org/officeDocument/2006/relationships/image" Target="../media/image375.png"/><Relationship Id="rId3" Type="http://schemas.openxmlformats.org/officeDocument/2006/relationships/image" Target="../media/image365.png"/><Relationship Id="rId7" Type="http://schemas.openxmlformats.org/officeDocument/2006/relationships/image" Target="../media/image369.png"/><Relationship Id="rId12" Type="http://schemas.openxmlformats.org/officeDocument/2006/relationships/image" Target="../media/image374.png"/><Relationship Id="rId2" Type="http://schemas.openxmlformats.org/officeDocument/2006/relationships/image" Target="../media/image3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8.png"/><Relationship Id="rId11" Type="http://schemas.openxmlformats.org/officeDocument/2006/relationships/image" Target="../media/image373.png"/><Relationship Id="rId5" Type="http://schemas.openxmlformats.org/officeDocument/2006/relationships/image" Target="../media/image367.png"/><Relationship Id="rId10" Type="http://schemas.openxmlformats.org/officeDocument/2006/relationships/image" Target="../media/image372.png"/><Relationship Id="rId4" Type="http://schemas.openxmlformats.org/officeDocument/2006/relationships/image" Target="../media/image366.png"/><Relationship Id="rId9" Type="http://schemas.openxmlformats.org/officeDocument/2006/relationships/image" Target="../media/image371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2.png"/><Relationship Id="rId13" Type="http://schemas.openxmlformats.org/officeDocument/2006/relationships/image" Target="../media/image387.png"/><Relationship Id="rId3" Type="http://schemas.openxmlformats.org/officeDocument/2006/relationships/image" Target="../media/image377.png"/><Relationship Id="rId7" Type="http://schemas.openxmlformats.org/officeDocument/2006/relationships/image" Target="../media/image381.png"/><Relationship Id="rId12" Type="http://schemas.openxmlformats.org/officeDocument/2006/relationships/image" Target="../media/image386.png"/><Relationship Id="rId2" Type="http://schemas.openxmlformats.org/officeDocument/2006/relationships/image" Target="../media/image3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0.png"/><Relationship Id="rId11" Type="http://schemas.openxmlformats.org/officeDocument/2006/relationships/image" Target="../media/image385.png"/><Relationship Id="rId5" Type="http://schemas.openxmlformats.org/officeDocument/2006/relationships/image" Target="../media/image379.png"/><Relationship Id="rId10" Type="http://schemas.openxmlformats.org/officeDocument/2006/relationships/image" Target="../media/image384.png"/><Relationship Id="rId4" Type="http://schemas.openxmlformats.org/officeDocument/2006/relationships/image" Target="../media/image378.png"/><Relationship Id="rId9" Type="http://schemas.openxmlformats.org/officeDocument/2006/relationships/image" Target="../media/image383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4.png"/><Relationship Id="rId13" Type="http://schemas.openxmlformats.org/officeDocument/2006/relationships/image" Target="../media/image399.png"/><Relationship Id="rId3" Type="http://schemas.openxmlformats.org/officeDocument/2006/relationships/image" Target="../media/image389.png"/><Relationship Id="rId7" Type="http://schemas.openxmlformats.org/officeDocument/2006/relationships/image" Target="../media/image393.png"/><Relationship Id="rId12" Type="http://schemas.openxmlformats.org/officeDocument/2006/relationships/image" Target="../media/image398.png"/><Relationship Id="rId2" Type="http://schemas.openxmlformats.org/officeDocument/2006/relationships/image" Target="../media/image3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2.png"/><Relationship Id="rId11" Type="http://schemas.openxmlformats.org/officeDocument/2006/relationships/image" Target="../media/image397.png"/><Relationship Id="rId5" Type="http://schemas.openxmlformats.org/officeDocument/2006/relationships/image" Target="../media/image391.png"/><Relationship Id="rId10" Type="http://schemas.openxmlformats.org/officeDocument/2006/relationships/image" Target="../media/image396.png"/><Relationship Id="rId4" Type="http://schemas.openxmlformats.org/officeDocument/2006/relationships/image" Target="../media/image390.png"/><Relationship Id="rId9" Type="http://schemas.openxmlformats.org/officeDocument/2006/relationships/image" Target="../media/image3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487A6-034B-4B57-86C1-9DF9807B642F}"/>
              </a:ext>
            </a:extLst>
          </p:cNvPr>
          <p:cNvSpPr txBox="1"/>
          <p:nvPr/>
        </p:nvSpPr>
        <p:spPr>
          <a:xfrm>
            <a:off x="2747519" y="3898386"/>
            <a:ext cx="66969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+mj-ea"/>
                <a:ea typeface="+mj-ea"/>
              </a:rPr>
              <a:t>( </a:t>
            </a:r>
            <a:r>
              <a:rPr lang="ko-KR" altLang="en-US" sz="1000" b="1" dirty="0">
                <a:latin typeface="+mj-ea"/>
                <a:ea typeface="+mj-ea"/>
              </a:rPr>
              <a:t>관심 </a:t>
            </a:r>
            <a:r>
              <a:rPr lang="ko-KR" altLang="en-US" sz="1000" b="1">
                <a:latin typeface="+mj-ea"/>
                <a:ea typeface="+mj-ea"/>
              </a:rPr>
              <a:t>수위 이상 </a:t>
            </a:r>
            <a:r>
              <a:rPr lang="en-US" altLang="ko-KR" sz="1000" b="1">
                <a:latin typeface="+mj-ea"/>
                <a:ea typeface="+mj-ea"/>
              </a:rPr>
              <a:t>)</a:t>
            </a:r>
            <a:endParaRPr lang="ko-KR" altLang="en-US" sz="1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목차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6760720" y="2370666"/>
            <a:ext cx="4838614" cy="3948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US" altLang="ko-KR" sz="2000" b="1" dirty="0">
                <a:latin typeface="+mj-ea"/>
              </a:rPr>
              <a:t>Parallel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LSTM </a:t>
            </a:r>
            <a:r>
              <a:rPr lang="ko-KR" altLang="en-US" sz="2000" b="1" dirty="0">
                <a:latin typeface="+mj-ea"/>
              </a:rPr>
              <a:t>성능 개선</a:t>
            </a:r>
            <a:endParaRPr lang="en-US" altLang="ko-KR" sz="2000" b="1" dirty="0">
              <a:latin typeface="+mj-ea"/>
            </a:endParaRPr>
          </a:p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ko-KR" altLang="en-US" sz="2000" b="1" dirty="0">
                <a:latin typeface="+mj-ea"/>
              </a:rPr>
              <a:t>단일 </a:t>
            </a:r>
            <a:r>
              <a:rPr lang="en-US" altLang="ko-KR" sz="2000" b="1" dirty="0">
                <a:latin typeface="+mj-ea"/>
              </a:rPr>
              <a:t>LSTM </a:t>
            </a:r>
            <a:r>
              <a:rPr lang="ko-KR" altLang="en-US" sz="2000" b="1" dirty="0">
                <a:latin typeface="+mj-ea"/>
              </a:rPr>
              <a:t>개발</a:t>
            </a:r>
            <a:endParaRPr lang="en-US" altLang="ko-KR" sz="2000" b="1" dirty="0">
              <a:latin typeface="+mj-ea"/>
            </a:endParaRPr>
          </a:p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ko-KR" altLang="en-US" sz="2000" b="1" dirty="0">
                <a:latin typeface="+mj-ea"/>
              </a:rPr>
              <a:t>결론</a:t>
            </a:r>
            <a:endParaRPr lang="en-US" altLang="ko-KR" sz="2000" b="1" dirty="0">
              <a:latin typeface="+mj-ea"/>
            </a:endParaRPr>
          </a:p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ko-KR" altLang="en-US" sz="2000" b="1" dirty="0">
                <a:latin typeface="+mj-ea"/>
                <a:ea typeface="+mj-ea"/>
              </a:rPr>
              <a:t>현재 기준 최적 모델 분석</a:t>
            </a:r>
            <a:br>
              <a:rPr lang="en-US" altLang="ko-KR" sz="2000" b="1" dirty="0">
                <a:latin typeface="+mj-ea"/>
                <a:ea typeface="+mj-ea"/>
              </a:rPr>
            </a:br>
            <a:r>
              <a:rPr lang="en-US" altLang="ko-KR" sz="1000" b="1" dirty="0">
                <a:latin typeface="+mj-ea"/>
                <a:ea typeface="+mj-ea"/>
              </a:rPr>
              <a:t>( 1 , 3 </a:t>
            </a:r>
            <a:r>
              <a:rPr lang="ko-KR" altLang="en-US" sz="1000" b="1" dirty="0">
                <a:latin typeface="+mj-ea"/>
                <a:ea typeface="+mj-ea"/>
              </a:rPr>
              <a:t>시간 뒤 시점 수위 오차 및 정확도 </a:t>
            </a:r>
            <a:r>
              <a:rPr lang="en-US" altLang="ko-KR" sz="1000" b="1" dirty="0">
                <a:latin typeface="+mj-ea"/>
                <a:ea typeface="+mj-ea"/>
              </a:rPr>
              <a:t>&amp;</a:t>
            </a:r>
            <a:r>
              <a:rPr lang="ko-KR" altLang="en-US" sz="1000" b="1" dirty="0">
                <a:latin typeface="+mj-ea"/>
                <a:ea typeface="+mj-ea"/>
              </a:rPr>
              <a:t> </a:t>
            </a:r>
            <a:r>
              <a:rPr lang="en-US" altLang="ko-KR" sz="1000" b="1" dirty="0">
                <a:latin typeface="+mj-ea"/>
                <a:ea typeface="+mj-ea"/>
              </a:rPr>
              <a:t>10</a:t>
            </a:r>
            <a:r>
              <a:rPr lang="ko-KR" altLang="en-US" sz="1000" b="1" dirty="0">
                <a:latin typeface="+mj-ea"/>
                <a:ea typeface="+mj-ea"/>
              </a:rPr>
              <a:t>분 단위 분석 </a:t>
            </a:r>
            <a:r>
              <a:rPr lang="en-US" altLang="ko-KR" sz="1000" b="1" dirty="0">
                <a:latin typeface="+mj-ea"/>
                <a:ea typeface="+mj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6721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705725"/>
            <a:ext cx="458858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1. Parallel</a:t>
            </a:r>
            <a:r>
              <a:rPr lang="ko-KR" altLang="en-US" sz="4400" b="1" dirty="0">
                <a:latin typeface="+mj-ea"/>
                <a:ea typeface="+mj-ea"/>
              </a:rPr>
              <a:t> </a:t>
            </a:r>
            <a:r>
              <a:rPr lang="en-US" altLang="ko-KR" sz="4400" b="1" dirty="0">
                <a:latin typeface="+mj-ea"/>
                <a:ea typeface="+mj-ea"/>
              </a:rPr>
              <a:t>LSTM </a:t>
            </a:r>
            <a:r>
              <a:rPr lang="ko-KR" altLang="en-US" sz="4400" b="1" dirty="0">
                <a:latin typeface="+mj-ea"/>
                <a:ea typeface="+mj-ea"/>
              </a:rPr>
              <a:t>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 학습데이터</a:t>
            </a:r>
            <a:endParaRPr lang="ko-KR" altLang="en-US" sz="10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19281"/>
              </p:ext>
            </p:extLst>
          </p:nvPr>
        </p:nvGraphicFramePr>
        <p:xfrm>
          <a:off x="857663" y="2449205"/>
          <a:ext cx="956405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857663" y="1865185"/>
            <a:ext cx="5956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홍수통제소 </a:t>
            </a:r>
            <a:r>
              <a:rPr lang="en-US" altLang="ko-KR" sz="1400" b="1" dirty="0"/>
              <a:t>API </a:t>
            </a:r>
            <a:r>
              <a:rPr lang="ko-KR" altLang="en-US" sz="1400" b="1" dirty="0"/>
              <a:t>호출 → </a:t>
            </a:r>
            <a:r>
              <a:rPr lang="en-US" altLang="ko-KR" sz="1400" b="1" dirty="0"/>
              <a:t>MIET</a:t>
            </a:r>
            <a:r>
              <a:rPr lang="ko-KR" altLang="en-US" sz="1400" b="1" dirty="0"/>
              <a:t> 활용 강우 이벤트 추출 →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관심 수위 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4128072" y="5920334"/>
            <a:ext cx="2213471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2014 ~ 20230629 ( 43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20230713 ~ 250813 ( 12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2550916 ~ 251006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( 6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88400" y="145576"/>
            <a:ext cx="3318934" cy="2022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관심 수위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 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smoothing 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그래프 스케일 고정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( 0.7 - 3 )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------------------------------------------------------------------------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learning_rate</a:t>
            </a:r>
            <a:r>
              <a:rPr lang="en-US" altLang="ko-KR" sz="8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Loss_function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Seq_length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 ( 6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Num_of_layer</a:t>
            </a:r>
            <a:r>
              <a:rPr lang="en-US" altLang="ko-KR" sz="800" b="1" dirty="0">
                <a:latin typeface="+mn-ea"/>
              </a:rPr>
              <a:t> = 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1F6F63-EC35-4D5E-9ECF-579EF628813A}"/>
              </a:ext>
            </a:extLst>
          </p:cNvPr>
          <p:cNvSpPr txBox="1"/>
          <p:nvPr/>
        </p:nvSpPr>
        <p:spPr>
          <a:xfrm>
            <a:off x="9783788" y="5920334"/>
            <a:ext cx="2213471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2020 ~ 20240920 ( 25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20240921 ~ 250919 85</a:t>
            </a:r>
            <a:r>
              <a:rPr lang="ko-KR" altLang="en-US" sz="800" b="1" dirty="0">
                <a:latin typeface="+mn-ea"/>
              </a:rPr>
              <a:t>번</a:t>
            </a:r>
            <a:r>
              <a:rPr lang="en-US" altLang="ko-KR" sz="800" b="1" dirty="0">
                <a:latin typeface="+mn-ea"/>
              </a:rPr>
              <a:t> ( 7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250919 86</a:t>
            </a:r>
            <a:r>
              <a:rPr lang="ko-KR" altLang="en-US" sz="800" b="1" dirty="0">
                <a:latin typeface="+mn-ea"/>
              </a:rPr>
              <a:t>번</a:t>
            </a:r>
            <a:r>
              <a:rPr lang="en-US" altLang="ko-KR" sz="800" b="1" dirty="0">
                <a:latin typeface="+mn-ea"/>
              </a:rPr>
              <a:t> ~ 251006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16558E4-9DBF-4C30-B5A8-59F2C067E1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26017"/>
              </p:ext>
            </p:extLst>
          </p:nvPr>
        </p:nvGraphicFramePr>
        <p:xfrm>
          <a:off x="857663" y="3588855"/>
          <a:ext cx="1047667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46573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37564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32814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662403286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18059197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C403230-2D17-47A4-ADCE-A66D07152C36}"/>
              </a:ext>
            </a:extLst>
          </p:cNvPr>
          <p:cNvSpPr txBox="1"/>
          <p:nvPr/>
        </p:nvSpPr>
        <p:spPr>
          <a:xfrm>
            <a:off x="707056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전체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67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61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6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( 4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40F73D-47BD-4FE9-8346-62E0E3E6D5AE}"/>
              </a:ext>
            </a:extLst>
          </p:cNvPr>
          <p:cNvSpPr txBox="1"/>
          <p:nvPr/>
        </p:nvSpPr>
        <p:spPr>
          <a:xfrm>
            <a:off x="6354305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</a:t>
            </a:r>
            <a:r>
              <a:rPr lang="en-US" altLang="ko-KR" sz="1000" b="1" u="sng" dirty="0">
                <a:latin typeface="+mn-ea"/>
              </a:rPr>
              <a:t>20</a:t>
            </a:r>
            <a:r>
              <a:rPr lang="ko-KR" altLang="en-US" sz="1000" b="1" u="sng" dirty="0">
                <a:latin typeface="+mn-ea"/>
              </a:rPr>
              <a:t>년 이후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40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35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5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( 4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77E77F-53CF-413F-88B5-D02D20761D61}"/>
              </a:ext>
            </a:extLst>
          </p:cNvPr>
          <p:cNvSpPr txBox="1"/>
          <p:nvPr/>
        </p:nvSpPr>
        <p:spPr>
          <a:xfrm>
            <a:off x="857663" y="3340272"/>
            <a:ext cx="15214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+) </a:t>
            </a:r>
            <a:r>
              <a:rPr lang="ko-KR" altLang="en-US" sz="800" b="1" dirty="0"/>
              <a:t>누적 강우 컬럼 추가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5A8E5B1-E565-4C29-98AC-392DCAF883A4}"/>
              </a:ext>
            </a:extLst>
          </p:cNvPr>
          <p:cNvCxnSpPr>
            <a:cxnSpLocks/>
          </p:cNvCxnSpPr>
          <p:nvPr/>
        </p:nvCxnSpPr>
        <p:spPr>
          <a:xfrm>
            <a:off x="6239934" y="4656667"/>
            <a:ext cx="0" cy="181186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857662" y="802753"/>
            <a:ext cx="39150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  <a:ea typeface="+mj-ea"/>
              </a:rPr>
              <a:t>학습데이터</a:t>
            </a:r>
            <a:endParaRPr lang="ko-KR" altLang="en-US" sz="10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139682"/>
              </p:ext>
            </p:extLst>
          </p:nvPr>
        </p:nvGraphicFramePr>
        <p:xfrm>
          <a:off x="857663" y="3168875"/>
          <a:ext cx="956405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857663" y="2584855"/>
            <a:ext cx="7270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홍수통제소 </a:t>
            </a:r>
            <a:r>
              <a:rPr lang="en-US" altLang="ko-KR" sz="1400" b="1" dirty="0"/>
              <a:t>API </a:t>
            </a:r>
            <a:r>
              <a:rPr lang="ko-KR" altLang="en-US" sz="1400" b="1" dirty="0"/>
              <a:t>호출 → </a:t>
            </a:r>
            <a:r>
              <a:rPr lang="en-US" altLang="ko-KR" sz="1400" b="1" dirty="0"/>
              <a:t>MIET</a:t>
            </a:r>
            <a:r>
              <a:rPr lang="ko-KR" altLang="en-US" sz="1400" b="1" dirty="0"/>
              <a:t> 활용 강우 이벤트 추출 → 파일 단위 누적 강우</a:t>
            </a:r>
            <a:r>
              <a:rPr lang="en-US" altLang="ko-KR" sz="1400" b="1" dirty="0"/>
              <a:t>110mm </a:t>
            </a:r>
            <a:r>
              <a:rPr lang="ko-KR" altLang="en-US" sz="1400" b="1" dirty="0"/>
              <a:t>이상추출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5821405" y="5105248"/>
            <a:ext cx="2213471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2014 ~ 2024 ( 8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2022 ( 39</a:t>
            </a:r>
            <a:r>
              <a:rPr lang="ko-KR" altLang="en-US" sz="800" b="1" dirty="0">
                <a:latin typeface="+mn-ea"/>
              </a:rPr>
              <a:t>번 이벤트 </a:t>
            </a:r>
            <a:r>
              <a:rPr lang="en-US" altLang="ko-KR" sz="800" b="1" dirty="0">
                <a:latin typeface="+mn-ea"/>
              </a:rPr>
              <a:t>) ( 1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2022 ( 66.67</a:t>
            </a:r>
            <a:r>
              <a:rPr lang="ko-KR" altLang="en-US" sz="800" b="1" dirty="0">
                <a:latin typeface="+mn-ea"/>
              </a:rPr>
              <a:t>번 이벤트 </a:t>
            </a:r>
            <a:r>
              <a:rPr lang="en-US" altLang="ko-KR" sz="800" b="1" dirty="0">
                <a:latin typeface="+mn-ea"/>
              </a:rPr>
              <a:t>) ( 1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88400" y="145576"/>
            <a:ext cx="3318934" cy="2022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관심 수위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 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smoothing 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그래프 스케일 고정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( 0.7 - 3 )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------------------------------------------------------------------------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learning_rate</a:t>
            </a:r>
            <a:r>
              <a:rPr lang="en-US" altLang="ko-KR" sz="8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Loss_function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Seq_length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 ( 6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Num_of_layer</a:t>
            </a:r>
            <a:r>
              <a:rPr lang="en-US" altLang="ko-KR" sz="800" b="1" dirty="0">
                <a:latin typeface="+mn-ea"/>
              </a:rPr>
              <a:t> = 18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403230-2D17-47A4-ADCE-A66D07152C36}"/>
              </a:ext>
            </a:extLst>
          </p:cNvPr>
          <p:cNvSpPr txBox="1"/>
          <p:nvPr/>
        </p:nvSpPr>
        <p:spPr>
          <a:xfrm>
            <a:off x="707056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전체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11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9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( 2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4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CF5445-D64E-4E22-8BBD-232FFCA43AAB}"/>
              </a:ext>
            </a:extLst>
          </p:cNvPr>
          <p:cNvSpPr txBox="1"/>
          <p:nvPr/>
        </p:nvSpPr>
        <p:spPr>
          <a:xfrm>
            <a:off x="8788400" y="5105248"/>
            <a:ext cx="2213471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2014 ~ 2024 ( 8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2022 ( 35</a:t>
            </a:r>
            <a:r>
              <a:rPr lang="ko-KR" altLang="en-US" sz="800" b="1" dirty="0">
                <a:latin typeface="+mn-ea"/>
              </a:rPr>
              <a:t>번 이벤트 </a:t>
            </a:r>
            <a:r>
              <a:rPr lang="en-US" altLang="ko-KR" sz="800" b="1" dirty="0">
                <a:latin typeface="+mn-ea"/>
              </a:rPr>
              <a:t>) ( 1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2022 ( 66.67</a:t>
            </a:r>
            <a:r>
              <a:rPr lang="ko-KR" altLang="en-US" sz="800" b="1" dirty="0">
                <a:latin typeface="+mn-ea"/>
              </a:rPr>
              <a:t>번 이벤트 </a:t>
            </a:r>
            <a:r>
              <a:rPr lang="en-US" altLang="ko-KR" sz="800" b="1" dirty="0">
                <a:latin typeface="+mn-ea"/>
              </a:rPr>
              <a:t>) ( 1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F6E7F2-4FEE-4433-B023-CCFF03E0937A}"/>
              </a:ext>
            </a:extLst>
          </p:cNvPr>
          <p:cNvSpPr txBox="1"/>
          <p:nvPr/>
        </p:nvSpPr>
        <p:spPr>
          <a:xfrm>
            <a:off x="8788400" y="4572389"/>
            <a:ext cx="931333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u="sng" dirty="0">
                <a:latin typeface="+mn-ea"/>
              </a:rPr>
              <a:t>조합 </a:t>
            </a:r>
            <a:r>
              <a:rPr lang="en-US" altLang="ko-KR" sz="800" b="1" u="sng" dirty="0">
                <a:latin typeface="+mn-ea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BC78B3-4A2F-47FC-9E1A-C7814184C995}"/>
              </a:ext>
            </a:extLst>
          </p:cNvPr>
          <p:cNvSpPr txBox="1"/>
          <p:nvPr/>
        </p:nvSpPr>
        <p:spPr>
          <a:xfrm>
            <a:off x="5777846" y="4577883"/>
            <a:ext cx="931333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u="sng" dirty="0">
                <a:latin typeface="+mn-ea"/>
              </a:rPr>
              <a:t>조합 </a:t>
            </a:r>
            <a:r>
              <a:rPr lang="en-US" altLang="ko-KR" sz="800" b="1" u="sng" dirty="0">
                <a:latin typeface="+mn-ea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951947-B3BC-4559-9511-7170D1010FA1}"/>
              </a:ext>
            </a:extLst>
          </p:cNvPr>
          <p:cNvSpPr txBox="1"/>
          <p:nvPr/>
        </p:nvSpPr>
        <p:spPr>
          <a:xfrm>
            <a:off x="1156964" y="1426600"/>
            <a:ext cx="4284134" cy="545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:  </a:t>
            </a:r>
            <a:r>
              <a:rPr lang="ko-KR" altLang="en-US" sz="800" b="1" dirty="0" err="1">
                <a:latin typeface="+mn-ea"/>
              </a:rPr>
              <a:t>누적강우</a:t>
            </a:r>
            <a:r>
              <a:rPr lang="en-US" altLang="ko-KR" sz="800" b="1" dirty="0">
                <a:latin typeface="+mn-ea"/>
              </a:rPr>
              <a:t>110mm </a:t>
            </a:r>
            <a:r>
              <a:rPr lang="ko-KR" altLang="en-US" sz="800" b="1" dirty="0">
                <a:latin typeface="+mn-ea"/>
              </a:rPr>
              <a:t>이상 </a:t>
            </a:r>
            <a:r>
              <a:rPr lang="en-US" altLang="ko-KR" sz="800" b="1" dirty="0">
                <a:latin typeface="+mn-ea"/>
              </a:rPr>
              <a:t>1 ~ 6</a:t>
            </a:r>
            <a:r>
              <a:rPr lang="ko-KR" altLang="en-US" sz="800" b="1" dirty="0">
                <a:latin typeface="+mn-ea"/>
              </a:rPr>
              <a:t>은</a:t>
            </a:r>
            <a:r>
              <a:rPr lang="en-US" altLang="ko-KR" sz="800" b="1" dirty="0">
                <a:latin typeface="+mn-ea"/>
              </a:rPr>
              <a:t>, </a:t>
            </a:r>
            <a:r>
              <a:rPr lang="ko-KR" altLang="en-US" sz="800" b="1" dirty="0">
                <a:latin typeface="+mn-ea"/>
              </a:rPr>
              <a:t>동일한 ‘ 집중호우 </a:t>
            </a:r>
            <a:r>
              <a:rPr lang="en-US" altLang="ko-KR" sz="800" b="1" dirty="0">
                <a:latin typeface="+mn-ea"/>
              </a:rPr>
              <a:t>(12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110mm </a:t>
            </a:r>
            <a:r>
              <a:rPr lang="ko-KR" altLang="en-US" sz="800" b="1" dirty="0">
                <a:latin typeface="+mn-ea"/>
              </a:rPr>
              <a:t>이상</a:t>
            </a:r>
            <a:r>
              <a:rPr lang="en-US" altLang="ko-KR" sz="800" b="1" dirty="0">
                <a:latin typeface="+mn-ea"/>
              </a:rPr>
              <a:t>) ’ </a:t>
            </a:r>
            <a:r>
              <a:rPr lang="ko-KR" altLang="en-US" sz="800" b="1" dirty="0">
                <a:latin typeface="+mn-ea"/>
              </a:rPr>
              <a:t>조건에서</a:t>
            </a:r>
          </a:p>
          <a:p>
            <a:pPr algn="ctr">
              <a:lnSpc>
                <a:spcPct val="200000"/>
              </a:lnSpc>
            </a:pPr>
            <a:r>
              <a:rPr lang="ko-KR" altLang="en-US" sz="800" b="1" dirty="0">
                <a:latin typeface="+mn-ea"/>
              </a:rPr>
              <a:t>    학습</a:t>
            </a:r>
            <a:r>
              <a:rPr lang="en-US" altLang="ko-KR" sz="800" b="1" dirty="0">
                <a:latin typeface="+mn-ea"/>
              </a:rPr>
              <a:t>· </a:t>
            </a: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· </a:t>
            </a:r>
            <a:r>
              <a:rPr lang="ko-KR" altLang="en-US" sz="800" b="1" dirty="0">
                <a:latin typeface="+mn-ea"/>
              </a:rPr>
              <a:t>테스트 데이터 </a:t>
            </a:r>
            <a:r>
              <a:rPr lang="ko-KR" altLang="en-US" sz="800" b="1" dirty="0" err="1">
                <a:latin typeface="+mn-ea"/>
              </a:rPr>
              <a:t>구성방식을달리한</a:t>
            </a:r>
            <a:r>
              <a:rPr lang="en-US" altLang="ko-KR" sz="800" b="1" dirty="0">
                <a:latin typeface="+mn-ea"/>
              </a:rPr>
              <a:t>6</a:t>
            </a:r>
            <a:r>
              <a:rPr lang="ko-KR" altLang="en-US" sz="800" b="1" dirty="0">
                <a:latin typeface="+mn-ea"/>
              </a:rPr>
              <a:t>가지실험시나리오中</a:t>
            </a:r>
            <a:r>
              <a:rPr lang="en-US" altLang="ko-KR" sz="800" b="1" dirty="0">
                <a:latin typeface="+mn-ea"/>
              </a:rPr>
              <a:t>4 , 5 </a:t>
            </a:r>
            <a:r>
              <a:rPr lang="ko-KR" altLang="en-US" sz="800" b="1" dirty="0">
                <a:latin typeface="+mn-ea"/>
              </a:rPr>
              <a:t>번째시나리오</a:t>
            </a:r>
          </a:p>
        </p:txBody>
      </p:sp>
    </p:spTree>
    <p:extLst>
      <p:ext uri="{BB962C8B-B14F-4D97-AF65-F5344CB8AC3E}">
        <p14:creationId xmlns:p14="http://schemas.microsoft.com/office/powerpoint/2010/main" val="3705435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470684" y="3257983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12</a:t>
            </a:r>
            <a:r>
              <a:rPr lang="ko-KR" altLang="en-US" sz="1200" b="1" dirty="0">
                <a:latin typeface="+mj-ea"/>
              </a:rPr>
              <a:t>시간 예측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0C768C90-0DD3-49D7-B6B6-D6D368911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792370"/>
              </p:ext>
            </p:extLst>
          </p:nvPr>
        </p:nvGraphicFramePr>
        <p:xfrm>
          <a:off x="470684" y="3565760"/>
          <a:ext cx="2154174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6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0.8759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0.7961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-1.9263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-1.3191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0.7968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0.7596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0.6043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0.4878</a:t>
                      </a:r>
                      <a:endParaRPr lang="pt-BR" altLang="ko-KR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0.4520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0.4308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0.8114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0.2319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D6EE5BE-F42F-456B-844D-95F45ACEA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28093"/>
              </p:ext>
            </p:extLst>
          </p:nvPr>
        </p:nvGraphicFramePr>
        <p:xfrm>
          <a:off x="2925448" y="3565756"/>
          <a:ext cx="3624263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813118">
                  <a:extLst>
                    <a:ext uri="{9D8B030D-6E8A-4147-A177-3AD203B41FA5}">
                      <a16:colId xmlns:a16="http://schemas.microsoft.com/office/drawing/2014/main" val="1109155258"/>
                    </a:ext>
                  </a:extLst>
                </a:gridCol>
                <a:gridCol w="635318">
                  <a:extLst>
                    <a:ext uri="{9D8B030D-6E8A-4147-A177-3AD203B41FA5}">
                      <a16:colId xmlns:a16="http://schemas.microsoft.com/office/drawing/2014/main" val="636005489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758973218"/>
                    </a:ext>
                  </a:extLst>
                </a:gridCol>
              </a:tblGrid>
              <a:tr h="353060"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관심수위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 예측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latin typeface="+mj-ea"/>
                        </a:rPr>
                        <a:t>X 0.98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latin typeface="+mj-ea"/>
                        </a:rPr>
                        <a:t>X 1.02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0.9656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0.8893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0.8214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0.8492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0.7922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0.4201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-0.6973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-0.3291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0.2864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0.0156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0.8622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0.9031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0.9196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0.8814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0.8994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0.7308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0.8385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0.7568</a:t>
                      </a:r>
                      <a:endParaRPr lang="pt-BR" altLang="ko-KR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0.8244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0.8400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0.7659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0.9456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0.7627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0.8186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0.6406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-0.9700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0.4144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0.4433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81C971-C31C-4B79-AD72-BB1B92F2435C}"/>
              </a:ext>
            </a:extLst>
          </p:cNvPr>
          <p:cNvSpPr txBox="1"/>
          <p:nvPr/>
        </p:nvSpPr>
        <p:spPr>
          <a:xfrm>
            <a:off x="2925448" y="3257978"/>
            <a:ext cx="1211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관심수위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FF0AEB6-95BA-4C70-ABFE-4364BC76F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37045"/>
              </p:ext>
            </p:extLst>
          </p:nvPr>
        </p:nvGraphicFramePr>
        <p:xfrm>
          <a:off x="10123711" y="3565756"/>
          <a:ext cx="159131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97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20</a:t>
                      </a:r>
                      <a:r>
                        <a:rPr lang="ko-KR" altLang="en-US" sz="1000" b="1" dirty="0"/>
                        <a:t>년 이후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0.9513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0.9507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-0.8548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0.8751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0.8663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0.8136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0.8524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0.8213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0.7835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0.5660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06CEEFF-20C6-4110-BC2F-A5F4BD03E4A3}"/>
              </a:ext>
            </a:extLst>
          </p:cNvPr>
          <p:cNvSpPr txBox="1"/>
          <p:nvPr/>
        </p:nvSpPr>
        <p:spPr>
          <a:xfrm>
            <a:off x="10118235" y="3257979"/>
            <a:ext cx="1381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20</a:t>
            </a:r>
            <a:r>
              <a:rPr lang="ko-KR" altLang="en-US" sz="1200" b="1" dirty="0">
                <a:latin typeface="+mj-ea"/>
              </a:rPr>
              <a:t>년 이후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29AF4A3-25D0-4339-9118-81E774D35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221610"/>
              </p:ext>
            </p:extLst>
          </p:nvPr>
        </p:nvGraphicFramePr>
        <p:xfrm>
          <a:off x="6714834" y="3565756"/>
          <a:ext cx="69088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유량</a:t>
                      </a:r>
                      <a:endParaRPr lang="pt-BR" altLang="ko-KR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0.9470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-0.3192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0.9153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0.7854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0.7869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0.7481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1D8C2B9-8FC1-456B-B4F9-3E31EE77E4A4}"/>
              </a:ext>
            </a:extLst>
          </p:cNvPr>
          <p:cNvSpPr txBox="1"/>
          <p:nvPr/>
        </p:nvSpPr>
        <p:spPr>
          <a:xfrm>
            <a:off x="6714834" y="3257977"/>
            <a:ext cx="6908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유량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7113604-EB83-4AC3-92EF-796491450A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24078"/>
              </p:ext>
            </p:extLst>
          </p:nvPr>
        </p:nvGraphicFramePr>
        <p:xfrm>
          <a:off x="9118559" y="3565756"/>
          <a:ext cx="69088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유량</a:t>
                      </a:r>
                      <a:endParaRPr lang="pt-BR" altLang="ko-KR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0.8253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-1.2836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0.9267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0.7720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0.4997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0.7909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942539A-8773-421D-BEC8-37D92B28AA3B}"/>
              </a:ext>
            </a:extLst>
          </p:cNvPr>
          <p:cNvSpPr txBox="1"/>
          <p:nvPr/>
        </p:nvSpPr>
        <p:spPr>
          <a:xfrm>
            <a:off x="9117720" y="3257976"/>
            <a:ext cx="11977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>
                <a:latin typeface="+mj-ea"/>
              </a:rPr>
              <a:t>대곡교</a:t>
            </a:r>
            <a:r>
              <a:rPr lang="ko-KR" altLang="en-US" sz="1200" b="1" dirty="0">
                <a:latin typeface="+mj-ea"/>
              </a:rPr>
              <a:t> 제외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8DEA75-6C7A-48E4-BF5B-CED3FB6DD84B}"/>
              </a:ext>
            </a:extLst>
          </p:cNvPr>
          <p:cNvSpPr txBox="1"/>
          <p:nvPr/>
        </p:nvSpPr>
        <p:spPr>
          <a:xfrm>
            <a:off x="7570837" y="3257976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>
                <a:latin typeface="+mj-ea"/>
              </a:rPr>
              <a:t>누적강우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110mm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2CCA84CD-C1FC-45A0-9D1F-3B0663B462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611350"/>
              </p:ext>
            </p:extLst>
          </p:nvPr>
        </p:nvGraphicFramePr>
        <p:xfrm>
          <a:off x="7570837" y="3565756"/>
          <a:ext cx="138176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4</a:t>
                      </a:r>
                      <a:r>
                        <a:rPr lang="ko-KR" altLang="en-US" sz="1000" b="1" dirty="0"/>
                        <a:t>번 조합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5</a:t>
                      </a:r>
                      <a:r>
                        <a:rPr lang="ko-KR" altLang="en-US" sz="1000" b="1" dirty="0"/>
                        <a:t>번 조합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0.7237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0.8774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0.3192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0.0586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0.8533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0.8028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0.7623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0.7051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0.8108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0.8475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0.8673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E581E907-AD69-4D33-9927-380F4FE08FAD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latin typeface="+mj-ea"/>
              </a:rPr>
              <a:t>궁내교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2B4992-2BCB-4C46-AB8E-862DCC1DD6B7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단일 이벤트 기준으로는 잘 맞는 것도 많지만 이벤트 간 분산이 큼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22.07.12 :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거의 모든 조합에서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음수 → 데이터 문제가 아니라 사상 특성 문제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885049-CF89-428F-8947-2F5039D718F6}"/>
              </a:ext>
            </a:extLst>
          </p:cNvPr>
          <p:cNvSpPr txBox="1"/>
          <p:nvPr/>
        </p:nvSpPr>
        <p:spPr>
          <a:xfrm>
            <a:off x="470683" y="281940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R2 </a:t>
            </a:r>
            <a:r>
              <a:rPr lang="ko-KR" altLang="en-US" sz="1200" b="1" dirty="0">
                <a:latin typeface="+mj-ea"/>
              </a:rPr>
              <a:t>평가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8B87BBA-8FB4-4E5C-AB43-7CAF29B36FC4}"/>
              </a:ext>
            </a:extLst>
          </p:cNvPr>
          <p:cNvSpPr/>
          <p:nvPr/>
        </p:nvSpPr>
        <p:spPr>
          <a:xfrm>
            <a:off x="10118235" y="3911600"/>
            <a:ext cx="795298" cy="2603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6055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- 12</a:t>
            </a:r>
            <a:r>
              <a:rPr lang="ko-KR" altLang="en-US" sz="2000" b="1" dirty="0">
                <a:latin typeface="+mj-ea"/>
              </a:rPr>
              <a:t>시간 예측</a:t>
            </a:r>
            <a:r>
              <a:rPr lang="en-US" altLang="ko-KR" sz="2000" b="1" dirty="0">
                <a:latin typeface="+mj-ea"/>
              </a:rPr>
              <a:t> ( 6</a:t>
            </a:r>
            <a:r>
              <a:rPr lang="ko-KR" altLang="en-US" sz="2000" b="1" dirty="0">
                <a:latin typeface="+mj-ea"/>
              </a:rPr>
              <a:t>시간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0.8114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0.4520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0.6043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2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0.7968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-1.9263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0.8759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A2A58F6-1571-4C9A-BF15-77D7AAEEE80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</a:t>
            </a:r>
            <a:r>
              <a:rPr lang="en-US" altLang="ko-KR" sz="1050" b="1" dirty="0" err="1"/>
              <a:t>model_sungnam</a:t>
            </a:r>
            <a:r>
              <a:rPr lang="en-US" altLang="ko-KR" sz="1050" b="1" dirty="0"/>
              <a:t>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/dg)72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72619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12</a:t>
            </a:r>
            <a:r>
              <a:rPr lang="ko-KR" altLang="en-US" sz="2000" b="1" dirty="0">
                <a:latin typeface="+mj-ea"/>
              </a:rPr>
              <a:t>시간 예측</a:t>
            </a:r>
            <a:r>
              <a:rPr lang="en-US" altLang="ko-KR" sz="2000" b="1" dirty="0">
                <a:latin typeface="+mj-ea"/>
              </a:rPr>
              <a:t> ( 3</a:t>
            </a:r>
            <a:r>
              <a:rPr lang="ko-KR" altLang="en-US" sz="2000" b="1" dirty="0">
                <a:latin typeface="+mj-ea"/>
              </a:rPr>
              <a:t>시간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689483"/>
            <a:ext cx="3192889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192889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0.2319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-2.8628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0.4878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3240449"/>
            <a:ext cx="315910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716172"/>
            <a:ext cx="3192889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0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9288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0.7596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-1.3191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0.7961</a:t>
              </a:r>
              <a:endParaRPr lang="ko-KR" altLang="en-US" sz="1200" b="1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67AFBB60-82DB-4679-BCED-9171BDD709BE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</a:t>
            </a:r>
            <a:r>
              <a:rPr lang="en-US" altLang="ko-KR" sz="1050" b="1" dirty="0" err="1"/>
              <a:t>model_sungnam</a:t>
            </a:r>
            <a:r>
              <a:rPr lang="en-US" altLang="ko-KR" sz="1050" b="1" dirty="0"/>
              <a:t>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/dg)72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231080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>
                <a:latin typeface="+mj-ea"/>
              </a:rPr>
              <a:t>관심수위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0.5087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0.7947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0.7308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520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2616" y="3240449"/>
            <a:ext cx="3227152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5778" y="5271474"/>
            <a:ext cx="323353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789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0.8622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0.4201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0.9656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92488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  <a:r>
              <a:rPr lang="en-US" altLang="ko-KR" sz="2000" b="1" dirty="0">
                <a:latin typeface="+mj-ea"/>
                <a:ea typeface="+mj-ea"/>
              </a:rPr>
              <a:t>)</a:t>
            </a:r>
            <a:endParaRPr lang="ko-KR" altLang="en-US" sz="2000" b="1" dirty="0">
              <a:latin typeface="+mj-ea"/>
              <a:ea typeface="+mj-ea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0.6406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0.7659</a:t>
              </a:r>
              <a:r>
                <a:rPr lang="en-US" altLang="ko-KR" sz="1200" b="1" dirty="0"/>
                <a:t> 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 0.8385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5271474"/>
            <a:ext cx="319367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5931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3" y="3240449"/>
            <a:ext cx="319367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0.9031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-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0.6973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0.8893 </a:t>
              </a:r>
              <a:endParaRPr lang="ko-KR" altLang="en-US" sz="1200" b="1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B275787-CB57-4FBF-9BFE-96ABA0EDA1D2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48A1701F-1E76-4B9E-ACBC-A99B7B0DD0B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1371" y="5271474"/>
            <a:ext cx="3193670" cy="135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6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( 3</a:t>
            </a:r>
            <a:r>
              <a:rPr lang="ko-KR" altLang="en-US" sz="2000" b="1" dirty="0">
                <a:latin typeface="+mj-ea"/>
              </a:rPr>
              <a:t>시간 예측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0.2037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0.6605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0.5351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658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658" y="3240449"/>
            <a:ext cx="315910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9288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0.9006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0.8669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0.5417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C4B974EA-9D74-40CE-B5FC-A983C2F579D5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/dg)_3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18492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수위 </a:t>
            </a:r>
            <a:r>
              <a:rPr lang="en-US" altLang="ko-KR" sz="2000" b="1" dirty="0">
                <a:latin typeface="+mj-ea"/>
              </a:rPr>
              <a:t>X 0.98 </a:t>
            </a:r>
            <a:r>
              <a:rPr lang="en-US" altLang="ko-KR" sz="2000" b="1" dirty="0">
                <a:latin typeface="+mj-ea"/>
                <a:ea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6201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0.4144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0.7627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0.8244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617" y="1254012"/>
            <a:ext cx="3248656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617" y="3240449"/>
            <a:ext cx="3248655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362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1254012"/>
            <a:ext cx="322745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3240449"/>
            <a:ext cx="322745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0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0.8814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0.2864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0.8492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E14F8A6-20CE-49E2-BD79-C59F90EEE76A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/dg)_0.98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47504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수위 </a:t>
            </a:r>
            <a:r>
              <a:rPr lang="en-US" altLang="ko-KR" sz="2000" b="1" dirty="0">
                <a:latin typeface="+mj-ea"/>
              </a:rPr>
              <a:t>X 1.02 )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0.4433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0.8186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0.8400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3696" y="3240449"/>
            <a:ext cx="315910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5" y="5271474"/>
            <a:ext cx="3159108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0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0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4" y="5271474"/>
            <a:ext cx="3159108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0.8994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0.0156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0.7922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5D1288C-6DC8-48E0-BC34-82E5CF448E5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/dg)_1.02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21905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유량 예측 </a:t>
            </a:r>
            <a:r>
              <a:rPr lang="en-US" altLang="ko-KR" sz="2000" b="1" dirty="0">
                <a:latin typeface="+mj-ea"/>
              </a:rPr>
              <a:t>)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13AD81-9D77-4840-BEEF-57179F7C5A87}"/>
              </a:ext>
            </a:extLst>
          </p:cNvPr>
          <p:cNvSpPr txBox="1"/>
          <p:nvPr/>
        </p:nvSpPr>
        <p:spPr>
          <a:xfrm>
            <a:off x="6465564" y="5849826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0.7481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404A7A-A932-4ACE-8BE0-B47CF0C2724C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/dg)_flow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125198F-8746-4EC8-9127-ED14E04C6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EE802461-7193-48D2-A821-585D8FB12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6BF6FC6-35CF-4854-92EE-A8ADFA96DB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5F2F23C9-24C8-4398-94A2-E097686031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7FDCB0B-0442-452D-BC2C-1A4EDA2737B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A3D65E91-0AA2-4B9A-B4B8-76CFC4B89BA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grpSp>
        <p:nvGrpSpPr>
          <p:cNvPr id="55" name="그룹 54">
            <a:extLst>
              <a:ext uri="{FF2B5EF4-FFF2-40B4-BE49-F238E27FC236}">
                <a16:creationId xmlns:a16="http://schemas.microsoft.com/office/drawing/2014/main" id="{013117C8-4176-482F-818A-C866CF9CFA74}"/>
              </a:ext>
            </a:extLst>
          </p:cNvPr>
          <p:cNvGrpSpPr/>
          <p:nvPr/>
        </p:nvGrpSpPr>
        <p:grpSpPr>
          <a:xfrm>
            <a:off x="6465564" y="1473154"/>
            <a:ext cx="1391446" cy="4307814"/>
            <a:chOff x="6465564" y="1473154"/>
            <a:chExt cx="1391446" cy="4307814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4AF0D9F-0741-4151-8172-1548A2DC27B5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F711CC2-4CA1-44AE-B532-5B43FEE7E4F2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2F7180D-A4E7-432D-9332-F8328637ACBF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3A8A96A-3191-4C3F-9706-2F23CE2DF8DB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0.7869</a:t>
              </a:r>
              <a:endParaRPr lang="ko-KR" altLang="en-US" sz="12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B975A15-CF8B-4F70-9F3F-A7437F945E66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0.7854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1ED12E98-A7E9-4FAA-848E-A2EBDE3160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09" cy="1315789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B8DDE25B-0B7D-400D-ADB4-3B047A70EE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09" cy="1356107"/>
          </a:xfrm>
          <a:prstGeom prst="rect">
            <a:avLst/>
          </a:prstGeom>
        </p:spPr>
      </p:pic>
      <p:pic>
        <p:nvPicPr>
          <p:cNvPr id="76" name="그림 75">
            <a:extLst>
              <a:ext uri="{FF2B5EF4-FFF2-40B4-BE49-F238E27FC236}">
                <a16:creationId xmlns:a16="http://schemas.microsoft.com/office/drawing/2014/main" id="{ED40514F-CC25-414C-967F-6945DB2DC1A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74D50CF0-0404-495A-B36E-82F503E2347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09" cy="1315789"/>
          </a:xfrm>
          <a:prstGeom prst="rect">
            <a:avLst/>
          </a:pr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4393125A-4E1D-4749-89CA-2D7FF309470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5" y="3240449"/>
            <a:ext cx="3159108" cy="1356107"/>
          </a:xfrm>
          <a:prstGeom prst="rect">
            <a:avLst/>
          </a:prstGeom>
        </p:spPr>
      </p:pic>
      <p:pic>
        <p:nvPicPr>
          <p:cNvPr id="79" name="그림 78">
            <a:extLst>
              <a:ext uri="{FF2B5EF4-FFF2-40B4-BE49-F238E27FC236}">
                <a16:creationId xmlns:a16="http://schemas.microsoft.com/office/drawing/2014/main" id="{D647DB1E-4BB7-467B-B507-4E1DD16A9CE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10" cy="1356107"/>
          </a:xfrm>
          <a:prstGeom prst="rect">
            <a:avLst/>
          </a:prstGeom>
        </p:spPr>
      </p:pic>
      <p:grpSp>
        <p:nvGrpSpPr>
          <p:cNvPr id="80" name="그룹 79">
            <a:extLst>
              <a:ext uri="{FF2B5EF4-FFF2-40B4-BE49-F238E27FC236}">
                <a16:creationId xmlns:a16="http://schemas.microsoft.com/office/drawing/2014/main" id="{EAF7470D-3E5C-4DC9-A280-09902B03997D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D77FCF9-7CC9-4A4C-8D53-1389C5AD2CE7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E8FBBFF-5435-49BA-BFEE-84040DE2DD99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A7A8045-5D6C-40D0-80F8-086A248470EB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5BDF1EB-B53C-4F2E-BC88-94547FD54D03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0.9153</a:t>
              </a:r>
              <a:endParaRPr lang="ko-KR" altLang="en-US" sz="12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2A72304-192F-45C2-BECD-6C677814D76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-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0.3192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CB6D6F7-4BCE-4F2D-9A99-031D4501E27F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0.9470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157035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15229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0.8475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0.8108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0.7623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35559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0.8533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0.3192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0.7237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689483"/>
            <a:ext cx="4385733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2777752"/>
            <a:ext cx="4385733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4799977"/>
            <a:ext cx="4385733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716172"/>
            <a:ext cx="4385733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2777752"/>
            <a:ext cx="4385733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4851955"/>
            <a:ext cx="4385733" cy="4975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D5CCF61-DC69-44D9-8CFB-3799C828CC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557" y="5501931"/>
            <a:ext cx="2133361" cy="1131111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C67F9FD-5A68-4AE7-ACB2-AAD75A16EE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592" y="1340131"/>
            <a:ext cx="2141376" cy="113111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DE88A8-1103-4454-8672-F0D043C3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77" y="3426340"/>
            <a:ext cx="2141986" cy="112585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1BE02B1-4FEA-4E8D-8293-073CE6F4C3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1337575"/>
            <a:ext cx="2105544" cy="11084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48F6E40-4528-4E25-B9FC-E925C7DB61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783" y="3423712"/>
            <a:ext cx="2103138" cy="110841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484D1C1-0278-4102-BAF9-7858340339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5501931"/>
            <a:ext cx="2105029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DE34C1-0274-4E50-A7AC-B754249F67E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306" y="5481624"/>
            <a:ext cx="2143724" cy="1128276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05BE3B41-A71D-44D9-A123-F53164D2AC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0841" y="1333384"/>
            <a:ext cx="2138738" cy="112116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9547D46D-B0E5-4988-9DE0-C9127E9A5F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413" y="3435059"/>
            <a:ext cx="2113749" cy="1117135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DAF101C-5F1B-48BB-A7F4-4EE93EA6BF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1332923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248DFB8-5BB1-4D32-AC39-284CDA32E9F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3439039"/>
            <a:ext cx="2103138" cy="108647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03A34B0-002D-4603-9A7D-C73666A5ACC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5487411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293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15229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0.8673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0.7764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0.7051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35559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0.8028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0.0586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0.8774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689483"/>
            <a:ext cx="4385733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2777752"/>
            <a:ext cx="4385733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4799977"/>
            <a:ext cx="4385733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716172"/>
            <a:ext cx="4385733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2777752"/>
            <a:ext cx="4385733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4851955"/>
            <a:ext cx="4385733" cy="4975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D5CCF61-DC69-44D9-8CFB-3799C828CC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557" y="5509904"/>
            <a:ext cx="2133361" cy="111516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C67F9FD-5A68-4AE7-ACB2-AAD75A16EE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592" y="1344561"/>
            <a:ext cx="2141376" cy="112225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DE88A8-1103-4454-8672-F0D043C3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77" y="3429430"/>
            <a:ext cx="2141986" cy="111967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1BE02B1-4FEA-4E8D-8293-073CE6F4C3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1337575"/>
            <a:ext cx="2105544" cy="11084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48F6E40-4528-4E25-B9FC-E925C7DB61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783" y="3423712"/>
            <a:ext cx="2103138" cy="110841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484D1C1-0278-4102-BAF9-7858340339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5501931"/>
            <a:ext cx="2105029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DE34C1-0274-4E50-A7AC-B754249F67E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306" y="5485471"/>
            <a:ext cx="2143724" cy="1120582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05BE3B41-A71D-44D9-A123-F53164D2AC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3888" y="1333384"/>
            <a:ext cx="2132643" cy="112116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9547D46D-B0E5-4988-9DE0-C9127E9A5F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413" y="3447174"/>
            <a:ext cx="2113749" cy="1092904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DAF101C-5F1B-48BB-A7F4-4EE93EA6BF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1332923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248DFB8-5BB1-4D32-AC39-284CDA32E9F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3439039"/>
            <a:ext cx="2103138" cy="108647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03A34B0-002D-4603-9A7D-C73666A5ACC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5487411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68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 err="1">
                <a:latin typeface="+mj-ea"/>
              </a:rPr>
              <a:t>대곡교</a:t>
            </a:r>
            <a:r>
              <a:rPr lang="ko-KR" altLang="en-US" sz="2000" b="1" dirty="0">
                <a:latin typeface="+mj-ea"/>
              </a:rPr>
              <a:t> 컬럼 제외 </a:t>
            </a:r>
            <a:r>
              <a:rPr lang="en-US" altLang="ko-KR" sz="2000" b="1" dirty="0">
                <a:latin typeface="+mj-ea"/>
              </a:rPr>
              <a:t>)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13AD81-9D77-4840-BEEF-57179F7C5A87}"/>
              </a:ext>
            </a:extLst>
          </p:cNvPr>
          <p:cNvSpPr txBox="1"/>
          <p:nvPr/>
        </p:nvSpPr>
        <p:spPr>
          <a:xfrm>
            <a:off x="6465564" y="5814724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0.7909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125198F-8746-4EC8-9127-ED14E04C6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EE802461-7193-48D2-A821-585D8FB12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6BF6FC6-35CF-4854-92EE-A8ADFA96DB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5F2F23C9-24C8-4398-94A2-E097686031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7FDCB0B-0442-452D-BC2C-1A4EDA2737B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A3D65E91-0AA2-4B9A-B4B8-76CFC4B89BA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grpSp>
        <p:nvGrpSpPr>
          <p:cNvPr id="55" name="그룹 54">
            <a:extLst>
              <a:ext uri="{FF2B5EF4-FFF2-40B4-BE49-F238E27FC236}">
                <a16:creationId xmlns:a16="http://schemas.microsoft.com/office/drawing/2014/main" id="{013117C8-4176-482F-818A-C866CF9CFA74}"/>
              </a:ext>
            </a:extLst>
          </p:cNvPr>
          <p:cNvGrpSpPr/>
          <p:nvPr/>
        </p:nvGrpSpPr>
        <p:grpSpPr>
          <a:xfrm>
            <a:off x="6465564" y="1473154"/>
            <a:ext cx="1391446" cy="4307814"/>
            <a:chOff x="6465564" y="1473154"/>
            <a:chExt cx="1391446" cy="4307814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4AF0D9F-0741-4151-8172-1548A2DC27B5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F711CC2-4CA1-44AE-B532-5B43FEE7E4F2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2F7180D-A4E7-432D-9332-F8328637ACBF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3A8A96A-3191-4C3F-9706-2F23CE2DF8DB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0.4997</a:t>
              </a:r>
              <a:endParaRPr lang="ko-KR" altLang="en-US" sz="12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B975A15-CF8B-4F70-9F3F-A7437F945E66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0.7720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1ED12E98-A7E9-4FAA-848E-A2EBDE3160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B8DDE25B-0B7D-400D-ADB4-3B047A70EE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5467" y="3240449"/>
            <a:ext cx="3155805" cy="1356107"/>
          </a:xfrm>
          <a:prstGeom prst="rect">
            <a:avLst/>
          </a:prstGeom>
        </p:spPr>
      </p:pic>
      <p:pic>
        <p:nvPicPr>
          <p:cNvPr id="76" name="그림 75">
            <a:extLst>
              <a:ext uri="{FF2B5EF4-FFF2-40B4-BE49-F238E27FC236}">
                <a16:creationId xmlns:a16="http://schemas.microsoft.com/office/drawing/2014/main" id="{ED40514F-CC25-414C-967F-6945DB2DC1A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74D50CF0-0404-495A-B36E-82F503E2347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4393125A-4E1D-4749-89CA-2D7FF309470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09" cy="1356107"/>
          </a:xfrm>
          <a:prstGeom prst="rect">
            <a:avLst/>
          </a:prstGeom>
        </p:spPr>
      </p:pic>
      <p:pic>
        <p:nvPicPr>
          <p:cNvPr id="79" name="그림 78">
            <a:extLst>
              <a:ext uri="{FF2B5EF4-FFF2-40B4-BE49-F238E27FC236}">
                <a16:creationId xmlns:a16="http://schemas.microsoft.com/office/drawing/2014/main" id="{D647DB1E-4BB7-467B-B507-4E1DD16A9CE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09" cy="1356107"/>
          </a:xfrm>
          <a:prstGeom prst="rect">
            <a:avLst/>
          </a:prstGeom>
        </p:spPr>
      </p:pic>
      <p:grpSp>
        <p:nvGrpSpPr>
          <p:cNvPr id="80" name="그룹 79">
            <a:extLst>
              <a:ext uri="{FF2B5EF4-FFF2-40B4-BE49-F238E27FC236}">
                <a16:creationId xmlns:a16="http://schemas.microsoft.com/office/drawing/2014/main" id="{EAF7470D-3E5C-4DC9-A280-09902B03997D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D77FCF9-7CC9-4A4C-8D53-1389C5AD2CE7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E8FBBFF-5435-49BA-BFEE-84040DE2DD99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A7A8045-5D6C-40D0-80F8-086A248470EB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5BDF1EB-B53C-4F2E-BC88-94547FD54D03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0.9267</a:t>
              </a:r>
              <a:endParaRPr lang="ko-KR" altLang="en-US" sz="12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2A72304-192F-45C2-BECD-6C677814D76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-1.2836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CB6D6F7-4BCE-4F2D-9A99-031D4501E27F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0.8253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13E51A5-0EE5-4FD5-969C-A321866CA53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/dg)_none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24561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0.7835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0.8213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0.8136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198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789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0.8751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-0.8548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0.9513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216076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0.5660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0.7764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0.8524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4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5271474"/>
            <a:ext cx="3159110" cy="135610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0.8663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0.2329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0.9507</a:t>
              </a:r>
              <a:endParaRPr lang="ko-KR" altLang="en-US" sz="1200" b="1" dirty="0"/>
            </a:p>
          </p:txBody>
        </p:sp>
      </p:grpSp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5271474"/>
            <a:ext cx="319289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/dg)_rf20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18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470684" y="3257983"/>
            <a:ext cx="15913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12</a:t>
            </a:r>
            <a:r>
              <a:rPr lang="ko-KR" altLang="en-US" sz="1200" b="1" dirty="0">
                <a:latin typeface="+mj-ea"/>
              </a:rPr>
              <a:t>시간 예측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D6EE5BE-F42F-456B-844D-95F45ACEA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747324"/>
              </p:ext>
            </p:extLst>
          </p:nvPr>
        </p:nvGraphicFramePr>
        <p:xfrm>
          <a:off x="3351392" y="3565760"/>
          <a:ext cx="3624263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813118">
                  <a:extLst>
                    <a:ext uri="{9D8B030D-6E8A-4147-A177-3AD203B41FA5}">
                      <a16:colId xmlns:a16="http://schemas.microsoft.com/office/drawing/2014/main" val="462420903"/>
                    </a:ext>
                  </a:extLst>
                </a:gridCol>
                <a:gridCol w="635318">
                  <a:extLst>
                    <a:ext uri="{9D8B030D-6E8A-4147-A177-3AD203B41FA5}">
                      <a16:colId xmlns:a16="http://schemas.microsoft.com/office/drawing/2014/main" val="3354725810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370393113"/>
                    </a:ext>
                  </a:extLst>
                </a:gridCol>
              </a:tblGrid>
              <a:tr h="353060"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관심수위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 예측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latin typeface="+mj-ea"/>
                        </a:rPr>
                        <a:t>X 0.98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latin typeface="+mj-ea"/>
                        </a:rPr>
                        <a:t>X 1.02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0.8748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0.7441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0.9113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0.8579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0.8688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0.5503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0.6399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-0.1308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0.7718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0.5974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0.8659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0.8559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0.7288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0.8246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0.8086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0.6749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0.5656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0.5679</a:t>
                      </a:r>
                      <a:endParaRPr lang="pt-BR" altLang="ko-KR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0.5221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0.4905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0.9470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0.9182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0.5949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0.9736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0.9726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0.8781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0.8301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0.8942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0.7718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0.7639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81C971-C31C-4B79-AD72-BB1B92F2435C}"/>
              </a:ext>
            </a:extLst>
          </p:cNvPr>
          <p:cNvSpPr txBox="1"/>
          <p:nvPr/>
        </p:nvSpPr>
        <p:spPr>
          <a:xfrm>
            <a:off x="3351392" y="3256032"/>
            <a:ext cx="1237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관심수위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1671F7-0847-44A8-A408-CDAAF62491AA}"/>
              </a:ext>
            </a:extLst>
          </p:cNvPr>
          <p:cNvSpPr txBox="1"/>
          <p:nvPr/>
        </p:nvSpPr>
        <p:spPr>
          <a:xfrm>
            <a:off x="10121539" y="3254081"/>
            <a:ext cx="13468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20</a:t>
            </a:r>
            <a:r>
              <a:rPr lang="ko-KR" altLang="en-US" sz="1200" b="1" dirty="0">
                <a:latin typeface="+mj-ea"/>
              </a:rPr>
              <a:t>년 이후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015E148-1B18-408D-A348-1C6E099CC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688061"/>
              </p:ext>
            </p:extLst>
          </p:nvPr>
        </p:nvGraphicFramePr>
        <p:xfrm>
          <a:off x="10121539" y="3563809"/>
          <a:ext cx="159131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9780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20</a:t>
                      </a:r>
                      <a:r>
                        <a:rPr lang="ko-KR" altLang="en-US" sz="1000" b="1" dirty="0"/>
                        <a:t>년 이후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0.8845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0.8523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-0.1561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-0.5266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0.7304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0.7527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0.6077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0.6739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0.8647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0.9528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0.8840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0.8631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1ED35C6A-0935-43AF-A32C-4803928332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858055"/>
              </p:ext>
            </p:extLst>
          </p:nvPr>
        </p:nvGraphicFramePr>
        <p:xfrm>
          <a:off x="7143013" y="3563809"/>
          <a:ext cx="69088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유량</a:t>
                      </a:r>
                      <a:endParaRPr lang="pt-BR" altLang="ko-KR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0.8104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0.9411</a:t>
                      </a:r>
                      <a:endParaRPr lang="en-US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0.7145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0.7932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0.8734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0.9158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527C398-9C55-489D-8AE3-0D2D5A5CAC0E}"/>
              </a:ext>
            </a:extLst>
          </p:cNvPr>
          <p:cNvSpPr txBox="1"/>
          <p:nvPr/>
        </p:nvSpPr>
        <p:spPr>
          <a:xfrm>
            <a:off x="7143013" y="3254080"/>
            <a:ext cx="6908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유량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904FC1-2AB3-41D3-B748-0CCC1EFA241B}"/>
              </a:ext>
            </a:extLst>
          </p:cNvPr>
          <p:cNvSpPr txBox="1"/>
          <p:nvPr/>
        </p:nvSpPr>
        <p:spPr>
          <a:xfrm>
            <a:off x="8001251" y="3252127"/>
            <a:ext cx="16673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>
                <a:latin typeface="+mj-ea"/>
              </a:rPr>
              <a:t>누적강우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110mm 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8911C95-D3E9-41AE-ADE4-2F21C9F99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165801"/>
              </p:ext>
            </p:extLst>
          </p:nvPr>
        </p:nvGraphicFramePr>
        <p:xfrm>
          <a:off x="8001627" y="3563809"/>
          <a:ext cx="138176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4</a:t>
                      </a:r>
                      <a:r>
                        <a:rPr lang="ko-KR" altLang="en-US" sz="1000" b="1" dirty="0"/>
                        <a:t>번 조합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5</a:t>
                      </a:r>
                      <a:r>
                        <a:rPr lang="ko-KR" altLang="en-US" sz="1000" b="1" dirty="0"/>
                        <a:t>번 조합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0.8350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0.9246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-0.0424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0.8276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0.0871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0.5130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0.8305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0.9577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E797AE3-7A98-438F-B121-72B5D18DC603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latin typeface="+mj-ea"/>
              </a:rPr>
              <a:t>대곡교</a:t>
            </a:r>
            <a:endParaRPr lang="en-US" altLang="ko-KR" sz="2000" b="1" dirty="0">
              <a:latin typeface="+mj-ea"/>
            </a:endParaRP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148BEC58-49F3-46BF-8604-9E750AE1FF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7000590"/>
              </p:ext>
            </p:extLst>
          </p:nvPr>
        </p:nvGraphicFramePr>
        <p:xfrm>
          <a:off x="470684" y="3565760"/>
          <a:ext cx="2154174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6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0.9934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0.4887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-0.4222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-1.7001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0.7761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0.8885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0.2256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0.2750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0.8822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0.8926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0.7106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0.8466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0F465F04-1F98-4D6C-AB01-F7E65836328F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궁내교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대비 높은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</a:t>
            </a: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특히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누적강우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및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2020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년 이후 데이터 학습 구성에서 성능이 안정적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( 22.07.12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이벤트에서는 예외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</a:p>
          <a:p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69A226-5445-422F-B27D-DE0C2558827F}"/>
              </a:ext>
            </a:extLst>
          </p:cNvPr>
          <p:cNvSpPr txBox="1"/>
          <p:nvPr/>
        </p:nvSpPr>
        <p:spPr>
          <a:xfrm>
            <a:off x="470683" y="281940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R2 </a:t>
            </a:r>
            <a:r>
              <a:rPr lang="ko-KR" altLang="en-US" sz="1200" b="1" dirty="0">
                <a:latin typeface="+mj-ea"/>
              </a:rPr>
              <a:t>평가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8CC56C8-4E3C-4E36-8294-7D11AF5C89C8}"/>
              </a:ext>
            </a:extLst>
          </p:cNvPr>
          <p:cNvSpPr/>
          <p:nvPr/>
        </p:nvSpPr>
        <p:spPr>
          <a:xfrm>
            <a:off x="10118235" y="3911600"/>
            <a:ext cx="795298" cy="2603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38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0.7106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0.8822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0.2256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5271474"/>
            <a:ext cx="3192888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0.7761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-0.4222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0.9934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12</a:t>
            </a:r>
            <a:r>
              <a:rPr lang="ko-KR" altLang="en-US" sz="2000" b="1" dirty="0">
                <a:latin typeface="+mj-ea"/>
              </a:rPr>
              <a:t>시간 예측</a:t>
            </a:r>
            <a:r>
              <a:rPr lang="en-US" altLang="ko-KR" sz="2000" b="1" dirty="0">
                <a:latin typeface="+mj-ea"/>
              </a:rPr>
              <a:t> ( 6</a:t>
            </a:r>
            <a:r>
              <a:rPr lang="ko-KR" altLang="en-US" sz="2000" b="1" dirty="0">
                <a:latin typeface="+mj-ea"/>
              </a:rPr>
              <a:t>시간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B516A0-9E44-44FC-AA7A-4EC9558A648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</a:t>
            </a:r>
            <a:r>
              <a:rPr lang="en-US" altLang="ko-KR" sz="1050" b="1" dirty="0" err="1"/>
              <a:t>model_sungnam</a:t>
            </a:r>
            <a:r>
              <a:rPr lang="en-US" altLang="ko-KR" sz="1050" b="1" dirty="0"/>
              <a:t>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/dg)72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2176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0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0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0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0.8466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0.8926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0.2750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8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0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28" y="5271474"/>
            <a:ext cx="3195541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196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3240449"/>
            <a:ext cx="3175422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1573" y="5271474"/>
            <a:ext cx="319554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0.8885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-1.7001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0.4887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12</a:t>
            </a:r>
            <a:r>
              <a:rPr lang="ko-KR" altLang="en-US" sz="2000" b="1" dirty="0">
                <a:latin typeface="+mj-ea"/>
              </a:rPr>
              <a:t>시간 예측</a:t>
            </a:r>
            <a:r>
              <a:rPr lang="en-US" altLang="ko-KR" sz="2000" b="1" dirty="0">
                <a:latin typeface="+mj-ea"/>
              </a:rPr>
              <a:t> ( 3</a:t>
            </a:r>
            <a:r>
              <a:rPr lang="ko-KR" altLang="en-US" sz="2000" b="1" dirty="0">
                <a:latin typeface="+mj-ea"/>
              </a:rPr>
              <a:t>시간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E719F6-61FC-4CF7-83E3-B08D9A6EC9DF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</a:t>
            </a:r>
            <a:r>
              <a:rPr lang="en-US" altLang="ko-KR" sz="1050" b="1" dirty="0" err="1"/>
              <a:t>model_sungnam</a:t>
            </a:r>
            <a:r>
              <a:rPr lang="en-US" altLang="ko-KR" sz="1050" b="1" dirty="0"/>
              <a:t>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/dg)72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336286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0.8781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0.9470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0.6749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40449"/>
            <a:ext cx="319288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5271474"/>
            <a:ext cx="3192888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5271474"/>
            <a:ext cx="319289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0.8659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0.5503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0.8748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>
                <a:latin typeface="+mj-ea"/>
              </a:rPr>
              <a:t>관심수위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668515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016" y="1247792"/>
            <a:ext cx="3176257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3240449"/>
            <a:ext cx="3192891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455" y="5271474"/>
            <a:ext cx="3176257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1254012"/>
            <a:ext cx="3176257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8" y="3240449"/>
            <a:ext cx="3192891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5271474"/>
            <a:ext cx="3176257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9FA8BA-AD4F-4435-80C7-4447213A425B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6ED2C04-8E0A-4BF9-91C7-3D11FD606F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8C2957F-BFE7-46CB-B0E3-DA69D6D943D9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0623A4F-078B-4CF1-83C1-D064A38C281B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97735E6-2EDF-4EEC-9516-E21AAF1819F4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108AC27-B639-4545-B705-8D407272E650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0.8301 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77689E3-8560-4022-BFCF-3E7EFAC96ED6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0.9182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BEBB8AD-4C91-4F16-A1DC-34DC4C043DF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0.5656</a:t>
              </a:r>
              <a:r>
                <a:rPr lang="en-US" altLang="ko-KR" sz="1200" b="1" dirty="0"/>
                <a:t> 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09B6C0E-1B9E-483F-BC27-21111E7A34F7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C739523-FC46-4333-8B7E-ACE8D41CAE58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60517DC-3427-47AB-9D67-69C3D683D07B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A6FF8C-2467-4FD0-BA08-BBD5528504D0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80A6C1A-7E95-4417-A16E-9EC9FFD76612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0.8559 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D932177-D6F8-413D-84B4-9732BF30196C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0.6399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4A7D638-1207-469F-8F89-CB6656FE07FB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0.7441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255039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0.8953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0.7288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-4.2174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5271474"/>
            <a:ext cx="319288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0.7131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0.9659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0.4341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( 3</a:t>
            </a:r>
            <a:r>
              <a:rPr lang="ko-KR" altLang="en-US" sz="2000" b="1" dirty="0">
                <a:latin typeface="+mj-ea"/>
              </a:rPr>
              <a:t>시간 예측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F36F4F-CEB0-4E64-B6B8-57448DFFD3CB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/dg)_3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631382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0.7718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0.9736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0.5221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79833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9" y="5271474"/>
            <a:ext cx="319289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0.8246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0.7718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0.8579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수위 </a:t>
            </a:r>
            <a:r>
              <a:rPr lang="en-US" altLang="ko-KR" sz="2000" b="1" dirty="0">
                <a:latin typeface="+mj-ea"/>
              </a:rPr>
              <a:t>X 0.98 )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1E6732-9D3A-4CB5-BA62-8F52B8805B67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/dg)_0.98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351023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0.7639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0.9726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0.4905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5271474"/>
            <a:ext cx="3195542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0.8086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0.5974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0.8688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수위 </a:t>
            </a:r>
            <a:r>
              <a:rPr lang="en-US" altLang="ko-KR" sz="2000" b="1" dirty="0">
                <a:latin typeface="+mj-ea"/>
              </a:rPr>
              <a:t>X 1.02 )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BD50C4-77EC-4577-B0B7-2672EF83669E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/dg)_1.02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05739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유량 예측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141CDB-06C4-4F00-8552-80DEA93712EA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/dg)_flow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C72D7B55-5C18-4619-8689-9F39CE0B9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F1359B1E-622B-4DF2-A9AB-EE603F6D81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B0B5158-CE58-4204-942B-CE53441AF7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79E458F-C1B1-47BC-ADCB-9A700BF221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3527CF5C-BC2D-4EE1-8BD8-051A49A502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1211DAA2-EEA8-4D0F-8EA2-F62E25CEDE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grpSp>
        <p:nvGrpSpPr>
          <p:cNvPr id="87" name="그룹 86">
            <a:extLst>
              <a:ext uri="{FF2B5EF4-FFF2-40B4-BE49-F238E27FC236}">
                <a16:creationId xmlns:a16="http://schemas.microsoft.com/office/drawing/2014/main" id="{DEBAD6BE-6CC0-4B64-A312-AE468035344D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63C2725-DB92-418E-99C6-8E8FA330A5CF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5F011E77-E8AE-4E8B-89BA-F131A652890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F1ECEB1-7EB7-47E2-B87E-89E52828E8F0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A2AA154-0658-4412-863E-FEBE16F39172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0.9158</a:t>
              </a:r>
              <a:endParaRPr lang="ko-KR" altLang="en-US" sz="1200" b="1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B821D59-CE73-420F-A863-BEE2E8597809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0.8734</a:t>
              </a:r>
              <a:endParaRPr lang="ko-KR" altLang="en-US" sz="1200" b="1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1A0AB5C-D075-4538-9A9A-F5DC2DAC0215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0.7932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94" name="그림 93">
            <a:extLst>
              <a:ext uri="{FF2B5EF4-FFF2-40B4-BE49-F238E27FC236}">
                <a16:creationId xmlns:a16="http://schemas.microsoft.com/office/drawing/2014/main" id="{82652E45-8D6A-4262-95FE-9C1D6C1425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47792"/>
            <a:ext cx="3192890" cy="1315789"/>
          </a:xfrm>
          <a:prstGeom prst="rect">
            <a:avLst/>
          </a:prstGeom>
        </p:spPr>
      </p:pic>
      <p:pic>
        <p:nvPicPr>
          <p:cNvPr id="95" name="그림 94">
            <a:extLst>
              <a:ext uri="{FF2B5EF4-FFF2-40B4-BE49-F238E27FC236}">
                <a16:creationId xmlns:a16="http://schemas.microsoft.com/office/drawing/2014/main" id="{8FEEE663-3125-488A-AA03-918B364514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40449"/>
            <a:ext cx="3192890" cy="1356107"/>
          </a:xfrm>
          <a:prstGeom prst="rect">
            <a:avLst/>
          </a:prstGeom>
        </p:spPr>
      </p:pic>
      <p:pic>
        <p:nvPicPr>
          <p:cNvPr id="96" name="그림 95">
            <a:extLst>
              <a:ext uri="{FF2B5EF4-FFF2-40B4-BE49-F238E27FC236}">
                <a16:creationId xmlns:a16="http://schemas.microsoft.com/office/drawing/2014/main" id="{AA625B5F-72F1-42AA-B68B-53A3C68EB53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97" name="그림 96">
            <a:extLst>
              <a:ext uri="{FF2B5EF4-FFF2-40B4-BE49-F238E27FC236}">
                <a16:creationId xmlns:a16="http://schemas.microsoft.com/office/drawing/2014/main" id="{9B31B99C-774B-4D43-AC60-8D3F074D744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1254012"/>
            <a:ext cx="3192890" cy="1315789"/>
          </a:xfrm>
          <a:prstGeom prst="rect">
            <a:avLst/>
          </a:prstGeom>
        </p:spPr>
      </p:pic>
      <p:pic>
        <p:nvPicPr>
          <p:cNvPr id="98" name="그림 97">
            <a:extLst>
              <a:ext uri="{FF2B5EF4-FFF2-40B4-BE49-F238E27FC236}">
                <a16:creationId xmlns:a16="http://schemas.microsoft.com/office/drawing/2014/main" id="{EE5889F8-0F9E-4DC8-87E1-4A8E218F12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1" y="3240449"/>
            <a:ext cx="3192890" cy="1356107"/>
          </a:xfrm>
          <a:prstGeom prst="rect">
            <a:avLst/>
          </a:prstGeom>
        </p:spPr>
      </p:pic>
      <p:pic>
        <p:nvPicPr>
          <p:cNvPr id="99" name="그림 98">
            <a:extLst>
              <a:ext uri="{FF2B5EF4-FFF2-40B4-BE49-F238E27FC236}">
                <a16:creationId xmlns:a16="http://schemas.microsoft.com/office/drawing/2014/main" id="{2AF9C198-14DD-4FF6-B28E-40A5087AB78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92890" cy="1356107"/>
          </a:xfrm>
          <a:prstGeom prst="rect">
            <a:avLst/>
          </a:prstGeom>
        </p:spPr>
      </p:pic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D9A8DF0-930F-4177-91FF-DD29BFDFF5E9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65CC294-474E-49B4-BED0-1EF8A8056620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3EE90E51-C325-4A8B-83B6-E9AAA4CA5884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042E071-E761-4129-919E-FE9E49F3AD61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2A87481E-8E46-4334-AD83-655CE5F30758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0.7145</a:t>
              </a:r>
              <a:endParaRPr lang="ko-KR" altLang="en-US" sz="1200" b="1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C8F69-00D3-42EA-94EB-9FFAA81091B0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0.9411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50C1092D-6AB1-4770-A0ED-D8EE54B725A6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0.8104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2500435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15229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0.5011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0.8305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0.0871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35559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0.7456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-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0.0424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0.8350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9" y="689483"/>
            <a:ext cx="4419422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8" y="2777752"/>
            <a:ext cx="4419422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8" y="4799977"/>
            <a:ext cx="4419422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716172"/>
            <a:ext cx="4419422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2777752"/>
            <a:ext cx="4419422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4851955"/>
            <a:ext cx="4419422" cy="4975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D5CCF61-DC69-44D9-8CFB-3799C828CC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557" y="5512934"/>
            <a:ext cx="2133361" cy="110910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C67F9FD-5A68-4AE7-ACB2-AAD75A16EE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592" y="1350515"/>
            <a:ext cx="2141376" cy="1110343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DE88A8-1103-4454-8672-F0D043C3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838" y="3426340"/>
            <a:ext cx="2128663" cy="112585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1BE02B1-4FEA-4E8D-8293-073CE6F4C3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1337575"/>
            <a:ext cx="2105544" cy="11084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48F6E40-4528-4E25-B9FC-E925C7DB61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783" y="3423712"/>
            <a:ext cx="2103138" cy="110841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484D1C1-0278-4102-BAF9-7858340339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5501931"/>
            <a:ext cx="2105029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DE34C1-0274-4E50-A7AC-B754249F67E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464" y="5481624"/>
            <a:ext cx="2139407" cy="1128276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05BE3B41-A71D-44D9-A123-F53164D2AC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028" y="1333384"/>
            <a:ext cx="2114363" cy="112116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9547D46D-B0E5-4988-9DE0-C9127E9A5F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413" y="3440893"/>
            <a:ext cx="2113749" cy="1105466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DAF101C-5F1B-48BB-A7F4-4EE93EA6BF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1332923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248DFB8-5BB1-4D32-AC39-284CDA32E9F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3439039"/>
            <a:ext cx="2103138" cy="108647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03A34B0-002D-4603-9A7D-C73666A5ACC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5487411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8669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15229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0.6115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0.9577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0.5130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35559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0.8276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-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0.1000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0.9246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9" y="689483"/>
            <a:ext cx="4419422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8" y="2777752"/>
            <a:ext cx="4419422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8" y="4799977"/>
            <a:ext cx="4419422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716172"/>
            <a:ext cx="4419422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2777752"/>
            <a:ext cx="4419422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4851955"/>
            <a:ext cx="4419422" cy="4975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D5CCF61-DC69-44D9-8CFB-3799C828CC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82" y="5512934"/>
            <a:ext cx="2109711" cy="110910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C67F9FD-5A68-4AE7-ACB2-AAD75A16EE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247" y="1350515"/>
            <a:ext cx="2112065" cy="1110343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DE88A8-1103-4454-8672-F0D043C3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838" y="3426340"/>
            <a:ext cx="2128663" cy="1125853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1BE02B1-4FEA-4E8D-8293-073CE6F4C3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1337575"/>
            <a:ext cx="2105544" cy="11084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48F6E40-4528-4E25-B9FC-E925C7DB61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783" y="3423712"/>
            <a:ext cx="2103138" cy="110841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484D1C1-0278-4102-BAF9-7858340339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5501931"/>
            <a:ext cx="2105029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DE34C1-0274-4E50-A7AC-B754249F67E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464" y="5483245"/>
            <a:ext cx="2139407" cy="1125033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05BE3B41-A71D-44D9-A123-F53164D2AC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028" y="1338033"/>
            <a:ext cx="2114363" cy="1111863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9547D46D-B0E5-4988-9DE0-C9127E9A5F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413" y="3440893"/>
            <a:ext cx="2113748" cy="1105466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DAF101C-5F1B-48BB-A7F4-4EE93EA6BF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1332923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248DFB8-5BB1-4D32-AC39-284CDA32E9F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3439039"/>
            <a:ext cx="2103138" cy="108647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03A34B0-002D-4603-9A7D-C73666A5ACC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5487411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9423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0.8647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0.6077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8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8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5271474"/>
            <a:ext cx="3195542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0.7304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-0.1561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0.8845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97095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0.8631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0.9528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0.6739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1247792"/>
            <a:ext cx="322745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3240449"/>
            <a:ext cx="3192891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5271474"/>
            <a:ext cx="3192891" cy="135610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1254012"/>
            <a:ext cx="3176257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3240449"/>
            <a:ext cx="3192891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5271474"/>
            <a:ext cx="3176257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0.7527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-0.5266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0.8523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29CA73-A074-4D2D-94DD-8BC225BA50DE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/dg)_rf20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B2122BB9-47FB-45EC-90F8-4D047CB2E5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064F5C2-DC10-4883-BBF0-744C9D0E92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59091C5-CC1F-4DED-BFEA-603FD5BE45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8C6CD84-7FCB-4BB0-8CF0-D7A73E43F21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785F6AC-F365-4F4B-A4CA-619DB8C42FA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B4019152-7D26-4B31-9503-DA6DD83D4E7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9475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705725"/>
            <a:ext cx="458858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2. </a:t>
            </a:r>
            <a:r>
              <a:rPr lang="ko-KR" altLang="en-US" sz="4400" b="1" dirty="0">
                <a:latin typeface="+mj-ea"/>
                <a:ea typeface="+mj-ea"/>
              </a:rPr>
              <a:t>단일 </a:t>
            </a:r>
            <a:r>
              <a:rPr lang="en-US" altLang="ko-KR" sz="4400" b="1" dirty="0">
                <a:latin typeface="+mj-ea"/>
                <a:ea typeface="+mj-ea"/>
              </a:rPr>
              <a:t>LSTM</a:t>
            </a: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개발 결과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635118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 학습데이터</a:t>
            </a:r>
            <a:endParaRPr lang="ko-KR" altLang="en-US" sz="10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57663" y="2449205"/>
          <a:ext cx="956405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857663" y="1865185"/>
            <a:ext cx="5956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홍수통제소 </a:t>
            </a:r>
            <a:r>
              <a:rPr lang="en-US" altLang="ko-KR" sz="1400" b="1" dirty="0"/>
              <a:t>API </a:t>
            </a:r>
            <a:r>
              <a:rPr lang="ko-KR" altLang="en-US" sz="1400" b="1" dirty="0"/>
              <a:t>호출 → </a:t>
            </a:r>
            <a:r>
              <a:rPr lang="en-US" altLang="ko-KR" sz="1400" b="1" dirty="0"/>
              <a:t>MIET</a:t>
            </a:r>
            <a:r>
              <a:rPr lang="ko-KR" altLang="en-US" sz="1400" b="1" dirty="0"/>
              <a:t> 활용 강우 이벤트 추출 →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관심 수위 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3882529" y="5920334"/>
            <a:ext cx="2408193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2014 ~ 20230629 ( 43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 - shuffle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20230713 ~ 250813 ( 12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2550916 ~ 251006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( 6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88400" y="69373"/>
            <a:ext cx="3318934" cy="226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관심 수위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 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smoothing 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그래프 스케일 고정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( 0.7 - 3 )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------------------------------------------------------------------------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learning_rate</a:t>
            </a:r>
            <a:r>
              <a:rPr lang="en-US" altLang="ko-KR" sz="800" b="1" dirty="0">
                <a:latin typeface="+mn-ea"/>
              </a:rPr>
              <a:t> = 0.0003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Loss_function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Seq_length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 ( 6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Dense = 1 (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</a:t>
            </a:r>
            <a:r>
              <a:rPr lang="ko-KR" altLang="en-US" sz="800" b="1" dirty="0">
                <a:latin typeface="+mn-ea"/>
              </a:rPr>
              <a:t>번 처리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이벤트 순서 </a:t>
            </a:r>
            <a:r>
              <a:rPr lang="en-US" altLang="ko-KR" sz="800" b="1" dirty="0">
                <a:latin typeface="+mn-ea"/>
              </a:rPr>
              <a:t>shuffle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1F6F63-EC35-4D5E-9ECF-579EF628813A}"/>
              </a:ext>
            </a:extLst>
          </p:cNvPr>
          <p:cNvSpPr txBox="1"/>
          <p:nvPr/>
        </p:nvSpPr>
        <p:spPr>
          <a:xfrm>
            <a:off x="9538245" y="5920334"/>
            <a:ext cx="2408212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2020 ~ 20240920 ( 25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 - shuffle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20240921 ~ 250919 85</a:t>
            </a:r>
            <a:r>
              <a:rPr lang="ko-KR" altLang="en-US" sz="800" b="1" dirty="0">
                <a:latin typeface="+mn-ea"/>
              </a:rPr>
              <a:t>번</a:t>
            </a:r>
            <a:r>
              <a:rPr lang="en-US" altLang="ko-KR" sz="800" b="1" dirty="0">
                <a:latin typeface="+mn-ea"/>
              </a:rPr>
              <a:t> ( 7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250919 86</a:t>
            </a:r>
            <a:r>
              <a:rPr lang="ko-KR" altLang="en-US" sz="800" b="1" dirty="0">
                <a:latin typeface="+mn-ea"/>
              </a:rPr>
              <a:t>번</a:t>
            </a:r>
            <a:r>
              <a:rPr lang="en-US" altLang="ko-KR" sz="800" b="1" dirty="0">
                <a:latin typeface="+mn-ea"/>
              </a:rPr>
              <a:t> ~ 251006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16558E4-9DBF-4C30-B5A8-59F2C067E1F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57663" y="3588855"/>
          <a:ext cx="1047667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46573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37564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32814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662403286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18059197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C403230-2D17-47A4-ADCE-A66D07152C36}"/>
              </a:ext>
            </a:extLst>
          </p:cNvPr>
          <p:cNvSpPr txBox="1"/>
          <p:nvPr/>
        </p:nvSpPr>
        <p:spPr>
          <a:xfrm>
            <a:off x="707056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전체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67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61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6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( 4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40F73D-47BD-4FE9-8346-62E0E3E6D5AE}"/>
              </a:ext>
            </a:extLst>
          </p:cNvPr>
          <p:cNvSpPr txBox="1"/>
          <p:nvPr/>
        </p:nvSpPr>
        <p:spPr>
          <a:xfrm>
            <a:off x="6354305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</a:t>
            </a:r>
            <a:r>
              <a:rPr lang="en-US" altLang="ko-KR" sz="1000" b="1" u="sng" dirty="0">
                <a:latin typeface="+mn-ea"/>
              </a:rPr>
              <a:t>20</a:t>
            </a:r>
            <a:r>
              <a:rPr lang="ko-KR" altLang="en-US" sz="1000" b="1" u="sng" dirty="0">
                <a:latin typeface="+mn-ea"/>
              </a:rPr>
              <a:t>년 이후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40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35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5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( 4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77E77F-53CF-413F-88B5-D02D20761D61}"/>
              </a:ext>
            </a:extLst>
          </p:cNvPr>
          <p:cNvSpPr txBox="1"/>
          <p:nvPr/>
        </p:nvSpPr>
        <p:spPr>
          <a:xfrm>
            <a:off x="857663" y="3340272"/>
            <a:ext cx="15214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+) </a:t>
            </a:r>
            <a:r>
              <a:rPr lang="ko-KR" altLang="en-US" sz="800" b="1" dirty="0"/>
              <a:t>누적 강우 컬럼 추가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5A8E5B1-E565-4C29-98AC-392DCAF883A4}"/>
              </a:ext>
            </a:extLst>
          </p:cNvPr>
          <p:cNvCxnSpPr>
            <a:cxnSpLocks/>
          </p:cNvCxnSpPr>
          <p:nvPr/>
        </p:nvCxnSpPr>
        <p:spPr>
          <a:xfrm>
            <a:off x="6239934" y="4656667"/>
            <a:ext cx="0" cy="181186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8396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 전체 강우 학습데이터</a:t>
            </a:r>
            <a:endParaRPr lang="ko-KR" altLang="en-US" sz="10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243896"/>
              </p:ext>
            </p:extLst>
          </p:nvPr>
        </p:nvGraphicFramePr>
        <p:xfrm>
          <a:off x="857663" y="3329740"/>
          <a:ext cx="956405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857663" y="1865185"/>
            <a:ext cx="5956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홍수통제소 </a:t>
            </a:r>
            <a:r>
              <a:rPr lang="en-US" altLang="ko-KR" sz="1400" b="1" dirty="0"/>
              <a:t>API </a:t>
            </a:r>
            <a:r>
              <a:rPr lang="ko-KR" altLang="en-US" sz="1400" b="1" dirty="0"/>
              <a:t>호출 → </a:t>
            </a:r>
            <a:r>
              <a:rPr lang="en-US" altLang="ko-KR" sz="1400" b="1" dirty="0"/>
              <a:t>MIET</a:t>
            </a:r>
            <a:r>
              <a:rPr lang="ko-KR" altLang="en-US" sz="1400" b="1" dirty="0"/>
              <a:t> 활용 강우 이벤트 추출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88400" y="69373"/>
            <a:ext cx="3318934" cy="226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관심 수위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 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smoothing 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그래프 스케일 고정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( 0.7 - 3 )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------------------------------------------------------------------------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learning_rate</a:t>
            </a:r>
            <a:r>
              <a:rPr lang="en-US" altLang="ko-KR" sz="800" b="1" dirty="0">
                <a:latin typeface="+mn-ea"/>
              </a:rPr>
              <a:t> = 0.0003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Loss_function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Seq_length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 ( 6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Dense = 1 (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</a:t>
            </a:r>
            <a:r>
              <a:rPr lang="ko-KR" altLang="en-US" sz="800" b="1" dirty="0">
                <a:latin typeface="+mn-ea"/>
              </a:rPr>
              <a:t>번 처리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이벤트 순서 </a:t>
            </a:r>
            <a:r>
              <a:rPr lang="en-US" altLang="ko-KR" sz="800" b="1" dirty="0">
                <a:latin typeface="+mn-ea"/>
              </a:rPr>
              <a:t>shuffle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795EE0-9990-4BB0-9B23-BBE8566B2881}"/>
              </a:ext>
            </a:extLst>
          </p:cNvPr>
          <p:cNvSpPr txBox="1"/>
          <p:nvPr/>
        </p:nvSpPr>
        <p:spPr>
          <a:xfrm>
            <a:off x="8962540" y="5402896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70% - shuffle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20%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>
                <a:latin typeface="+mn-ea"/>
              </a:rPr>
              <a:t>나머지 </a:t>
            </a:r>
            <a:r>
              <a:rPr lang="en-US" altLang="ko-KR" sz="900" b="1" dirty="0">
                <a:latin typeface="+mn-ea"/>
              </a:rPr>
              <a:t>( 10%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96AD83-AB56-4CAC-88D9-8657E1F370A0}"/>
              </a:ext>
            </a:extLst>
          </p:cNvPr>
          <p:cNvSpPr txBox="1"/>
          <p:nvPr/>
        </p:nvSpPr>
        <p:spPr>
          <a:xfrm>
            <a:off x="857663" y="5183605"/>
            <a:ext cx="4906342" cy="658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1420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1412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학습에 사용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결측 </a:t>
            </a:r>
            <a:r>
              <a:rPr lang="en-US" altLang="ko-KR" sz="1000" b="1" dirty="0">
                <a:latin typeface="+mn-ea"/>
              </a:rPr>
              <a:t>5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+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latin typeface="+mn-ea"/>
              </a:rPr>
              <a:t>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18155536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1545948" y="3257983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전체 강우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0C768C90-0DD3-49D7-B6B6-D6D368911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916970"/>
              </p:ext>
            </p:extLst>
          </p:nvPr>
        </p:nvGraphicFramePr>
        <p:xfrm>
          <a:off x="1545948" y="3565760"/>
          <a:ext cx="1520444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7480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전체 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0.9541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0.9273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0.9329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0.6838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0.4005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D6EE5BE-F42F-456B-844D-95F45ACEA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56625"/>
              </p:ext>
            </p:extLst>
          </p:nvPr>
        </p:nvGraphicFramePr>
        <p:xfrm>
          <a:off x="3559248" y="3565761"/>
          <a:ext cx="1530985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관심수위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/>
                        <a:t>0.9508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0.9176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0.0509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0.4645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0.9096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0.9119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0.7689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0.7989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0.5051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0.4844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0.7659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0.7933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81C971-C31C-4B79-AD72-BB1B92F2435C}"/>
              </a:ext>
            </a:extLst>
          </p:cNvPr>
          <p:cNvSpPr txBox="1"/>
          <p:nvPr/>
        </p:nvSpPr>
        <p:spPr>
          <a:xfrm>
            <a:off x="3559248" y="3257983"/>
            <a:ext cx="1211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관심수위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FF0AEB6-95BA-4C70-ABFE-4364BC76F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404857"/>
              </p:ext>
            </p:extLst>
          </p:nvPr>
        </p:nvGraphicFramePr>
        <p:xfrm>
          <a:off x="5588565" y="3565760"/>
          <a:ext cx="159131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97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20</a:t>
                      </a:r>
                      <a:r>
                        <a:rPr lang="ko-KR" altLang="en-US" sz="1000" b="1" dirty="0"/>
                        <a:t>년 이후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0.9610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0.9407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0.2055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0.6441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0.7457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0.6904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0.6535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0.7551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0.9146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06CEEFF-20C6-4110-BC2F-A5F4BD03E4A3}"/>
              </a:ext>
            </a:extLst>
          </p:cNvPr>
          <p:cNvSpPr txBox="1"/>
          <p:nvPr/>
        </p:nvSpPr>
        <p:spPr>
          <a:xfrm>
            <a:off x="5583089" y="3257983"/>
            <a:ext cx="1381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20</a:t>
            </a:r>
            <a:r>
              <a:rPr lang="ko-KR" altLang="en-US" sz="1200" b="1" dirty="0">
                <a:latin typeface="+mj-ea"/>
              </a:rPr>
              <a:t>년 이후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81E907-AD69-4D33-9927-380F4FE08FAD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latin typeface="+mj-ea"/>
              </a:rPr>
              <a:t>궁내교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2B4992-2BCB-4C46-AB8E-862DCC1DD6B7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전체 강우 기반 학습 시 일반적인 이벤트에서는 높은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</a:t>
            </a: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일부 극한 사상에서는 예측 성능이 저하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885049-CF89-428F-8947-2F5039D718F6}"/>
              </a:ext>
            </a:extLst>
          </p:cNvPr>
          <p:cNvSpPr txBox="1"/>
          <p:nvPr/>
        </p:nvSpPr>
        <p:spPr>
          <a:xfrm>
            <a:off x="470683" y="281940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R2 </a:t>
            </a:r>
            <a:r>
              <a:rPr lang="ko-KR" altLang="en-US" sz="1200" b="1" dirty="0">
                <a:latin typeface="+mj-ea"/>
              </a:rPr>
              <a:t>평가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190C343-2F1F-45CA-BA66-E6E677C70559}"/>
              </a:ext>
            </a:extLst>
          </p:cNvPr>
          <p:cNvSpPr/>
          <p:nvPr/>
        </p:nvSpPr>
        <p:spPr>
          <a:xfrm>
            <a:off x="2268286" y="3911604"/>
            <a:ext cx="795298" cy="2603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1953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 err="1">
                <a:latin typeface="+mj-ea"/>
              </a:rPr>
              <a:t>전체강우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0.8120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0.4005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0.6838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520" y="1280084"/>
            <a:ext cx="3159109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617" y="3273072"/>
            <a:ext cx="3227149" cy="129086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778" y="5302821"/>
            <a:ext cx="3233529" cy="1293412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80084"/>
            <a:ext cx="3159109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86680"/>
            <a:ext cx="3159109" cy="126364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313745"/>
            <a:ext cx="3178909" cy="127156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0.9329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0.9273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0.9541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98504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0.7659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0.5051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0.7689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520" y="1280084"/>
            <a:ext cx="3159110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616" y="3273072"/>
            <a:ext cx="3227152" cy="129086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778" y="5302821"/>
            <a:ext cx="3233530" cy="1293412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80084"/>
            <a:ext cx="3159110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86680"/>
            <a:ext cx="3159110" cy="126364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313745"/>
            <a:ext cx="3178910" cy="127156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0.9096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0.0509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0.9508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0197419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0.7933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0.4844</a:t>
              </a:r>
              <a:r>
                <a:rPr lang="en-US" altLang="ko-KR" sz="1200" b="1" dirty="0"/>
                <a:t> 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0.7989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80084"/>
            <a:ext cx="3159109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86680"/>
            <a:ext cx="3159109" cy="12636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5310793"/>
            <a:ext cx="3193669" cy="1277468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5931" y="1280084"/>
            <a:ext cx="3159109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3" y="3279768"/>
            <a:ext cx="3193669" cy="1277468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0.9119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0.4645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0.9176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48A1701F-1E76-4B9E-ACBC-A99B7B0DD0B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1371" y="5310793"/>
            <a:ext cx="3193669" cy="127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624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0.8250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0.6535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0.7457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198" y="1280084"/>
            <a:ext cx="3159110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86680"/>
            <a:ext cx="3159110" cy="12636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310950"/>
            <a:ext cx="3192889" cy="127715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80084"/>
            <a:ext cx="3159110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86680"/>
            <a:ext cx="3159110" cy="126364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313745"/>
            <a:ext cx="3178910" cy="127156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0.7765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0.2350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0.9610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9924928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0.9146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0.7551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0.6904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4" y="1280084"/>
            <a:ext cx="3159109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86680"/>
            <a:ext cx="3159109" cy="12636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5317705"/>
            <a:ext cx="3159109" cy="1263644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80084"/>
            <a:ext cx="3159109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86680"/>
            <a:ext cx="3159109" cy="126364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0.6441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0.2055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0.9407</a:t>
              </a:r>
              <a:endParaRPr lang="ko-KR" altLang="en-US" sz="1200" b="1" dirty="0"/>
            </a:p>
          </p:txBody>
        </p:sp>
      </p:grpSp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5310949"/>
            <a:ext cx="3192889" cy="127715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0981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1545948" y="3257983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전체 강우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0C768C90-0DD3-49D7-B6B6-D6D368911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626659"/>
              </p:ext>
            </p:extLst>
          </p:nvPr>
        </p:nvGraphicFramePr>
        <p:xfrm>
          <a:off x="1545948" y="3565760"/>
          <a:ext cx="1520444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7480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전체 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0.8737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0.7555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0.7992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0.1336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0.8864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0.8356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D6EE5BE-F42F-456B-844D-95F45ACEA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506206"/>
              </p:ext>
            </p:extLst>
          </p:nvPr>
        </p:nvGraphicFramePr>
        <p:xfrm>
          <a:off x="3559248" y="3565761"/>
          <a:ext cx="1530985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관심수위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0.9090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0.9422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0.5072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0.6228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0.8436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0.8492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0.5396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0.5213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0.9218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0.9162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0.9005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0.8923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81C971-C31C-4B79-AD72-BB1B92F2435C}"/>
              </a:ext>
            </a:extLst>
          </p:cNvPr>
          <p:cNvSpPr txBox="1"/>
          <p:nvPr/>
        </p:nvSpPr>
        <p:spPr>
          <a:xfrm>
            <a:off x="3559248" y="3257983"/>
            <a:ext cx="1211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관심수위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FF0AEB6-95BA-4C70-ABFE-4364BC76F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035748"/>
              </p:ext>
            </p:extLst>
          </p:nvPr>
        </p:nvGraphicFramePr>
        <p:xfrm>
          <a:off x="5588565" y="3565760"/>
          <a:ext cx="159131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97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20</a:t>
                      </a:r>
                      <a:r>
                        <a:rPr lang="ko-KR" altLang="en-US" sz="1000" b="1" dirty="0"/>
                        <a:t>년 이후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0.9578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0.9719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0.3842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0.5927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0.7163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0.7324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0.4315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0.3858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0.9106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0.9196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0.9172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0.9006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06CEEFF-20C6-4110-BC2F-A5F4BD03E4A3}"/>
              </a:ext>
            </a:extLst>
          </p:cNvPr>
          <p:cNvSpPr txBox="1"/>
          <p:nvPr/>
        </p:nvSpPr>
        <p:spPr>
          <a:xfrm>
            <a:off x="5583089" y="3257983"/>
            <a:ext cx="1381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20</a:t>
            </a:r>
            <a:r>
              <a:rPr lang="ko-KR" altLang="en-US" sz="1200" b="1" dirty="0">
                <a:latin typeface="+mj-ea"/>
              </a:rPr>
              <a:t>년 이후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81E907-AD69-4D33-9927-380F4FE08FAD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latin typeface="+mj-ea"/>
              </a:rPr>
              <a:t>대곡교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2B4992-2BCB-4C46-AB8E-862DCC1DD6B7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전체 강우 기반 학습 시 일반적인 이벤트에서는 높은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</a:t>
            </a: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일부 이벤트에서는 완만한 상승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지연 특성으로 인해 성능 저하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885049-CF89-428F-8947-2F5039D718F6}"/>
              </a:ext>
            </a:extLst>
          </p:cNvPr>
          <p:cNvSpPr txBox="1"/>
          <p:nvPr/>
        </p:nvSpPr>
        <p:spPr>
          <a:xfrm>
            <a:off x="470683" y="281940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R2 </a:t>
            </a:r>
            <a:r>
              <a:rPr lang="ko-KR" altLang="en-US" sz="1200" b="1" dirty="0">
                <a:latin typeface="+mj-ea"/>
              </a:rPr>
              <a:t>평가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8B87BBA-8FB4-4E5C-AB43-7CAF29B36FC4}"/>
              </a:ext>
            </a:extLst>
          </p:cNvPr>
          <p:cNvSpPr/>
          <p:nvPr/>
        </p:nvSpPr>
        <p:spPr>
          <a:xfrm>
            <a:off x="2268286" y="3911604"/>
            <a:ext cx="795298" cy="2603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8316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0.8356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0.8864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0.1336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67108"/>
            <a:ext cx="3192889" cy="127715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4" y="3279925"/>
            <a:ext cx="3192887" cy="127715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5310950"/>
            <a:ext cx="3192887" cy="127715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73328"/>
            <a:ext cx="3192889" cy="127715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79924"/>
            <a:ext cx="3192889" cy="1277156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5310949"/>
            <a:ext cx="3192889" cy="1277156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0.7992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0.7555</a:t>
              </a:r>
              <a:endParaRPr lang="ko-KR" altLang="en-US" sz="1200" b="1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0.8737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 err="1">
                <a:latin typeface="+mj-ea"/>
              </a:rPr>
              <a:t>전체강우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85202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0.9005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0.9218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0.5396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67108"/>
            <a:ext cx="3192890" cy="127715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79925"/>
            <a:ext cx="3192889" cy="127715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5310950"/>
            <a:ext cx="3192888" cy="127715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73328"/>
            <a:ext cx="3192890" cy="127715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79924"/>
            <a:ext cx="3192890" cy="1277156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5310949"/>
            <a:ext cx="3192890" cy="1277156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0.8436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0.5072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0.9090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2802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017" y="1270435"/>
            <a:ext cx="3176254" cy="127050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79924"/>
            <a:ext cx="3192889" cy="127715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456" y="5314276"/>
            <a:ext cx="3176254" cy="1270502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1276655"/>
            <a:ext cx="3176254" cy="1270502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9" y="3279924"/>
            <a:ext cx="3192889" cy="1277156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5314276"/>
            <a:ext cx="3176254" cy="127050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6ED2C04-8E0A-4BF9-91C7-3D11FD606F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8C2957F-BFE7-46CB-B0E3-DA69D6D943D9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0623A4F-078B-4CF1-83C1-D064A38C281B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97735E6-2EDF-4EEC-9516-E21AAF1819F4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108AC27-B639-4545-B705-8D407272E650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0.8923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77689E3-8560-4022-BFCF-3E7EFAC96ED6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0.9162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BEBB8AD-4C91-4F16-A1DC-34DC4C043DF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0.5213</a:t>
              </a:r>
              <a:r>
                <a:rPr lang="en-US" altLang="ko-KR" sz="1200" b="1" dirty="0"/>
                <a:t> 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09B6C0E-1B9E-483F-BC27-21111E7A34F7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C739523-FC46-4333-8B7E-ACE8D41CAE58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60517DC-3427-47AB-9D67-69C3D683D07B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A6FF8C-2467-4FD0-BA08-BBD5528504D0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80A6C1A-7E95-4417-A16E-9EC9FFD76612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0.8492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D932177-D6F8-413D-84B4-9732BF30196C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0.6228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4A7D638-1207-469F-8F89-CB6656FE07FB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0.9422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421652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0.9172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0.9106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0.4315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67108"/>
            <a:ext cx="3192890" cy="127715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79925"/>
            <a:ext cx="3192889" cy="127715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310949"/>
            <a:ext cx="3192890" cy="1277156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1273328"/>
            <a:ext cx="3192890" cy="127715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79925"/>
            <a:ext cx="3192889" cy="127715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5310419"/>
            <a:ext cx="3195542" cy="1278216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0.7163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0.3842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0.9578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783638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0.9006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0.9196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0.3858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1260196"/>
            <a:ext cx="3227449" cy="129098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3279924"/>
            <a:ext cx="3192889" cy="127715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310949"/>
            <a:ext cx="3192889" cy="1277156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1276655"/>
            <a:ext cx="3176254" cy="1270502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3190530"/>
            <a:ext cx="3192891" cy="1277156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5314276"/>
            <a:ext cx="3176254" cy="1270502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0.7324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0.5927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0.9719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B2122BB9-47FB-45EC-90F8-4D047CB2E5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064F5C2-DC10-4883-BBF0-744C9D0E92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59091C5-CC1F-4DED-BFEA-603FD5BE45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8C6CD84-7FCB-4BB0-8CF0-D7A73E43F21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785F6AC-F365-4F4B-A4CA-619DB8C42FA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B4019152-7D26-4B31-9503-DA6DD83D4E7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6698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3044279"/>
            <a:ext cx="45885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3. </a:t>
            </a:r>
            <a:r>
              <a:rPr lang="ko-KR" altLang="en-US" sz="4400" b="1" dirty="0">
                <a:latin typeface="+mj-ea"/>
                <a:ea typeface="+mj-ea"/>
              </a:rPr>
              <a:t>결론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3826818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D1C422-1565-448B-BCD7-AE68451E1256}"/>
              </a:ext>
            </a:extLst>
          </p:cNvPr>
          <p:cNvSpPr txBox="1"/>
          <p:nvPr/>
        </p:nvSpPr>
        <p:spPr>
          <a:xfrm>
            <a:off x="1751512" y="3123888"/>
            <a:ext cx="86889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latin typeface="+mj-ea"/>
              </a:rPr>
              <a:t>Parallel</a:t>
            </a:r>
            <a:r>
              <a:rPr lang="ko-KR" altLang="en-US" sz="1600" b="1" dirty="0">
                <a:latin typeface="+mj-ea"/>
              </a:rPr>
              <a:t> </a:t>
            </a:r>
            <a:r>
              <a:rPr lang="en-US" altLang="ko-KR" sz="1600" b="1" dirty="0">
                <a:latin typeface="+mj-ea"/>
              </a:rPr>
              <a:t>LSTM</a:t>
            </a:r>
            <a:r>
              <a:rPr lang="ko-KR" altLang="en-US" sz="1600" b="1" dirty="0">
                <a:latin typeface="+mj-ea"/>
              </a:rPr>
              <a:t> </a:t>
            </a:r>
            <a:r>
              <a:rPr lang="en-US" altLang="ko-KR" sz="1600" b="1" dirty="0">
                <a:latin typeface="+mj-ea"/>
              </a:rPr>
              <a:t>&gt;</a:t>
            </a:r>
            <a:r>
              <a:rPr lang="ko-KR" altLang="en-US" sz="1600" b="1" dirty="0">
                <a:latin typeface="+mj-ea"/>
              </a:rPr>
              <a:t> 단일 </a:t>
            </a:r>
            <a:r>
              <a:rPr lang="en-US" altLang="ko-KR" sz="1600" b="1" dirty="0">
                <a:latin typeface="+mj-ea"/>
              </a:rPr>
              <a:t>LSTM</a:t>
            </a:r>
          </a:p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j-ea"/>
              </a:rPr>
              <a:t>관심수위 </a:t>
            </a:r>
            <a:r>
              <a:rPr lang="en-US" altLang="ko-KR" sz="1600" b="1" dirty="0">
                <a:latin typeface="+mj-ea"/>
              </a:rPr>
              <a:t>+ 2020</a:t>
            </a:r>
            <a:r>
              <a:rPr lang="ko-KR" altLang="en-US" sz="1600" b="1" dirty="0">
                <a:latin typeface="+mj-ea"/>
              </a:rPr>
              <a:t>년 이후 학습 이 상대적으로 안정적인 성능</a:t>
            </a:r>
            <a:endParaRPr lang="en-US" altLang="ko-KR" sz="1600" b="1" dirty="0">
              <a:latin typeface="+mj-ea"/>
            </a:endParaRPr>
          </a:p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latin typeface="+mj-ea"/>
              </a:rPr>
              <a:t>22.07.12 </a:t>
            </a:r>
            <a:r>
              <a:rPr lang="ko-KR" altLang="en-US" sz="1600" b="1" dirty="0">
                <a:latin typeface="+mj-ea"/>
              </a:rPr>
              <a:t>유형 사상 </a:t>
            </a:r>
            <a:r>
              <a:rPr lang="en-US" altLang="ko-KR" sz="1600" b="1" dirty="0">
                <a:latin typeface="+mj-ea"/>
              </a:rPr>
              <a:t>: </a:t>
            </a:r>
            <a:r>
              <a:rPr lang="ko-KR" altLang="en-US" sz="1600" b="1" dirty="0" err="1">
                <a:latin typeface="+mj-ea"/>
              </a:rPr>
              <a:t>궁내교</a:t>
            </a:r>
            <a:r>
              <a:rPr lang="ko-KR" altLang="en-US" sz="1600" b="1" dirty="0">
                <a:latin typeface="+mj-ea"/>
              </a:rPr>
              <a:t> </a:t>
            </a:r>
            <a:r>
              <a:rPr lang="en-US" altLang="ko-KR" sz="1600" b="1" dirty="0">
                <a:latin typeface="+mj-ea"/>
              </a:rPr>
              <a:t>,</a:t>
            </a:r>
            <a:r>
              <a:rPr lang="ko-KR" altLang="en-US" sz="1600" b="1" dirty="0">
                <a:latin typeface="+mj-ea"/>
              </a:rPr>
              <a:t> </a:t>
            </a:r>
            <a:r>
              <a:rPr lang="ko-KR" altLang="en-US" sz="1600" b="1" dirty="0" err="1">
                <a:latin typeface="+mj-ea"/>
              </a:rPr>
              <a:t>대곡교</a:t>
            </a:r>
            <a:r>
              <a:rPr lang="ko-KR" altLang="en-US" sz="1600" b="1" dirty="0">
                <a:latin typeface="+mj-ea"/>
              </a:rPr>
              <a:t> 두 지점 동시에 성능이 저하</a:t>
            </a:r>
            <a:endParaRPr lang="en-US" altLang="ko-KR" sz="1600" b="1" dirty="0"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FC5D8F-B21C-4009-818F-BFAA45A7BECD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결론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586169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1C286A4-223F-4361-A376-48566B88985A}"/>
              </a:ext>
            </a:extLst>
          </p:cNvPr>
          <p:cNvSpPr txBox="1"/>
          <p:nvPr/>
        </p:nvSpPr>
        <p:spPr>
          <a:xfrm>
            <a:off x="5729855" y="3028252"/>
            <a:ext cx="5598544" cy="2717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 err="1">
                <a:latin typeface="+mn-ea"/>
              </a:rPr>
              <a:t>다봉형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피크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이상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 err="1">
                <a:latin typeface="+mn-ea"/>
              </a:rPr>
              <a:t>플래토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계단식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급격한 상승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기저수위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예측 시작 직전 수위 </a:t>
            </a:r>
            <a:r>
              <a:rPr lang="en-US" altLang="ko-KR" sz="1000" b="1" dirty="0">
                <a:latin typeface="+mn-ea"/>
              </a:rPr>
              <a:t>) </a:t>
            </a:r>
            <a:r>
              <a:rPr lang="ko-KR" altLang="en-US" sz="1000" b="1" dirty="0">
                <a:latin typeface="+mn-ea"/>
              </a:rPr>
              <a:t>가 이벤트 중간에 비정상적으로 이동 </a:t>
            </a:r>
            <a:br>
              <a:rPr lang="en-US" altLang="ko-KR" sz="1000" b="1" dirty="0">
                <a:latin typeface="+mn-ea"/>
              </a:rPr>
            </a:b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배수</a:t>
            </a:r>
            <a:r>
              <a:rPr lang="en-US" altLang="ko-KR" sz="1000" b="1" dirty="0">
                <a:latin typeface="+mn-ea"/>
              </a:rPr>
              <a:t>/ </a:t>
            </a:r>
            <a:r>
              <a:rPr lang="ko-KR" altLang="en-US" sz="1000" b="1" dirty="0">
                <a:latin typeface="+mn-ea"/>
              </a:rPr>
              <a:t>펌프 </a:t>
            </a:r>
            <a:r>
              <a:rPr lang="en-US" altLang="ko-KR" sz="1000" b="1" dirty="0">
                <a:latin typeface="+mn-ea"/>
              </a:rPr>
              <a:t>/ </a:t>
            </a:r>
            <a:r>
              <a:rPr lang="ko-KR" altLang="en-US" sz="1000" b="1" dirty="0">
                <a:latin typeface="+mn-ea"/>
              </a:rPr>
              <a:t>지류 </a:t>
            </a:r>
            <a:r>
              <a:rPr lang="en-US" altLang="ko-KR" sz="1000" b="1" dirty="0">
                <a:latin typeface="+mn-ea"/>
              </a:rPr>
              <a:t>· </a:t>
            </a:r>
            <a:r>
              <a:rPr lang="ko-KR" altLang="en-US" sz="1000" b="1" dirty="0">
                <a:latin typeface="+mn-ea"/>
              </a:rPr>
              <a:t>역류 영향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상태가 다른데 같은 강우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altLang="en-US" sz="1000" b="1" dirty="0">
                <a:latin typeface="+mn-ea"/>
              </a:rPr>
              <a:t>수위 반응을 강요 하는 상황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동일 강우라도 수위 반응이 달라짐</a:t>
            </a:r>
            <a:br>
              <a:rPr lang="en-US" altLang="ko-KR" sz="1000" b="1" dirty="0">
                <a:latin typeface="+mn-ea"/>
              </a:rPr>
            </a:b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선행 포화 </a:t>
            </a:r>
            <a:r>
              <a:rPr lang="en-US" altLang="ko-KR" sz="1000" b="1" dirty="0">
                <a:latin typeface="+mn-ea"/>
              </a:rPr>
              <a:t>/ </a:t>
            </a:r>
            <a:r>
              <a:rPr lang="ko-KR" altLang="en-US" sz="1000" b="1" dirty="0">
                <a:latin typeface="+mn-ea"/>
              </a:rPr>
              <a:t>저류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 err="1">
                <a:latin typeface="+mn-ea"/>
              </a:rPr>
              <a:t>관거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/ </a:t>
            </a:r>
            <a:r>
              <a:rPr lang="ko-KR" altLang="en-US" sz="1000" b="1" dirty="0" err="1">
                <a:latin typeface="+mn-ea"/>
              </a:rPr>
              <a:t>우수토실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하천 시설물 운영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 err="1">
                <a:latin typeface="+mn-ea"/>
              </a:rPr>
              <a:t>역수위</a:t>
            </a:r>
            <a:r>
              <a:rPr lang="ko-KR" altLang="en-US" sz="1000" b="1" dirty="0">
                <a:latin typeface="+mn-ea"/>
              </a:rPr>
              <a:t> 영향 등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5A95E7-CF75-48CD-BD88-83C2EE39136A}"/>
              </a:ext>
            </a:extLst>
          </p:cNvPr>
          <p:cNvSpPr txBox="1"/>
          <p:nvPr/>
        </p:nvSpPr>
        <p:spPr>
          <a:xfrm>
            <a:off x="1223518" y="3028252"/>
            <a:ext cx="3746415" cy="2582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주로 </a:t>
            </a:r>
            <a:r>
              <a:rPr lang="en-US" altLang="ko-KR" sz="1000" b="1" dirty="0"/>
              <a:t>20.08.02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 err="1">
                <a:latin typeface="+mn-ea"/>
              </a:rPr>
              <a:t>단봉형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피크 </a:t>
            </a:r>
            <a:r>
              <a:rPr lang="en-US" altLang="ko-KR" sz="1000" b="1" dirty="0">
                <a:latin typeface="+mn-ea"/>
              </a:rPr>
              <a:t>1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상승</a:t>
            </a:r>
            <a:r>
              <a:rPr lang="en-US" altLang="ko-KR" sz="1000" b="1" dirty="0">
                <a:latin typeface="+mn-ea"/>
              </a:rPr>
              <a:t>/</a:t>
            </a:r>
            <a:r>
              <a:rPr lang="ko-KR" altLang="en-US" sz="1000" b="1" dirty="0">
                <a:latin typeface="+mn-ea"/>
              </a:rPr>
              <a:t>하강이 비교적 매끈한 이벤트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latin typeface="+mn-ea"/>
              </a:rPr>
              <a:t>6</a:t>
            </a:r>
            <a:r>
              <a:rPr lang="ko-KR" altLang="en-US" sz="1000" b="1" dirty="0">
                <a:latin typeface="+mn-ea"/>
              </a:rPr>
              <a:t>시간 윈도우 내에 주요 상승이 다 들어오는 이벤트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기저수위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예측 시작 직전 수위 </a:t>
            </a:r>
            <a:r>
              <a:rPr lang="en-US" altLang="ko-KR" sz="1000" b="1" dirty="0">
                <a:latin typeface="+mn-ea"/>
              </a:rPr>
              <a:t>) </a:t>
            </a:r>
            <a:r>
              <a:rPr lang="ko-KR" altLang="en-US" sz="1000" b="1" dirty="0">
                <a:latin typeface="+mn-ea"/>
              </a:rPr>
              <a:t>가 안정적인 이벤트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 err="1">
                <a:latin typeface="+mn-ea"/>
              </a:rPr>
              <a:t>선행강우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altLang="en-US" sz="1000" b="1" dirty="0">
                <a:latin typeface="+mn-ea"/>
              </a:rPr>
              <a:t>수위 상태가 “ 학습에서 흔히 본 ” 범위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이때 </a:t>
            </a:r>
            <a:r>
              <a:rPr lang="en-US" altLang="ko-KR" sz="1000" b="1" dirty="0">
                <a:latin typeface="+mn-ea"/>
              </a:rPr>
              <a:t>Lag </a:t>
            </a:r>
            <a:r>
              <a:rPr lang="en-US" altLang="ko-KR" sz="1000" b="1" u="sng" dirty="0"/>
              <a:t>( </a:t>
            </a:r>
            <a:r>
              <a:rPr lang="ko-KR" altLang="en-US" sz="1000" b="1" u="sng" dirty="0"/>
              <a:t>지연시간 </a:t>
            </a:r>
            <a:r>
              <a:rPr lang="en-US" altLang="ko-KR" sz="1000" b="1" u="sng" dirty="0"/>
              <a:t>)</a:t>
            </a:r>
            <a:r>
              <a:rPr lang="en-US" altLang="ko-KR" sz="1000" b="1" dirty="0">
                <a:latin typeface="+mn-ea"/>
              </a:rPr>
              <a:t> ≈ 0 ~ ± 20 </a:t>
            </a:r>
            <a:r>
              <a:rPr lang="ko-KR" altLang="en-US" sz="1000" b="1" dirty="0">
                <a:latin typeface="+mn-ea"/>
              </a:rPr>
              <a:t>분 </a:t>
            </a:r>
            <a:r>
              <a:rPr lang="en-US" altLang="ko-KR" sz="1000" b="1" dirty="0">
                <a:latin typeface="+mn-ea"/>
              </a:rPr>
              <a:t>,</a:t>
            </a:r>
            <a:br>
              <a:rPr lang="en-US" altLang="ko-KR" sz="1000" b="1" dirty="0">
                <a:latin typeface="+mn-ea"/>
              </a:rPr>
            </a:br>
            <a:r>
              <a:rPr lang="en-US" altLang="ko-KR" sz="1000" b="1" dirty="0">
                <a:latin typeface="+mn-ea"/>
              </a:rPr>
              <a:t> Amplitude ( </a:t>
            </a:r>
            <a:r>
              <a:rPr lang="ko-KR" altLang="en-US" sz="1000" b="1" dirty="0">
                <a:latin typeface="+mn-ea"/>
              </a:rPr>
              <a:t>피크 </a:t>
            </a:r>
            <a:r>
              <a:rPr lang="en-US" altLang="ko-KR" sz="1000" b="1" dirty="0">
                <a:latin typeface="+mn-ea"/>
              </a:rPr>
              <a:t>) </a:t>
            </a:r>
            <a:r>
              <a:rPr lang="ko-KR" altLang="en-US" sz="1000" b="1" dirty="0">
                <a:latin typeface="+mn-ea"/>
              </a:rPr>
              <a:t>도 대체로 </a:t>
            </a:r>
            <a:r>
              <a:rPr lang="en-US" altLang="ko-KR" sz="1000" b="1" dirty="0">
                <a:latin typeface="+mn-ea"/>
              </a:rPr>
              <a:t>0.95 ~ 1.05 </a:t>
            </a:r>
            <a:r>
              <a:rPr lang="ko-KR" altLang="en-US" sz="1000" b="1" dirty="0">
                <a:latin typeface="+mn-ea"/>
              </a:rPr>
              <a:t>근처로 유지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AC6024-8E0D-419A-86FC-54F64736DF27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예측 구간 별 특징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5253E-1A55-4A26-8870-C695ED7B36D8}"/>
              </a:ext>
            </a:extLst>
          </p:cNvPr>
          <p:cNvSpPr txBox="1"/>
          <p:nvPr/>
        </p:nvSpPr>
        <p:spPr>
          <a:xfrm>
            <a:off x="1223518" y="2230721"/>
            <a:ext cx="2078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+mj-ea"/>
              </a:rPr>
              <a:t>예측 잘 맞는 구간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891322-A0A6-4C9F-8633-BF75C6327AAF}"/>
              </a:ext>
            </a:extLst>
          </p:cNvPr>
          <p:cNvSpPr txBox="1"/>
          <p:nvPr/>
        </p:nvSpPr>
        <p:spPr>
          <a:xfrm>
            <a:off x="5729855" y="2230721"/>
            <a:ext cx="2078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+mj-ea"/>
              </a:rPr>
              <a:t>예측이 잘 틀리는 구간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22947B5-ED37-40A9-9D62-0A527ADD2EDD}"/>
              </a:ext>
            </a:extLst>
          </p:cNvPr>
          <p:cNvCxnSpPr>
            <a:cxnSpLocks/>
          </p:cNvCxnSpPr>
          <p:nvPr/>
        </p:nvCxnSpPr>
        <p:spPr>
          <a:xfrm>
            <a:off x="5291667" y="2354906"/>
            <a:ext cx="0" cy="314561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6930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35954" y="2828835"/>
            <a:ext cx="55200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4. </a:t>
            </a:r>
            <a:r>
              <a:rPr lang="ko-KR" altLang="en-US" sz="4400" b="1" dirty="0">
                <a:latin typeface="+mj-ea"/>
              </a:rPr>
              <a:t>추가 분석</a:t>
            </a:r>
            <a:endParaRPr lang="en-US" altLang="ko-KR" sz="4400" b="1" dirty="0">
              <a:latin typeface="+mj-ea"/>
            </a:endParaRPr>
          </a:p>
          <a:p>
            <a:pPr algn="ctr"/>
            <a:r>
              <a:rPr lang="en-US" altLang="ko-KR" sz="2800" b="1" dirty="0">
                <a:latin typeface="+mj-ea"/>
              </a:rPr>
              <a:t>( </a:t>
            </a:r>
            <a:r>
              <a:rPr lang="ko-KR" altLang="en-US" sz="2800" b="1" dirty="0">
                <a:latin typeface="+mj-ea"/>
              </a:rPr>
              <a:t>관심수위 </a:t>
            </a:r>
            <a:r>
              <a:rPr lang="en-US" altLang="ko-KR" sz="2800" b="1" dirty="0">
                <a:latin typeface="+mj-ea"/>
              </a:rPr>
              <a:t>+ 2020</a:t>
            </a:r>
            <a:r>
              <a:rPr lang="ko-KR" altLang="en-US" sz="2800" b="1" dirty="0">
                <a:latin typeface="+mj-ea"/>
              </a:rPr>
              <a:t>년 이후 학습 </a:t>
            </a:r>
            <a:r>
              <a:rPr lang="en-US" altLang="ko-KR" sz="2800" b="1" dirty="0">
                <a:latin typeface="+mj-ea"/>
              </a:rPr>
              <a:t>)</a:t>
            </a:r>
            <a:r>
              <a:rPr lang="ko-KR" altLang="en-US" sz="2800" b="1" dirty="0">
                <a:latin typeface="+mj-ea"/>
              </a:rPr>
              <a:t> </a:t>
            </a:r>
            <a:endParaRPr lang="en-US" altLang="ko-KR" sz="28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5188253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ADFECC6-CD90-4CFA-883C-B5FAD261B0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563088"/>
              </p:ext>
            </p:extLst>
          </p:nvPr>
        </p:nvGraphicFramePr>
        <p:xfrm>
          <a:off x="4481764" y="3719004"/>
          <a:ext cx="182880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60095">
                  <a:extLst>
                    <a:ext uri="{9D8B030D-6E8A-4147-A177-3AD203B41FA5}">
                      <a16:colId xmlns:a16="http://schemas.microsoft.com/office/drawing/2014/main" val="3801447405"/>
                    </a:ext>
                  </a:extLst>
                </a:gridCol>
                <a:gridCol w="1068705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98.3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+0.29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96.6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+0.10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95.0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-0.30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89.5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B858171-69C3-4693-B476-EADE2F0AFF65}"/>
              </a:ext>
            </a:extLst>
          </p:cNvPr>
          <p:cNvSpPr txBox="1"/>
          <p:nvPr/>
        </p:nvSpPr>
        <p:spPr>
          <a:xfrm>
            <a:off x="876194" y="1672424"/>
            <a:ext cx="3074353" cy="303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*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오차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소수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자리 반올림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정확도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소수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자리에서 반올림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651852-02DD-4707-8B49-FF05B1E853AC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오차 </a:t>
            </a:r>
            <a:r>
              <a:rPr lang="en-US" altLang="ko-KR" sz="2000" b="1" dirty="0">
                <a:latin typeface="+mj-ea"/>
              </a:rPr>
              <a:t>, </a:t>
            </a:r>
            <a:r>
              <a:rPr lang="ko-KR" altLang="en-US" sz="2000" b="1" dirty="0">
                <a:latin typeface="+mj-ea"/>
              </a:rPr>
              <a:t>정확도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3A724284-476A-4F2E-9D19-15387F796A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700802"/>
              </p:ext>
            </p:extLst>
          </p:nvPr>
        </p:nvGraphicFramePr>
        <p:xfrm>
          <a:off x="6392333" y="543385"/>
          <a:ext cx="149288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46443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746443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/>
                        <a:t>1</a:t>
                      </a:r>
                      <a:r>
                        <a:rPr lang="ko-KR" altLang="en-US" sz="1100" b="1" dirty="0"/>
                        <a:t>시간 </a:t>
                      </a:r>
                      <a:r>
                        <a:rPr lang="en-US" altLang="ko-KR" sz="1100" b="1" dirty="0"/>
                        <a:t>( </a:t>
                      </a:r>
                      <a:r>
                        <a:rPr lang="ko-KR" altLang="en-US" sz="1100" b="1" dirty="0" err="1"/>
                        <a:t>궁내교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관측수위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예측수위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1.37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2.31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2.53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1.94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1.44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1.67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1.46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1.23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1.14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1.24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1.32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110B80F-BE7C-4380-BA74-BE825E62E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47568"/>
              </p:ext>
            </p:extLst>
          </p:nvPr>
        </p:nvGraphicFramePr>
        <p:xfrm>
          <a:off x="6392333" y="3711498"/>
          <a:ext cx="149288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46443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746443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/>
                        <a:t>1</a:t>
                      </a:r>
                      <a:r>
                        <a:rPr lang="ko-KR" altLang="en-US" sz="1100" b="1" dirty="0"/>
                        <a:t>시간 </a:t>
                      </a:r>
                      <a:r>
                        <a:rPr lang="en-US" altLang="ko-KR" sz="1100" b="1" dirty="0"/>
                        <a:t>( </a:t>
                      </a:r>
                      <a:r>
                        <a:rPr lang="ko-KR" altLang="en-US" sz="1100" b="1" dirty="0" err="1"/>
                        <a:t>대곡교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관측수위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예측수위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2.33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2.37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4.53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4.82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2.06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2.13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2.35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2.36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1.91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2.01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2.86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2.56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A3BF1D6-0ADA-4199-B42C-C7A8BD747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743432"/>
              </p:ext>
            </p:extLst>
          </p:nvPr>
        </p:nvGraphicFramePr>
        <p:xfrm>
          <a:off x="4481764" y="550891"/>
          <a:ext cx="182880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60095">
                  <a:extLst>
                    <a:ext uri="{9D8B030D-6E8A-4147-A177-3AD203B41FA5}">
                      <a16:colId xmlns:a16="http://schemas.microsoft.com/office/drawing/2014/main" val="2826471191"/>
                    </a:ext>
                  </a:extLst>
                </a:gridCol>
                <a:gridCol w="106870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/>
                        <a:t>궁내교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 오차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+0.22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90.4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-0.50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74.4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-0.21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87.3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B2FD21C-9B5B-4333-BD69-C7DB3332FDDF}"/>
              </a:ext>
            </a:extLst>
          </p:cNvPr>
          <p:cNvSpPr txBox="1"/>
          <p:nvPr/>
        </p:nvSpPr>
        <p:spPr>
          <a:xfrm>
            <a:off x="857663" y="1363729"/>
            <a:ext cx="1683199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*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예측수위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-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관측수위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정확도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73A168A6-703B-46D5-97A6-549CE9172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2880074"/>
              </p:ext>
            </p:extLst>
          </p:nvPr>
        </p:nvGraphicFramePr>
        <p:xfrm>
          <a:off x="8423566" y="3690508"/>
          <a:ext cx="182880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60095">
                  <a:extLst>
                    <a:ext uri="{9D8B030D-6E8A-4147-A177-3AD203B41FA5}">
                      <a16:colId xmlns:a16="http://schemas.microsoft.com/office/drawing/2014/main" val="3801447405"/>
                    </a:ext>
                  </a:extLst>
                </a:gridCol>
                <a:gridCol w="1068705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-0.68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81.1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0.30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-0.82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82.2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-0.58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84.7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+0.21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92.8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7A5899A-49F1-4476-87E3-6202AAE687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413117"/>
              </p:ext>
            </p:extLst>
          </p:nvPr>
        </p:nvGraphicFramePr>
        <p:xfrm>
          <a:off x="10339705" y="522395"/>
          <a:ext cx="149288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46443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746443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3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</a:rPr>
                        <a:t>시간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( </a:t>
                      </a:r>
                      <a:r>
                        <a:rPr lang="ko-KR" altLang="en-US" sz="1100" b="1" dirty="0" err="1"/>
                        <a:t>궁내교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관측수위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예측수위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2.16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2.17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2.51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2.94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1.85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1.77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1.36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1.35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1.79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1.69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1.57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1.65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DABD46C2-9245-4F4A-A727-7279E05BF7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820115"/>
              </p:ext>
            </p:extLst>
          </p:nvPr>
        </p:nvGraphicFramePr>
        <p:xfrm>
          <a:off x="10339705" y="3690508"/>
          <a:ext cx="149288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46443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746443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3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</a:rPr>
                        <a:t>시간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( </a:t>
                      </a:r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관측수위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예측수위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3.6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2.92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4.87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5.17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4.62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3.8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2.91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2.92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3.75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3.17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2.97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3.18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8EB14DAC-5B0B-41B8-A847-EC95F64C28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448036"/>
              </p:ext>
            </p:extLst>
          </p:nvPr>
        </p:nvGraphicFramePr>
        <p:xfrm>
          <a:off x="8423566" y="522395"/>
          <a:ext cx="182880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60095">
                  <a:extLst>
                    <a:ext uri="{9D8B030D-6E8A-4147-A177-3AD203B41FA5}">
                      <a16:colId xmlns:a16="http://schemas.microsoft.com/office/drawing/2014/main" val="2826471191"/>
                    </a:ext>
                  </a:extLst>
                </a:gridCol>
                <a:gridCol w="1068705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궁내교</a:t>
                      </a:r>
                      <a:r>
                        <a:rPr kumimoji="0" lang="ko-KR" alt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 오차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+0.43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83.0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95.9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-0.10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04150287-DE92-43E4-9852-1A617121FA10}"/>
              </a:ext>
            </a:extLst>
          </p:cNvPr>
          <p:cNvSpPr txBox="1"/>
          <p:nvPr/>
        </p:nvSpPr>
        <p:spPr>
          <a:xfrm>
            <a:off x="3386617" y="632321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ko-KR" altLang="en-US" sz="1200" b="1" dirty="0" err="1">
                <a:latin typeface="+mj-ea"/>
              </a:rPr>
              <a:t>대곡교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DB1102-E321-4377-8E71-AF769A1C3F1B}"/>
              </a:ext>
            </a:extLst>
          </p:cNvPr>
          <p:cNvSpPr txBox="1"/>
          <p:nvPr/>
        </p:nvSpPr>
        <p:spPr>
          <a:xfrm>
            <a:off x="3386617" y="3180497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ko-KR" altLang="en-US" sz="1200" b="1" dirty="0" err="1">
                <a:latin typeface="+mj-ea"/>
              </a:rPr>
              <a:t>궁내교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E31737-65F2-4FF6-98B0-131BEBAEE677}"/>
              </a:ext>
            </a:extLst>
          </p:cNvPr>
          <p:cNvSpPr txBox="1"/>
          <p:nvPr/>
        </p:nvSpPr>
        <p:spPr>
          <a:xfrm>
            <a:off x="4481764" y="125006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1</a:t>
            </a:r>
            <a:r>
              <a:rPr lang="ko-KR" altLang="en-US" sz="1200" b="1" dirty="0">
                <a:latin typeface="+mj-ea"/>
              </a:rPr>
              <a:t>시간 뒤 시점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D7BCC6-9A36-48EB-914A-E1805C345705}"/>
              </a:ext>
            </a:extLst>
          </p:cNvPr>
          <p:cNvSpPr txBox="1"/>
          <p:nvPr/>
        </p:nvSpPr>
        <p:spPr>
          <a:xfrm>
            <a:off x="8423566" y="125006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3</a:t>
            </a:r>
            <a:r>
              <a:rPr lang="ko-KR" altLang="en-US" sz="1200" b="1" dirty="0">
                <a:latin typeface="+mj-ea"/>
              </a:rPr>
              <a:t>시간 뒤 시점</a:t>
            </a:r>
            <a:endParaRPr lang="en-US" altLang="ko-KR" sz="12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8812573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1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93941"/>
            <a:ext cx="3227450" cy="541968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1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0.9478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0.9529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0.9579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1254012"/>
            <a:ext cx="315910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61115"/>
            <a:ext cx="3159110" cy="131477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1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2763" y="5271474"/>
            <a:ext cx="317890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 (02)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0.9585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0.9513</a:t>
              </a:r>
              <a:endParaRPr lang="ko-KR" altLang="en-US" sz="1200" b="1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0.9138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9576870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3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1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40268" y="1566310"/>
            <a:ext cx="1519020" cy="4587791"/>
            <a:chOff x="440268" y="1566310"/>
            <a:chExt cx="15190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40268" y="3552110"/>
              <a:ext cx="15190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 (16)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-0.4408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-0.8548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-0.7405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-0.2182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-0.5463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-0.4821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031606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689483"/>
            <a:ext cx="3192888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90897"/>
            <a:ext cx="3227450" cy="54805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3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5" y="716172"/>
            <a:ext cx="3192888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0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1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57200" y="1566310"/>
            <a:ext cx="1502087" cy="4587791"/>
            <a:chOff x="457200" y="1566310"/>
            <a:chExt cx="15020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57200" y="3552110"/>
              <a:ext cx="15020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 (07)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0.9012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0.8751</a:t>
              </a:r>
              <a:endParaRPr lang="ko-KR" altLang="en-US" sz="12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0.8657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0.8200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0.9322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4739095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7833"/>
            <a:ext cx="3227450" cy="49418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1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4" y="1254012"/>
            <a:ext cx="315910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59846"/>
            <a:ext cx="3159110" cy="13173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0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5271474"/>
            <a:ext cx="315911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40268" y="1566310"/>
            <a:ext cx="1519020" cy="4587791"/>
            <a:chOff x="440268" y="1566310"/>
            <a:chExt cx="15190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40268" y="3552110"/>
              <a:ext cx="15190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 (18)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0.7844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0.8136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0.8064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0.8407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0.7132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0.7748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1966496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1732"/>
            <a:ext cx="3227450" cy="506386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41551"/>
            <a:ext cx="3159110" cy="135390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3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2712227"/>
            <a:ext cx="3262011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3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3240449"/>
            <a:ext cx="322745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7891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 (17)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0.8073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0.8213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0.8512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0.9051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0.8696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0.8289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1984277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3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363" y="3240449"/>
            <a:ext cx="31789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3" y="5271474"/>
            <a:ext cx="317890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4745885"/>
            <a:ext cx="3178909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2764" y="3240449"/>
            <a:ext cx="317890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3" y="5271474"/>
            <a:ext cx="3178909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23333" y="1566310"/>
            <a:ext cx="1535955" cy="4587791"/>
            <a:chOff x="423333" y="1566310"/>
            <a:chExt cx="1535955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23333" y="3552110"/>
              <a:ext cx="153595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250814 (05)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0.7776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0.7835</a:t>
              </a:r>
              <a:endParaRPr lang="pt-BR" altLang="ko-KR" sz="1200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0.8109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0.6295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0.7407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0.7068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9803945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8300"/>
            <a:ext cx="3227450" cy="49325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3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60426"/>
            <a:ext cx="3192889" cy="131615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406"/>
            <a:ext cx="3227449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3" y="4747938"/>
            <a:ext cx="3227449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6" y="3240449"/>
            <a:ext cx="3192888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5271474"/>
            <a:ext cx="3192890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 (02)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 </a:t>
              </a:r>
              <a:r>
                <a:rPr lang="en-US" altLang="ko-KR" sz="1200" dirty="0"/>
                <a:t>0.9069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0.8845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0.8834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0.9249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0.9201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0.9173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61022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49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8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70" y="5271474"/>
            <a:ext cx="3195542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1571" y="5271474"/>
            <a:ext cx="3195542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 (16)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0.0810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-0.1561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0.3503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0.1284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-0.5470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-0.2738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335827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8300"/>
            <a:ext cx="3227450" cy="49325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8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2146"/>
            <a:ext cx="3192889" cy="13527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70" y="5271474"/>
            <a:ext cx="3195542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1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6" y="3240449"/>
            <a:ext cx="3192888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1571" y="5271474"/>
            <a:ext cx="3195542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14868" y="1566310"/>
            <a:ext cx="1544420" cy="4587791"/>
            <a:chOff x="414868" y="1566310"/>
            <a:chExt cx="15444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14868" y="3552110"/>
              <a:ext cx="15444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230711 (07)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0.7413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0.7304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0.7046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0.8056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0.8028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0.7840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105708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21344"/>
            <a:ext cx="3227450" cy="487162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0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60426"/>
            <a:ext cx="3192889" cy="131615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29" y="5271474"/>
            <a:ext cx="3195541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196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196" y="4747938"/>
            <a:ext cx="3227449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6756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105" y="5271474"/>
            <a:ext cx="3195541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40268" y="1566310"/>
            <a:ext cx="1519020" cy="4587791"/>
            <a:chOff x="440268" y="1566310"/>
            <a:chExt cx="15190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40268" y="3552110"/>
              <a:ext cx="15190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 (18)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0.6268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0.6077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0.5765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0.1481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0.5114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0.5821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795257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7833"/>
            <a:ext cx="3227450" cy="49418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2146"/>
            <a:ext cx="3192889" cy="13527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29" y="5271474"/>
            <a:ext cx="3195542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2716152"/>
            <a:ext cx="3227449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3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3240449"/>
            <a:ext cx="319288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1569" y="5271474"/>
            <a:ext cx="3195542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40268" y="1566310"/>
            <a:ext cx="1519020" cy="4587791"/>
            <a:chOff x="440268" y="1566310"/>
            <a:chExt cx="15190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40268" y="3552110"/>
              <a:ext cx="15190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 (17)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0.8740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0.8647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0.8560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0.9243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0.9148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0.9062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3854619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707985"/>
            <a:ext cx="3227449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8300"/>
            <a:ext cx="3227450" cy="49325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8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2146"/>
            <a:ext cx="3192889" cy="13527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70" y="5271474"/>
            <a:ext cx="3195542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1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3240449"/>
            <a:ext cx="319288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499" y="5271474"/>
            <a:ext cx="3195542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250814 (05)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0.7832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0.8840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0.9033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0.6646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0.6061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0.7671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293390475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10566</TotalTime>
  <Words>4635</Words>
  <Application>Microsoft Office PowerPoint</Application>
  <PresentationFormat>와이드스크린</PresentationFormat>
  <Paragraphs>1454</Paragraphs>
  <Slides>64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2" baseType="lpstr">
      <vt:lpstr>나눔고딕</vt:lpstr>
      <vt:lpstr>맑은 고딕</vt:lpstr>
      <vt:lpstr>Arial</vt:lpstr>
      <vt:lpstr>Calibri</vt:lpstr>
      <vt:lpstr>Calibri Light</vt:lpstr>
      <vt:lpstr>Consolas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1507</cp:revision>
  <dcterms:created xsi:type="dcterms:W3CDTF">2025-11-18T00:02:37Z</dcterms:created>
  <dcterms:modified xsi:type="dcterms:W3CDTF">2026-02-03T08:54:19Z</dcterms:modified>
</cp:coreProperties>
</file>