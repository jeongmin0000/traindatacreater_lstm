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368" r:id="rId3"/>
    <p:sldId id="410" r:id="rId4"/>
    <p:sldId id="416" r:id="rId5"/>
    <p:sldId id="414" r:id="rId6"/>
    <p:sldId id="421" r:id="rId7"/>
    <p:sldId id="366" r:id="rId8"/>
    <p:sldId id="355" r:id="rId9"/>
    <p:sldId id="356" r:id="rId10"/>
    <p:sldId id="397" r:id="rId11"/>
    <p:sldId id="372" r:id="rId12"/>
    <p:sldId id="353" r:id="rId13"/>
    <p:sldId id="448" r:id="rId14"/>
    <p:sldId id="449" r:id="rId15"/>
    <p:sldId id="378" r:id="rId16"/>
    <p:sldId id="373" r:id="rId17"/>
    <p:sldId id="374" r:id="rId18"/>
    <p:sldId id="379" r:id="rId19"/>
    <p:sldId id="380" r:id="rId20"/>
    <p:sldId id="381" r:id="rId21"/>
    <p:sldId id="384" r:id="rId22"/>
    <p:sldId id="385" r:id="rId23"/>
    <p:sldId id="386" r:id="rId24"/>
    <p:sldId id="398" r:id="rId25"/>
    <p:sldId id="434" r:id="rId26"/>
    <p:sldId id="435" r:id="rId27"/>
    <p:sldId id="450" r:id="rId28"/>
    <p:sldId id="451" r:id="rId29"/>
    <p:sldId id="436" r:id="rId30"/>
    <p:sldId id="437" r:id="rId31"/>
    <p:sldId id="438" r:id="rId32"/>
    <p:sldId id="439" r:id="rId33"/>
    <p:sldId id="440" r:id="rId34"/>
    <p:sldId id="441" r:id="rId35"/>
    <p:sldId id="442" r:id="rId36"/>
    <p:sldId id="389" r:id="rId37"/>
    <p:sldId id="405" r:id="rId38"/>
    <p:sldId id="390" r:id="rId39"/>
    <p:sldId id="391" r:id="rId40"/>
    <p:sldId id="422" r:id="rId41"/>
    <p:sldId id="406" r:id="rId42"/>
    <p:sldId id="407" r:id="rId43"/>
    <p:sldId id="408" r:id="rId44"/>
    <p:sldId id="409" r:id="rId45"/>
    <p:sldId id="399" r:id="rId46"/>
    <p:sldId id="445" r:id="rId47"/>
    <p:sldId id="424" r:id="rId48"/>
    <p:sldId id="425" r:id="rId49"/>
    <p:sldId id="426" r:id="rId50"/>
    <p:sldId id="427" r:id="rId51"/>
    <p:sldId id="430" r:id="rId52"/>
    <p:sldId id="431" r:id="rId53"/>
    <p:sldId id="432" r:id="rId54"/>
    <p:sldId id="433" r:id="rId55"/>
    <p:sldId id="423" r:id="rId56"/>
    <p:sldId id="446" r:id="rId57"/>
    <p:sldId id="447" r:id="rId58"/>
    <p:sldId id="401" r:id="rId59"/>
    <p:sldId id="40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801708" y="2705725"/>
            <a:ext cx="4588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수위 예측 </a:t>
            </a:r>
            <a:r>
              <a:rPr lang="en-US" altLang="ko-KR" sz="4400" b="1" dirty="0">
                <a:latin typeface="+mj-ea"/>
                <a:ea typeface="+mj-ea"/>
              </a:rPr>
              <a:t>AI</a:t>
            </a: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성능 개선 결과 </a:t>
            </a:r>
            <a:r>
              <a:rPr lang="en-US" altLang="ko-KR" sz="4400" b="1" dirty="0">
                <a:latin typeface="+mj-ea"/>
                <a:ea typeface="+mj-ea"/>
              </a:rPr>
              <a:t>2</a:t>
            </a:r>
            <a:endParaRPr lang="ko-KR" altLang="en-US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458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기본 설정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516547"/>
              </p:ext>
            </p:extLst>
          </p:nvPr>
        </p:nvGraphicFramePr>
        <p:xfrm>
          <a:off x="1261532" y="217729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185331" y="154906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185331" y="3524814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269753"/>
              </p:ext>
            </p:extLst>
          </p:nvPr>
        </p:nvGraphicFramePr>
        <p:xfrm>
          <a:off x="1261532" y="4134601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296333" y="5514607"/>
            <a:ext cx="1158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67</a:t>
            </a:r>
            <a:r>
              <a:rPr lang="ko-KR" altLang="en-US" dirty="0"/>
              <a:t>개 中 </a:t>
            </a:r>
            <a:r>
              <a:rPr lang="en-US" altLang="ko-KR" dirty="0"/>
              <a:t>64</a:t>
            </a:r>
            <a:r>
              <a:rPr lang="ko-KR" altLang="en-US" dirty="0"/>
              <a:t>개 데이터 파일 학습데이터로 사용 </a:t>
            </a:r>
            <a:endParaRPr lang="en-US" altLang="ko-KR" dirty="0"/>
          </a:p>
          <a:p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2</a:t>
            </a:r>
            <a:r>
              <a:rPr lang="ko-KR" altLang="en-US" dirty="0"/>
              <a:t>개 데이터 </a:t>
            </a:r>
            <a:r>
              <a:rPr lang="en-US" altLang="ko-KR" dirty="0"/>
              <a:t>(220713, 230711) + </a:t>
            </a:r>
            <a:r>
              <a:rPr lang="ko-KR" altLang="en-US" dirty="0"/>
              <a:t>학습에서 검증에 사용된 데이터 </a:t>
            </a:r>
            <a:r>
              <a:rPr lang="en-US" altLang="ko-KR" dirty="0"/>
              <a:t>(250716, 250814) </a:t>
            </a:r>
            <a:r>
              <a:rPr lang="ko-KR" altLang="en-US" dirty="0"/>
              <a:t>사용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273647" y="8715"/>
            <a:ext cx="2918354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관심 수위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 err="1">
                <a:latin typeface="+mn-ea"/>
              </a:rPr>
              <a:t>궁내교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( 2 )  </a:t>
            </a:r>
            <a:r>
              <a:rPr lang="ko-KR" altLang="en-US" sz="1000" b="1" dirty="0" err="1">
                <a:latin typeface="+mn-ea"/>
              </a:rPr>
              <a:t>대곡교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smoothing :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궁내교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( 1 )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대곡교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( 2 )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learning_rate</a:t>
            </a:r>
            <a:r>
              <a:rPr lang="en-US" altLang="ko-KR" sz="10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Loss_function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Seq_length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36 ( 6</a:t>
            </a:r>
            <a:r>
              <a:rPr lang="ko-KR" altLang="en-US" sz="1000" b="1" dirty="0">
                <a:latin typeface="+mn-ea"/>
              </a:rPr>
              <a:t>시간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Num_of_layer</a:t>
            </a:r>
            <a:r>
              <a:rPr lang="en-US" altLang="ko-KR" sz="1000" b="1" dirty="0">
                <a:latin typeface="+mn-ea"/>
              </a:rPr>
              <a:t> = 12 (</a:t>
            </a:r>
            <a:r>
              <a:rPr lang="ko-KR" altLang="en-US" sz="1000" b="1" dirty="0">
                <a:latin typeface="+mn-ea"/>
              </a:rPr>
              <a:t> 각 </a:t>
            </a:r>
            <a:r>
              <a:rPr lang="en-US" altLang="ko-KR" sz="1000" b="1" dirty="0">
                <a:latin typeface="+mn-ea"/>
              </a:rPr>
              <a:t>LSTM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처리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00494-A5E8-4259-BF23-B27A56DB11CF}"/>
              </a:ext>
            </a:extLst>
          </p:cNvPr>
          <p:cNvSpPr txBox="1"/>
          <p:nvPr/>
        </p:nvSpPr>
        <p:spPr>
          <a:xfrm>
            <a:off x="4347633" y="6425165"/>
            <a:ext cx="1227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22</a:t>
            </a:r>
            <a:r>
              <a:rPr lang="ko-KR" altLang="en-US" sz="900" dirty="0"/>
              <a:t>년 </a:t>
            </a:r>
            <a:r>
              <a:rPr lang="en-US" altLang="ko-KR" sz="900" dirty="0"/>
              <a:t>7</a:t>
            </a:r>
            <a:r>
              <a:rPr lang="ko-KR" altLang="en-US" sz="900" dirty="0"/>
              <a:t>월 </a:t>
            </a:r>
            <a:r>
              <a:rPr lang="en-US" altLang="ko-KR" sz="900" dirty="0"/>
              <a:t>12 +13  </a:t>
            </a:r>
            <a:r>
              <a:rPr lang="ko-KR" altLang="en-US" sz="900" dirty="0"/>
              <a:t>자료</a:t>
            </a:r>
          </a:p>
        </p:txBody>
      </p:sp>
    </p:spTree>
    <p:extLst>
      <p:ext uri="{BB962C8B-B14F-4D97-AF65-F5344CB8AC3E}">
        <p14:creationId xmlns:p14="http://schemas.microsoft.com/office/powerpoint/2010/main" val="82211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828835"/>
            <a:ext cx="7575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학습데이터 순서 복구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,</a:t>
            </a:r>
          </a:p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비율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7:2:1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로 변경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(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증설 전 후 비교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)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5B805-F240-47A3-9716-5E255C3C26B3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)3_1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87744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MSE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417592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0.1681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0.916973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0.918180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32.452990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388704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(1346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0.0952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0.885653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0.887989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18.568189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352484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0.0662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0.908553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0.917067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4.491322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923" y="3745269"/>
            <a:ext cx="5327933" cy="17851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242682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40949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-3.7460557062787814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0.18831587329869987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0.37048792507913375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0.43395376861907753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0.7858148103033311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0.059937791720316914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0.17798842834101786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0.24482195922816424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0.3947407285994061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0.06072095512751068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0.19081864602035944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0.24641622334479255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-0.056341420985954516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0.07447427089080348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0.2094912936952379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0.27289974512777304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3716"/>
            <a:ext cx="3083619" cy="161737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005" y="4329260"/>
            <a:ext cx="3079593" cy="162489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3338"/>
            <a:ext cx="3007577" cy="158046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835" y="1971487"/>
            <a:ext cx="3025501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MSE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8653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성능개선 </a:t>
            </a:r>
            <a:r>
              <a:rPr lang="en-US" altLang="ko-KR" sz="3600" b="1" dirty="0">
                <a:solidFill>
                  <a:srgbClr val="FF0000"/>
                </a:solidFill>
                <a:latin typeface="+mj-ea"/>
              </a:rPr>
              <a:t>1 </a:t>
            </a:r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최종 결과가 더 나음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84187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accent5"/>
                </a:solidFill>
              </a:rPr>
              <a:t>Loss Function : MAPE (%)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E772B-B49F-4BB5-86D0-E8C8013A6532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mape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17078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MAPE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91328"/>
              </p:ext>
            </p:extLst>
          </p:nvPr>
        </p:nvGraphicFramePr>
        <p:xfrm>
          <a:off x="6951132" y="3017967"/>
          <a:ext cx="391858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61785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877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0.7818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0.5205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1.3390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-4.265376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0.061747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126.867669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082830"/>
              </p:ext>
            </p:extLst>
          </p:nvPr>
        </p:nvGraphicFramePr>
        <p:xfrm>
          <a:off x="6951132" y="4259181"/>
          <a:ext cx="386778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61785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(1346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0.6905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0.5260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1.2014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-8.535100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0.040381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285.320350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688363"/>
              </p:ext>
            </p:extLst>
          </p:nvPr>
        </p:nvGraphicFramePr>
        <p:xfrm>
          <a:off x="6951132" y="5500395"/>
          <a:ext cx="391858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877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0.6766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0.5380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1.2127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-13.069486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0.029767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383.395654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49" y="3740036"/>
            <a:ext cx="5403281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096101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88299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-40.30121120544763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1.6387657747376347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0.9424280889973873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1.280142872783204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-5.705601368884521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1.8765020064033087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0.890655833081239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1.3698547391615319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-9.178691934208373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1.0211489941551932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0.6335310859481492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1.0105191706025143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-22.70733371491017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1.6714164171797394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0.8478909284538693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1.2928327104384927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3192"/>
            <a:ext cx="3083619" cy="161842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29260"/>
            <a:ext cx="3089860" cy="162489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3258"/>
            <a:ext cx="3007577" cy="158062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309" y="1971487"/>
            <a:ext cx="3032554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MAPE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07005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828835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F0000"/>
                </a:solidFill>
              </a:rPr>
              <a:t>Loss Function : MAPE (%)</a:t>
            </a:r>
          </a:p>
          <a:p>
            <a:pPr algn="ctr"/>
            <a:r>
              <a:rPr lang="ko-KR" altLang="en-US" sz="3600" b="1" dirty="0">
                <a:solidFill>
                  <a:srgbClr val="FF0000"/>
                </a:solidFill>
                <a:latin typeface="+mj-ea"/>
              </a:rPr>
              <a:t>불가능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28319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: 36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이상 증감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( 6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시간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026755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526716" y="3105834"/>
            <a:ext cx="5138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0.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기존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: 36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ko-KR" altLang="en-US" sz="36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FFBD9-A7E5-4B81-851D-7955BE741E35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)_3_1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897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seq_length</a:t>
            </a:r>
            <a:r>
              <a:rPr lang="en-US" altLang="ko-KR" sz="2400" dirty="0">
                <a:latin typeface="+mj-ea"/>
              </a:rPr>
              <a:t> : 36 </a:t>
            </a:r>
          </a:p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0.1681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0.916973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0.918180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32.452990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(1346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0.0952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0.885653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0.887989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18.568189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0.0662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0.908553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0.917067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4.491322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923" y="3745269"/>
            <a:ext cx="5327933" cy="17851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545997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-3.7460557062787814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0.18831587329869987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0.37048792507913375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0.43395376861907753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0.7858148103033311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0.059937791720316914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0.17798842834101786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0.24482195922816424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0.3947407285994061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0.06072095512751068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0.19081864602035944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0.24641622334479255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-0.056341420985954516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0.07447427089080348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0.2094912936952379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0.27289974512777304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3716"/>
            <a:ext cx="3083619" cy="161737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005" y="4329260"/>
            <a:ext cx="3079593" cy="162489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3338"/>
            <a:ext cx="3007577" cy="158046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835" y="1971487"/>
            <a:ext cx="3025501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seq_length</a:t>
            </a:r>
            <a:r>
              <a:rPr lang="en-US" altLang="ko-KR" sz="2400" dirty="0">
                <a:latin typeface="+mj-ea"/>
              </a:rPr>
              <a:t> : 36 </a:t>
            </a:r>
          </a:p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445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1.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: 48 ( 8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시간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/dg)_8h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87958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seq_length</a:t>
            </a:r>
            <a:r>
              <a:rPr lang="en-US" altLang="ko-KR" sz="2400" dirty="0">
                <a:latin typeface="+mj-ea"/>
              </a:rPr>
              <a:t> : 48 </a:t>
            </a:r>
          </a:p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756294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(4659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0.1819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0.908400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0.912644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4.648186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199443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(1190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0.0721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0.1250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0.897810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0.899730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15.198126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346679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(522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0.1148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0.868960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0.870691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93.554015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49" y="3743833"/>
            <a:ext cx="5403281" cy="17879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404624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923186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-2.560335156943706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0.14126838490937313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0.32217343224419487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0.3758568675830909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0.825501108212527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0.0488319395295068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0.16682389676570894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0.22097950024721025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0.7542307880110747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0.024656113500533407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0.12436577856540677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0.15702265282606012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0.19244131198133563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0.056934569919249195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0.185254346927007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0.23860966015492582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608" y="4330501"/>
            <a:ext cx="3075673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181" y="4326463"/>
            <a:ext cx="3081241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053" y="1970948"/>
            <a:ext cx="2984353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309" y="1971487"/>
            <a:ext cx="3032554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seq_length</a:t>
            </a:r>
            <a:r>
              <a:rPr lang="en-US" altLang="ko-KR" sz="2400" dirty="0">
                <a:latin typeface="+mj-ea"/>
              </a:rPr>
              <a:t> : 48 </a:t>
            </a:r>
          </a:p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31828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2.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: 60 ( 10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시간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/dg)_10h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7853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seq_length</a:t>
            </a:r>
            <a:r>
              <a:rPr lang="en-US" altLang="ko-KR" sz="2400" dirty="0">
                <a:latin typeface="+mj-ea"/>
              </a:rPr>
              <a:t> : 60 </a:t>
            </a:r>
          </a:p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614138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(4119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0.1138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0.0649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0.2400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0.851486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0.852724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5.146548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028255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(1034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0.0803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0.1399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0.873851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0.882577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14.866536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943659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(450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0.0601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0.1125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0.874091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0.881549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10.511493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72" y="3740036"/>
            <a:ext cx="5303834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626876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25805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-3.4182190272963746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0.1753078400343109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0.3363218220074972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0.4186977908161338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0.7329701183406903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0.07472590169592619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0.22037673400508037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0.27336038794222944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0.49407557481516895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0.05075546261104266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0.17494943426714998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0.22528973037189837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0.5309707340261354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0.03306754039546155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0.15624683883455065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0.18184482504449104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586" y="4330501"/>
            <a:ext cx="3081716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181" y="4326463"/>
            <a:ext cx="3081241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407" y="1970948"/>
            <a:ext cx="3001645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6419"/>
            <a:ext cx="3043441" cy="159931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seq_length</a:t>
            </a:r>
            <a:r>
              <a:rPr lang="en-US" altLang="ko-KR" sz="2400" dirty="0">
                <a:latin typeface="+mj-ea"/>
              </a:rPr>
              <a:t> : 60 </a:t>
            </a:r>
          </a:p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34874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3.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seq_length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: 72 ( 12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시간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/dg)_12h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88024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seq_length</a:t>
            </a:r>
            <a:r>
              <a:rPr lang="en-US" altLang="ko-KR" sz="2400" dirty="0">
                <a:latin typeface="+mj-ea"/>
              </a:rPr>
              <a:t> : 72 </a:t>
            </a:r>
          </a:p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55587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(3579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0.1107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0.0626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0.2288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0.875847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0.877411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5.176867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979858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(878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0.1431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0.868547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0.876040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18.826211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960346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(378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0.0722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0.840574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0.852845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21.710767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49" y="3740044"/>
            <a:ext cx="5403281" cy="17955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159666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47544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-5.784296501494748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0.26918999680221045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0.4563264531559414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0.5188352308799109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0.8198792444723559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0.05040516734425711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0.19690691431363427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0.2245109515018301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0.43715820892314816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0.056465539240365493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0.1745718653996785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0.23762478667084688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0.24260454014572064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0.05339795782693471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0.18680270228121015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0.23107998145000513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515" y="4330501"/>
            <a:ext cx="3077859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223" y="4326463"/>
            <a:ext cx="3069157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0948"/>
            <a:ext cx="3007577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83643"/>
            <a:ext cx="3043441" cy="15848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seq_length</a:t>
            </a:r>
            <a:r>
              <a:rPr lang="en-US" altLang="ko-KR" sz="2400" dirty="0">
                <a:latin typeface="+mj-ea"/>
              </a:rPr>
              <a:t> : 72 </a:t>
            </a:r>
          </a:p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65543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rgbClr val="FF0000"/>
                </a:solidFill>
              </a:rPr>
              <a:t>seq_length</a:t>
            </a:r>
            <a:r>
              <a:rPr lang="en-US" altLang="ko-KR" sz="3600" b="1" dirty="0">
                <a:solidFill>
                  <a:srgbClr val="FF0000"/>
                </a:solidFill>
              </a:rPr>
              <a:t> : 48 </a:t>
            </a:r>
            <a:r>
              <a:rPr lang="ko-KR" altLang="en-US" sz="3600" b="1" dirty="0">
                <a:solidFill>
                  <a:srgbClr val="FF0000"/>
                </a:solidFill>
              </a:rPr>
              <a:t>이 가장 좋음  </a:t>
            </a:r>
            <a:endParaRPr lang="en-US" altLang="ko-KR" sz="3600" b="1" dirty="0">
              <a:solidFill>
                <a:srgbClr val="FF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22263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828835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조정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( LSTM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당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3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개씩 말고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692775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024891" y="3105834"/>
            <a:ext cx="6142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0.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기존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: 12</a:t>
            </a:r>
            <a:endParaRPr lang="ko-KR" altLang="en-US" sz="3600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EFD1D-2C4E-4C36-ACE7-2DDFE1D04E87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</a:t>
            </a:r>
            <a:r>
              <a:rPr lang="en-US" altLang="ko-KR" sz="1050"/>
              <a:t>dg)_12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472756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=12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0.1681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0.916973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0.918180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32.452990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(1346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0.0952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0.885653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0.887989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18.568189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0.0662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0.908553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0.917067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4.491322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923" y="3745269"/>
            <a:ext cx="5327933" cy="17851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842333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-3.7460557062787814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0.18831587329869987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0.37048792507913375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0.43395376861907753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0.7858148103033311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0.059937791720316914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0.17798842834101786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0.24482195922816424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0.3947407285994061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0.06072095512751068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0.19081864602035944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0.24641622334479255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-0.056341420985954516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0.07447427089080348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0.2094912936952379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0.27289974512777304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3716"/>
            <a:ext cx="3083619" cy="161737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005" y="4329260"/>
            <a:ext cx="3079593" cy="162489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3338"/>
            <a:ext cx="3007577" cy="158046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835" y="1971487"/>
            <a:ext cx="3025501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=12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42684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1.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=6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/dg)_6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75141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=6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394107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0.1902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0.893787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0.895242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1.412644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654491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(1346 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0.0801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0.1337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0.881882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0.901933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19.890367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053585"/>
              </p:ext>
            </p:extLst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0.0968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0.910301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0.916854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12.939607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024" y="3753899"/>
            <a:ext cx="5363731" cy="17678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719991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48778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-6.008283559926514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0.27807744379538046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0.4701462470160591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0.5273304882096052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0.711225808358022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0.08081085054177745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0.19579490615261927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0.2842724934667043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0.592291528540601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0.040902219875632376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0.13294452905654908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0.20224297237637795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0.6348395741793602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0.025744570771242228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0.1266696121957567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0.1604511476158467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383" y="4330501"/>
            <a:ext cx="3066122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203" y="4326686"/>
            <a:ext cx="3047197" cy="163004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797" y="1981476"/>
            <a:ext cx="2952865" cy="156418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130" y="1974667"/>
            <a:ext cx="3040913" cy="160281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=6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76013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2.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=18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/dg)_18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10505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=18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723965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0.0949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0.0558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0.895516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0.895592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4.164764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145261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(1346 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0.0750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0.1304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0.887686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0.896720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21.575676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05299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0.0962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0.911507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0.914041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12.189970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24" y="3760223"/>
            <a:ext cx="5381130" cy="17551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367695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791018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-6.167038119838788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0.2843765699414305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0.4995885904630026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0.5332696971902965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0.8158748707557312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0.05152575517825852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0.1779113178120719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0.2269928527030279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0.5277184502608925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0.04738033458438224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0.16776240130265554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0.2176702427627218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0.4561574682398356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0.038342031494366074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0.14596857958369786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0.19581121391372372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43356"/>
            <a:ext cx="3035115" cy="159809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019" y="4332949"/>
            <a:ext cx="3059566" cy="161751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975" y="1970948"/>
            <a:ext cx="2980507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941" y="1977329"/>
            <a:ext cx="3029291" cy="159749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=18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71890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828835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rgbClr val="FF0000"/>
                </a:solidFill>
              </a:rPr>
              <a:t>num_of_layer</a:t>
            </a:r>
            <a:r>
              <a:rPr lang="en-US" altLang="ko-KR" sz="3600" b="1" dirty="0">
                <a:solidFill>
                  <a:srgbClr val="FF0000"/>
                </a:solidFill>
              </a:rPr>
              <a:t> = 6 </a:t>
            </a:r>
            <a:r>
              <a:rPr lang="ko-KR" altLang="en-US" sz="3600" b="1" dirty="0">
                <a:solidFill>
                  <a:srgbClr val="FF0000"/>
                </a:solidFill>
              </a:rPr>
              <a:t>이 가장 낮은 성능</a:t>
            </a:r>
            <a:br>
              <a:rPr lang="en-US" altLang="ko-KR" sz="3600" b="1" dirty="0">
                <a:solidFill>
                  <a:srgbClr val="FF0000"/>
                </a:solidFill>
              </a:rPr>
            </a:br>
            <a:r>
              <a:rPr lang="en-US" altLang="ko-KR" sz="3600" b="1" dirty="0">
                <a:solidFill>
                  <a:srgbClr val="FF0000"/>
                </a:solidFill>
              </a:rPr>
              <a:t>18 </a:t>
            </a:r>
            <a:r>
              <a:rPr lang="ko-KR" altLang="en-US" sz="3600" b="1" dirty="0">
                <a:solidFill>
                  <a:srgbClr val="FF0000"/>
                </a:solidFill>
              </a:rPr>
              <a:t>이 성능이 가장 좋음</a:t>
            </a:r>
          </a:p>
        </p:txBody>
      </p:sp>
    </p:spTree>
    <p:extLst>
      <p:ext uri="{BB962C8B-B14F-4D97-AF65-F5344CB8AC3E}">
        <p14:creationId xmlns:p14="http://schemas.microsoft.com/office/powerpoint/2010/main" val="38535073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106612" y="3105834"/>
            <a:ext cx="7978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영향 없는 관측소 및 컬럼 빼기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/dg)_none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419028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7132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컬럼 정리 </a:t>
            </a:r>
            <a:r>
              <a:rPr lang="en-US" altLang="ko-KR" sz="1200" dirty="0">
                <a:latin typeface="+mj-ea"/>
                <a:ea typeface="+mj-ea"/>
              </a:rPr>
              <a:t>( + </a:t>
            </a:r>
            <a:r>
              <a:rPr lang="en-US" altLang="ko-KR" sz="1200" b="1" dirty="0">
                <a:latin typeface="+mj-ea"/>
              </a:rPr>
              <a:t>MIET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ko-KR" altLang="en-US" sz="1200" dirty="0">
                <a:latin typeface="+mj-ea"/>
              </a:rPr>
              <a:t>학습 데이터 기본 설정 </a:t>
            </a:r>
            <a:r>
              <a:rPr lang="en-US" altLang="ko-KR" sz="1200" dirty="0">
                <a:latin typeface="+mj-ea"/>
              </a:rPr>
              <a:t>)</a:t>
            </a:r>
            <a:r>
              <a:rPr lang="ko-KR" altLang="en-US" sz="1200" dirty="0">
                <a:latin typeface="+mj-ea"/>
              </a:rPr>
              <a:t> </a:t>
            </a:r>
            <a:endParaRPr lang="ko-KR" altLang="en-US" sz="2400" dirty="0">
              <a:latin typeface="+mj-ea"/>
              <a:ea typeface="+mj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542504"/>
              </p:ext>
            </p:extLst>
          </p:nvPr>
        </p:nvGraphicFramePr>
        <p:xfrm>
          <a:off x="905932" y="4842896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829731" y="205706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궁내교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829731" y="4032814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대곡교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4F2CE83-4381-4216-9944-710A04377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328057"/>
              </p:ext>
            </p:extLst>
          </p:nvPr>
        </p:nvGraphicFramePr>
        <p:xfrm>
          <a:off x="905932" y="2685293"/>
          <a:ext cx="5475923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5352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11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303896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0.0992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0.2025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0.879609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0.887010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2.961444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579961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(1346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0.0871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0.1262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0.894740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0.899383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13.679203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247267"/>
              </p:ext>
            </p:extLst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0.0746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0.1139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0.875795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0.896472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5.200029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81" y="3742833"/>
            <a:ext cx="5364417" cy="17899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8430171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779027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-2.6245451181948463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0.14381613311879415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0.3180192591084374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0.37923097594842403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0.45603772333825565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0.15222293235323595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0.34441678457789954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0.39015757374839716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0.07746982769549693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0.0925502769526373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0.2464591088559892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0.3042207700875095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-0.0717979251904115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0.07556398663826813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0.2238872608873579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0.27488904423106447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268" y="4331864"/>
            <a:ext cx="3036353" cy="162107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143" y="4332287"/>
            <a:ext cx="3087318" cy="161884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190" y="1977994"/>
            <a:ext cx="2996079" cy="157115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158" y="1978310"/>
            <a:ext cx="3042856" cy="159552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745280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828835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FF0000"/>
                </a:solidFill>
              </a:rPr>
              <a:t>궁내교에 영향 없는 관측소 </a:t>
            </a:r>
            <a:endParaRPr lang="en-US" altLang="ko-KR" sz="3600" b="1" dirty="0">
              <a:solidFill>
                <a:srgbClr val="FF0000"/>
              </a:solidFill>
            </a:endParaRPr>
          </a:p>
          <a:p>
            <a:pPr algn="ctr"/>
            <a:r>
              <a:rPr lang="ko-KR" altLang="en-US" sz="3600" b="1" dirty="0">
                <a:solidFill>
                  <a:srgbClr val="FF0000"/>
                </a:solidFill>
              </a:rPr>
              <a:t>및 컬럼 빼기 성능 낮음</a:t>
            </a:r>
          </a:p>
        </p:txBody>
      </p:sp>
    </p:spTree>
    <p:extLst>
      <p:ext uri="{BB962C8B-B14F-4D97-AF65-F5344CB8AC3E}">
        <p14:creationId xmlns:p14="http://schemas.microsoft.com/office/powerpoint/2010/main" val="26336498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강우 이벤트 전부 학습으로 사용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/dg)_all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37287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458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기본 설정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185166"/>
              </p:ext>
            </p:extLst>
          </p:nvPr>
        </p:nvGraphicFramePr>
        <p:xfrm>
          <a:off x="1100665" y="305776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024464" y="242953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296333" y="5514607"/>
            <a:ext cx="1158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1420</a:t>
            </a:r>
            <a:r>
              <a:rPr lang="ko-KR" altLang="en-US" dirty="0"/>
              <a:t>개 中 </a:t>
            </a:r>
            <a:r>
              <a:rPr lang="en-US" altLang="ko-KR" dirty="0"/>
              <a:t>1409</a:t>
            </a:r>
            <a:r>
              <a:rPr lang="ko-KR" altLang="en-US" dirty="0"/>
              <a:t>개 데이터 파일 학습데이터로 사용 </a:t>
            </a:r>
            <a:r>
              <a:rPr lang="en-US" altLang="ko-KR" dirty="0"/>
              <a:t>( </a:t>
            </a:r>
            <a:r>
              <a:rPr lang="ko-KR" altLang="en-US" dirty="0"/>
              <a:t>결측 데이터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6</a:t>
            </a:r>
            <a:r>
              <a:rPr lang="ko-KR" altLang="en-US" dirty="0"/>
              <a:t>개 데이터 사용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273647" y="8715"/>
            <a:ext cx="2918354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관심 수위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 err="1">
                <a:latin typeface="+mn-ea"/>
              </a:rPr>
              <a:t>궁내교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( 2 )  </a:t>
            </a:r>
            <a:r>
              <a:rPr lang="ko-KR" altLang="en-US" sz="1000" b="1" dirty="0" err="1">
                <a:latin typeface="+mn-ea"/>
              </a:rPr>
              <a:t>대곡교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smoothing :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궁내교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( 1 )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대곡교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( 2 )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learning_rate</a:t>
            </a:r>
            <a:r>
              <a:rPr lang="en-US" altLang="ko-KR" sz="10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Loss_function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Seq_length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36 ( 6</a:t>
            </a:r>
            <a:r>
              <a:rPr lang="ko-KR" altLang="en-US" sz="1000" b="1" dirty="0">
                <a:latin typeface="+mn-ea"/>
              </a:rPr>
              <a:t>시간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Num_of_layer</a:t>
            </a:r>
            <a:r>
              <a:rPr lang="en-US" altLang="ko-KR" sz="1000" b="1" dirty="0">
                <a:latin typeface="+mn-ea"/>
              </a:rPr>
              <a:t> = 12 (</a:t>
            </a:r>
            <a:r>
              <a:rPr lang="ko-KR" altLang="en-US" sz="1000" b="1" dirty="0">
                <a:latin typeface="+mn-ea"/>
              </a:rPr>
              <a:t> 각 </a:t>
            </a:r>
            <a:r>
              <a:rPr lang="en-US" altLang="ko-KR" sz="1000" b="1" dirty="0">
                <a:latin typeface="+mn-ea"/>
              </a:rPr>
              <a:t>LSTM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처리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72908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11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 (?)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(23152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0.0209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0.964980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0.967436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7.621150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(6824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0.0459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0.0488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0.949009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0.961717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21.292681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(5318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0.0444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0.881387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0.924949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15.928333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49" y="3742833"/>
            <a:ext cx="5403281" cy="17899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5510725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0.2819461768473639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0.028491223270634754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0.1405930160151588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0.16879343373080233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0.7775425245477174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0.062252716208667874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0.17482565687762364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0.24950494225299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0.8592693835000157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0.014118408181981755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0.09755011134677463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0.11882090801698898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0.7044438615885542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0.020837323499961948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0.11466785464021895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0.14435138897829125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268" y="4330501"/>
            <a:ext cx="3036353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143" y="4326463"/>
            <a:ext cx="3087318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190" y="1970948"/>
            <a:ext cx="2996079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8310"/>
            <a:ext cx="3043441" cy="159552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732743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828835"/>
            <a:ext cx="75755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강우 이벤트 전부 학습으로 사용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,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조정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( LSTM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당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3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개씩 말고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6030455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458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기본 설정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00665" y="305776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024464" y="242953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296333" y="5514607"/>
            <a:ext cx="1158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1420</a:t>
            </a:r>
            <a:r>
              <a:rPr lang="ko-KR" altLang="en-US" dirty="0"/>
              <a:t>개 中 </a:t>
            </a:r>
            <a:r>
              <a:rPr lang="en-US" altLang="ko-KR" dirty="0"/>
              <a:t>1409</a:t>
            </a:r>
            <a:r>
              <a:rPr lang="ko-KR" altLang="en-US" dirty="0"/>
              <a:t>개 데이터 파일 학습데이터로 사용 </a:t>
            </a:r>
            <a:r>
              <a:rPr lang="en-US" altLang="ko-KR" dirty="0"/>
              <a:t>( </a:t>
            </a:r>
            <a:r>
              <a:rPr lang="ko-KR" altLang="en-US" dirty="0"/>
              <a:t>결측 데이터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6</a:t>
            </a:r>
            <a:r>
              <a:rPr lang="ko-KR" altLang="en-US" dirty="0"/>
              <a:t>개 데이터 사용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273647" y="8715"/>
            <a:ext cx="2918354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관심 수위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 err="1">
                <a:latin typeface="+mn-ea"/>
              </a:rPr>
              <a:t>궁내교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( 2 )  </a:t>
            </a:r>
            <a:r>
              <a:rPr lang="ko-KR" altLang="en-US" sz="1000" b="1" dirty="0" err="1">
                <a:latin typeface="+mn-ea"/>
              </a:rPr>
              <a:t>대곡교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smoothing :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궁내교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( 1 )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대곡교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( 2 )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learning_rate</a:t>
            </a:r>
            <a:r>
              <a:rPr lang="en-US" altLang="ko-KR" sz="10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Loss_function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Seq_length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36 ( 6</a:t>
            </a:r>
            <a:r>
              <a:rPr lang="ko-KR" altLang="en-US" sz="1000" b="1" dirty="0">
                <a:latin typeface="+mn-ea"/>
              </a:rPr>
              <a:t>시간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Num_of_layer</a:t>
            </a:r>
            <a:r>
              <a:rPr lang="en-US" altLang="ko-KR" sz="1000" b="1" dirty="0">
                <a:latin typeface="+mn-ea"/>
              </a:rPr>
              <a:t> = 12 (</a:t>
            </a:r>
            <a:r>
              <a:rPr lang="ko-KR" altLang="en-US" sz="1000" b="1" dirty="0">
                <a:latin typeface="+mn-ea"/>
              </a:rPr>
              <a:t> 각 </a:t>
            </a:r>
            <a:r>
              <a:rPr lang="en-US" altLang="ko-KR" sz="1000" b="1" dirty="0">
                <a:latin typeface="+mn-ea"/>
              </a:rPr>
              <a:t>LSTM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처리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06550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024891" y="3105834"/>
            <a:ext cx="6142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0.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기존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: 12</a:t>
            </a:r>
            <a:endParaRPr lang="ko-KR" altLang="en-US" sz="3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3739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1.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=6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/dg)_6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458326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=6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(?) 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299857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(23152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0.959507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0.962879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0.052707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389430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(6824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0.0415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0.954954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0.964136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25.005565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497388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(5318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0.0443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0.0526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0.903120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0.925041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9.780254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49" y="3753899"/>
            <a:ext cx="5403281" cy="176784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2079102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30051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-0.4290769483646659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0.056703479730822445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0.21155922638045416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0.23812492463163626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0.5759262436072022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0.11867321228289035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0.24265570859114327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0.3444897854550848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0.7387643260557611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0.026207743333805916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0.1166555896732542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0.16188805803333955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0.8942565546130148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0.007455133198627011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0.05848213666015199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0.08634311320902792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496" y="4330501"/>
            <a:ext cx="3067896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203" y="4326463"/>
            <a:ext cx="3047197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81476"/>
            <a:ext cx="3007577" cy="156418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4667"/>
            <a:ext cx="3043441" cy="160281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=6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027440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2. </a:t>
            </a:r>
            <a:r>
              <a:rPr lang="en-US" altLang="ko-KR" sz="3600" b="1" dirty="0" err="1">
                <a:solidFill>
                  <a:schemeClr val="accent5"/>
                </a:solidFill>
                <a:latin typeface="+mj-ea"/>
              </a:rPr>
              <a:t>num_of_layer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 =18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 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/dg)_18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840938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=18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(?) 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735436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(23152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0.0241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0.956557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0.957211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0.314478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266126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(6824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0.953377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0.964547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22.759481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992572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(5318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0.0440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0.0521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0.0594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0.876632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0.917288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11.256301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24" y="3740036"/>
            <a:ext cx="5381130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8098572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27040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0.3346054367651323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0.026401788351959294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0.13436633851793073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0.16248627127225024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0.7815566267629285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0.06112940594216386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0.1701013848516676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0.24724361658526972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0.78572611048365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0.021496432760479148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0.12670835547977022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0.14661661829574146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0.8621027839342135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0.009722041018504752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0.07590294844574397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0.09860041084348864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887" y="4330501"/>
            <a:ext cx="3035115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019" y="4326463"/>
            <a:ext cx="3059566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140" y="1970948"/>
            <a:ext cx="2998178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7329"/>
            <a:ext cx="3043441" cy="159749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num_of_layer</a:t>
            </a:r>
            <a:r>
              <a:rPr lang="en-US" altLang="ko-KR" sz="2400" dirty="0">
                <a:latin typeface="+mj-ea"/>
              </a:rPr>
              <a:t> =18 </a:t>
            </a:r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597543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828835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rgbClr val="FF0000"/>
                </a:solidFill>
              </a:rPr>
              <a:t>num_of_layer</a:t>
            </a:r>
            <a:r>
              <a:rPr lang="en-US" altLang="ko-KR" sz="3600" b="1" dirty="0">
                <a:solidFill>
                  <a:srgbClr val="FF0000"/>
                </a:solidFill>
              </a:rPr>
              <a:t> = 6 </a:t>
            </a:r>
            <a:r>
              <a:rPr lang="ko-KR" altLang="en-US" sz="3600" b="1" dirty="0">
                <a:solidFill>
                  <a:srgbClr val="FF0000"/>
                </a:solidFill>
              </a:rPr>
              <a:t>을 제외하고</a:t>
            </a:r>
            <a:br>
              <a:rPr lang="en-US" altLang="ko-KR" sz="3600" b="1" dirty="0">
                <a:solidFill>
                  <a:srgbClr val="FF0000"/>
                </a:solidFill>
              </a:rPr>
            </a:br>
            <a:r>
              <a:rPr lang="en-US" altLang="ko-KR" sz="3600" b="1" dirty="0">
                <a:solidFill>
                  <a:srgbClr val="FF0000"/>
                </a:solidFill>
              </a:rPr>
              <a:t>12 18 </a:t>
            </a:r>
            <a:r>
              <a:rPr lang="ko-KR" altLang="en-US" sz="3600" b="1" dirty="0">
                <a:solidFill>
                  <a:srgbClr val="FF0000"/>
                </a:solidFill>
              </a:rPr>
              <a:t>은 비슷한 성능</a:t>
            </a:r>
          </a:p>
        </p:txBody>
      </p:sp>
    </p:spTree>
    <p:extLst>
      <p:ext uri="{BB962C8B-B14F-4D97-AF65-F5344CB8AC3E}">
        <p14:creationId xmlns:p14="http://schemas.microsoft.com/office/powerpoint/2010/main" val="7485515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3105834"/>
            <a:ext cx="7575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강우 이벤트 전부 학습으로 사용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,</a:t>
            </a:r>
          </a:p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영향 없는 관측소 및 컬럼 빼기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1C21A-07E7-426D-AC1B-76C99BA95C6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all_none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471184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458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기본 설정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00665" y="305776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024464" y="242953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296333" y="5514607"/>
            <a:ext cx="1158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1257</a:t>
            </a:r>
            <a:r>
              <a:rPr lang="ko-KR" altLang="en-US" dirty="0"/>
              <a:t>개 中 </a:t>
            </a:r>
            <a:r>
              <a:rPr lang="en-US" altLang="ko-KR" dirty="0"/>
              <a:t>1246</a:t>
            </a:r>
            <a:r>
              <a:rPr lang="ko-KR" altLang="en-US" dirty="0"/>
              <a:t>개 데이터 파일 학습데이터로 사용 </a:t>
            </a:r>
            <a:r>
              <a:rPr lang="en-US" altLang="ko-KR" dirty="0"/>
              <a:t>( </a:t>
            </a:r>
            <a:r>
              <a:rPr lang="ko-KR" altLang="en-US" dirty="0"/>
              <a:t>결측 데이터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6</a:t>
            </a:r>
            <a:r>
              <a:rPr lang="ko-KR" altLang="en-US" dirty="0"/>
              <a:t>개 데이터 사용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62C255-B71B-4358-85C6-3A69718E3F9E}"/>
              </a:ext>
            </a:extLst>
          </p:cNvPr>
          <p:cNvSpPr txBox="1"/>
          <p:nvPr/>
        </p:nvSpPr>
        <p:spPr>
          <a:xfrm>
            <a:off x="9273647" y="8715"/>
            <a:ext cx="2918354" cy="1890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+mn-ea"/>
              </a:rPr>
              <a:t>관심 수위 </a:t>
            </a:r>
            <a:r>
              <a:rPr lang="en-US" altLang="ko-KR" sz="1000" b="1" dirty="0">
                <a:latin typeface="+mn-ea"/>
              </a:rPr>
              <a:t>: </a:t>
            </a:r>
            <a:r>
              <a:rPr lang="ko-KR" altLang="en-US" sz="1000" b="1" dirty="0" err="1">
                <a:latin typeface="+mn-ea"/>
              </a:rPr>
              <a:t>궁내교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( 2 )  </a:t>
            </a:r>
            <a:r>
              <a:rPr lang="ko-KR" altLang="en-US" sz="1000" b="1" dirty="0" err="1">
                <a:latin typeface="+mn-ea"/>
              </a:rPr>
              <a:t>대곡교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smoothing :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궁내교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( 1 ) </a:t>
            </a:r>
            <a:r>
              <a:rPr lang="ko-KR" alt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대곡교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( 2 )</a:t>
            </a:r>
            <a:endParaRPr lang="en-US" altLang="ko-KR" sz="1000" b="1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learning_rate</a:t>
            </a:r>
            <a:r>
              <a:rPr lang="en-US" altLang="ko-KR" sz="10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Loss_function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Seq_length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36 ( 6</a:t>
            </a:r>
            <a:r>
              <a:rPr lang="ko-KR" altLang="en-US" sz="1000" b="1" dirty="0">
                <a:latin typeface="+mn-ea"/>
              </a:rPr>
              <a:t>시간 </a:t>
            </a:r>
            <a:r>
              <a:rPr lang="en-US" altLang="ko-KR" sz="10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00" b="1" dirty="0" err="1">
                <a:latin typeface="+mn-ea"/>
              </a:rPr>
              <a:t>Num_of_layer</a:t>
            </a:r>
            <a:r>
              <a:rPr lang="en-US" altLang="ko-KR" sz="1000" b="1" dirty="0">
                <a:latin typeface="+mn-ea"/>
              </a:rPr>
              <a:t> = 12 (</a:t>
            </a:r>
            <a:r>
              <a:rPr lang="ko-KR" altLang="en-US" sz="1000" b="1" dirty="0">
                <a:latin typeface="+mn-ea"/>
              </a:rPr>
              <a:t> 각 </a:t>
            </a:r>
            <a:r>
              <a:rPr lang="en-US" altLang="ko-KR" sz="1000" b="1" dirty="0">
                <a:latin typeface="+mn-ea"/>
              </a:rPr>
              <a:t>LSTM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3</a:t>
            </a:r>
            <a:r>
              <a:rPr lang="ko-KR" altLang="en-US" sz="1000" b="1" dirty="0">
                <a:latin typeface="+mn-ea"/>
              </a:rPr>
              <a:t>개 처리 </a:t>
            </a:r>
            <a:r>
              <a:rPr lang="en-US" altLang="ko-KR" sz="10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65905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7132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컬럼 정리 </a:t>
            </a:r>
            <a:r>
              <a:rPr lang="en-US" altLang="ko-KR" sz="1200" dirty="0">
                <a:latin typeface="+mj-ea"/>
                <a:ea typeface="+mj-ea"/>
              </a:rPr>
              <a:t>( + </a:t>
            </a:r>
            <a:r>
              <a:rPr lang="en-US" altLang="ko-KR" sz="1200" b="1" dirty="0">
                <a:latin typeface="+mj-ea"/>
              </a:rPr>
              <a:t>MIET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ko-KR" altLang="en-US" sz="1200" dirty="0">
                <a:latin typeface="+mj-ea"/>
              </a:rPr>
              <a:t>학습 데이터 기본 설정 </a:t>
            </a:r>
            <a:r>
              <a:rPr lang="en-US" altLang="ko-KR" sz="1200" dirty="0">
                <a:latin typeface="+mj-ea"/>
              </a:rPr>
              <a:t>)</a:t>
            </a:r>
            <a:r>
              <a:rPr lang="ko-KR" altLang="en-US" sz="1200" dirty="0">
                <a:latin typeface="+mj-ea"/>
              </a:rPr>
              <a:t> </a:t>
            </a:r>
            <a:endParaRPr lang="ko-KR" altLang="en-US" sz="2400" dirty="0">
              <a:latin typeface="+mj-ea"/>
              <a:ea typeface="+mj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05932" y="4842896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829731" y="205706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궁내교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829731" y="4032814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대곡교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4F2CE83-4381-4216-9944-710A04377A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05932" y="2685293"/>
          <a:ext cx="5475923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8503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311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(?)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085703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(19934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0.0292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0.0485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0.947363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0.949078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14.194829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22657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(5933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0.932596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0.941128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8.046630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539596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(4526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0.0452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0.899546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0.915580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4.214151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49" y="3742902"/>
            <a:ext cx="5403281" cy="17898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8584345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499249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0.6183725611506388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0.015142364285060553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0.0959299246470133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0.12305431436995841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0.7409383899519266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0.07249605282130708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0.20018566151460013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0.2692509105301356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0.6758801545804565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0.032516423158811765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0.1282569737566842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0.18032310766735296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0.5985093638956797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0.02830592628417979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0.1281632967789968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0.1682436515419818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6932"/>
            <a:ext cx="3083619" cy="161094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31464"/>
            <a:ext cx="3089860" cy="162048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361" y="1970948"/>
            <a:ext cx="2995736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80342"/>
            <a:ext cx="3043441" cy="159146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B25FE2-FB8B-4DFF-B0F9-07A68FD42E46}"/>
              </a:ext>
            </a:extLst>
          </p:cNvPr>
          <p:cNvSpPr txBox="1"/>
          <p:nvPr/>
        </p:nvSpPr>
        <p:spPr>
          <a:xfrm>
            <a:off x="377505" y="623270"/>
            <a:ext cx="311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예측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4392102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3587</TotalTime>
  <Words>3666</Words>
  <Application>Microsoft Office PowerPoint</Application>
  <PresentationFormat>와이드스크린</PresentationFormat>
  <Paragraphs>1424</Paragraphs>
  <Slides>59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66" baseType="lpstr">
      <vt:lpstr>KoPub돋움체 Medium</vt:lpstr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425</cp:revision>
  <dcterms:created xsi:type="dcterms:W3CDTF">2025-11-18T00:02:37Z</dcterms:created>
  <dcterms:modified xsi:type="dcterms:W3CDTF">2025-12-23T00:57:31Z</dcterms:modified>
</cp:coreProperties>
</file>