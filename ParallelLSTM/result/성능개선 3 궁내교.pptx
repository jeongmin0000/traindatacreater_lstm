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406" r:id="rId3"/>
    <p:sldId id="451" r:id="rId4"/>
    <p:sldId id="452" r:id="rId5"/>
    <p:sldId id="453" r:id="rId6"/>
    <p:sldId id="454" r:id="rId7"/>
    <p:sldId id="455" r:id="rId8"/>
    <p:sldId id="456" r:id="rId9"/>
    <p:sldId id="457" r:id="rId10"/>
    <p:sldId id="458" r:id="rId11"/>
    <p:sldId id="459" r:id="rId12"/>
    <p:sldId id="421" r:id="rId13"/>
    <p:sldId id="445" r:id="rId14"/>
    <p:sldId id="462" r:id="rId15"/>
    <p:sldId id="463" r:id="rId16"/>
    <p:sldId id="430" r:id="rId17"/>
    <p:sldId id="447" r:id="rId18"/>
    <p:sldId id="432" r:id="rId19"/>
    <p:sldId id="493" r:id="rId20"/>
    <p:sldId id="494" r:id="rId21"/>
    <p:sldId id="495" r:id="rId22"/>
    <p:sldId id="496" r:id="rId23"/>
    <p:sldId id="497" r:id="rId24"/>
    <p:sldId id="498" r:id="rId25"/>
    <p:sldId id="460" r:id="rId26"/>
    <p:sldId id="481" r:id="rId27"/>
    <p:sldId id="492" r:id="rId28"/>
    <p:sldId id="482" r:id="rId29"/>
    <p:sldId id="483" r:id="rId30"/>
    <p:sldId id="484" r:id="rId31"/>
    <p:sldId id="488" r:id="rId32"/>
    <p:sldId id="489" r:id="rId33"/>
    <p:sldId id="490" r:id="rId34"/>
    <p:sldId id="491" r:id="rId35"/>
    <p:sldId id="487" r:id="rId36"/>
    <p:sldId id="423" r:id="rId37"/>
    <p:sldId id="449" r:id="rId38"/>
    <p:sldId id="450" r:id="rId39"/>
    <p:sldId id="464" r:id="rId40"/>
    <p:sldId id="448" r:id="rId41"/>
    <p:sldId id="402" r:id="rId42"/>
    <p:sldId id="465" r:id="rId43"/>
    <p:sldId id="466" r:id="rId44"/>
    <p:sldId id="467" r:id="rId45"/>
    <p:sldId id="499" r:id="rId46"/>
    <p:sldId id="500" r:id="rId47"/>
    <p:sldId id="501" r:id="rId48"/>
    <p:sldId id="461" r:id="rId49"/>
    <p:sldId id="503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801708" y="2213282"/>
            <a:ext cx="458858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>
                <a:latin typeface="+mj-ea"/>
                <a:ea typeface="+mj-ea"/>
              </a:rPr>
              <a:t>궁내교</a:t>
            </a:r>
            <a:endParaRPr lang="en-US" altLang="ko-KR" sz="4400" b="1" dirty="0">
              <a:latin typeface="+mj-ea"/>
              <a:ea typeface="+mj-ea"/>
            </a:endParaRPr>
          </a:p>
          <a:p>
            <a:pPr algn="ctr"/>
            <a:r>
              <a:rPr lang="ko-KR" altLang="en-US" sz="4400" b="1" dirty="0">
                <a:latin typeface="+mj-ea"/>
                <a:ea typeface="+mj-ea"/>
              </a:rPr>
              <a:t>수위 예측 </a:t>
            </a:r>
            <a:r>
              <a:rPr lang="en-US" altLang="ko-KR" sz="4400" b="1" dirty="0">
                <a:latin typeface="+mj-ea"/>
                <a:ea typeface="+mj-ea"/>
              </a:rPr>
              <a:t>AI</a:t>
            </a:r>
          </a:p>
          <a:p>
            <a:pPr algn="ctr"/>
            <a:r>
              <a:rPr lang="ko-KR" altLang="en-US" sz="4400" b="1" dirty="0">
                <a:latin typeface="+mj-ea"/>
                <a:ea typeface="+mj-ea"/>
              </a:rPr>
              <a:t>성능 개선 결과 </a:t>
            </a:r>
            <a:r>
              <a:rPr lang="en-US" altLang="ko-KR" sz="4400" b="1" dirty="0">
                <a:latin typeface="+mj-ea"/>
                <a:ea typeface="+mj-ea"/>
              </a:rPr>
              <a:t>3</a:t>
            </a:r>
          </a:p>
          <a:p>
            <a:pPr algn="ctr"/>
            <a:r>
              <a:rPr lang="en-US" altLang="ko-KR" sz="2000" b="1" dirty="0">
                <a:latin typeface="+mj-ea"/>
                <a:ea typeface="+mj-ea"/>
              </a:rPr>
              <a:t>( </a:t>
            </a:r>
            <a:r>
              <a:rPr lang="ko-KR" altLang="en-US" sz="2000" b="1" dirty="0">
                <a:latin typeface="+mj-ea"/>
                <a:ea typeface="+mj-ea"/>
              </a:rPr>
              <a:t>시계열</a:t>
            </a:r>
            <a:r>
              <a:rPr lang="en-US" altLang="ko-KR" sz="2000" b="1" dirty="0">
                <a:latin typeface="+mj-ea"/>
                <a:ea typeface="+mj-ea"/>
              </a:rPr>
              <a:t> )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1632479" y="3105834"/>
            <a:ext cx="8927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latin typeface="+mj-ea"/>
              </a:rPr>
              <a:t>※ </a:t>
            </a:r>
            <a:r>
              <a:rPr lang="ko-KR" altLang="en-US" sz="3600" b="1" dirty="0">
                <a:latin typeface="+mj-ea"/>
              </a:rPr>
              <a:t>강우 이벤트 전부 학습으로 사용</a:t>
            </a:r>
            <a:endParaRPr lang="en-US" altLang="ko-KR" sz="36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37287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4583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기본 설정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00665" y="3057763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024464" y="2429537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296333" y="5514607"/>
            <a:ext cx="1158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1420</a:t>
            </a:r>
            <a:r>
              <a:rPr lang="ko-KR" altLang="en-US" dirty="0"/>
              <a:t>개 中 </a:t>
            </a:r>
            <a:r>
              <a:rPr lang="en-US" altLang="ko-KR" dirty="0"/>
              <a:t>1412</a:t>
            </a:r>
            <a:r>
              <a:rPr lang="ko-KR" altLang="en-US" dirty="0"/>
              <a:t>개 데이터 파일 학습데이터로 사용 </a:t>
            </a:r>
            <a:r>
              <a:rPr lang="en-US" altLang="ko-KR" dirty="0"/>
              <a:t>( </a:t>
            </a:r>
            <a:r>
              <a:rPr lang="ko-KR" altLang="en-US" dirty="0"/>
              <a:t>결측 데이터 </a:t>
            </a:r>
            <a:r>
              <a:rPr lang="en-US" altLang="ko-KR" dirty="0"/>
              <a:t>5</a:t>
            </a:r>
            <a:r>
              <a:rPr lang="ko-KR" altLang="en-US" dirty="0"/>
              <a:t>개 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검증 </a:t>
            </a:r>
            <a:r>
              <a:rPr lang="en-US" altLang="ko-KR" dirty="0"/>
              <a:t>: </a:t>
            </a:r>
            <a:r>
              <a:rPr lang="ko-KR" altLang="en-US" dirty="0"/>
              <a:t>학습 데이터에서 제외한 </a:t>
            </a:r>
            <a:r>
              <a:rPr lang="en-US" altLang="ko-KR" dirty="0"/>
              <a:t>3</a:t>
            </a:r>
            <a:r>
              <a:rPr lang="ko-KR" altLang="en-US" dirty="0"/>
              <a:t>개 데이터 사용 </a:t>
            </a:r>
            <a:r>
              <a:rPr lang="en-US" altLang="ko-KR" dirty="0"/>
              <a:t>++ </a:t>
            </a:r>
            <a:r>
              <a:rPr lang="ko-KR" altLang="en-US" dirty="0"/>
              <a:t>학습에서 검증에 사용된 </a:t>
            </a:r>
            <a:r>
              <a:rPr lang="en-US" altLang="ko-KR" dirty="0"/>
              <a:t>3</a:t>
            </a:r>
            <a:r>
              <a:rPr lang="ko-KR" altLang="en-US" dirty="0"/>
              <a:t>개 데이터 사용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273647" y="8715"/>
            <a:ext cx="2918354" cy="1890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관심 수위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 err="1">
                <a:latin typeface="+mn-ea"/>
              </a:rPr>
              <a:t>궁내교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( 2 )  </a:t>
            </a:r>
            <a:r>
              <a:rPr lang="ko-KR" altLang="en-US" sz="1000" b="1" dirty="0" err="1">
                <a:latin typeface="+mn-ea"/>
              </a:rPr>
              <a:t>대곡교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smoothing :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궁내교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( 1 )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대곡교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( 2 )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learning_rate</a:t>
            </a:r>
            <a:r>
              <a:rPr lang="en-US" altLang="ko-KR" sz="10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Loss_function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Seq_length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36 ( 6</a:t>
            </a:r>
            <a:r>
              <a:rPr lang="ko-KR" altLang="en-US" sz="1000" b="1" dirty="0">
                <a:latin typeface="+mn-ea"/>
              </a:rPr>
              <a:t>시간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Num_of_layer</a:t>
            </a:r>
            <a:r>
              <a:rPr lang="en-US" altLang="ko-KR" sz="1000" b="1" dirty="0">
                <a:latin typeface="+mn-ea"/>
              </a:rPr>
              <a:t> = 12 (</a:t>
            </a:r>
            <a:r>
              <a:rPr lang="ko-KR" altLang="en-US" sz="1000" b="1" dirty="0">
                <a:latin typeface="+mn-ea"/>
              </a:rPr>
              <a:t> 각 </a:t>
            </a:r>
            <a:r>
              <a:rPr lang="en-US" altLang="ko-KR" sz="1000" b="1" dirty="0">
                <a:latin typeface="+mn-ea"/>
              </a:rPr>
              <a:t>LSTM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</a:t>
            </a:r>
            <a:r>
              <a:rPr lang="ko-KR" altLang="en-US" sz="1000" b="1" dirty="0">
                <a:latin typeface="+mn-ea"/>
              </a:rPr>
              <a:t>개 처리 </a:t>
            </a:r>
            <a:r>
              <a:rPr lang="en-US" altLang="ko-KR" sz="1000" b="1" dirty="0">
                <a:latin typeface="+mn-ea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80726-13BD-49FF-9214-F8FACC8DDA8F}"/>
              </a:ext>
            </a:extLst>
          </p:cNvPr>
          <p:cNvSpPr txBox="1"/>
          <p:nvPr/>
        </p:nvSpPr>
        <p:spPr>
          <a:xfrm>
            <a:off x="8291514" y="4958486"/>
            <a:ext cx="2918354" cy="96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학습 </a:t>
            </a:r>
            <a:r>
              <a:rPr lang="en-US" altLang="ko-KR" sz="1000" b="1" dirty="0">
                <a:latin typeface="+mn-ea"/>
              </a:rPr>
              <a:t>: ~ 2022 68</a:t>
            </a:r>
            <a:r>
              <a:rPr lang="ko-KR" altLang="en-US" sz="1000" b="1" dirty="0">
                <a:latin typeface="+mn-ea"/>
              </a:rPr>
              <a:t>번 </a:t>
            </a:r>
            <a:r>
              <a:rPr lang="en-US" altLang="ko-KR" sz="1000" b="1" dirty="0">
                <a:latin typeface="+mn-ea"/>
              </a:rPr>
              <a:t>( 988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검증 </a:t>
            </a:r>
            <a:r>
              <a:rPr lang="en-US" altLang="ko-KR" sz="1000" b="1" dirty="0">
                <a:latin typeface="+mn-ea"/>
              </a:rPr>
              <a:t>: ~ 2024 96</a:t>
            </a:r>
            <a:r>
              <a:rPr lang="ko-KR" altLang="en-US" sz="1000" b="1" dirty="0">
                <a:latin typeface="+mn-ea"/>
              </a:rPr>
              <a:t>번 </a:t>
            </a:r>
            <a:r>
              <a:rPr lang="en-US" altLang="ko-KR" sz="1000" b="1" dirty="0">
                <a:latin typeface="+mn-ea"/>
              </a:rPr>
              <a:t>( 282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테스트 </a:t>
            </a:r>
            <a:r>
              <a:rPr lang="en-US" altLang="ko-KR" sz="1000" b="1" dirty="0">
                <a:latin typeface="+mn-ea"/>
              </a:rPr>
              <a:t>: ~ 2025 109</a:t>
            </a:r>
            <a:r>
              <a:rPr lang="ko-KR" altLang="en-US" sz="1000" b="1" dirty="0">
                <a:latin typeface="+mn-ea"/>
              </a:rPr>
              <a:t>번 </a:t>
            </a:r>
            <a:r>
              <a:rPr lang="en-US" altLang="ko-KR" sz="1000" b="1" dirty="0">
                <a:latin typeface="+mn-ea"/>
              </a:rPr>
              <a:t>( 142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2065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seq_length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조정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66671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0.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seq_length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 36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89F360-0130-4154-8388-5132BF4F999C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/dg)_s36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73142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seq_length</a:t>
            </a:r>
            <a:r>
              <a:rPr lang="en-US" altLang="ko-KR" sz="2400" dirty="0">
                <a:latin typeface="+mj-ea"/>
              </a:rPr>
              <a:t> = 36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218390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(23111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0.0258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0.0245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0.967146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0.969125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6.806384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717240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(6828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0.0371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0.0399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0.0522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0.946929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0.953082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8.452243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729071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(5472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0.0416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0.904372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0.927073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2.905314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01" y="3747356"/>
            <a:ext cx="5364976" cy="17809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394424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587181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-0.7945404436174226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0.07120448467610142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0.23399888343281214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0.26684168466733493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0.857466599365075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0.03988668540781691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0.14282773759629994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0.199716512606787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0.8885925911762368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0.011176638825219534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0.07951597525013816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0.1057196236524683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0.7262170094360034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0.019302271215992088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0.11494690630171034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0.13893261393924786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268" y="4342368"/>
            <a:ext cx="3036353" cy="160006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143" y="4327663"/>
            <a:ext cx="3087318" cy="162809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950" y="1970948"/>
            <a:ext cx="2990558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827" y="1978310"/>
            <a:ext cx="3015518" cy="159552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  <a:ea typeface="+mj-ea"/>
              </a:rPr>
              <a:t>seq_length</a:t>
            </a:r>
            <a:r>
              <a:rPr lang="en-US" altLang="ko-KR" sz="2400" dirty="0">
                <a:latin typeface="+mj-ea"/>
                <a:ea typeface="+mj-ea"/>
              </a:rPr>
              <a:t> = 36</a:t>
            </a:r>
          </a:p>
          <a:p>
            <a:r>
              <a:rPr lang="ko-KR" altLang="en-US" sz="2400" dirty="0">
                <a:latin typeface="+mj-ea"/>
              </a:rPr>
              <a:t>예측 코드 </a:t>
            </a:r>
            <a:r>
              <a:rPr lang="en-US" altLang="ko-KR" sz="2400" dirty="0">
                <a:latin typeface="+mj-ea"/>
              </a:rPr>
              <a:t>- </a:t>
            </a:r>
            <a:r>
              <a:rPr lang="ko-KR" altLang="en-US" sz="2400" dirty="0" err="1">
                <a:latin typeface="+mj-ea"/>
              </a:rPr>
              <a:t>궁내교</a:t>
            </a:r>
            <a:r>
              <a:rPr lang="en-US" altLang="ko-KR" sz="2400" dirty="0">
                <a:latin typeface="+mj-ea"/>
                <a:ea typeface="+mj-ea"/>
              </a:rPr>
              <a:t> 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82247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1.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seq_length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 48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2F3A7B-64B4-40E5-B481-252A303F51DE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/dg)_s48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90696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seq_length</a:t>
            </a:r>
            <a:r>
              <a:rPr lang="en-US" altLang="ko-KR" sz="2400" dirty="0">
                <a:latin typeface="+mj-ea"/>
              </a:rPr>
              <a:t> = 48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180538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(13486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0.0242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0.0233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0.0358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0.972953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0.976071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1.410352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809891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(3589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0.0333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0.0363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0.0458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0.958829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0.962585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12.163913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747158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(3768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0.0451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0.0551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0.916871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0.933745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1.162779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01" y="3740036"/>
            <a:ext cx="5343177" cy="17955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1917289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896783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-0.1823864103244639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0.04691519510447297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0.16771526826752556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0.21659915767258417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0.554343110493201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0.12471305723711411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0.23296182599332596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0.353147359096899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0.8364645915436455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0.016406235588360272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0.1013863165511025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0.12808682831720158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0.5842686132385491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0.02930992887373803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0.14634109947416515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0.17120142777949612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887" y="4337781"/>
            <a:ext cx="3035115" cy="160924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019" y="4332105"/>
            <a:ext cx="3059566" cy="161920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9140" y="1974164"/>
            <a:ext cx="2998178" cy="1578811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338" y="1977329"/>
            <a:ext cx="3024496" cy="159749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seq_length</a:t>
            </a:r>
            <a:r>
              <a:rPr lang="en-US" altLang="ko-KR" sz="2400" dirty="0">
                <a:latin typeface="+mj-ea"/>
              </a:rPr>
              <a:t> = 48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49746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FF0000"/>
                </a:solidFill>
                <a:latin typeface="+mj-ea"/>
              </a:rPr>
              <a:t>기존 </a:t>
            </a:r>
            <a:r>
              <a:rPr lang="en-US" altLang="ko-KR" sz="3600" b="1" dirty="0" err="1">
                <a:solidFill>
                  <a:srgbClr val="FF0000"/>
                </a:solidFill>
                <a:latin typeface="+mj-ea"/>
              </a:rPr>
              <a:t>seq_length</a:t>
            </a:r>
            <a:r>
              <a:rPr lang="en-US" altLang="ko-KR" sz="3600" b="1" dirty="0">
                <a:solidFill>
                  <a:srgbClr val="FF0000"/>
                </a:solidFill>
                <a:latin typeface="+mj-ea"/>
              </a:rPr>
              <a:t> = 36 </a:t>
            </a:r>
            <a:r>
              <a:rPr lang="ko-KR" altLang="en-US" sz="3600" b="1" dirty="0">
                <a:solidFill>
                  <a:srgbClr val="FF0000"/>
                </a:solidFill>
                <a:latin typeface="+mj-ea"/>
              </a:rPr>
              <a:t>이 제일 나음 </a:t>
            </a:r>
            <a:endParaRPr lang="en-US" altLang="ko-KR" sz="3600" b="1" dirty="0">
              <a:solidFill>
                <a:srgbClr val="FF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02765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seq_length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 36 </a:t>
            </a:r>
          </a:p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+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조정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85263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0.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=12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/dg)_l12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79588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=12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(23111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0.0258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0.0245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0.967146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0.969125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6.806384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(6828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0.0371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0.0399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0.0522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0.946929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0.953082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8.452243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(5472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0.0416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0.904372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0.927073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2.905314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01" y="3747356"/>
            <a:ext cx="5364976" cy="17809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4091177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-0.7945404436174226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0.07120448467610142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0.23399888343281214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0.26684168466733493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0.857466599365075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0.03988668540781691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0.14282773759629994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0.199716512606787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0.8885925911762368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0.011176638825219534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0.07951597525013816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0.1057196236524683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0.7262170094360034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0.019302271215992088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0.11494690630171034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0.13893261393924786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268" y="4342368"/>
            <a:ext cx="3036353" cy="160006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143" y="4327663"/>
            <a:ext cx="3087318" cy="162809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950" y="1970948"/>
            <a:ext cx="2990558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827" y="1978310"/>
            <a:ext cx="3015518" cy="159552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=12 </a:t>
            </a:r>
            <a:r>
              <a:rPr lang="ko-KR" altLang="en-US" sz="2400" dirty="0">
                <a:latin typeface="+mj-ea"/>
              </a:rPr>
              <a:t>예측 코드 </a:t>
            </a:r>
            <a:r>
              <a:rPr lang="en-US" altLang="ko-KR" sz="2400" dirty="0">
                <a:latin typeface="+mj-ea"/>
              </a:rPr>
              <a:t>- </a:t>
            </a:r>
            <a:r>
              <a:rPr lang="ko-KR" altLang="en-US" sz="2400" dirty="0" err="1">
                <a:latin typeface="+mj-ea"/>
              </a:rPr>
              <a:t>궁내교</a:t>
            </a:r>
            <a:r>
              <a:rPr lang="en-US" altLang="ko-KR" sz="2400" dirty="0">
                <a:latin typeface="+mj-ea"/>
                <a:ea typeface="+mj-ea"/>
              </a:rPr>
              <a:t> 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25429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1.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=18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/dg)_l18</a:t>
            </a:r>
            <a:endParaRPr lang="ko-KR" altLang="en-US" sz="1050" dirty="0">
              <a:latin typeface="+mj-ea"/>
            </a:endParaRPr>
          </a:p>
        </p:txBody>
      </p:sp>
      <p:sp>
        <p:nvSpPr>
          <p:cNvPr id="5" name="원형: 비어 있음 4">
            <a:extLst>
              <a:ext uri="{FF2B5EF4-FFF2-40B4-BE49-F238E27FC236}">
                <a16:creationId xmlns:a16="http://schemas.microsoft.com/office/drawing/2014/main" id="{7FE00706-44CE-4159-9BF4-DFFEA2043BE0}"/>
              </a:ext>
            </a:extLst>
          </p:cNvPr>
          <p:cNvSpPr/>
          <p:nvPr/>
        </p:nvSpPr>
        <p:spPr>
          <a:xfrm>
            <a:off x="3302000" y="1353819"/>
            <a:ext cx="5635349" cy="4150360"/>
          </a:xfrm>
          <a:prstGeom prst="donut">
            <a:avLst>
              <a:gd name="adj" fmla="val 766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93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=18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806823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(23111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0.0254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0.0242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0.0372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0.968928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0.970272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22.160994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989200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(6282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0.0385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0.0421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0.0542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0.942801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0.951583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4.037687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677268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(5472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0.0528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0.0625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0.890020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0.919186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5.456180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36" y="3740036"/>
            <a:ext cx="5386707" cy="17955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2857762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369185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-0.2437545822983267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0.04935018567626799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0.18286159541871813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0.22214901682489616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0.8500162646896093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0.04197159430678016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0.14689570089181267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0.2048697008021932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0.8895288897883276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0.011082707267791009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0.08337979230615827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0.1052744378649965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0.7838021043271743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0.015242402057216858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0.0962281313869688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0.1234601233484596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887" y="4338524"/>
            <a:ext cx="3035115" cy="160775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019" y="4338731"/>
            <a:ext cx="3059566" cy="160595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399" y="1970948"/>
            <a:ext cx="2993660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875" y="1977329"/>
            <a:ext cx="2977423" cy="159749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=18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59754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1-1.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=18</a:t>
            </a:r>
          </a:p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+ MAE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/dg)_mae_l18</a:t>
            </a:r>
            <a:endParaRPr lang="ko-KR" altLang="en-US" sz="1050" dirty="0">
              <a:latin typeface="+mj-ea"/>
            </a:endParaRPr>
          </a:p>
        </p:txBody>
      </p:sp>
      <p:sp>
        <p:nvSpPr>
          <p:cNvPr id="6" name="원형: 비어 있음 5">
            <a:extLst>
              <a:ext uri="{FF2B5EF4-FFF2-40B4-BE49-F238E27FC236}">
                <a16:creationId xmlns:a16="http://schemas.microsoft.com/office/drawing/2014/main" id="{EAE38292-4152-4540-8DC1-37929CA38D5F}"/>
              </a:ext>
            </a:extLst>
          </p:cNvPr>
          <p:cNvSpPr/>
          <p:nvPr/>
        </p:nvSpPr>
        <p:spPr>
          <a:xfrm>
            <a:off x="3302000" y="1353819"/>
            <a:ext cx="5635349" cy="4150360"/>
          </a:xfrm>
          <a:prstGeom prst="donut">
            <a:avLst>
              <a:gd name="adj" fmla="val 766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456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4" y="623270"/>
            <a:ext cx="31022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=18</a:t>
            </a:r>
          </a:p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= MAE</a:t>
            </a:r>
          </a:p>
          <a:p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573241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(23111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0.0206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0.0197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0.978130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0.980108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12.456093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906404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(6282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0.0378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0.0424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0.0551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0.940861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0.952862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3.006159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233974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(5472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0.0538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0.0642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0.884159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0.915125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4.980753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36" y="3742842"/>
            <a:ext cx="5386707" cy="17899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3485348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226972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0.7886506277757681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0.00838600388716136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0.07876580847634213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0.09157512701143995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0.6794901382392365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0.0896917913219421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0.2132765921619203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0.29948587833475904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0.8537863174988561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0.014668481547809194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0.09608093248473272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0.12111350687602598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0.7326166026610431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0.01885108656114091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0.09745151480038959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0.13729925914272412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887" y="4348846"/>
            <a:ext cx="3035115" cy="158711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6416" y="4338731"/>
            <a:ext cx="3010771" cy="160595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399" y="1974700"/>
            <a:ext cx="2993660" cy="157773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875" y="1982819"/>
            <a:ext cx="2977423" cy="158650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=18</a:t>
            </a:r>
          </a:p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= MAE</a:t>
            </a:r>
          </a:p>
          <a:p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8663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2.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 36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/dg)_l36</a:t>
            </a:r>
            <a:endParaRPr lang="ko-KR" altLang="en-US" sz="1050" dirty="0">
              <a:latin typeface="+mj-ea"/>
            </a:endParaRPr>
          </a:p>
        </p:txBody>
      </p:sp>
      <p:sp>
        <p:nvSpPr>
          <p:cNvPr id="7" name="원형: 비어 있음 6">
            <a:extLst>
              <a:ext uri="{FF2B5EF4-FFF2-40B4-BE49-F238E27FC236}">
                <a16:creationId xmlns:a16="http://schemas.microsoft.com/office/drawing/2014/main" id="{BD4F36F2-F7A4-4429-80B6-B3FC01149705}"/>
              </a:ext>
            </a:extLst>
          </p:cNvPr>
          <p:cNvSpPr/>
          <p:nvPr/>
        </p:nvSpPr>
        <p:spPr>
          <a:xfrm>
            <a:off x="3302000" y="1353819"/>
            <a:ext cx="5635349" cy="4150360"/>
          </a:xfrm>
          <a:prstGeom prst="donut">
            <a:avLst>
              <a:gd name="adj" fmla="val 766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84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=36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297027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(23111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0.0269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0.0388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0.966277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0.970299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1.513945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163485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(6822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0.0378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0.0409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0.0521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0.947172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0.956457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1.215834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037485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(5472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0.0407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0.0468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0.908998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0.930175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2.279257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36" y="3744702"/>
            <a:ext cx="5386707" cy="178623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3322997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389926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0.5154125887431622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0.01922765074578906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0.11833648959795633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0.13866380474294315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0.7651658869889291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0.06571620649596127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0.19366505410936144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0.2563517241915125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0.7987440252756075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0.020190446619850436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0.10343127078480188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0.14209309138677514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0.9320650485021252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0.004789555611749123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0.05961067683166928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0.06920661537562087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887" y="4348092"/>
            <a:ext cx="3035115" cy="158861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143" y="4338731"/>
            <a:ext cx="3021318" cy="160595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399" y="1976417"/>
            <a:ext cx="2993660" cy="1574305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875" y="1996935"/>
            <a:ext cx="2977423" cy="155827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=36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23172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rgbClr val="FF0000"/>
                </a:solidFill>
                <a:latin typeface="+mj-ea"/>
              </a:rPr>
              <a:t>seq_length</a:t>
            </a:r>
            <a:r>
              <a:rPr lang="en-US" altLang="ko-KR" sz="3600" b="1" dirty="0">
                <a:solidFill>
                  <a:srgbClr val="FF0000"/>
                </a:solidFill>
                <a:latin typeface="+mj-ea"/>
              </a:rPr>
              <a:t> = 36 + </a:t>
            </a:r>
          </a:p>
          <a:p>
            <a:pPr algn="ctr"/>
            <a:r>
              <a:rPr lang="en-US" altLang="ko-KR" sz="3600" b="1" dirty="0" err="1">
                <a:solidFill>
                  <a:srgbClr val="FF0000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rgbClr val="FF0000"/>
                </a:solidFill>
                <a:latin typeface="+mj-ea"/>
              </a:rPr>
              <a:t> = 18 </a:t>
            </a:r>
            <a:r>
              <a:rPr lang="ko-KR" altLang="en-US" sz="3600" b="1" dirty="0">
                <a:solidFill>
                  <a:srgbClr val="FF0000"/>
                </a:solidFill>
                <a:latin typeface="+mj-ea"/>
              </a:rPr>
              <a:t>이 제일 나음 </a:t>
            </a:r>
            <a:endParaRPr lang="en-US" altLang="ko-KR" sz="3600" b="1" dirty="0">
              <a:solidFill>
                <a:srgbClr val="FF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33040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2551837"/>
            <a:ext cx="757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Loss_function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=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MAE</a:t>
            </a:r>
          </a:p>
          <a:p>
            <a:pPr algn="ctr"/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Learning_rate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 0.0005</a:t>
            </a:r>
          </a:p>
        </p:txBody>
      </p:sp>
    </p:spTree>
    <p:extLst>
      <p:ext uri="{BB962C8B-B14F-4D97-AF65-F5344CB8AC3E}">
        <p14:creationId xmlns:p14="http://schemas.microsoft.com/office/powerpoint/2010/main" val="3720195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1.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 12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B6244C-FA0F-4264-B8F3-7C5306259C82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/dg)_l12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014245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4583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기본 설정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00665" y="3057763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024464" y="2429537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296333" y="5514607"/>
            <a:ext cx="1158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1420</a:t>
            </a:r>
            <a:r>
              <a:rPr lang="ko-KR" altLang="en-US" dirty="0"/>
              <a:t>개 中 </a:t>
            </a:r>
            <a:r>
              <a:rPr lang="en-US" altLang="ko-KR" dirty="0"/>
              <a:t>1412</a:t>
            </a:r>
            <a:r>
              <a:rPr lang="ko-KR" altLang="en-US" dirty="0"/>
              <a:t>개 데이터 파일 학습데이터로 사용 </a:t>
            </a:r>
            <a:r>
              <a:rPr lang="en-US" altLang="ko-KR" dirty="0"/>
              <a:t>( </a:t>
            </a:r>
            <a:r>
              <a:rPr lang="ko-KR" altLang="en-US" dirty="0"/>
              <a:t>결측 데이터 </a:t>
            </a:r>
            <a:r>
              <a:rPr lang="en-US" altLang="ko-KR" dirty="0"/>
              <a:t>5</a:t>
            </a:r>
            <a:r>
              <a:rPr lang="ko-KR" altLang="en-US" dirty="0"/>
              <a:t>개 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검증 </a:t>
            </a:r>
            <a:r>
              <a:rPr lang="en-US" altLang="ko-KR" dirty="0"/>
              <a:t>: </a:t>
            </a:r>
            <a:r>
              <a:rPr lang="ko-KR" altLang="en-US" dirty="0"/>
              <a:t>학습 데이터에서 제외한 </a:t>
            </a:r>
            <a:r>
              <a:rPr lang="en-US" altLang="ko-KR" dirty="0"/>
              <a:t>3</a:t>
            </a:r>
            <a:r>
              <a:rPr lang="ko-KR" altLang="en-US" dirty="0"/>
              <a:t>개 데이터 사용 </a:t>
            </a:r>
            <a:r>
              <a:rPr lang="en-US" altLang="ko-KR" dirty="0"/>
              <a:t>++ </a:t>
            </a:r>
            <a:r>
              <a:rPr lang="ko-KR" altLang="en-US" dirty="0"/>
              <a:t>학습에서 검증에 사용된 </a:t>
            </a:r>
            <a:r>
              <a:rPr lang="en-US" altLang="ko-KR" dirty="0"/>
              <a:t>3</a:t>
            </a:r>
            <a:r>
              <a:rPr lang="ko-KR" altLang="en-US" dirty="0"/>
              <a:t>개 데이터 사용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273647" y="8715"/>
            <a:ext cx="2918354" cy="1890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관심 수위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 err="1">
                <a:latin typeface="+mn-ea"/>
              </a:rPr>
              <a:t>궁내교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( 2 )  </a:t>
            </a:r>
            <a:r>
              <a:rPr lang="ko-KR" altLang="en-US" sz="1000" b="1" dirty="0" err="1">
                <a:latin typeface="+mn-ea"/>
              </a:rPr>
              <a:t>대곡교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smoothing :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궁내교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( 1 )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대곡교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( 2 )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learning_rate</a:t>
            </a:r>
            <a:r>
              <a:rPr lang="en-US" altLang="ko-KR" sz="10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Loss_function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Seq_length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36 ( 6</a:t>
            </a:r>
            <a:r>
              <a:rPr lang="ko-KR" altLang="en-US" sz="1000" b="1" dirty="0">
                <a:latin typeface="+mn-ea"/>
              </a:rPr>
              <a:t>시간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Num_of_layer</a:t>
            </a:r>
            <a:r>
              <a:rPr lang="en-US" altLang="ko-KR" sz="1000" b="1" dirty="0">
                <a:latin typeface="+mn-ea"/>
              </a:rPr>
              <a:t> = 12 (</a:t>
            </a:r>
            <a:r>
              <a:rPr lang="ko-KR" altLang="en-US" sz="1000" b="1" dirty="0">
                <a:latin typeface="+mn-ea"/>
              </a:rPr>
              <a:t> 각 </a:t>
            </a:r>
            <a:r>
              <a:rPr lang="en-US" altLang="ko-KR" sz="1000" b="1" dirty="0">
                <a:latin typeface="+mn-ea"/>
              </a:rPr>
              <a:t>LSTM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</a:t>
            </a:r>
            <a:r>
              <a:rPr lang="ko-KR" altLang="en-US" sz="1000" b="1" dirty="0">
                <a:latin typeface="+mn-ea"/>
              </a:rPr>
              <a:t>개 처리 </a:t>
            </a:r>
            <a:r>
              <a:rPr lang="en-US" altLang="ko-KR" sz="1000" b="1" dirty="0">
                <a:latin typeface="+mn-ea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80726-13BD-49FF-9214-F8FACC8DDA8F}"/>
              </a:ext>
            </a:extLst>
          </p:cNvPr>
          <p:cNvSpPr txBox="1"/>
          <p:nvPr/>
        </p:nvSpPr>
        <p:spPr>
          <a:xfrm>
            <a:off x="8291514" y="4958486"/>
            <a:ext cx="2918354" cy="96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학습 </a:t>
            </a:r>
            <a:r>
              <a:rPr lang="en-US" altLang="ko-KR" sz="1000" b="1" dirty="0">
                <a:latin typeface="+mn-ea"/>
              </a:rPr>
              <a:t>: ~ 2022 68</a:t>
            </a:r>
            <a:r>
              <a:rPr lang="ko-KR" altLang="en-US" sz="1000" b="1" dirty="0">
                <a:latin typeface="+mn-ea"/>
              </a:rPr>
              <a:t>번 </a:t>
            </a:r>
            <a:r>
              <a:rPr lang="en-US" altLang="ko-KR" sz="1000" b="1" dirty="0">
                <a:latin typeface="+mn-ea"/>
              </a:rPr>
              <a:t>( 988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검증 </a:t>
            </a:r>
            <a:r>
              <a:rPr lang="en-US" altLang="ko-KR" sz="1000" b="1" dirty="0">
                <a:latin typeface="+mn-ea"/>
              </a:rPr>
              <a:t>: ~ 2024 96</a:t>
            </a:r>
            <a:r>
              <a:rPr lang="ko-KR" altLang="en-US" sz="1000" b="1" dirty="0">
                <a:latin typeface="+mn-ea"/>
              </a:rPr>
              <a:t>번 </a:t>
            </a:r>
            <a:r>
              <a:rPr lang="en-US" altLang="ko-KR" sz="1000" b="1" dirty="0">
                <a:latin typeface="+mn-ea"/>
              </a:rPr>
              <a:t>( 282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테스트 </a:t>
            </a:r>
            <a:r>
              <a:rPr lang="en-US" altLang="ko-KR" sz="1000" b="1" dirty="0">
                <a:latin typeface="+mn-ea"/>
              </a:rPr>
              <a:t>: ~ 2025 109</a:t>
            </a:r>
            <a:r>
              <a:rPr lang="ko-KR" altLang="en-US" sz="1000" b="1" dirty="0">
                <a:latin typeface="+mn-ea"/>
              </a:rPr>
              <a:t>번 </a:t>
            </a:r>
            <a:r>
              <a:rPr lang="en-US" altLang="ko-KR" sz="1000" b="1" dirty="0">
                <a:latin typeface="+mn-ea"/>
              </a:rPr>
              <a:t>( 142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352551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3398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 12 </a:t>
            </a:r>
          </a:p>
          <a:p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177139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(23111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0.0288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0.0264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0.0537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0.935251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0.936525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21.145243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788408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(6828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0.0377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0.0406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0.0585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0.933385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0.939242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3.664063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02376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(5472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0.0448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0.0509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0.0672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0.873095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0.891142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7.571774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21" y="3747356"/>
            <a:ext cx="5245935" cy="17809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38943637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476450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-2.419031330681882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0.13566167586722264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0.27432608577940193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0.3683227876024271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0.6617230110332062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0.09466376147287353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0.24711518228054047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0.3076747657395282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0.7240690801943894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0.02768200305472064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0.14641764938831325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0.1663790944040766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0.08522785843810254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0.06449334175540868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0.18133603036403656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0.2539553932394598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268" y="4348810"/>
            <a:ext cx="3036353" cy="158718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021" y="4327663"/>
            <a:ext cx="3079562" cy="162809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950" y="1985777"/>
            <a:ext cx="2990558" cy="1555585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827" y="1984657"/>
            <a:ext cx="3015518" cy="158283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6949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 12 </a:t>
            </a:r>
          </a:p>
          <a:p>
            <a:r>
              <a:rPr lang="ko-KR" altLang="en-US" sz="2400" dirty="0">
                <a:latin typeface="+mj-ea"/>
              </a:rPr>
              <a:t>예측 코드 </a:t>
            </a:r>
            <a:r>
              <a:rPr lang="en-US" altLang="ko-KR" sz="2400" dirty="0">
                <a:latin typeface="+mj-ea"/>
              </a:rPr>
              <a:t>- </a:t>
            </a:r>
            <a:r>
              <a:rPr lang="ko-KR" altLang="en-US" sz="2400" dirty="0" err="1">
                <a:latin typeface="+mj-ea"/>
              </a:rPr>
              <a:t>궁내교</a:t>
            </a:r>
            <a:r>
              <a:rPr lang="en-US" altLang="ko-KR" sz="2400" dirty="0">
                <a:latin typeface="+mj-ea"/>
                <a:ea typeface="+mj-ea"/>
              </a:rPr>
              <a:t> 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61877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2.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 18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9B1721-2355-4D13-AAB7-BD8515972B90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/dg)_l18</a:t>
            </a:r>
            <a:endParaRPr lang="ko-KR" altLang="en-US" sz="1050" dirty="0">
              <a:latin typeface="+mj-ea"/>
            </a:endParaRPr>
          </a:p>
        </p:txBody>
      </p:sp>
      <p:sp>
        <p:nvSpPr>
          <p:cNvPr id="5" name="원형: 비어 있음 4">
            <a:extLst>
              <a:ext uri="{FF2B5EF4-FFF2-40B4-BE49-F238E27FC236}">
                <a16:creationId xmlns:a16="http://schemas.microsoft.com/office/drawing/2014/main" id="{A6039720-CD55-45FD-BE1D-1240F84D467B}"/>
              </a:ext>
            </a:extLst>
          </p:cNvPr>
          <p:cNvSpPr/>
          <p:nvPr/>
        </p:nvSpPr>
        <p:spPr>
          <a:xfrm>
            <a:off x="3302000" y="1353819"/>
            <a:ext cx="5635349" cy="4150360"/>
          </a:xfrm>
          <a:prstGeom prst="donut">
            <a:avLst>
              <a:gd name="adj" fmla="val 766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7066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4583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기본 설정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00665" y="3057763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024464" y="2429537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296333" y="5514607"/>
            <a:ext cx="1158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1420</a:t>
            </a:r>
            <a:r>
              <a:rPr lang="ko-KR" altLang="en-US" dirty="0"/>
              <a:t>개 中 </a:t>
            </a:r>
            <a:r>
              <a:rPr lang="en-US" altLang="ko-KR" dirty="0"/>
              <a:t>1412</a:t>
            </a:r>
            <a:r>
              <a:rPr lang="ko-KR" altLang="en-US" dirty="0"/>
              <a:t>개 데이터 파일 학습데이터로 사용 </a:t>
            </a:r>
            <a:r>
              <a:rPr lang="en-US" altLang="ko-KR" dirty="0"/>
              <a:t>( </a:t>
            </a:r>
            <a:r>
              <a:rPr lang="ko-KR" altLang="en-US" dirty="0"/>
              <a:t>결측 데이터 </a:t>
            </a:r>
            <a:r>
              <a:rPr lang="en-US" altLang="ko-KR" dirty="0"/>
              <a:t>5</a:t>
            </a:r>
            <a:r>
              <a:rPr lang="ko-KR" altLang="en-US" dirty="0"/>
              <a:t>개 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검증 </a:t>
            </a:r>
            <a:r>
              <a:rPr lang="en-US" altLang="ko-KR" dirty="0"/>
              <a:t>: </a:t>
            </a:r>
            <a:r>
              <a:rPr lang="ko-KR" altLang="en-US" dirty="0"/>
              <a:t>학습 데이터에서 제외한 </a:t>
            </a:r>
            <a:r>
              <a:rPr lang="en-US" altLang="ko-KR" dirty="0"/>
              <a:t>3</a:t>
            </a:r>
            <a:r>
              <a:rPr lang="ko-KR" altLang="en-US" dirty="0"/>
              <a:t>개 데이터 사용 </a:t>
            </a:r>
            <a:r>
              <a:rPr lang="en-US" altLang="ko-KR" dirty="0"/>
              <a:t>++ </a:t>
            </a:r>
            <a:r>
              <a:rPr lang="ko-KR" altLang="en-US" dirty="0"/>
              <a:t>학습에서 검증에 사용된 </a:t>
            </a:r>
            <a:r>
              <a:rPr lang="en-US" altLang="ko-KR" dirty="0"/>
              <a:t>3</a:t>
            </a:r>
            <a:r>
              <a:rPr lang="ko-KR" altLang="en-US" dirty="0"/>
              <a:t>개 데이터 사용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273647" y="8715"/>
            <a:ext cx="2918354" cy="1890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관심 수위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 err="1">
                <a:latin typeface="+mn-ea"/>
              </a:rPr>
              <a:t>궁내교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( 2 )  </a:t>
            </a:r>
            <a:r>
              <a:rPr lang="ko-KR" altLang="en-US" sz="1000" b="1" dirty="0" err="1">
                <a:latin typeface="+mn-ea"/>
              </a:rPr>
              <a:t>대곡교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smoothing :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궁내교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( 1 )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대곡교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( 2 )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learning_rate</a:t>
            </a:r>
            <a:r>
              <a:rPr lang="en-US" altLang="ko-KR" sz="10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Loss_function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Seq_length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36 ( 6</a:t>
            </a:r>
            <a:r>
              <a:rPr lang="ko-KR" altLang="en-US" sz="1000" b="1" dirty="0">
                <a:latin typeface="+mn-ea"/>
              </a:rPr>
              <a:t>시간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Num_of_layer</a:t>
            </a:r>
            <a:r>
              <a:rPr lang="en-US" altLang="ko-KR" sz="1000" b="1" dirty="0">
                <a:latin typeface="+mn-ea"/>
              </a:rPr>
              <a:t> = 18 (</a:t>
            </a:r>
            <a:r>
              <a:rPr lang="ko-KR" altLang="en-US" sz="1000" b="1" dirty="0">
                <a:latin typeface="+mn-ea"/>
              </a:rPr>
              <a:t> 각 </a:t>
            </a:r>
            <a:r>
              <a:rPr lang="en-US" altLang="ko-KR" sz="1000" b="1" dirty="0">
                <a:latin typeface="+mn-ea"/>
              </a:rPr>
              <a:t>LSTM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</a:t>
            </a:r>
            <a:r>
              <a:rPr lang="ko-KR" altLang="en-US" sz="1000" b="1" dirty="0">
                <a:latin typeface="+mn-ea"/>
              </a:rPr>
              <a:t>개 처리 </a:t>
            </a:r>
            <a:r>
              <a:rPr lang="en-US" altLang="ko-KR" sz="1000" b="1" dirty="0">
                <a:latin typeface="+mn-ea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80726-13BD-49FF-9214-F8FACC8DDA8F}"/>
              </a:ext>
            </a:extLst>
          </p:cNvPr>
          <p:cNvSpPr txBox="1"/>
          <p:nvPr/>
        </p:nvSpPr>
        <p:spPr>
          <a:xfrm>
            <a:off x="8291514" y="4958486"/>
            <a:ext cx="2918354" cy="96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학습 </a:t>
            </a:r>
            <a:r>
              <a:rPr lang="en-US" altLang="ko-KR" sz="1000" b="1" dirty="0">
                <a:latin typeface="+mn-ea"/>
              </a:rPr>
              <a:t>: ~ 2022 68</a:t>
            </a:r>
            <a:r>
              <a:rPr lang="ko-KR" altLang="en-US" sz="1000" b="1" dirty="0">
                <a:latin typeface="+mn-ea"/>
              </a:rPr>
              <a:t>번 </a:t>
            </a:r>
            <a:r>
              <a:rPr lang="en-US" altLang="ko-KR" sz="1000" b="1" dirty="0">
                <a:latin typeface="+mn-ea"/>
              </a:rPr>
              <a:t>( 988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검증 </a:t>
            </a:r>
            <a:r>
              <a:rPr lang="en-US" altLang="ko-KR" sz="1000" b="1" dirty="0">
                <a:latin typeface="+mn-ea"/>
              </a:rPr>
              <a:t>: ~ 2024 96</a:t>
            </a:r>
            <a:r>
              <a:rPr lang="ko-KR" altLang="en-US" sz="1000" b="1" dirty="0">
                <a:latin typeface="+mn-ea"/>
              </a:rPr>
              <a:t>번 </a:t>
            </a:r>
            <a:r>
              <a:rPr lang="en-US" altLang="ko-KR" sz="1000" b="1" dirty="0">
                <a:latin typeface="+mn-ea"/>
              </a:rPr>
              <a:t>( 282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테스트 </a:t>
            </a:r>
            <a:r>
              <a:rPr lang="en-US" altLang="ko-KR" sz="1000" b="1" dirty="0">
                <a:latin typeface="+mn-ea"/>
              </a:rPr>
              <a:t>: ~ 2025 109</a:t>
            </a:r>
            <a:r>
              <a:rPr lang="ko-KR" altLang="en-US" sz="1000" b="1" dirty="0">
                <a:latin typeface="+mn-ea"/>
              </a:rPr>
              <a:t>번 </a:t>
            </a:r>
            <a:r>
              <a:rPr lang="en-US" altLang="ko-KR" sz="1000" b="1" dirty="0">
                <a:latin typeface="+mn-ea"/>
              </a:rPr>
              <a:t>( 142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22274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3398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 18</a:t>
            </a:r>
          </a:p>
          <a:p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151515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(23111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0.0206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0.0197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0.978130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0.980108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12.456093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845209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(6828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0.0378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0.0424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0.0551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0.940861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0.952862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3.006159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879166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(5472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0.0538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0.0642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0.884159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0.915125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4.980753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51" y="3747356"/>
            <a:ext cx="5287475" cy="17809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23107871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287900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0.7886506277757681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0.00838600388716136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0.07876580847634213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0.09157512701143995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0.6794901382392365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0.0896917913219421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0.2132765921619203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0.29948587833475904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0.8537863174988561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0.014668481547809194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0.09608093248473272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0.12111350687602598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0.7326166026610431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0.01885108656114091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0.09745151480038959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0.13729925914272412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268" y="4346496"/>
            <a:ext cx="3036353" cy="159181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143" y="4332287"/>
            <a:ext cx="3087318" cy="161884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950" y="1977153"/>
            <a:ext cx="2990558" cy="157283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827" y="1988533"/>
            <a:ext cx="3015518" cy="157508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6949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 18 </a:t>
            </a:r>
          </a:p>
          <a:p>
            <a:r>
              <a:rPr lang="ko-KR" altLang="en-US" sz="2400" dirty="0">
                <a:latin typeface="+mj-ea"/>
              </a:rPr>
              <a:t>예측 코드 </a:t>
            </a:r>
            <a:r>
              <a:rPr lang="en-US" altLang="ko-KR" sz="2400" dirty="0">
                <a:latin typeface="+mj-ea"/>
              </a:rPr>
              <a:t>- </a:t>
            </a:r>
            <a:r>
              <a:rPr lang="ko-KR" altLang="en-US" sz="2400" dirty="0" err="1">
                <a:latin typeface="+mj-ea"/>
              </a:rPr>
              <a:t>궁내교</a:t>
            </a:r>
            <a:r>
              <a:rPr lang="en-US" altLang="ko-KR" sz="2400" dirty="0">
                <a:latin typeface="+mj-ea"/>
                <a:ea typeface="+mj-ea"/>
              </a:rPr>
              <a:t> 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02934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rgbClr val="FF0000"/>
                </a:solidFill>
                <a:latin typeface="+mj-ea"/>
              </a:rPr>
              <a:t>Loss_function</a:t>
            </a:r>
            <a:r>
              <a:rPr lang="en-US" altLang="ko-KR" sz="3600" b="1" dirty="0">
                <a:solidFill>
                  <a:srgbClr val="FF0000"/>
                </a:solidFill>
                <a:latin typeface="+mj-ea"/>
              </a:rPr>
              <a:t> = MAE</a:t>
            </a:r>
          </a:p>
          <a:p>
            <a:pPr algn="ctr"/>
            <a:r>
              <a:rPr lang="en-US" altLang="ko-KR" sz="3600" b="1" dirty="0" err="1">
                <a:solidFill>
                  <a:srgbClr val="FF0000"/>
                </a:solidFill>
                <a:latin typeface="+mj-ea"/>
              </a:rPr>
              <a:t>Learning_rate</a:t>
            </a:r>
            <a:r>
              <a:rPr lang="en-US" altLang="ko-KR" sz="3600" b="1" dirty="0">
                <a:solidFill>
                  <a:srgbClr val="FF0000"/>
                </a:solidFill>
                <a:latin typeface="+mj-ea"/>
              </a:rPr>
              <a:t> = 0.0005 </a:t>
            </a:r>
            <a:r>
              <a:rPr lang="ko-KR" altLang="en-US" sz="3600" b="1" dirty="0">
                <a:solidFill>
                  <a:srgbClr val="FF0000"/>
                </a:solidFill>
                <a:latin typeface="+mj-ea"/>
              </a:rPr>
              <a:t>도</a:t>
            </a:r>
            <a:endParaRPr lang="en-US" altLang="ko-KR" sz="3600" b="1" dirty="0">
              <a:solidFill>
                <a:srgbClr val="FF0000"/>
              </a:solidFill>
              <a:latin typeface="+mj-ea"/>
            </a:endParaRPr>
          </a:p>
          <a:p>
            <a:pPr algn="ctr"/>
            <a:r>
              <a:rPr lang="en-US" altLang="ko-KR" sz="3600" b="1" dirty="0" err="1">
                <a:solidFill>
                  <a:srgbClr val="FF0000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rgbClr val="FF0000"/>
                </a:solidFill>
                <a:latin typeface="+mj-ea"/>
              </a:rPr>
              <a:t> = 18 </a:t>
            </a:r>
            <a:r>
              <a:rPr lang="ko-KR" altLang="en-US" sz="3600" b="1" dirty="0">
                <a:solidFill>
                  <a:srgbClr val="FF0000"/>
                </a:solidFill>
                <a:latin typeface="+mj-ea"/>
              </a:rPr>
              <a:t>이 제일 나음 </a:t>
            </a:r>
            <a:endParaRPr lang="en-US" altLang="ko-KR" sz="3600" b="1" dirty="0">
              <a:solidFill>
                <a:srgbClr val="FF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269297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2828835"/>
            <a:ext cx="757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영향 없는 관측소 및 컬럼 빼기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+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seq_length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조정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/dg)_all_none2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471184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4583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기본 설정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00665" y="3057763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024464" y="2429537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296333" y="5514607"/>
            <a:ext cx="1158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1257</a:t>
            </a:r>
            <a:r>
              <a:rPr lang="ko-KR" altLang="en-US" dirty="0"/>
              <a:t>개 中 </a:t>
            </a:r>
            <a:r>
              <a:rPr lang="en-US" altLang="ko-KR" dirty="0"/>
              <a:t>1249</a:t>
            </a:r>
            <a:r>
              <a:rPr lang="ko-KR" altLang="en-US" dirty="0"/>
              <a:t>개 데이터 파일 학습데이터로 사용 </a:t>
            </a:r>
            <a:r>
              <a:rPr lang="en-US" altLang="ko-KR" dirty="0"/>
              <a:t>( </a:t>
            </a:r>
            <a:r>
              <a:rPr lang="ko-KR" altLang="en-US" dirty="0"/>
              <a:t>결측 데이터 </a:t>
            </a:r>
            <a:r>
              <a:rPr lang="en-US" altLang="ko-KR" dirty="0"/>
              <a:t>5</a:t>
            </a:r>
            <a:r>
              <a:rPr lang="ko-KR" altLang="en-US" dirty="0"/>
              <a:t>개 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검증 </a:t>
            </a:r>
            <a:r>
              <a:rPr lang="en-US" altLang="ko-KR" dirty="0"/>
              <a:t>: </a:t>
            </a:r>
            <a:r>
              <a:rPr lang="ko-KR" altLang="en-US" dirty="0"/>
              <a:t>학습 데이터에서 제외한 </a:t>
            </a:r>
            <a:r>
              <a:rPr lang="en-US" altLang="ko-KR" dirty="0"/>
              <a:t>3</a:t>
            </a:r>
            <a:r>
              <a:rPr lang="ko-KR" altLang="en-US" dirty="0"/>
              <a:t>개 데이터 사용 </a:t>
            </a:r>
            <a:r>
              <a:rPr lang="en-US" altLang="ko-KR" dirty="0"/>
              <a:t>+ </a:t>
            </a:r>
            <a:r>
              <a:rPr lang="ko-KR" altLang="en-US" dirty="0"/>
              <a:t>학습에서 검증에 사용된 </a:t>
            </a:r>
            <a:r>
              <a:rPr lang="en-US" altLang="ko-KR" dirty="0"/>
              <a:t>3</a:t>
            </a:r>
            <a:r>
              <a:rPr lang="ko-KR" altLang="en-US" dirty="0"/>
              <a:t>개 데이터 사용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273647" y="8715"/>
            <a:ext cx="2918354" cy="1890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관심 수위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 err="1">
                <a:latin typeface="+mn-ea"/>
              </a:rPr>
              <a:t>궁내교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( 2 )  </a:t>
            </a:r>
            <a:r>
              <a:rPr lang="ko-KR" altLang="en-US" sz="1000" b="1" dirty="0" err="1">
                <a:latin typeface="+mn-ea"/>
              </a:rPr>
              <a:t>대곡교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smoothing :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궁내교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( 1 )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대곡교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( 2 )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learning_rate</a:t>
            </a:r>
            <a:r>
              <a:rPr lang="en-US" altLang="ko-KR" sz="10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Loss_function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Seq_length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36 ( 6</a:t>
            </a:r>
            <a:r>
              <a:rPr lang="ko-KR" altLang="en-US" sz="1000" b="1" dirty="0">
                <a:latin typeface="+mn-ea"/>
              </a:rPr>
              <a:t>시간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Num_of_layer</a:t>
            </a:r>
            <a:r>
              <a:rPr lang="en-US" altLang="ko-KR" sz="1000" b="1" dirty="0">
                <a:latin typeface="+mn-ea"/>
              </a:rPr>
              <a:t> = 12 (</a:t>
            </a:r>
            <a:r>
              <a:rPr lang="ko-KR" altLang="en-US" sz="1000" b="1" dirty="0">
                <a:latin typeface="+mn-ea"/>
              </a:rPr>
              <a:t> 각 </a:t>
            </a:r>
            <a:r>
              <a:rPr lang="en-US" altLang="ko-KR" sz="1000" b="1" dirty="0">
                <a:latin typeface="+mn-ea"/>
              </a:rPr>
              <a:t>LSTM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</a:t>
            </a:r>
            <a:r>
              <a:rPr lang="ko-KR" altLang="en-US" sz="1000" b="1" dirty="0">
                <a:latin typeface="+mn-ea"/>
              </a:rPr>
              <a:t>개 처리 </a:t>
            </a:r>
            <a:r>
              <a:rPr lang="en-US" altLang="ko-KR" sz="1000" b="1" dirty="0">
                <a:latin typeface="+mn-ea"/>
              </a:rPr>
              <a:t>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E534C24-0F5E-4E23-870B-5BBF771E132D}"/>
              </a:ext>
            </a:extLst>
          </p:cNvPr>
          <p:cNvSpPr/>
          <p:nvPr/>
        </p:nvSpPr>
        <p:spPr>
          <a:xfrm>
            <a:off x="1100665" y="379944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1420</a:t>
            </a:r>
            <a:r>
              <a:rPr lang="ko-KR" altLang="en-US" dirty="0"/>
              <a:t>개 中 </a:t>
            </a:r>
            <a:r>
              <a:rPr lang="en-US" altLang="ko-KR" dirty="0"/>
              <a:t>1412</a:t>
            </a:r>
            <a:r>
              <a:rPr lang="ko-KR" altLang="en-US" dirty="0"/>
              <a:t>개 데이터 파일 학습데이터로 사용 </a:t>
            </a:r>
            <a:r>
              <a:rPr lang="en-US" altLang="ko-KR" dirty="0"/>
              <a:t>( </a:t>
            </a:r>
            <a:r>
              <a:rPr lang="ko-KR" altLang="en-US" dirty="0"/>
              <a:t>결측 데이터 </a:t>
            </a:r>
            <a:r>
              <a:rPr lang="en-US" altLang="ko-KR" dirty="0"/>
              <a:t>5</a:t>
            </a:r>
            <a:r>
              <a:rPr lang="ko-KR" altLang="en-US" dirty="0"/>
              <a:t>개 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검증 </a:t>
            </a:r>
            <a:r>
              <a:rPr lang="en-US" altLang="ko-KR" dirty="0"/>
              <a:t>: </a:t>
            </a:r>
            <a:r>
              <a:rPr lang="ko-KR" altLang="en-US" dirty="0"/>
              <a:t>학습 데이터에서 제외한 </a:t>
            </a:r>
            <a:r>
              <a:rPr lang="en-US" altLang="ko-KR" dirty="0"/>
              <a:t>3</a:t>
            </a:r>
            <a:r>
              <a:rPr lang="ko-KR" altLang="en-US" dirty="0"/>
              <a:t>개 데이터 사용 </a:t>
            </a:r>
            <a:r>
              <a:rPr lang="en-US" altLang="ko-KR" dirty="0"/>
              <a:t>++ </a:t>
            </a:r>
            <a:r>
              <a:rPr lang="ko-KR" altLang="en-US" dirty="0"/>
              <a:t>학습에서 검증에 사용된 </a:t>
            </a:r>
            <a:r>
              <a:rPr lang="en-US" altLang="ko-KR" dirty="0"/>
              <a:t>3</a:t>
            </a:r>
            <a:r>
              <a:rPr lang="ko-KR" altLang="en-US" dirty="0"/>
              <a:t>개 데이터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90C1A-730D-40CB-8C74-6D1B0871F360}"/>
              </a:ext>
            </a:extLst>
          </p:cNvPr>
          <p:cNvSpPr txBox="1"/>
          <p:nvPr/>
        </p:nvSpPr>
        <p:spPr>
          <a:xfrm>
            <a:off x="8291514" y="4958486"/>
            <a:ext cx="2918354" cy="96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학습 </a:t>
            </a:r>
            <a:r>
              <a:rPr lang="en-US" altLang="ko-KR" sz="1000" b="1" dirty="0">
                <a:latin typeface="+mn-ea"/>
              </a:rPr>
              <a:t>: ~2022</a:t>
            </a:r>
            <a:r>
              <a:rPr lang="ko-KR" altLang="en-US" sz="1000" b="1" dirty="0">
                <a:latin typeface="+mn-ea"/>
              </a:rPr>
              <a:t>년 </a:t>
            </a:r>
            <a:r>
              <a:rPr lang="en-US" altLang="ko-KR" sz="1000" b="1" dirty="0">
                <a:latin typeface="+mn-ea"/>
              </a:rPr>
              <a:t>56</a:t>
            </a:r>
            <a:r>
              <a:rPr lang="ko-KR" altLang="en-US" sz="1000" b="1" dirty="0">
                <a:latin typeface="+mn-ea"/>
              </a:rPr>
              <a:t>번</a:t>
            </a:r>
            <a:r>
              <a:rPr lang="en-US" altLang="ko-KR" sz="1000" b="1" dirty="0">
                <a:latin typeface="+mn-ea"/>
              </a:rPr>
              <a:t> ( 874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검증 </a:t>
            </a:r>
            <a:r>
              <a:rPr lang="en-US" altLang="ko-KR" sz="1000" b="1" dirty="0">
                <a:latin typeface="+mn-ea"/>
              </a:rPr>
              <a:t>: ~ 2024</a:t>
            </a:r>
            <a:r>
              <a:rPr lang="ko-KR" altLang="en-US" sz="1000" b="1" dirty="0">
                <a:latin typeface="+mn-ea"/>
              </a:rPr>
              <a:t>년 </a:t>
            </a:r>
            <a:r>
              <a:rPr lang="en-US" altLang="ko-KR" sz="1000" b="1" dirty="0">
                <a:latin typeface="+mn-ea"/>
              </a:rPr>
              <a:t>92</a:t>
            </a:r>
            <a:r>
              <a:rPr lang="ko-KR" altLang="en-US" sz="1000" b="1" dirty="0">
                <a:latin typeface="+mn-ea"/>
              </a:rPr>
              <a:t>번</a:t>
            </a:r>
            <a:r>
              <a:rPr lang="en-US" altLang="ko-KR" sz="1000" b="1" dirty="0">
                <a:latin typeface="+mn-ea"/>
              </a:rPr>
              <a:t> ( 249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테스트 </a:t>
            </a:r>
            <a:r>
              <a:rPr lang="en-US" altLang="ko-KR" sz="1000" b="1" dirty="0">
                <a:latin typeface="+mn-ea"/>
              </a:rPr>
              <a:t>: ~2025</a:t>
            </a:r>
            <a:r>
              <a:rPr lang="ko-KR" altLang="en-US" sz="1000" b="1" dirty="0">
                <a:latin typeface="+mn-ea"/>
              </a:rPr>
              <a:t>년 </a:t>
            </a:r>
            <a:r>
              <a:rPr lang="en-US" altLang="ko-KR" sz="1000" b="1" dirty="0">
                <a:latin typeface="+mn-ea"/>
              </a:rPr>
              <a:t>89</a:t>
            </a:r>
            <a:r>
              <a:rPr lang="ko-KR" altLang="en-US" sz="1000" b="1" dirty="0">
                <a:latin typeface="+mn-ea"/>
              </a:rPr>
              <a:t>번</a:t>
            </a:r>
            <a:r>
              <a:rPr lang="en-US" altLang="ko-KR" sz="1000" b="1" dirty="0">
                <a:latin typeface="+mn-ea"/>
              </a:rPr>
              <a:t> ( 126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565905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7132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컬럼 정리 </a:t>
            </a:r>
            <a:r>
              <a:rPr lang="en-US" altLang="ko-KR" sz="1200" dirty="0">
                <a:latin typeface="+mj-ea"/>
                <a:ea typeface="+mj-ea"/>
              </a:rPr>
              <a:t>( + </a:t>
            </a:r>
            <a:r>
              <a:rPr lang="en-US" altLang="ko-KR" sz="1200" b="1" dirty="0">
                <a:latin typeface="+mj-ea"/>
              </a:rPr>
              <a:t>MIET</a:t>
            </a:r>
            <a:r>
              <a:rPr lang="ko-KR" altLang="en-US" sz="1200" b="1" dirty="0">
                <a:latin typeface="+mj-ea"/>
              </a:rPr>
              <a:t> </a:t>
            </a:r>
            <a:r>
              <a:rPr lang="ko-KR" altLang="en-US" sz="1200" dirty="0">
                <a:latin typeface="+mj-ea"/>
              </a:rPr>
              <a:t>학습 데이터 기본 설정 </a:t>
            </a:r>
            <a:r>
              <a:rPr lang="en-US" altLang="ko-KR" sz="1200" dirty="0">
                <a:latin typeface="+mj-ea"/>
              </a:rPr>
              <a:t>)</a:t>
            </a:r>
            <a:r>
              <a:rPr lang="ko-KR" altLang="en-US" sz="1200" dirty="0">
                <a:latin typeface="+mj-ea"/>
              </a:rPr>
              <a:t> </a:t>
            </a:r>
            <a:endParaRPr lang="ko-KR" altLang="en-US" sz="2400" dirty="0">
              <a:latin typeface="+mj-ea"/>
              <a:ea typeface="+mj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05932" y="4842896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829731" y="2057067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궁내교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829731" y="4032814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대곡교</a:t>
            </a:r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4F2CE83-4381-4216-9944-710A04377AA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05932" y="2685293"/>
          <a:ext cx="5475923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58503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0.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seq_length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 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/dg)_all_none2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692610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  <a:ea typeface="+mj-ea"/>
              </a:rPr>
              <a:t>num_of_layer</a:t>
            </a:r>
            <a:r>
              <a:rPr lang="en-US" altLang="ko-KR" sz="2400" dirty="0">
                <a:latin typeface="+mj-ea"/>
                <a:ea typeface="+mj-ea"/>
              </a:rPr>
              <a:t> = 12 </a:t>
            </a:r>
          </a:p>
          <a:p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652565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(19874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0.0334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0.0493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0.945846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0.954264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17.890869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71838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(5882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0.0389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0.0419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0.0538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0.938219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0.942474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0.141742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718648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(4751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0.0414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0.0477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0.0570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0.908699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0.929418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2.842335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43" y="3740036"/>
            <a:ext cx="5375692" cy="17955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27568462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679210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-0.3354817263001719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0.052989771533857255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0.19141196118460757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0.2301950727836225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0.7409383899519266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0.07249605282130708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0.20018566151460013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0.2692509105301356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0.6647419430513152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0.03363383329099639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0.13416874441835613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0.1833952924450254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0.7008753467118882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0.021088911233172896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0.1155578705999586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0.1452202163377155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704" y="4336932"/>
            <a:ext cx="3053480" cy="161094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814" y="4331464"/>
            <a:ext cx="3043975" cy="162048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361" y="1978750"/>
            <a:ext cx="2995736" cy="156964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496" y="1980342"/>
            <a:ext cx="3008181" cy="159146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 12 </a:t>
            </a:r>
            <a:endParaRPr lang="en-US" altLang="ko-KR" sz="2400" dirty="0">
              <a:latin typeface="+mj-ea"/>
              <a:ea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439210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1.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seq_length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 18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/dg)_all_none2_18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965381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  <a:ea typeface="+mj-ea"/>
              </a:rPr>
              <a:t>num_of_layer</a:t>
            </a:r>
            <a:r>
              <a:rPr lang="en-US" altLang="ko-KR" sz="2400" dirty="0">
                <a:latin typeface="+mj-ea"/>
                <a:ea typeface="+mj-ea"/>
              </a:rPr>
              <a:t> = 18 </a:t>
            </a:r>
          </a:p>
          <a:p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221041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(19874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0.0262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0.0252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0.967542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0.968092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18.370273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505325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(5882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0.0430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0.0535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0.938900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0.950641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2.229004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534378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(4751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0.0504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0.905261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0.935714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2.049240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312" y="3742761"/>
            <a:ext cx="5409155" cy="17901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4440168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493543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0.14864938999199162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0.03378022583994122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0.13584673484166465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0.18379397661496205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0.7356497296198843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0.07397603667037891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0.1636988114648395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0.27198536113250454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0.7750344623088323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0.022569042664595026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0.12452420638667212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0.15022996593421375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0.7074602847267737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0.020624659384502603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0.10934795512093437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0.14361288028760721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411" y="4336932"/>
            <a:ext cx="3062066" cy="161094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416" y="4331464"/>
            <a:ext cx="3046771" cy="162048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774" y="1970948"/>
            <a:ext cx="2990909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82133"/>
            <a:ext cx="3043441" cy="158788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 18 </a:t>
            </a:r>
            <a:endParaRPr lang="en-US" altLang="ko-KR" sz="2400" dirty="0">
              <a:latin typeface="+mj-ea"/>
              <a:ea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54309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1-1.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seq_length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 18</a:t>
            </a:r>
          </a:p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+ MAE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/dg)_all_none2_mae_18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50499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35510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  <a:ea typeface="+mj-ea"/>
              </a:rPr>
              <a:t>num_of_layer</a:t>
            </a:r>
            <a:r>
              <a:rPr lang="en-US" altLang="ko-KR" sz="2400" dirty="0">
                <a:latin typeface="+mj-ea"/>
                <a:ea typeface="+mj-ea"/>
              </a:rPr>
              <a:t> = 18</a:t>
            </a:r>
          </a:p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= MAE</a:t>
            </a:r>
            <a:endParaRPr lang="en-US" altLang="ko-KR" sz="2400" dirty="0">
              <a:latin typeface="+mj-ea"/>
              <a:ea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71134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(19874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0.0287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0.0259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0.0623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0.913279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0.920168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17.730663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663951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(5882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0.0404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0.0435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0.0620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0.917917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0.930954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2.849581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764029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(4751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0.0525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0.0659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0.878156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0.905901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3.406047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93" y="3742761"/>
            <a:ext cx="5348393" cy="17901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22693212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344570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-3.2503557457995864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0.1686472944347232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0.2880982339382171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0.4106668898690558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0.5240755004511839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0.13318317465811524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0.262581952214241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0.36494270051353983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0.40984873150276957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0.05920528670290548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0.1827994661198722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0.2433213650769399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-0.12258855290443704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0.07914483170591467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0.20277521332105003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0.28132691251623027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411" y="4341114"/>
            <a:ext cx="3062066" cy="160257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416" y="4336693"/>
            <a:ext cx="3046771" cy="161003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689" y="1970948"/>
            <a:ext cx="2985079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450" y="1982133"/>
            <a:ext cx="3028272" cy="158788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754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 18</a:t>
            </a:r>
          </a:p>
          <a:p>
            <a:r>
              <a:rPr lang="en-US" altLang="ko-KR" sz="2400" dirty="0">
                <a:latin typeface="+mj-ea"/>
              </a:rPr>
              <a:t> </a:t>
            </a:r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= MAE</a:t>
            </a:r>
            <a:endParaRPr lang="en-US" altLang="ko-KR" sz="2400" dirty="0">
              <a:latin typeface="+mj-ea"/>
              <a:ea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832728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FF0000"/>
                </a:solidFill>
                <a:latin typeface="+mj-ea"/>
              </a:rPr>
              <a:t>영향 없는 관측소 및 컬럼 빼기 </a:t>
            </a:r>
          </a:p>
          <a:p>
            <a:pPr algn="ctr"/>
            <a:r>
              <a:rPr lang="en-US" altLang="ko-KR" sz="36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3600" b="1" dirty="0" err="1">
                <a:solidFill>
                  <a:srgbClr val="FF0000"/>
                </a:solidFill>
                <a:latin typeface="+mj-ea"/>
              </a:rPr>
              <a:t>seq_length</a:t>
            </a:r>
            <a:r>
              <a:rPr lang="en-US" altLang="ko-KR" sz="3600" b="1" dirty="0">
                <a:solidFill>
                  <a:srgbClr val="FF0000"/>
                </a:solidFill>
                <a:latin typeface="+mj-ea"/>
              </a:rPr>
              <a:t> = 18  </a:t>
            </a:r>
            <a:r>
              <a:rPr lang="ko-KR" altLang="en-US" sz="3600" b="1" dirty="0">
                <a:solidFill>
                  <a:srgbClr val="FF0000"/>
                </a:solidFill>
                <a:latin typeface="+mj-ea"/>
              </a:rPr>
              <a:t>성능이 더 나음</a:t>
            </a:r>
            <a:endParaRPr lang="en-US" altLang="ko-KR" sz="3600" b="1" dirty="0">
              <a:solidFill>
                <a:srgbClr val="FF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802034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4583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+mj-ea"/>
                <a:ea typeface="+mj-ea"/>
              </a:rPr>
              <a:t>결론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273647" y="8715"/>
            <a:ext cx="2918354" cy="1890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관심 수위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 err="1">
                <a:latin typeface="+mn-ea"/>
              </a:rPr>
              <a:t>궁내교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( 2 )  </a:t>
            </a:r>
            <a:r>
              <a:rPr lang="ko-KR" altLang="en-US" sz="1000" b="1" dirty="0" err="1">
                <a:latin typeface="+mn-ea"/>
              </a:rPr>
              <a:t>대곡교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smoothing :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궁내교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( 1 )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대곡교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( 2 )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learning_rate</a:t>
            </a:r>
            <a:r>
              <a:rPr lang="en-US" altLang="ko-KR" sz="10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Loss_function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Seq_length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36 ( 6</a:t>
            </a:r>
            <a:r>
              <a:rPr lang="ko-KR" altLang="en-US" sz="1000" b="1" dirty="0">
                <a:latin typeface="+mn-ea"/>
              </a:rPr>
              <a:t>시간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Num_of_layer</a:t>
            </a:r>
            <a:r>
              <a:rPr lang="en-US" altLang="ko-KR" sz="1000" b="1" dirty="0">
                <a:latin typeface="+mn-ea"/>
              </a:rPr>
              <a:t> = 12 (</a:t>
            </a:r>
            <a:r>
              <a:rPr lang="ko-KR" altLang="en-US" sz="1000" b="1" dirty="0">
                <a:latin typeface="+mn-ea"/>
              </a:rPr>
              <a:t> 각 </a:t>
            </a:r>
            <a:r>
              <a:rPr lang="en-US" altLang="ko-KR" sz="1000" b="1" dirty="0">
                <a:latin typeface="+mn-ea"/>
              </a:rPr>
              <a:t>LSTM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</a:t>
            </a:r>
            <a:r>
              <a:rPr lang="ko-KR" altLang="en-US" sz="1000" b="1" dirty="0">
                <a:latin typeface="+mn-ea"/>
              </a:rPr>
              <a:t>개 처리 </a:t>
            </a:r>
            <a:r>
              <a:rPr lang="en-US" altLang="ko-KR" sz="1000" b="1" dirty="0">
                <a:latin typeface="+mn-ea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C7F894-318F-4FD3-823D-C45A52E30BAF}"/>
              </a:ext>
            </a:extLst>
          </p:cNvPr>
          <p:cNvSpPr txBox="1"/>
          <p:nvPr/>
        </p:nvSpPr>
        <p:spPr>
          <a:xfrm>
            <a:off x="-605366" y="2644170"/>
            <a:ext cx="134027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err="1">
                <a:latin typeface="+mj-ea"/>
                <a:ea typeface="+mj-ea"/>
              </a:rPr>
              <a:t>num_of_layer</a:t>
            </a:r>
            <a:r>
              <a:rPr lang="en-US" altLang="ko-KR" sz="3200" b="1" dirty="0">
                <a:latin typeface="+mj-ea"/>
                <a:ea typeface="+mj-ea"/>
              </a:rPr>
              <a:t> = 18 , 18(MAE) , 36</a:t>
            </a:r>
          </a:p>
          <a:p>
            <a:pPr algn="ctr"/>
            <a:endParaRPr lang="en-US" altLang="ko-KR" sz="3200" b="1" dirty="0">
              <a:latin typeface="+mj-ea"/>
              <a:ea typeface="+mj-ea"/>
            </a:endParaRPr>
          </a:p>
          <a:p>
            <a:pPr algn="ctr"/>
            <a:r>
              <a:rPr lang="en-US" altLang="ko-KR" sz="3200" b="1" dirty="0" err="1">
                <a:latin typeface="+mj-ea"/>
                <a:ea typeface="+mj-ea"/>
              </a:rPr>
              <a:t>learning_rate</a:t>
            </a:r>
            <a:r>
              <a:rPr lang="en-US" altLang="ko-KR" sz="3200" b="1" dirty="0">
                <a:latin typeface="+mj-ea"/>
                <a:ea typeface="+mj-ea"/>
              </a:rPr>
              <a:t> = 0.0005 </a:t>
            </a:r>
            <a:r>
              <a:rPr lang="en-US" altLang="ko-KR" sz="3200" b="1" dirty="0">
                <a:latin typeface="+mj-ea"/>
              </a:rPr>
              <a:t>+ </a:t>
            </a:r>
            <a:r>
              <a:rPr lang="en-US" altLang="ko-KR" sz="3200" b="1" dirty="0" err="1">
                <a:latin typeface="+mj-ea"/>
              </a:rPr>
              <a:t>num_of_layer</a:t>
            </a:r>
            <a:r>
              <a:rPr lang="en-US" altLang="ko-KR" sz="3200" b="1" dirty="0">
                <a:latin typeface="+mj-ea"/>
              </a:rPr>
              <a:t> = 18(MAE)</a:t>
            </a:r>
            <a:endParaRPr lang="en-US" altLang="ko-KR" sz="32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08467124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4150</TotalTime>
  <Words>3247</Words>
  <Application>Microsoft Office PowerPoint</Application>
  <PresentationFormat>와이드스크린</PresentationFormat>
  <Paragraphs>1142</Paragraphs>
  <Slides>49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5" baseType="lpstr"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494</cp:revision>
  <dcterms:created xsi:type="dcterms:W3CDTF">2025-11-18T00:02:37Z</dcterms:created>
  <dcterms:modified xsi:type="dcterms:W3CDTF">2025-12-24T06:41:13Z</dcterms:modified>
</cp:coreProperties>
</file>