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406" r:id="rId3"/>
    <p:sldId id="451" r:id="rId4"/>
    <p:sldId id="421" r:id="rId5"/>
    <p:sldId id="445" r:id="rId6"/>
    <p:sldId id="479" r:id="rId7"/>
    <p:sldId id="480" r:id="rId8"/>
    <p:sldId id="493" r:id="rId9"/>
    <p:sldId id="494" r:id="rId10"/>
    <p:sldId id="495" r:id="rId11"/>
    <p:sldId id="430" r:id="rId12"/>
    <p:sldId id="477" r:id="rId13"/>
    <p:sldId id="478" r:id="rId14"/>
    <p:sldId id="496" r:id="rId15"/>
    <p:sldId id="497" r:id="rId16"/>
    <p:sldId id="498" r:id="rId17"/>
    <p:sldId id="460" r:id="rId18"/>
    <p:sldId id="481" r:id="rId19"/>
    <p:sldId id="492" r:id="rId20"/>
    <p:sldId id="483" r:id="rId21"/>
    <p:sldId id="484" r:id="rId22"/>
    <p:sldId id="488" r:id="rId23"/>
    <p:sldId id="490" r:id="rId24"/>
    <p:sldId id="491" r:id="rId25"/>
    <p:sldId id="502" r:id="rId26"/>
    <p:sldId id="50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4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2213282"/>
            <a:ext cx="458858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>
                <a:latin typeface="+mj-ea"/>
                <a:ea typeface="+mj-ea"/>
              </a:rPr>
              <a:t>대곡교</a:t>
            </a:r>
            <a:endParaRPr lang="en-US" altLang="ko-KR" sz="4400" b="1" dirty="0">
              <a:latin typeface="+mj-ea"/>
              <a:ea typeface="+mj-ea"/>
            </a:endParaRP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수위 예측 </a:t>
            </a:r>
            <a:r>
              <a:rPr lang="en-US" altLang="ko-KR" sz="4400" b="1" dirty="0">
                <a:latin typeface="+mj-ea"/>
                <a:ea typeface="+mj-ea"/>
              </a:rPr>
              <a:t>AI</a:t>
            </a: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성능 개선 결과 </a:t>
            </a:r>
            <a:r>
              <a:rPr lang="en-US" altLang="ko-KR" sz="4400" b="1" dirty="0">
                <a:latin typeface="+mj-ea"/>
                <a:ea typeface="+mj-ea"/>
              </a:rPr>
              <a:t>3</a:t>
            </a:r>
          </a:p>
          <a:p>
            <a:pPr algn="ctr"/>
            <a:r>
              <a:rPr lang="en-US" altLang="ko-KR" sz="2000" b="1" dirty="0">
                <a:latin typeface="+mj-ea"/>
                <a:ea typeface="+mj-ea"/>
              </a:rPr>
              <a:t>( </a:t>
            </a:r>
            <a:r>
              <a:rPr lang="ko-KR" altLang="en-US" sz="2000" b="1" dirty="0">
                <a:latin typeface="+mj-ea"/>
                <a:ea typeface="+mj-ea"/>
              </a:rPr>
              <a:t>시계열</a:t>
            </a:r>
            <a:r>
              <a:rPr lang="en-US" altLang="ko-KR" sz="2000" b="1" dirty="0">
                <a:latin typeface="+mj-ea"/>
                <a:ea typeface="+mj-ea"/>
              </a:rPr>
              <a:t> )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1632479" y="3105834"/>
            <a:ext cx="8927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latin typeface="+mj-ea"/>
              </a:rPr>
              <a:t>※ </a:t>
            </a:r>
            <a:r>
              <a:rPr lang="ko-KR" altLang="en-US" sz="3600" b="1" dirty="0">
                <a:latin typeface="+mj-ea"/>
              </a:rPr>
              <a:t>강우 이벤트 전부 학습으로 사용</a:t>
            </a:r>
            <a:endParaRPr lang="en-US" altLang="ko-KR" sz="36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3728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458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기본 설정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00665" y="305776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024464" y="2429537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296333" y="5514607"/>
            <a:ext cx="1158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1420</a:t>
            </a:r>
            <a:r>
              <a:rPr lang="ko-KR" altLang="en-US" dirty="0"/>
              <a:t>개 中 </a:t>
            </a:r>
            <a:r>
              <a:rPr lang="en-US" altLang="ko-KR" dirty="0"/>
              <a:t>1412</a:t>
            </a:r>
            <a:r>
              <a:rPr lang="ko-KR" altLang="en-US" dirty="0"/>
              <a:t>개 데이터 파일 학습데이터로 사용 </a:t>
            </a:r>
            <a:r>
              <a:rPr lang="en-US" altLang="ko-KR" dirty="0"/>
              <a:t>( </a:t>
            </a:r>
            <a:r>
              <a:rPr lang="ko-KR" altLang="en-US" dirty="0"/>
              <a:t>결측 데이터 </a:t>
            </a:r>
            <a:r>
              <a:rPr lang="en-US" altLang="ko-KR" dirty="0"/>
              <a:t>5</a:t>
            </a:r>
            <a:r>
              <a:rPr lang="ko-KR" altLang="en-US" dirty="0"/>
              <a:t>개 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3</a:t>
            </a:r>
            <a:r>
              <a:rPr lang="ko-KR" altLang="en-US" dirty="0"/>
              <a:t>개 데이터 사용 </a:t>
            </a:r>
            <a:r>
              <a:rPr lang="en-US" altLang="ko-KR" dirty="0"/>
              <a:t>++ </a:t>
            </a:r>
            <a:r>
              <a:rPr lang="ko-KR" altLang="en-US" dirty="0"/>
              <a:t>학습에서 검증에 사용된 </a:t>
            </a:r>
            <a:r>
              <a:rPr lang="en-US" altLang="ko-KR" dirty="0"/>
              <a:t>3</a:t>
            </a:r>
            <a:r>
              <a:rPr lang="ko-KR" altLang="en-US" dirty="0"/>
              <a:t>개 데이터 사용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273647" y="8715"/>
            <a:ext cx="2918354" cy="1890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관심 수위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 err="1">
                <a:latin typeface="+mn-ea"/>
              </a:rPr>
              <a:t>궁내교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( 2 )  </a:t>
            </a:r>
            <a:r>
              <a:rPr lang="ko-KR" altLang="en-US" sz="1000" b="1" dirty="0" err="1">
                <a:latin typeface="+mn-ea"/>
              </a:rPr>
              <a:t>대곡교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smoothing :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궁내교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( 1 )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대곡교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( 2 )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learning_rate</a:t>
            </a:r>
            <a:r>
              <a:rPr lang="en-US" altLang="ko-KR" sz="10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Loss_function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Seq_length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36 ( 6</a:t>
            </a:r>
            <a:r>
              <a:rPr lang="ko-KR" altLang="en-US" sz="1000" b="1" dirty="0">
                <a:latin typeface="+mn-ea"/>
              </a:rPr>
              <a:t>시간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Num_of_layer</a:t>
            </a:r>
            <a:r>
              <a:rPr lang="en-US" altLang="ko-KR" sz="1000" b="1" dirty="0">
                <a:latin typeface="+mn-ea"/>
              </a:rPr>
              <a:t> = 12 (</a:t>
            </a:r>
            <a:r>
              <a:rPr lang="ko-KR" altLang="en-US" sz="1000" b="1" dirty="0">
                <a:latin typeface="+mn-ea"/>
              </a:rPr>
              <a:t> 각 </a:t>
            </a:r>
            <a:r>
              <a:rPr lang="en-US" altLang="ko-KR" sz="1000" b="1" dirty="0">
                <a:latin typeface="+mn-ea"/>
              </a:rPr>
              <a:t>LSTM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</a:t>
            </a:r>
            <a:r>
              <a:rPr lang="ko-KR" altLang="en-US" sz="1000" b="1" dirty="0">
                <a:latin typeface="+mn-ea"/>
              </a:rPr>
              <a:t>개 처리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80726-13BD-49FF-9214-F8FACC8DDA8F}"/>
              </a:ext>
            </a:extLst>
          </p:cNvPr>
          <p:cNvSpPr txBox="1"/>
          <p:nvPr/>
        </p:nvSpPr>
        <p:spPr>
          <a:xfrm>
            <a:off x="8291514" y="4958486"/>
            <a:ext cx="2918354" cy="96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학습 </a:t>
            </a:r>
            <a:r>
              <a:rPr lang="en-US" altLang="ko-KR" sz="1000" b="1" dirty="0">
                <a:latin typeface="+mn-ea"/>
              </a:rPr>
              <a:t>: ~ 2022 68</a:t>
            </a:r>
            <a:r>
              <a:rPr lang="ko-KR" altLang="en-US" sz="1000" b="1" dirty="0">
                <a:latin typeface="+mn-ea"/>
              </a:rPr>
              <a:t>번 </a:t>
            </a:r>
            <a:r>
              <a:rPr lang="en-US" altLang="ko-KR" sz="1000" b="1" dirty="0">
                <a:latin typeface="+mn-ea"/>
              </a:rPr>
              <a:t>( 988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검증 </a:t>
            </a:r>
            <a:r>
              <a:rPr lang="en-US" altLang="ko-KR" sz="1000" b="1" dirty="0">
                <a:latin typeface="+mn-ea"/>
              </a:rPr>
              <a:t>: ~ 2024 96</a:t>
            </a:r>
            <a:r>
              <a:rPr lang="ko-KR" altLang="en-US" sz="1000" b="1" dirty="0">
                <a:latin typeface="+mn-ea"/>
              </a:rPr>
              <a:t>번 </a:t>
            </a:r>
            <a:r>
              <a:rPr lang="en-US" altLang="ko-KR" sz="1000" b="1" dirty="0">
                <a:latin typeface="+mn-ea"/>
              </a:rPr>
              <a:t>( 282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테스트 </a:t>
            </a:r>
            <a:r>
              <a:rPr lang="en-US" altLang="ko-KR" sz="1000" b="1" dirty="0">
                <a:latin typeface="+mn-ea"/>
              </a:rPr>
              <a:t>: ~ 2025 109</a:t>
            </a:r>
            <a:r>
              <a:rPr lang="ko-KR" altLang="en-US" sz="1000" b="1" dirty="0">
                <a:latin typeface="+mn-ea"/>
              </a:rPr>
              <a:t>번 </a:t>
            </a:r>
            <a:r>
              <a:rPr lang="en-US" altLang="ko-KR" sz="1000" b="1" dirty="0">
                <a:latin typeface="+mn-ea"/>
              </a:rPr>
              <a:t>( 142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2065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36 </a:t>
            </a: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+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조정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85263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0.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=12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/dg)_l12</a:t>
            </a:r>
            <a:endParaRPr lang="ko-KR" altLang="en-US" sz="1050" dirty="0">
              <a:latin typeface="+mj-ea"/>
            </a:endParaRPr>
          </a:p>
        </p:txBody>
      </p:sp>
      <p:sp>
        <p:nvSpPr>
          <p:cNvPr id="5" name="원형: 비어 있음 4">
            <a:extLst>
              <a:ext uri="{FF2B5EF4-FFF2-40B4-BE49-F238E27FC236}">
                <a16:creationId xmlns:a16="http://schemas.microsoft.com/office/drawing/2014/main" id="{62B51301-B57B-4F8F-9E8E-DCF5D8E2F7ED}"/>
              </a:ext>
            </a:extLst>
          </p:cNvPr>
          <p:cNvSpPr/>
          <p:nvPr/>
        </p:nvSpPr>
        <p:spPr>
          <a:xfrm>
            <a:off x="3302000" y="1353819"/>
            <a:ext cx="5635349" cy="4150360"/>
          </a:xfrm>
          <a:prstGeom prst="donut">
            <a:avLst>
              <a:gd name="adj" fmla="val 766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588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=12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553822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0.0348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0.0545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0.977872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0.981024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1.489537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939316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(6282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0.0141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0.970796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0.973404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0.382375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551232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0.0621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0.945628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0.946119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5.689971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55" y="3745533"/>
            <a:ext cx="5348269" cy="17845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1492928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91525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0.6571355333013245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0.04801457060069652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0.19200435611936775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0.21912227317344196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0.7198263671371292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0.2550023667304158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0.3688772605525123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0.5049775903249726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0.9231141326275117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0.03550482569334603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0.14576794703801474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0.18842724243947856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0.8274971285050222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0.059875573660618985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0.213871206442515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0.24469485826355034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869" y="4351440"/>
            <a:ext cx="3029151" cy="158192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167" y="4344367"/>
            <a:ext cx="3029270" cy="159468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689" y="1973037"/>
            <a:ext cx="2985079" cy="158106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393" y="2006316"/>
            <a:ext cx="2942386" cy="153951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=12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0040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0-1.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=12</a:t>
            </a: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+ MAE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/dg)_mae_l12</a:t>
            </a:r>
            <a:endParaRPr lang="ko-KR" altLang="en-US" sz="1050" dirty="0">
              <a:latin typeface="+mj-ea"/>
            </a:endParaRPr>
          </a:p>
        </p:txBody>
      </p:sp>
      <p:sp>
        <p:nvSpPr>
          <p:cNvPr id="6" name="원형: 비어 있음 5">
            <a:extLst>
              <a:ext uri="{FF2B5EF4-FFF2-40B4-BE49-F238E27FC236}">
                <a16:creationId xmlns:a16="http://schemas.microsoft.com/office/drawing/2014/main" id="{3B6E0511-32F1-4906-B8B8-B50E34DB7E22}"/>
              </a:ext>
            </a:extLst>
          </p:cNvPr>
          <p:cNvSpPr/>
          <p:nvPr/>
        </p:nvSpPr>
        <p:spPr>
          <a:xfrm>
            <a:off x="3302000" y="1353819"/>
            <a:ext cx="5635349" cy="4150360"/>
          </a:xfrm>
          <a:prstGeom prst="donut">
            <a:avLst>
              <a:gd name="adj" fmla="val 766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456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339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=12</a:t>
            </a:r>
          </a:p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= MAE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657461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0.0144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0.0599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0.973250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0.975980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1.864916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947031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(6282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0.0289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0.0543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0.969639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0.970755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0.981632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742243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0.0271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0.0682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0.934381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0.936408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5.370354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10" y="3740036"/>
            <a:ext cx="5315758" cy="1795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485348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969914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0.2091296404860017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0.11075309459307643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0.28849312014049944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0.3327958752645177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0.5920753404002524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0.3712760283068737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0.47554510619905266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0.6093242390606775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0.7620351947859629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0.10988884198110321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0.25544776280721027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0.331494859660151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0.5902563975559536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0.14222159340008522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0.32031501584582855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0.377122782923659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87" y="4354409"/>
            <a:ext cx="3035115" cy="157598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019" y="4349132"/>
            <a:ext cx="3059566" cy="158515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399" y="1981944"/>
            <a:ext cx="2993660" cy="156325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875" y="1986653"/>
            <a:ext cx="2977423" cy="15788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=12</a:t>
            </a:r>
          </a:p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= MAE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8663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1.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=18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/dg)_l18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84093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=18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725348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0.0182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0.0604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0.972778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0.974865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4.641500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332905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(6282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0.0376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0.0174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0.966656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0.967987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2.900384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394921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0.0169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0.0677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0.935354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0.937525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8.181360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55" y="3740036"/>
            <a:ext cx="5348269" cy="1795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102552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146173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0.46494493229205325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0.0749288474570961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0.253041501575046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0.27373134175153585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0.6025684964802238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0.36172559485772043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0.3919211355845134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0.6014362766392799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0.7837896284275703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0.09984294667032062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0.23748457458284167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0.3159793453223179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0.6523937960110676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0.12065376472549574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0.27478178872002496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0.3473525078727599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869" y="4338524"/>
            <a:ext cx="3029151" cy="160775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167" y="4338731"/>
            <a:ext cx="3029270" cy="160595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689" y="1970948"/>
            <a:ext cx="2985079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875" y="2006316"/>
            <a:ext cx="2977423" cy="153951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=18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87682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2.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36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/dg)_l36</a:t>
            </a:r>
            <a:endParaRPr lang="ko-KR" altLang="en-US" sz="1050" dirty="0">
              <a:latin typeface="+mj-ea"/>
            </a:endParaRPr>
          </a:p>
        </p:txBody>
      </p:sp>
      <p:sp>
        <p:nvSpPr>
          <p:cNvPr id="6" name="원형: 비어 있음 5">
            <a:extLst>
              <a:ext uri="{FF2B5EF4-FFF2-40B4-BE49-F238E27FC236}">
                <a16:creationId xmlns:a16="http://schemas.microsoft.com/office/drawing/2014/main" id="{8050D35A-9C11-401D-9C33-A4973BB8833A}"/>
              </a:ext>
            </a:extLst>
          </p:cNvPr>
          <p:cNvSpPr/>
          <p:nvPr/>
        </p:nvSpPr>
        <p:spPr>
          <a:xfrm>
            <a:off x="3302000" y="1353819"/>
            <a:ext cx="5635349" cy="4150360"/>
          </a:xfrm>
          <a:prstGeom prst="donut">
            <a:avLst>
              <a:gd name="adj" fmla="val 766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84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=36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340042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0.0337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0.0160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0.976522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0.978192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4.313771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62203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(6282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0.0358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0.0567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0.966926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0.968519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3.448825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807042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0.0144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0.944348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0.945049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6.891850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6" y="3752862"/>
            <a:ext cx="5386707" cy="17699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322997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75510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0.5347686030011513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0.06515077509181906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0.2023961880471971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0.2552464986866991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0.749784161153433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0.22773603085819336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0.34499009158876204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0.47721696413496595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0.8294799701303481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0.07874378146005706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0.1590827772352431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0.28061322395791877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0.7660424705680733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0.08120642378620117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0.24448778284920586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0.2849674082876868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87" y="4347341"/>
            <a:ext cx="3035115" cy="159012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019" y="4346665"/>
            <a:ext cx="3059566" cy="159008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921" y="1970948"/>
            <a:ext cx="2992616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875" y="1982094"/>
            <a:ext cx="2977423" cy="158795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=36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>
                <a:latin typeface="+mj-ea"/>
                <a:ea typeface="+mj-ea"/>
              </a:rPr>
              <a:t>- </a:t>
            </a:r>
            <a:r>
              <a:rPr lang="ko-KR" altLang="en-US" sz="2400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23172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rgbClr val="FF0000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rgbClr val="FF0000"/>
                </a:solidFill>
                <a:latin typeface="+mj-ea"/>
              </a:rPr>
              <a:t> = 36 + </a:t>
            </a:r>
          </a:p>
          <a:p>
            <a:pPr algn="ctr"/>
            <a:r>
              <a:rPr lang="en-US" altLang="ko-KR" sz="3600" b="1" dirty="0" err="1">
                <a:solidFill>
                  <a:srgbClr val="FF0000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rgbClr val="FF0000"/>
                </a:solidFill>
                <a:latin typeface="+mj-ea"/>
              </a:rPr>
              <a:t> = 12 </a:t>
            </a:r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이 제일 나음 </a:t>
            </a:r>
            <a:endParaRPr lang="en-US" altLang="ko-KR" sz="3600" b="1" dirty="0">
              <a:solidFill>
                <a:srgbClr val="FF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3304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828835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Loss_function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=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MAE</a:t>
            </a:r>
          </a:p>
          <a:p>
            <a:pPr algn="ctr"/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Learning_rate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0.0005</a:t>
            </a:r>
          </a:p>
        </p:txBody>
      </p:sp>
    </p:spTree>
    <p:extLst>
      <p:ext uri="{BB962C8B-B14F-4D97-AF65-F5344CB8AC3E}">
        <p14:creationId xmlns:p14="http://schemas.microsoft.com/office/powerpoint/2010/main" val="372019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1.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12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B6244C-FA0F-4264-B8F3-7C5306259C82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/dg)_l12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01424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398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 12 </a:t>
            </a:r>
          </a:p>
          <a:p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474418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0.0144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0.0599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0.973250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0.975980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1.864916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742387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(6828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0.0289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0.0543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0.969639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0.970755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0.981632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561496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0.0271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0.0682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0.934381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0.936408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5.370354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74" y="3747356"/>
            <a:ext cx="5196629" cy="17809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894363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389771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0.2091296404860017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0.11075309459307643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0.28849312014049944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0.3327958752645177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0.5920753404002524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0.3712760283068737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0.47554510619905266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0.6093242390606775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0.7620351947859629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0.10988884198110321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0.25544776280721027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0.331494859660151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0.5902563975559536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0.14222159340008522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0.32031501584582855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0.377122782923659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932" y="4348810"/>
            <a:ext cx="3015024" cy="158718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273" y="4327663"/>
            <a:ext cx="3077057" cy="16280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8385" y="1985777"/>
            <a:ext cx="2939688" cy="1555585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695" y="1984657"/>
            <a:ext cx="3011781" cy="158283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694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 12 </a:t>
            </a:r>
          </a:p>
          <a:p>
            <a:r>
              <a:rPr lang="ko-KR" altLang="en-US" sz="2400" dirty="0">
                <a:latin typeface="+mj-ea"/>
              </a:rPr>
              <a:t>예측 코드 </a:t>
            </a:r>
            <a:r>
              <a:rPr lang="en-US" altLang="ko-KR" sz="2400" dirty="0">
                <a:latin typeface="+mj-ea"/>
              </a:rPr>
              <a:t>- </a:t>
            </a:r>
            <a:r>
              <a:rPr lang="ko-KR" altLang="en-US" sz="2400" dirty="0" err="1">
                <a:latin typeface="+mj-ea"/>
              </a:rPr>
              <a:t>대곡교</a:t>
            </a:r>
            <a:r>
              <a:rPr lang="en-US" altLang="ko-KR" sz="2400" dirty="0">
                <a:latin typeface="+mj-ea"/>
                <a:ea typeface="+mj-ea"/>
              </a:rPr>
              <a:t> 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61877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2.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 18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9B1721-2355-4D13-AAB7-BD8515972B90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/dg)_l18</a:t>
            </a:r>
            <a:endParaRPr lang="ko-KR" altLang="en-US" sz="1050" dirty="0">
              <a:latin typeface="+mj-ea"/>
            </a:endParaRPr>
          </a:p>
        </p:txBody>
      </p:sp>
      <p:sp>
        <p:nvSpPr>
          <p:cNvPr id="6" name="원형: 비어 있음 5">
            <a:extLst>
              <a:ext uri="{FF2B5EF4-FFF2-40B4-BE49-F238E27FC236}">
                <a16:creationId xmlns:a16="http://schemas.microsoft.com/office/drawing/2014/main" id="{4AFF894B-C243-43B1-8FD7-8108E828F15F}"/>
              </a:ext>
            </a:extLst>
          </p:cNvPr>
          <p:cNvSpPr/>
          <p:nvPr/>
        </p:nvSpPr>
        <p:spPr>
          <a:xfrm>
            <a:off x="3302000" y="1353819"/>
            <a:ext cx="5635349" cy="4150360"/>
          </a:xfrm>
          <a:prstGeom prst="donut">
            <a:avLst>
              <a:gd name="adj" fmla="val 766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706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398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 18</a:t>
            </a:r>
          </a:p>
          <a:p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624550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0.0145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0.968229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0.970063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13.060085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992277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(6828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0.0124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0.0555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0.968298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0.969206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1.881732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764536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0.0682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0.934294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0.935146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3.396203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01" y="3751117"/>
            <a:ext cx="5364976" cy="17734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310787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318457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0.5988864025277925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0.05617175010921909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0.18513488743040302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0.23700580184716807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0.6995342686744681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0.27347138924702724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0.43939690192540487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0.5229449198979059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0.8985794355496304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0.04683460804422999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0.16922600640190966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0.2164130496163066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0.6443384065170401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0.12344978233862086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0.2827947984801398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0.3513542120689901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586" y="4342368"/>
            <a:ext cx="3029716" cy="160006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143" y="4331287"/>
            <a:ext cx="3087318" cy="162084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950" y="1974868"/>
            <a:ext cx="2990558" cy="157740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827" y="1990718"/>
            <a:ext cx="3015518" cy="157071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694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 18 </a:t>
            </a:r>
          </a:p>
          <a:p>
            <a:r>
              <a:rPr lang="ko-KR" altLang="en-US" sz="2400" dirty="0">
                <a:latin typeface="+mj-ea"/>
              </a:rPr>
              <a:t>예측 코드 </a:t>
            </a:r>
            <a:r>
              <a:rPr lang="en-US" altLang="ko-KR" sz="2400" dirty="0">
                <a:latin typeface="+mj-ea"/>
              </a:rPr>
              <a:t>- </a:t>
            </a:r>
            <a:r>
              <a:rPr lang="ko-KR" altLang="en-US" sz="2400" dirty="0" err="1">
                <a:latin typeface="+mj-ea"/>
              </a:rPr>
              <a:t>대곡교</a:t>
            </a:r>
            <a:r>
              <a:rPr lang="en-US" altLang="ko-KR" sz="2400" dirty="0">
                <a:latin typeface="+mj-ea"/>
                <a:ea typeface="+mj-ea"/>
              </a:rPr>
              <a:t> 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0293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551837"/>
            <a:ext cx="7575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rgbClr val="FF0000"/>
                </a:solidFill>
                <a:latin typeface="+mj-ea"/>
              </a:rPr>
              <a:t>Loss_function</a:t>
            </a:r>
            <a:r>
              <a:rPr lang="en-US" altLang="ko-KR" sz="3600" b="1" dirty="0">
                <a:solidFill>
                  <a:srgbClr val="FF0000"/>
                </a:solidFill>
                <a:latin typeface="+mj-ea"/>
              </a:rPr>
              <a:t> = MAE</a:t>
            </a:r>
          </a:p>
          <a:p>
            <a:pPr algn="ctr"/>
            <a:r>
              <a:rPr lang="en-US" altLang="ko-KR" sz="3600" b="1" dirty="0" err="1">
                <a:solidFill>
                  <a:srgbClr val="FF0000"/>
                </a:solidFill>
                <a:latin typeface="+mj-ea"/>
              </a:rPr>
              <a:t>Learning_rate</a:t>
            </a:r>
            <a:r>
              <a:rPr lang="en-US" altLang="ko-KR" sz="3600" b="1" dirty="0">
                <a:solidFill>
                  <a:srgbClr val="FF0000"/>
                </a:solidFill>
                <a:latin typeface="+mj-ea"/>
              </a:rPr>
              <a:t> = 0.0005 </a:t>
            </a:r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은</a:t>
            </a:r>
            <a:endParaRPr lang="en-US" altLang="ko-KR" sz="3600" b="1" dirty="0">
              <a:solidFill>
                <a:srgbClr val="FF0000"/>
              </a:solidFill>
              <a:latin typeface="+mj-ea"/>
            </a:endParaRPr>
          </a:p>
          <a:p>
            <a:pPr algn="ctr"/>
            <a:r>
              <a:rPr lang="en-US" altLang="ko-KR" sz="3600" b="1" dirty="0" err="1">
                <a:solidFill>
                  <a:srgbClr val="FF0000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rgbClr val="FF0000"/>
                </a:solidFill>
                <a:latin typeface="+mj-ea"/>
              </a:rPr>
              <a:t> = 18 </a:t>
            </a:r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이 제일 나음 </a:t>
            </a:r>
            <a:endParaRPr lang="en-US" altLang="ko-KR" sz="3600" b="1" dirty="0">
              <a:solidFill>
                <a:srgbClr val="FF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54638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458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+mj-ea"/>
                <a:ea typeface="+mj-ea"/>
              </a:rPr>
              <a:t>결론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273647" y="8715"/>
            <a:ext cx="2918354" cy="1890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관심 수위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 err="1">
                <a:latin typeface="+mn-ea"/>
              </a:rPr>
              <a:t>궁내교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( 2 )  </a:t>
            </a:r>
            <a:r>
              <a:rPr lang="ko-KR" altLang="en-US" sz="1000" b="1" dirty="0" err="1">
                <a:latin typeface="+mn-ea"/>
              </a:rPr>
              <a:t>대곡교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smoothing :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궁내교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( 1 )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대곡교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( 2 )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learning_rate</a:t>
            </a:r>
            <a:r>
              <a:rPr lang="en-US" altLang="ko-KR" sz="10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Loss_function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Seq_length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36 ( 6</a:t>
            </a:r>
            <a:r>
              <a:rPr lang="ko-KR" altLang="en-US" sz="1000" b="1" dirty="0">
                <a:latin typeface="+mn-ea"/>
              </a:rPr>
              <a:t>시간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Num_of_layer</a:t>
            </a:r>
            <a:r>
              <a:rPr lang="en-US" altLang="ko-KR" sz="1000" b="1" dirty="0">
                <a:latin typeface="+mn-ea"/>
              </a:rPr>
              <a:t> = 12 (</a:t>
            </a:r>
            <a:r>
              <a:rPr lang="ko-KR" altLang="en-US" sz="1000" b="1" dirty="0">
                <a:latin typeface="+mn-ea"/>
              </a:rPr>
              <a:t> 각 </a:t>
            </a:r>
            <a:r>
              <a:rPr lang="en-US" altLang="ko-KR" sz="1000" b="1" dirty="0">
                <a:latin typeface="+mn-ea"/>
              </a:rPr>
              <a:t>LSTM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</a:t>
            </a:r>
            <a:r>
              <a:rPr lang="ko-KR" altLang="en-US" sz="1000" b="1" dirty="0">
                <a:latin typeface="+mn-ea"/>
              </a:rPr>
              <a:t>개 처리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C7F894-318F-4FD3-823D-C45A52E30BAF}"/>
              </a:ext>
            </a:extLst>
          </p:cNvPr>
          <p:cNvSpPr txBox="1"/>
          <p:nvPr/>
        </p:nvSpPr>
        <p:spPr>
          <a:xfrm>
            <a:off x="-605366" y="3136612"/>
            <a:ext cx="134027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err="1">
                <a:latin typeface="+mj-ea"/>
                <a:ea typeface="+mj-ea"/>
              </a:rPr>
              <a:t>num_of_layer</a:t>
            </a:r>
            <a:r>
              <a:rPr lang="en-US" altLang="ko-KR" sz="3200" b="1" dirty="0">
                <a:latin typeface="+mj-ea"/>
                <a:ea typeface="+mj-ea"/>
              </a:rPr>
              <a:t> = </a:t>
            </a:r>
            <a:r>
              <a:rPr lang="en-US" altLang="ko-KR" sz="3200" b="1" dirty="0">
                <a:latin typeface="+mj-ea"/>
              </a:rPr>
              <a:t>12</a:t>
            </a:r>
            <a:endParaRPr lang="en-US" altLang="ko-KR" sz="32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08467124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4312</TotalTime>
  <Words>1474</Words>
  <Application>Microsoft Office PowerPoint</Application>
  <PresentationFormat>와이드스크린</PresentationFormat>
  <Paragraphs>534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517</cp:revision>
  <dcterms:created xsi:type="dcterms:W3CDTF">2025-11-18T00:02:37Z</dcterms:created>
  <dcterms:modified xsi:type="dcterms:W3CDTF">2025-12-31T05:16:00Z</dcterms:modified>
</cp:coreProperties>
</file>