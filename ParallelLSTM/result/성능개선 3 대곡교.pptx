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406" r:id="rId3"/>
    <p:sldId id="451" r:id="rId4"/>
    <p:sldId id="421" r:id="rId5"/>
    <p:sldId id="445" r:id="rId6"/>
    <p:sldId id="479" r:id="rId7"/>
    <p:sldId id="480" r:id="rId8"/>
    <p:sldId id="493" r:id="rId9"/>
    <p:sldId id="494" r:id="rId10"/>
    <p:sldId id="495" r:id="rId11"/>
    <p:sldId id="430" r:id="rId12"/>
    <p:sldId id="477" r:id="rId13"/>
    <p:sldId id="478" r:id="rId14"/>
    <p:sldId id="496" r:id="rId15"/>
    <p:sldId id="497" r:id="rId16"/>
    <p:sldId id="498" r:id="rId17"/>
    <p:sldId id="460" r:id="rId18"/>
    <p:sldId id="481" r:id="rId19"/>
    <p:sldId id="492" r:id="rId20"/>
    <p:sldId id="483" r:id="rId21"/>
    <p:sldId id="484" r:id="rId22"/>
    <p:sldId id="488" r:id="rId23"/>
    <p:sldId id="490" r:id="rId24"/>
    <p:sldId id="491" r:id="rId25"/>
    <p:sldId id="502" r:id="rId26"/>
    <p:sldId id="50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143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84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2213282"/>
            <a:ext cx="4588584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>
                <a:latin typeface="+mj-ea"/>
                <a:ea typeface="+mj-ea"/>
              </a:rPr>
              <a:t>대곡교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수위 예측 </a:t>
            </a:r>
            <a:r>
              <a:rPr lang="en-US" altLang="ko-KR" sz="4400" b="1" dirty="0">
                <a:latin typeface="+mj-ea"/>
                <a:ea typeface="+mj-ea"/>
              </a:rPr>
              <a:t>AI</a:t>
            </a: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성능 개선 결과 </a:t>
            </a:r>
            <a:r>
              <a:rPr lang="en-US" altLang="ko-KR" sz="4400" b="1" dirty="0">
                <a:latin typeface="+mj-ea"/>
                <a:ea typeface="+mj-ea"/>
              </a:rPr>
              <a:t>3</a:t>
            </a:r>
          </a:p>
          <a:p>
            <a:pPr algn="ctr"/>
            <a:r>
              <a:rPr lang="en-US" altLang="ko-KR" sz="2000" b="1" dirty="0">
                <a:latin typeface="+mj-ea"/>
                <a:ea typeface="+mj-ea"/>
              </a:rPr>
              <a:t>( </a:t>
            </a:r>
            <a:r>
              <a:rPr lang="ko-KR" altLang="en-US" sz="2000" b="1" dirty="0">
                <a:latin typeface="+mj-ea"/>
                <a:ea typeface="+mj-ea"/>
              </a:rPr>
              <a:t>시계열</a:t>
            </a:r>
            <a:r>
              <a:rPr lang="en-US" altLang="ko-KR" sz="2000" b="1" dirty="0">
                <a:latin typeface="+mj-ea"/>
                <a:ea typeface="+mj-ea"/>
              </a:rPr>
              <a:t> )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1632479" y="3105834"/>
            <a:ext cx="89270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latin typeface="+mj-ea"/>
              </a:rPr>
              <a:t>※ </a:t>
            </a:r>
            <a:r>
              <a:rPr lang="ko-KR" altLang="en-US" sz="3600" b="1" dirty="0">
                <a:latin typeface="+mj-ea"/>
              </a:rPr>
              <a:t>강우 이벤트 전부 학습으로 사용</a:t>
            </a:r>
            <a:endParaRPr lang="en-US" altLang="ko-KR" sz="36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33728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57C67BA-B213-4D78-9FE6-DF21AEB555D8}"/>
              </a:ext>
            </a:extLst>
          </p:cNvPr>
          <p:cNvSpPr txBox="1"/>
          <p:nvPr/>
        </p:nvSpPr>
        <p:spPr>
          <a:xfrm>
            <a:off x="377504" y="623270"/>
            <a:ext cx="45839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+mj-ea"/>
              </a:rPr>
              <a:t>MIET</a:t>
            </a:r>
            <a:r>
              <a:rPr lang="ko-KR" altLang="en-US" sz="2400" b="1" dirty="0">
                <a:latin typeface="+mj-ea"/>
              </a:rPr>
              <a:t> </a:t>
            </a:r>
            <a:r>
              <a:rPr lang="ko-KR" altLang="en-US" sz="2400" dirty="0">
                <a:latin typeface="+mj-ea"/>
                <a:ea typeface="+mj-ea"/>
              </a:rPr>
              <a:t>학습 데이터 기본 설정 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EEA5D01-22F3-4984-8E02-DD8FCAC01A2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100665" y="3057763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0F34946-E3D3-42D3-9474-97847E9700A7}"/>
              </a:ext>
            </a:extLst>
          </p:cNvPr>
          <p:cNvSpPr txBox="1"/>
          <p:nvPr/>
        </p:nvSpPr>
        <p:spPr>
          <a:xfrm>
            <a:off x="1024464" y="2429537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홍수통제소 </a:t>
            </a:r>
            <a:r>
              <a:rPr lang="en-US" altLang="ko-KR" dirty="0"/>
              <a:t>API </a:t>
            </a:r>
            <a:r>
              <a:rPr lang="ko-KR" altLang="en-US" dirty="0"/>
              <a:t>호출 → </a:t>
            </a:r>
            <a:r>
              <a:rPr lang="en-US" altLang="ko-KR" dirty="0"/>
              <a:t>MIET</a:t>
            </a:r>
            <a:r>
              <a:rPr lang="ko-KR" altLang="en-US" dirty="0"/>
              <a:t> 활용 강우 이벤트 추출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DBF372-14B3-481F-A0BC-69E398337249}"/>
              </a:ext>
            </a:extLst>
          </p:cNvPr>
          <p:cNvSpPr txBox="1"/>
          <p:nvPr/>
        </p:nvSpPr>
        <p:spPr>
          <a:xfrm>
            <a:off x="296333" y="5514607"/>
            <a:ext cx="11582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학습 </a:t>
            </a:r>
            <a:r>
              <a:rPr lang="en-US" altLang="ko-KR" dirty="0"/>
              <a:t>: </a:t>
            </a:r>
            <a:r>
              <a:rPr lang="ko-KR" altLang="en-US" dirty="0"/>
              <a:t>총 </a:t>
            </a:r>
            <a:r>
              <a:rPr lang="en-US" altLang="ko-KR" dirty="0"/>
              <a:t>1420</a:t>
            </a:r>
            <a:r>
              <a:rPr lang="ko-KR" altLang="en-US" dirty="0"/>
              <a:t>개 中 </a:t>
            </a:r>
            <a:r>
              <a:rPr lang="en-US" altLang="ko-KR" dirty="0"/>
              <a:t>1412</a:t>
            </a:r>
            <a:r>
              <a:rPr lang="ko-KR" altLang="en-US" dirty="0"/>
              <a:t>개 데이터 파일 학습데이터로 사용 </a:t>
            </a:r>
            <a:r>
              <a:rPr lang="en-US" altLang="ko-KR" dirty="0"/>
              <a:t>( </a:t>
            </a:r>
            <a:r>
              <a:rPr lang="ko-KR" altLang="en-US" dirty="0"/>
              <a:t>결측 데이터 </a:t>
            </a:r>
            <a:r>
              <a:rPr lang="en-US" altLang="ko-KR" dirty="0"/>
              <a:t>5</a:t>
            </a:r>
            <a:r>
              <a:rPr lang="ko-KR" altLang="en-US" dirty="0"/>
              <a:t>개 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 </a:t>
            </a:r>
            <a:br>
              <a:rPr lang="en-US" altLang="ko-KR" dirty="0"/>
            </a:br>
            <a:r>
              <a:rPr lang="ko-KR" altLang="en-US" dirty="0"/>
              <a:t>검증 </a:t>
            </a:r>
            <a:r>
              <a:rPr lang="en-US" altLang="ko-KR" dirty="0"/>
              <a:t>: </a:t>
            </a:r>
            <a:r>
              <a:rPr lang="ko-KR" altLang="en-US" dirty="0"/>
              <a:t>학습 데이터에서 제외한 </a:t>
            </a:r>
            <a:r>
              <a:rPr lang="en-US" altLang="ko-KR" dirty="0"/>
              <a:t>3</a:t>
            </a:r>
            <a:r>
              <a:rPr lang="ko-KR" altLang="en-US" dirty="0"/>
              <a:t>개 데이터 사용 </a:t>
            </a:r>
            <a:r>
              <a:rPr lang="en-US" altLang="ko-KR" dirty="0"/>
              <a:t>++ </a:t>
            </a:r>
            <a:r>
              <a:rPr lang="ko-KR" altLang="en-US" dirty="0"/>
              <a:t>학습에서 검증에 사용된 </a:t>
            </a:r>
            <a:r>
              <a:rPr lang="en-US" altLang="ko-KR" dirty="0"/>
              <a:t>3</a:t>
            </a:r>
            <a:r>
              <a:rPr lang="ko-KR" altLang="en-US" dirty="0"/>
              <a:t>개 데이터 사용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62C255-B71B-4358-85C6-3A69718E3F9E}"/>
              </a:ext>
            </a:extLst>
          </p:cNvPr>
          <p:cNvSpPr txBox="1"/>
          <p:nvPr/>
        </p:nvSpPr>
        <p:spPr>
          <a:xfrm>
            <a:off x="9273647" y="8715"/>
            <a:ext cx="2918354" cy="18900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관심 수위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 err="1">
                <a:latin typeface="+mn-ea"/>
              </a:rPr>
              <a:t>궁내교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( 2 )  </a:t>
            </a:r>
            <a:r>
              <a:rPr lang="ko-KR" altLang="en-US" sz="1000" b="1" dirty="0" err="1">
                <a:latin typeface="+mn-ea"/>
              </a:rPr>
              <a:t>대곡교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smoothing : </a:t>
            </a:r>
            <a:r>
              <a:rPr lang="ko-KR" altLang="en-US" sz="10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궁내교</a:t>
            </a:r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 </a:t>
            </a: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( 1 ) </a:t>
            </a:r>
            <a:r>
              <a:rPr lang="ko-KR" altLang="en-US" sz="10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대곡교</a:t>
            </a:r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 </a:t>
            </a: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( 2 )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learning_rate</a:t>
            </a:r>
            <a:r>
              <a:rPr lang="en-US" altLang="ko-KR" sz="10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Loss_function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=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Seq_length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=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36 ( 6</a:t>
            </a:r>
            <a:r>
              <a:rPr lang="ko-KR" altLang="en-US" sz="1000" b="1" dirty="0">
                <a:latin typeface="+mn-ea"/>
              </a:rPr>
              <a:t>시간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Num_of_layer</a:t>
            </a:r>
            <a:r>
              <a:rPr lang="en-US" altLang="ko-KR" sz="1000" b="1" dirty="0">
                <a:latin typeface="+mn-ea"/>
              </a:rPr>
              <a:t> = 12 (</a:t>
            </a:r>
            <a:r>
              <a:rPr lang="ko-KR" altLang="en-US" sz="1000" b="1" dirty="0">
                <a:latin typeface="+mn-ea"/>
              </a:rPr>
              <a:t> 각 </a:t>
            </a:r>
            <a:r>
              <a:rPr lang="en-US" altLang="ko-KR" sz="1000" b="1" dirty="0">
                <a:latin typeface="+mn-ea"/>
              </a:rPr>
              <a:t>LSTM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3</a:t>
            </a:r>
            <a:r>
              <a:rPr lang="ko-KR" altLang="en-US" sz="1000" b="1" dirty="0">
                <a:latin typeface="+mn-ea"/>
              </a:rPr>
              <a:t>개 처리 </a:t>
            </a:r>
            <a:r>
              <a:rPr lang="en-US" altLang="ko-KR" sz="1000" b="1" dirty="0">
                <a:latin typeface="+mn-ea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980726-13BD-49FF-9214-F8FACC8DDA8F}"/>
              </a:ext>
            </a:extLst>
          </p:cNvPr>
          <p:cNvSpPr txBox="1"/>
          <p:nvPr/>
        </p:nvSpPr>
        <p:spPr>
          <a:xfrm>
            <a:off x="8291514" y="4958486"/>
            <a:ext cx="2918354" cy="966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학습 </a:t>
            </a:r>
            <a:r>
              <a:rPr lang="en-US" altLang="ko-KR" sz="1000" b="1" dirty="0">
                <a:latin typeface="+mn-ea"/>
              </a:rPr>
              <a:t>: ~ 2022 68</a:t>
            </a:r>
            <a:r>
              <a:rPr lang="ko-KR" altLang="en-US" sz="1000" b="1" dirty="0">
                <a:latin typeface="+mn-ea"/>
              </a:rPr>
              <a:t>번 </a:t>
            </a:r>
            <a:r>
              <a:rPr lang="en-US" altLang="ko-KR" sz="1000" b="1" dirty="0">
                <a:latin typeface="+mn-ea"/>
              </a:rPr>
              <a:t>( 988</a:t>
            </a:r>
            <a:r>
              <a:rPr lang="ko-KR" altLang="en-US" sz="1000" b="1" dirty="0">
                <a:latin typeface="+mn-ea"/>
              </a:rPr>
              <a:t>개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: ~ 2024 96</a:t>
            </a:r>
            <a:r>
              <a:rPr lang="ko-KR" altLang="en-US" sz="1000" b="1" dirty="0">
                <a:latin typeface="+mn-ea"/>
              </a:rPr>
              <a:t>번 </a:t>
            </a:r>
            <a:r>
              <a:rPr lang="en-US" altLang="ko-KR" sz="1000" b="1" dirty="0">
                <a:latin typeface="+mn-ea"/>
              </a:rPr>
              <a:t>( 282</a:t>
            </a:r>
            <a:r>
              <a:rPr lang="ko-KR" altLang="en-US" sz="1000" b="1" dirty="0">
                <a:latin typeface="+mn-ea"/>
              </a:rPr>
              <a:t>개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테스트 </a:t>
            </a:r>
            <a:r>
              <a:rPr lang="en-US" altLang="ko-KR" sz="1000" b="1" dirty="0">
                <a:latin typeface="+mn-ea"/>
              </a:rPr>
              <a:t>: ~ 2025 109</a:t>
            </a:r>
            <a:r>
              <a:rPr lang="ko-KR" altLang="en-US" sz="1000" b="1" dirty="0">
                <a:latin typeface="+mn-ea"/>
              </a:rPr>
              <a:t>번 </a:t>
            </a:r>
            <a:r>
              <a:rPr lang="en-US" altLang="ko-KR" sz="1000" b="1" dirty="0">
                <a:latin typeface="+mn-ea"/>
              </a:rPr>
              <a:t>( 142</a:t>
            </a:r>
            <a:r>
              <a:rPr lang="ko-KR" altLang="en-US" sz="1000" b="1" dirty="0">
                <a:latin typeface="+mn-ea"/>
              </a:rPr>
              <a:t>개 </a:t>
            </a:r>
            <a:r>
              <a:rPr lang="en-US" altLang="ko-KR" sz="1000" b="1" dirty="0">
                <a:latin typeface="+mn-e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2065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2308225" y="3105834"/>
            <a:ext cx="75755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seq_length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 = 36 </a:t>
            </a:r>
          </a:p>
          <a:p>
            <a:pPr algn="ctr"/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+ </a:t>
            </a:r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num_of_layer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ko-KR" altLang="en-US" sz="3600" b="1" dirty="0">
                <a:solidFill>
                  <a:schemeClr val="accent5"/>
                </a:solidFill>
                <a:latin typeface="+mj-ea"/>
              </a:rPr>
              <a:t>조정</a:t>
            </a:r>
            <a:endParaRPr lang="en-US" altLang="ko-KR" sz="3600" b="1" dirty="0">
              <a:solidFill>
                <a:schemeClr val="accent5"/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985263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2308225" y="3105834"/>
            <a:ext cx="7575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0. </a:t>
            </a:r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num_of_layer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 =12</a:t>
            </a:r>
            <a:r>
              <a:rPr lang="ko-KR" altLang="en-US" sz="3600" b="1" dirty="0">
                <a:solidFill>
                  <a:schemeClr val="accent5"/>
                </a:solidFill>
                <a:latin typeface="+mj-ea"/>
              </a:rPr>
              <a:t> </a:t>
            </a:r>
            <a:endParaRPr lang="en-US" altLang="ko-KR" sz="3600" b="1" dirty="0">
              <a:solidFill>
                <a:schemeClr val="accent5"/>
              </a:solidFill>
              <a:latin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21C21A-07E7-426D-AC1B-76C99BA95C6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/dg)_l12</a:t>
            </a:r>
            <a:endParaRPr lang="ko-KR" altLang="en-US" sz="1050" dirty="0">
              <a:latin typeface="+mj-ea"/>
            </a:endParaRPr>
          </a:p>
        </p:txBody>
      </p:sp>
      <p:sp>
        <p:nvSpPr>
          <p:cNvPr id="5" name="원형: 비어 있음 4">
            <a:extLst>
              <a:ext uri="{FF2B5EF4-FFF2-40B4-BE49-F238E27FC236}">
                <a16:creationId xmlns:a16="http://schemas.microsoft.com/office/drawing/2014/main" id="{62B51301-B57B-4F8F-9E8E-DCF5D8E2F7ED}"/>
              </a:ext>
            </a:extLst>
          </p:cNvPr>
          <p:cNvSpPr/>
          <p:nvPr/>
        </p:nvSpPr>
        <p:spPr>
          <a:xfrm>
            <a:off x="3302000" y="1353819"/>
            <a:ext cx="5635349" cy="4150360"/>
          </a:xfrm>
          <a:prstGeom prst="donut">
            <a:avLst>
              <a:gd name="adj" fmla="val 766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9588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377505" y="623270"/>
            <a:ext cx="28942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=12 </a:t>
            </a:r>
            <a:r>
              <a:rPr lang="ko-KR" altLang="en-US" sz="2400" dirty="0">
                <a:latin typeface="+mj-ea"/>
                <a:ea typeface="+mj-ea"/>
              </a:rPr>
              <a:t>학습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대곡교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0553822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(23111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0.0348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0.0167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0.0545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0.977872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0.981024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1.489537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0939316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(6282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0.0314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0.0141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0.0533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0.970796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0.973404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0.382375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551232"/>
              </p:ext>
            </p:extLst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(5472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0.0297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0.0136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0.0621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0.945628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0.946119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5.689971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755" y="3745533"/>
            <a:ext cx="5348269" cy="178457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</p:spTree>
    <p:extLst>
      <p:ext uri="{BB962C8B-B14F-4D97-AF65-F5344CB8AC3E}">
        <p14:creationId xmlns:p14="http://schemas.microsoft.com/office/powerpoint/2010/main" val="1492928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91525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0.6571355333013245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0.04801457060069652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0.19200435611936775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0.21912227317344196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0.7198263671371292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0.2550023667304158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0.3688772605525123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0.5049775903249726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0.9231141326275117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0.03550482569334603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0.14576794703801474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0.18842724243947856</a:t>
                      </a:r>
                      <a:r>
                        <a:rPr lang="pt-BR" altLang="ko-KR" sz="1400" dirty="0"/>
                        <a:t> 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0.8274971285050222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0.059875573660618985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0.213871206442515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0.24469485826355034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869" y="4351440"/>
            <a:ext cx="3029151" cy="158192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7167" y="4344367"/>
            <a:ext cx="3029270" cy="159468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5689" y="1973037"/>
            <a:ext cx="2985079" cy="1581066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393" y="2006316"/>
            <a:ext cx="2942386" cy="1539515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DB25FE2-FB8B-4DFF-B0F9-07A68FD42E46}"/>
              </a:ext>
            </a:extLst>
          </p:cNvPr>
          <p:cNvSpPr txBox="1"/>
          <p:nvPr/>
        </p:nvSpPr>
        <p:spPr>
          <a:xfrm>
            <a:off x="377505" y="623270"/>
            <a:ext cx="31192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=12 </a:t>
            </a:r>
            <a:r>
              <a:rPr lang="ko-KR" altLang="en-US" sz="2400" dirty="0">
                <a:latin typeface="+mj-ea"/>
                <a:ea typeface="+mj-ea"/>
              </a:rPr>
              <a:t>예측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대곡교</a:t>
            </a:r>
            <a:endParaRPr lang="ko-KR" altLang="en-US" sz="24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20040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2308225" y="3105834"/>
            <a:ext cx="75755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0-1. </a:t>
            </a:r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num_of_layer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 =12</a:t>
            </a:r>
          </a:p>
          <a:p>
            <a:pPr algn="ctr"/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+ MAE</a:t>
            </a:r>
            <a:r>
              <a:rPr lang="ko-KR" altLang="en-US" sz="3600" b="1" dirty="0">
                <a:solidFill>
                  <a:schemeClr val="accent5"/>
                </a:solidFill>
                <a:latin typeface="+mj-ea"/>
              </a:rPr>
              <a:t> </a:t>
            </a:r>
            <a:endParaRPr lang="en-US" altLang="ko-KR" sz="3600" b="1" dirty="0">
              <a:solidFill>
                <a:schemeClr val="accent5"/>
              </a:solidFill>
              <a:latin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21C21A-07E7-426D-AC1B-76C99BA95C6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/dg)_mae_l12</a:t>
            </a:r>
            <a:endParaRPr lang="ko-KR" altLang="en-US" sz="1050" dirty="0">
              <a:latin typeface="+mj-ea"/>
            </a:endParaRPr>
          </a:p>
        </p:txBody>
      </p:sp>
      <p:sp>
        <p:nvSpPr>
          <p:cNvPr id="6" name="원형: 비어 있음 5">
            <a:extLst>
              <a:ext uri="{FF2B5EF4-FFF2-40B4-BE49-F238E27FC236}">
                <a16:creationId xmlns:a16="http://schemas.microsoft.com/office/drawing/2014/main" id="{3B6E0511-32F1-4906-B8B8-B50E34DB7E22}"/>
              </a:ext>
            </a:extLst>
          </p:cNvPr>
          <p:cNvSpPr/>
          <p:nvPr/>
        </p:nvSpPr>
        <p:spPr>
          <a:xfrm>
            <a:off x="3302000" y="1353819"/>
            <a:ext cx="5635349" cy="4150360"/>
          </a:xfrm>
          <a:prstGeom prst="donut">
            <a:avLst>
              <a:gd name="adj" fmla="val 766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29A3842-858E-4903-88F6-45C8E8616D50}"/>
              </a:ext>
            </a:extLst>
          </p:cNvPr>
          <p:cNvSpPr/>
          <p:nvPr/>
        </p:nvSpPr>
        <p:spPr>
          <a:xfrm>
            <a:off x="1481667" y="711200"/>
            <a:ext cx="3987800" cy="1625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이거하는중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24567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377505" y="623270"/>
            <a:ext cx="33393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=12</a:t>
            </a:r>
          </a:p>
          <a:p>
            <a:r>
              <a:rPr lang="en-US" altLang="ko-KR" sz="2400" dirty="0" err="1">
                <a:latin typeface="+mj-ea"/>
              </a:rPr>
              <a:t>loss_function</a:t>
            </a:r>
            <a:r>
              <a:rPr lang="en-US" altLang="ko-KR" sz="2400" dirty="0">
                <a:latin typeface="+mj-ea"/>
              </a:rPr>
              <a:t> = MAE </a:t>
            </a:r>
            <a:r>
              <a:rPr lang="ko-KR" altLang="en-US" sz="2400" dirty="0">
                <a:latin typeface="+mj-ea"/>
                <a:ea typeface="+mj-ea"/>
              </a:rPr>
              <a:t>학습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대곡교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(23111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0.0254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0.968928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0.970272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22.160994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(6282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0.0385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0.0421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0.942801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0.951583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4.037687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(5472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0.0453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0.0528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0.0625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0.890020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0.919186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5.456180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536" y="3740036"/>
            <a:ext cx="5386707" cy="17955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212A2A5-F2A3-4199-9235-2795F0AAF780}"/>
              </a:ext>
            </a:extLst>
          </p:cNvPr>
          <p:cNvSpPr/>
          <p:nvPr/>
        </p:nvSpPr>
        <p:spPr>
          <a:xfrm>
            <a:off x="2446867" y="1651000"/>
            <a:ext cx="7332133" cy="3852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348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3772448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-0.2437545822983267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0.04935018567626799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0.18286159541871813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0.22214901682489616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0.8500162646896093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0.04197159430678016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0.14689570089181267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0.2048697008021932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0.8895288897883276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0.011082707267791009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0.08337979230615827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0.1052744378649965</a:t>
                      </a:r>
                      <a:r>
                        <a:rPr lang="pt-BR" altLang="ko-KR" sz="1400" dirty="0"/>
                        <a:t> 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0.7838021043271743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0.015242402057216858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0.0962281313869688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0.1234601233484596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887" y="4338524"/>
            <a:ext cx="3035115" cy="160775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2019" y="4338731"/>
            <a:ext cx="3059566" cy="160595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399" y="1970948"/>
            <a:ext cx="2993660" cy="158524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1977329"/>
            <a:ext cx="2977423" cy="159749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DB25FE2-FB8B-4DFF-B0F9-07A68FD42E46}"/>
              </a:ext>
            </a:extLst>
          </p:cNvPr>
          <p:cNvSpPr txBox="1"/>
          <p:nvPr/>
        </p:nvSpPr>
        <p:spPr>
          <a:xfrm>
            <a:off x="377505" y="623270"/>
            <a:ext cx="31192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=12</a:t>
            </a:r>
          </a:p>
          <a:p>
            <a:r>
              <a:rPr lang="en-US" altLang="ko-KR" sz="2400" dirty="0" err="1">
                <a:latin typeface="+mj-ea"/>
              </a:rPr>
              <a:t>loss_function</a:t>
            </a:r>
            <a:r>
              <a:rPr lang="en-US" altLang="ko-KR" sz="2400" dirty="0">
                <a:latin typeface="+mj-ea"/>
              </a:rPr>
              <a:t> = MAE </a:t>
            </a:r>
            <a:r>
              <a:rPr lang="ko-KR" altLang="en-US" sz="2400" dirty="0">
                <a:latin typeface="+mj-ea"/>
                <a:ea typeface="+mj-ea"/>
              </a:rPr>
              <a:t>예측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대곡교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5C45920-4503-443F-A785-A922B1BDE02C}"/>
              </a:ext>
            </a:extLst>
          </p:cNvPr>
          <p:cNvSpPr/>
          <p:nvPr/>
        </p:nvSpPr>
        <p:spPr>
          <a:xfrm>
            <a:off x="3004257" y="2544314"/>
            <a:ext cx="7332133" cy="3852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63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2308225" y="3105834"/>
            <a:ext cx="7575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1. </a:t>
            </a:r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num_of_layer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 =18</a:t>
            </a:r>
            <a:r>
              <a:rPr lang="ko-KR" altLang="en-US" sz="3600" b="1" dirty="0">
                <a:solidFill>
                  <a:schemeClr val="accent5"/>
                </a:solidFill>
                <a:latin typeface="+mj-ea"/>
              </a:rPr>
              <a:t> </a:t>
            </a:r>
            <a:endParaRPr lang="en-US" altLang="ko-KR" sz="3600" b="1" dirty="0">
              <a:solidFill>
                <a:schemeClr val="accent5"/>
              </a:solidFill>
              <a:latin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21C21A-07E7-426D-AC1B-76C99BA95C6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/dg)_l18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840938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377505" y="623270"/>
            <a:ext cx="28942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=18 </a:t>
            </a:r>
            <a:r>
              <a:rPr lang="ko-KR" altLang="en-US" sz="2400" dirty="0">
                <a:latin typeface="+mj-ea"/>
                <a:ea typeface="+mj-ea"/>
              </a:rPr>
              <a:t>학습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대곡교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0725348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(23111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0.0384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0.0182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0.0604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0.972778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0.974865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4.641500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332905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(6282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0.0376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0.0174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0.0569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0.966656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0.967987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2.900384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2394921"/>
              </p:ext>
            </p:extLst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(5472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0.0363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0.0169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0.0677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0.935354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0.937525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8.181360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755" y="3740036"/>
            <a:ext cx="5348269" cy="17955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</p:spTree>
    <p:extLst>
      <p:ext uri="{BB962C8B-B14F-4D97-AF65-F5344CB8AC3E}">
        <p14:creationId xmlns:p14="http://schemas.microsoft.com/office/powerpoint/2010/main" val="2102552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146173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0.46494493229205325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0.0749288474570961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0.253041501575046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0.27373134175153585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0.6025684964802238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0.36172559485772043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0.3919211355845134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0.6014362766392799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0.7837896284275703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0.09984294667032062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0.23748457458284167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0.3159793453223179</a:t>
                      </a:r>
                      <a:r>
                        <a:rPr lang="pt-BR" altLang="ko-KR" sz="1400" dirty="0"/>
                        <a:t> 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0.6523937960110676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0.12065376472549574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0.27478178872002496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0.3473525078727599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869" y="4338524"/>
            <a:ext cx="3029151" cy="160775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7167" y="4338731"/>
            <a:ext cx="3029270" cy="160595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5689" y="1970948"/>
            <a:ext cx="2985079" cy="158524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2006316"/>
            <a:ext cx="2977423" cy="1539515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DB25FE2-FB8B-4DFF-B0F9-07A68FD42E46}"/>
              </a:ext>
            </a:extLst>
          </p:cNvPr>
          <p:cNvSpPr txBox="1"/>
          <p:nvPr/>
        </p:nvSpPr>
        <p:spPr>
          <a:xfrm>
            <a:off x="377505" y="623270"/>
            <a:ext cx="31192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=18 </a:t>
            </a:r>
            <a:r>
              <a:rPr lang="ko-KR" altLang="en-US" sz="2400" dirty="0">
                <a:latin typeface="+mj-ea"/>
                <a:ea typeface="+mj-ea"/>
              </a:rPr>
              <a:t>예측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대곡교</a:t>
            </a:r>
            <a:endParaRPr lang="ko-KR" altLang="en-US" sz="24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9876820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2308225" y="3105834"/>
            <a:ext cx="7575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2. </a:t>
            </a:r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num_of_layer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 = 36</a:t>
            </a:r>
            <a:r>
              <a:rPr lang="ko-KR" altLang="en-US" sz="3600" b="1" dirty="0">
                <a:solidFill>
                  <a:schemeClr val="accent5"/>
                </a:solidFill>
                <a:latin typeface="+mj-ea"/>
              </a:rPr>
              <a:t> </a:t>
            </a:r>
            <a:endParaRPr lang="en-US" altLang="ko-KR" sz="3600" b="1" dirty="0">
              <a:solidFill>
                <a:schemeClr val="accent5"/>
              </a:solidFill>
              <a:latin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21C21A-07E7-426D-AC1B-76C99BA95C6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/dg)_l36</a:t>
            </a:r>
            <a:endParaRPr lang="ko-KR" altLang="en-US" sz="1050" dirty="0">
              <a:latin typeface="+mj-ea"/>
            </a:endParaRPr>
          </a:p>
        </p:txBody>
      </p:sp>
      <p:sp>
        <p:nvSpPr>
          <p:cNvPr id="6" name="원형: 비어 있음 5">
            <a:extLst>
              <a:ext uri="{FF2B5EF4-FFF2-40B4-BE49-F238E27FC236}">
                <a16:creationId xmlns:a16="http://schemas.microsoft.com/office/drawing/2014/main" id="{8050D35A-9C11-401D-9C33-A4973BB8833A}"/>
              </a:ext>
            </a:extLst>
          </p:cNvPr>
          <p:cNvSpPr/>
          <p:nvPr/>
        </p:nvSpPr>
        <p:spPr>
          <a:xfrm>
            <a:off x="3302000" y="1353819"/>
            <a:ext cx="5635349" cy="4150360"/>
          </a:xfrm>
          <a:prstGeom prst="donut">
            <a:avLst>
              <a:gd name="adj" fmla="val 766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7840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377505" y="623270"/>
            <a:ext cx="28942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=36 </a:t>
            </a:r>
            <a:r>
              <a:rPr lang="ko-KR" altLang="en-US" sz="2400" dirty="0">
                <a:latin typeface="+mj-ea"/>
                <a:ea typeface="+mj-ea"/>
              </a:rPr>
              <a:t>학습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대곡교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(23111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0.0254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0.968928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0.970272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22.160994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(6282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0.0385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0.0421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0.942801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0.951583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4.037687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(5472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0.0453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0.0528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0.0625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0.890020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0.919186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5.456180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536" y="3740036"/>
            <a:ext cx="5386707" cy="17955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833E6CE-87ED-4D6B-A147-5220D9AA8380}"/>
              </a:ext>
            </a:extLst>
          </p:cNvPr>
          <p:cNvSpPr/>
          <p:nvPr/>
        </p:nvSpPr>
        <p:spPr>
          <a:xfrm>
            <a:off x="2446867" y="1651000"/>
            <a:ext cx="7332133" cy="3852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9979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027141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-0.2437545822983267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0.04935018567626799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0.18286159541871813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0.22214901682489616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0.8500162646896093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0.04197159430678016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0.14689570089181267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0.2048697008021932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0.8895288897883276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0.011082707267791009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0.08337979230615827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0.1052744378649965</a:t>
                      </a:r>
                      <a:r>
                        <a:rPr lang="pt-BR" altLang="ko-KR" sz="1400" dirty="0"/>
                        <a:t> 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0.7838021043271743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0.015242402057216858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0.0962281313869688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0.1234601233484596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887" y="4338524"/>
            <a:ext cx="3035115" cy="160775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2019" y="4338731"/>
            <a:ext cx="3059566" cy="160595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399" y="1970948"/>
            <a:ext cx="2993660" cy="158524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1977329"/>
            <a:ext cx="2977423" cy="159749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DB25FE2-FB8B-4DFF-B0F9-07A68FD42E46}"/>
              </a:ext>
            </a:extLst>
          </p:cNvPr>
          <p:cNvSpPr txBox="1"/>
          <p:nvPr/>
        </p:nvSpPr>
        <p:spPr>
          <a:xfrm>
            <a:off x="377505" y="623270"/>
            <a:ext cx="31192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=36 </a:t>
            </a:r>
            <a:r>
              <a:rPr lang="ko-KR" altLang="en-US" sz="2400" dirty="0">
                <a:latin typeface="+mj-ea"/>
                <a:ea typeface="+mj-ea"/>
              </a:rPr>
              <a:t>예측 코드 </a:t>
            </a:r>
            <a:r>
              <a:rPr lang="en-US" altLang="ko-KR" sz="2400">
                <a:latin typeface="+mj-ea"/>
                <a:ea typeface="+mj-ea"/>
              </a:rPr>
              <a:t>- </a:t>
            </a:r>
            <a:r>
              <a:rPr lang="ko-KR" altLang="en-US" sz="2400">
                <a:latin typeface="+mj-ea"/>
                <a:ea typeface="+mj-ea"/>
              </a:rPr>
              <a:t>대곡교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A87D245-3B55-41DA-B29B-82497F6A0CC5}"/>
              </a:ext>
            </a:extLst>
          </p:cNvPr>
          <p:cNvSpPr/>
          <p:nvPr/>
        </p:nvSpPr>
        <p:spPr>
          <a:xfrm>
            <a:off x="2903460" y="2334158"/>
            <a:ext cx="7332133" cy="3852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1724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2308225" y="3105834"/>
            <a:ext cx="75755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err="1">
                <a:solidFill>
                  <a:srgbClr val="FF0000"/>
                </a:solidFill>
                <a:latin typeface="+mj-ea"/>
              </a:rPr>
              <a:t>seq_length</a:t>
            </a:r>
            <a:r>
              <a:rPr lang="en-US" altLang="ko-KR" sz="3600" b="1" dirty="0">
                <a:solidFill>
                  <a:srgbClr val="FF0000"/>
                </a:solidFill>
                <a:latin typeface="+mj-ea"/>
              </a:rPr>
              <a:t> = 36 + </a:t>
            </a:r>
          </a:p>
          <a:p>
            <a:pPr algn="ctr"/>
            <a:r>
              <a:rPr lang="en-US" altLang="ko-KR" sz="3600" b="1" dirty="0" err="1">
                <a:solidFill>
                  <a:srgbClr val="FF0000"/>
                </a:solidFill>
                <a:latin typeface="+mj-ea"/>
              </a:rPr>
              <a:t>num_of_layer</a:t>
            </a:r>
            <a:r>
              <a:rPr lang="en-US" altLang="ko-KR" sz="3600" b="1" dirty="0">
                <a:solidFill>
                  <a:srgbClr val="FF0000"/>
                </a:solidFill>
                <a:latin typeface="+mj-ea"/>
              </a:rPr>
              <a:t> = ?? </a:t>
            </a:r>
            <a:r>
              <a:rPr lang="ko-KR" altLang="en-US" sz="3600" b="1" dirty="0">
                <a:solidFill>
                  <a:srgbClr val="FF0000"/>
                </a:solidFill>
                <a:latin typeface="+mj-ea"/>
              </a:rPr>
              <a:t>이 제일 나음 </a:t>
            </a:r>
            <a:endParaRPr lang="en-US" altLang="ko-KR" sz="3600" b="1" dirty="0">
              <a:solidFill>
                <a:srgbClr val="FF0000"/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33040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2308225" y="2828835"/>
            <a:ext cx="75755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Loss_function</a:t>
            </a:r>
            <a:r>
              <a:rPr lang="ko-KR" altLang="en-US" sz="36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=</a:t>
            </a:r>
            <a:r>
              <a:rPr lang="ko-KR" altLang="en-US" sz="36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MAE</a:t>
            </a:r>
          </a:p>
          <a:p>
            <a:pPr algn="ctr"/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Learning_rate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 = 0.0005</a:t>
            </a:r>
          </a:p>
        </p:txBody>
      </p:sp>
    </p:spTree>
    <p:extLst>
      <p:ext uri="{BB962C8B-B14F-4D97-AF65-F5344CB8AC3E}">
        <p14:creationId xmlns:p14="http://schemas.microsoft.com/office/powerpoint/2010/main" val="3720195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2308225" y="3105834"/>
            <a:ext cx="7575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1. </a:t>
            </a:r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num_of_layer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 = 12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B6244C-FA0F-4264-B8F3-7C5306259C82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/dg)_l12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0014245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377505" y="623270"/>
            <a:ext cx="33986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 12 </a:t>
            </a:r>
          </a:p>
          <a:p>
            <a:r>
              <a:rPr lang="ko-KR" altLang="en-US" sz="2400" dirty="0">
                <a:latin typeface="+mj-ea"/>
                <a:ea typeface="+mj-ea"/>
              </a:rPr>
              <a:t>학습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대곡교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77139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(23111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0.0288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0.0264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0.0537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0.935251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0.936525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21.145243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0788408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(6828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0.0377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0.0406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0.0585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0.933385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0.939242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3.664063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802376"/>
              </p:ext>
            </p:extLst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(5472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0.0448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0.0509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0.873095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0.891142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7.571774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921" y="3747356"/>
            <a:ext cx="5245935" cy="178092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E1D352C-CEA4-458D-A75A-EF5BD515F9FF}"/>
              </a:ext>
            </a:extLst>
          </p:cNvPr>
          <p:cNvSpPr/>
          <p:nvPr/>
        </p:nvSpPr>
        <p:spPr>
          <a:xfrm>
            <a:off x="3657600" y="1786468"/>
            <a:ext cx="5364976" cy="38861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43637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6536802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-2.419031330681882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0.13566167586722264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0.27432608577940193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0.3683227876024271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0.6617230110332062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0.09466376147287353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0.24711518228054047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0.3076747657395282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0.7240690801943894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0.02768200305472064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0.14641764938831325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0.1663790944040766</a:t>
                      </a:r>
                      <a:r>
                        <a:rPr lang="pt-BR" altLang="ko-KR" sz="1400" dirty="0"/>
                        <a:t> 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0.08522785843810254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0.06449334175540868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0.18133603036403656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0.2539553932394598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268" y="4348810"/>
            <a:ext cx="3036353" cy="15871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2021" y="4327663"/>
            <a:ext cx="3079562" cy="162809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950" y="1985777"/>
            <a:ext cx="2990558" cy="1555585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5827" y="1984657"/>
            <a:ext cx="3015518" cy="158283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DB25FE2-FB8B-4DFF-B0F9-07A68FD42E46}"/>
              </a:ext>
            </a:extLst>
          </p:cNvPr>
          <p:cNvSpPr txBox="1"/>
          <p:nvPr/>
        </p:nvSpPr>
        <p:spPr>
          <a:xfrm>
            <a:off x="377505" y="623270"/>
            <a:ext cx="36949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 12 </a:t>
            </a:r>
          </a:p>
          <a:p>
            <a:r>
              <a:rPr lang="ko-KR" altLang="en-US" sz="2400" dirty="0">
                <a:latin typeface="+mj-ea"/>
              </a:rPr>
              <a:t>예측 코드 </a:t>
            </a:r>
            <a:r>
              <a:rPr lang="en-US" altLang="ko-KR" sz="2400" dirty="0">
                <a:latin typeface="+mj-ea"/>
              </a:rPr>
              <a:t>- </a:t>
            </a:r>
            <a:r>
              <a:rPr lang="ko-KR" altLang="en-US" sz="2400" dirty="0" err="1">
                <a:latin typeface="+mj-ea"/>
              </a:rPr>
              <a:t>대곡교</a:t>
            </a:r>
            <a:r>
              <a:rPr lang="en-US" altLang="ko-KR" sz="2400" dirty="0">
                <a:latin typeface="+mj-ea"/>
                <a:ea typeface="+mj-ea"/>
              </a:rPr>
              <a:t> 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31A359-09AF-48DA-927F-80B6BA2F0E4C}"/>
              </a:ext>
            </a:extLst>
          </p:cNvPr>
          <p:cNvSpPr/>
          <p:nvPr/>
        </p:nvSpPr>
        <p:spPr>
          <a:xfrm>
            <a:off x="3657600" y="1786468"/>
            <a:ext cx="5364976" cy="38861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771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2308225" y="3105834"/>
            <a:ext cx="7575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2. </a:t>
            </a:r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num_of_layer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 = 18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9B1721-2355-4D13-AAB7-BD8515972B90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/dg)_l18</a:t>
            </a:r>
            <a:endParaRPr lang="ko-KR" altLang="en-US" sz="1050" dirty="0">
              <a:latin typeface="+mj-ea"/>
            </a:endParaRPr>
          </a:p>
        </p:txBody>
      </p:sp>
      <p:sp>
        <p:nvSpPr>
          <p:cNvPr id="6" name="원형: 비어 있음 5">
            <a:extLst>
              <a:ext uri="{FF2B5EF4-FFF2-40B4-BE49-F238E27FC236}">
                <a16:creationId xmlns:a16="http://schemas.microsoft.com/office/drawing/2014/main" id="{4AFF894B-C243-43B1-8FD7-8108E828F15F}"/>
              </a:ext>
            </a:extLst>
          </p:cNvPr>
          <p:cNvSpPr/>
          <p:nvPr/>
        </p:nvSpPr>
        <p:spPr>
          <a:xfrm>
            <a:off x="3302000" y="1353819"/>
            <a:ext cx="5635349" cy="4150360"/>
          </a:xfrm>
          <a:prstGeom prst="donut">
            <a:avLst>
              <a:gd name="adj" fmla="val 766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7066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377505" y="623270"/>
            <a:ext cx="33986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 18</a:t>
            </a:r>
          </a:p>
          <a:p>
            <a:r>
              <a:rPr lang="ko-KR" altLang="en-US" sz="2400" dirty="0">
                <a:latin typeface="+mj-ea"/>
                <a:ea typeface="+mj-ea"/>
              </a:rPr>
              <a:t>학습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대곡교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(23111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0.0258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0.0245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0.0383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0.967146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0.969125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6.806384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(6828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0.0371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0.0399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0.0522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0.946929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0.953082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8.452243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(5472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0.0416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0.0481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0.0583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0.904372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0.927073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2.905314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401" y="3747356"/>
            <a:ext cx="5364976" cy="178092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25D3E82-10F6-4FD3-927B-3A489D05470D}"/>
              </a:ext>
            </a:extLst>
          </p:cNvPr>
          <p:cNvSpPr/>
          <p:nvPr/>
        </p:nvSpPr>
        <p:spPr>
          <a:xfrm>
            <a:off x="2019910" y="2062081"/>
            <a:ext cx="8652933" cy="4394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0787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8642942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-0.7945404436174226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0.07120448467610142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0.23399888343281214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0.26684168466733493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0.857466599365075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0.03988668540781691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0.14282773759629994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0.199716512606787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0.8885925911762368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0.011176638825219534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0.07951597525013816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0.1057196236524683</a:t>
                      </a:r>
                      <a:r>
                        <a:rPr lang="pt-BR" altLang="ko-KR" sz="1400" dirty="0"/>
                        <a:t> 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0.7262170094360034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0.019302271215992088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0.11494690630171034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0.13893261393924786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268" y="4342368"/>
            <a:ext cx="3036353" cy="160006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143" y="4327663"/>
            <a:ext cx="3087318" cy="162809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950" y="1970948"/>
            <a:ext cx="2990558" cy="158524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5827" y="1978310"/>
            <a:ext cx="3015518" cy="159552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DB25FE2-FB8B-4DFF-B0F9-07A68FD42E46}"/>
              </a:ext>
            </a:extLst>
          </p:cNvPr>
          <p:cNvSpPr txBox="1"/>
          <p:nvPr/>
        </p:nvSpPr>
        <p:spPr>
          <a:xfrm>
            <a:off x="377505" y="623270"/>
            <a:ext cx="36949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 18 </a:t>
            </a:r>
          </a:p>
          <a:p>
            <a:r>
              <a:rPr lang="ko-KR" altLang="en-US" sz="2400" dirty="0">
                <a:latin typeface="+mj-ea"/>
              </a:rPr>
              <a:t>예측 코드 </a:t>
            </a:r>
            <a:r>
              <a:rPr lang="en-US" altLang="ko-KR" sz="2400" dirty="0">
                <a:latin typeface="+mj-ea"/>
              </a:rPr>
              <a:t>- </a:t>
            </a:r>
            <a:r>
              <a:rPr lang="ko-KR" altLang="en-US" sz="2400" dirty="0" err="1">
                <a:latin typeface="+mj-ea"/>
              </a:rPr>
              <a:t>대곡교</a:t>
            </a:r>
            <a:r>
              <a:rPr lang="en-US" altLang="ko-KR" sz="2400" dirty="0">
                <a:latin typeface="+mj-ea"/>
                <a:ea typeface="+mj-ea"/>
              </a:rPr>
              <a:t> 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15EF76E-A927-4EB5-B152-C05511BE59E8}"/>
              </a:ext>
            </a:extLst>
          </p:cNvPr>
          <p:cNvSpPr/>
          <p:nvPr/>
        </p:nvSpPr>
        <p:spPr>
          <a:xfrm>
            <a:off x="1076483" y="1654619"/>
            <a:ext cx="8652933" cy="4394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293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2308225" y="3105834"/>
            <a:ext cx="75755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err="1">
                <a:solidFill>
                  <a:srgbClr val="FF0000"/>
                </a:solidFill>
                <a:latin typeface="+mj-ea"/>
              </a:rPr>
              <a:t>Loss_function</a:t>
            </a:r>
            <a:r>
              <a:rPr lang="en-US" altLang="ko-KR" sz="3600" b="1" dirty="0">
                <a:solidFill>
                  <a:srgbClr val="FF0000"/>
                </a:solidFill>
                <a:latin typeface="+mj-ea"/>
              </a:rPr>
              <a:t> = MAE</a:t>
            </a:r>
          </a:p>
          <a:p>
            <a:pPr algn="ctr"/>
            <a:r>
              <a:rPr lang="en-US" altLang="ko-KR" sz="3600" b="1" dirty="0" err="1">
                <a:solidFill>
                  <a:srgbClr val="FF0000"/>
                </a:solidFill>
                <a:latin typeface="+mj-ea"/>
              </a:rPr>
              <a:t>Learning_rate</a:t>
            </a:r>
            <a:r>
              <a:rPr lang="en-US" altLang="ko-KR" sz="3600" b="1" dirty="0">
                <a:solidFill>
                  <a:srgbClr val="FF0000"/>
                </a:solidFill>
                <a:latin typeface="+mj-ea"/>
              </a:rPr>
              <a:t> = 0.0005 </a:t>
            </a:r>
            <a:r>
              <a:rPr lang="ko-KR" altLang="en-US" sz="3600" b="1" dirty="0">
                <a:solidFill>
                  <a:srgbClr val="FF0000"/>
                </a:solidFill>
                <a:latin typeface="+mj-ea"/>
              </a:rPr>
              <a:t>도</a:t>
            </a:r>
            <a:endParaRPr lang="en-US" altLang="ko-KR" sz="3600" b="1" dirty="0">
              <a:solidFill>
                <a:srgbClr val="FF0000"/>
              </a:solidFill>
              <a:latin typeface="+mj-ea"/>
            </a:endParaRPr>
          </a:p>
          <a:p>
            <a:pPr algn="ctr"/>
            <a:r>
              <a:rPr lang="en-US" altLang="ko-KR" sz="3600" b="1" dirty="0" err="1">
                <a:solidFill>
                  <a:srgbClr val="FF0000"/>
                </a:solidFill>
                <a:latin typeface="+mj-ea"/>
              </a:rPr>
              <a:t>num_of_layer</a:t>
            </a:r>
            <a:r>
              <a:rPr lang="en-US" altLang="ko-KR" sz="3600" b="1" dirty="0">
                <a:solidFill>
                  <a:srgbClr val="FF0000"/>
                </a:solidFill>
                <a:latin typeface="+mj-ea"/>
              </a:rPr>
              <a:t> = ?? </a:t>
            </a:r>
            <a:r>
              <a:rPr lang="ko-KR" altLang="en-US" sz="3600" b="1" dirty="0">
                <a:solidFill>
                  <a:srgbClr val="FF0000"/>
                </a:solidFill>
                <a:latin typeface="+mj-ea"/>
              </a:rPr>
              <a:t>이 제일 나음 </a:t>
            </a:r>
            <a:endParaRPr lang="en-US" altLang="ko-KR" sz="3600" b="1" dirty="0">
              <a:solidFill>
                <a:srgbClr val="FF0000"/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546382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57C67BA-B213-4D78-9FE6-DF21AEB555D8}"/>
              </a:ext>
            </a:extLst>
          </p:cNvPr>
          <p:cNvSpPr txBox="1"/>
          <p:nvPr/>
        </p:nvSpPr>
        <p:spPr>
          <a:xfrm>
            <a:off x="377504" y="623270"/>
            <a:ext cx="45839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latin typeface="+mj-ea"/>
                <a:ea typeface="+mj-ea"/>
              </a:rPr>
              <a:t>결론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62C255-B71B-4358-85C6-3A69718E3F9E}"/>
              </a:ext>
            </a:extLst>
          </p:cNvPr>
          <p:cNvSpPr txBox="1"/>
          <p:nvPr/>
        </p:nvSpPr>
        <p:spPr>
          <a:xfrm>
            <a:off x="9273647" y="8715"/>
            <a:ext cx="2918354" cy="18900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관심 수위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 err="1">
                <a:latin typeface="+mn-ea"/>
              </a:rPr>
              <a:t>궁내교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( 2 )  </a:t>
            </a:r>
            <a:r>
              <a:rPr lang="ko-KR" altLang="en-US" sz="1000" b="1" dirty="0" err="1">
                <a:latin typeface="+mn-ea"/>
              </a:rPr>
              <a:t>대곡교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smoothing : </a:t>
            </a:r>
            <a:r>
              <a:rPr lang="ko-KR" altLang="en-US" sz="10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궁내교</a:t>
            </a:r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 </a:t>
            </a: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( 1 ) </a:t>
            </a:r>
            <a:r>
              <a:rPr lang="ko-KR" altLang="en-US" sz="10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대곡교</a:t>
            </a:r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 </a:t>
            </a: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( 2 )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learning_rate</a:t>
            </a:r>
            <a:r>
              <a:rPr lang="en-US" altLang="ko-KR" sz="10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Loss_function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=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Seq_length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=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36 ( 6</a:t>
            </a:r>
            <a:r>
              <a:rPr lang="ko-KR" altLang="en-US" sz="1000" b="1" dirty="0">
                <a:latin typeface="+mn-ea"/>
              </a:rPr>
              <a:t>시간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Num_of_layer</a:t>
            </a:r>
            <a:r>
              <a:rPr lang="en-US" altLang="ko-KR" sz="1000" b="1" dirty="0">
                <a:latin typeface="+mn-ea"/>
              </a:rPr>
              <a:t> = 12 (</a:t>
            </a:r>
            <a:r>
              <a:rPr lang="ko-KR" altLang="en-US" sz="1000" b="1" dirty="0">
                <a:latin typeface="+mn-ea"/>
              </a:rPr>
              <a:t> 각 </a:t>
            </a:r>
            <a:r>
              <a:rPr lang="en-US" altLang="ko-KR" sz="1000" b="1" dirty="0">
                <a:latin typeface="+mn-ea"/>
              </a:rPr>
              <a:t>LSTM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3</a:t>
            </a:r>
            <a:r>
              <a:rPr lang="ko-KR" altLang="en-US" sz="1000" b="1" dirty="0">
                <a:latin typeface="+mn-ea"/>
              </a:rPr>
              <a:t>개 처리 </a:t>
            </a:r>
            <a:r>
              <a:rPr lang="en-US" altLang="ko-KR" sz="1000" b="1" dirty="0">
                <a:latin typeface="+mn-ea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C7F894-318F-4FD3-823D-C45A52E30BAF}"/>
              </a:ext>
            </a:extLst>
          </p:cNvPr>
          <p:cNvSpPr txBox="1"/>
          <p:nvPr/>
        </p:nvSpPr>
        <p:spPr>
          <a:xfrm>
            <a:off x="-605366" y="2644170"/>
            <a:ext cx="134027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 err="1">
                <a:latin typeface="+mj-ea"/>
                <a:ea typeface="+mj-ea"/>
              </a:rPr>
              <a:t>num_of_layer</a:t>
            </a:r>
            <a:r>
              <a:rPr lang="en-US" altLang="ko-KR" sz="3200" b="1" dirty="0">
                <a:latin typeface="+mj-ea"/>
                <a:ea typeface="+mj-ea"/>
              </a:rPr>
              <a:t> = </a:t>
            </a:r>
            <a:r>
              <a:rPr lang="en-US" altLang="ko-KR" sz="3200" b="1" dirty="0">
                <a:latin typeface="+mj-ea"/>
              </a:rPr>
              <a:t>18 , 18(MAE) , 36 </a:t>
            </a:r>
            <a:r>
              <a:rPr lang="en-US" altLang="ko-KR" sz="3200" b="1" dirty="0">
                <a:latin typeface="+mj-ea"/>
                <a:ea typeface="+mj-ea"/>
              </a:rPr>
              <a:t>?</a:t>
            </a:r>
          </a:p>
          <a:p>
            <a:pPr algn="ctr"/>
            <a:endParaRPr lang="en-US" altLang="ko-KR" sz="3200" b="1" dirty="0">
              <a:latin typeface="+mj-ea"/>
              <a:ea typeface="+mj-ea"/>
            </a:endParaRPr>
          </a:p>
          <a:p>
            <a:pPr algn="ctr"/>
            <a:r>
              <a:rPr lang="en-US" altLang="ko-KR" sz="3200" b="1" dirty="0" err="1">
                <a:latin typeface="+mj-ea"/>
                <a:ea typeface="+mj-ea"/>
              </a:rPr>
              <a:t>learning_rate</a:t>
            </a:r>
            <a:r>
              <a:rPr lang="en-US" altLang="ko-KR" sz="3200" b="1" dirty="0">
                <a:latin typeface="+mj-ea"/>
                <a:ea typeface="+mj-ea"/>
              </a:rPr>
              <a:t> = 0.0005 </a:t>
            </a:r>
            <a:r>
              <a:rPr lang="en-US" altLang="ko-KR" sz="3200" b="1" dirty="0">
                <a:latin typeface="+mj-ea"/>
              </a:rPr>
              <a:t>+ </a:t>
            </a:r>
            <a:r>
              <a:rPr lang="en-US" altLang="ko-KR" sz="3200" b="1" dirty="0" err="1">
                <a:latin typeface="+mj-ea"/>
              </a:rPr>
              <a:t>num_of_layer</a:t>
            </a:r>
            <a:r>
              <a:rPr lang="en-US" altLang="ko-KR" sz="3200" b="1" dirty="0">
                <a:latin typeface="+mj-ea"/>
              </a:rPr>
              <a:t> = 18(MAE)?</a:t>
            </a:r>
            <a:endParaRPr lang="en-US" altLang="ko-KR" sz="32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608467124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3988</TotalTime>
  <Words>1503</Words>
  <Application>Microsoft Office PowerPoint</Application>
  <PresentationFormat>와이드스크린</PresentationFormat>
  <Paragraphs>537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2" baseType="lpstr">
      <vt:lpstr>맑은 고딕</vt:lpstr>
      <vt:lpstr>Arial</vt:lpstr>
      <vt:lpstr>Calibri</vt:lpstr>
      <vt:lpstr>Calibri Light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498</cp:revision>
  <dcterms:created xsi:type="dcterms:W3CDTF">2025-11-18T00:02:37Z</dcterms:created>
  <dcterms:modified xsi:type="dcterms:W3CDTF">2025-12-24T08:18:19Z</dcterms:modified>
</cp:coreProperties>
</file>